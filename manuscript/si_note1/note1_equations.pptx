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Supplementary Note 1 — 수식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본문 기호와 통일: B_T, B_R, R_LED, p, A′, η_sub, η_ext</a:t>
            </a:r>
          </a:p>
          <a:p>
            <a:r>
              <a:rPr sz="1600" b="0"/>
              <a:t>통과 번호 k(= 학위논문의 N_R): P_sub^(k)(θ)는 k번째로 광추출 구조에 도달하는 빛(정규화하지 않음)</a:t>
            </a:r>
          </a:p>
          <a:p>
            <a:r>
              <a:rPr sz="1600" b="0"/>
              <a:t>새로 도입: 통과별 탈출 확률 p_k, 통과별 왕복 손실 A′_k → 식 (S6)–(S8), Supplementary Fig. (p_k, A′_k)</a:t>
            </a:r>
          </a:p>
          <a:p>
            <a:r>
              <a:rPr sz="1600" b="0"/>
              <a:t>모든 수식은 PowerPoint 수식 개체입니다(더블클릭으로 편집).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(S1)  BSDF의 방위각 대칭 축약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BSDF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,</m:t>
                          </m:r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,</m:t>
                          </m:r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,</m:t>
                          </m:r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,</m:t>
                          </m:r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λ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→ </m:t>
                      </m:r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B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,</m:t>
                          </m:r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(S1)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육방 배열 MLA·등방 산란층: 방위각 대칭. θ_s = 0–90°는 투과(BTDF), 90–180°는 반사(BRDF).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5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(S2)  투과 성분과 반사 성분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T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t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BTDF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,</m:t>
                              </m:r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t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,</m:t>
                              </m:r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1 −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T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(S2) see Word version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000" y="52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두 번째 식은 흡수가 없는 광추출 구조에서 성립(에너지 보존).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(S3)  첫 통과의 각도 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  <m: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0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θ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θ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θ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sub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(S3)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P_sub(θ): 쌍극자 모델로 계산한 기판 전달 파워의 각도 분포(η_sub로 정규화). P_sub^(k)는 k번째로 광추출 구조에 도달하는 빛(정규화하지 않음, 합 = 남은 파워).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5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(S4)  통과 사이의 갱신 (광추출 구조에서 반사 → 소자에서 반사)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  <m: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k+1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LED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sub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k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i</m:t>
                                  </m:r>
                                </m:sub>
                              </m:sSub>
                            </m:e>
                          </m:d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</m:dPr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,</m:t>
                              </m:r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(S4) see Word version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000" y="52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R_LED는 되돌아온 각도 θ_r에서 곱한다(편광 평균, 면 방향 균일 가정).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(S5)  통과별 추출량과 행렬 급수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  <m: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k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θ</m:t>
                          </m:r>
                        </m:sub>
                        <m:sup/>
                        <m:e>
                          <m:sSubSup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sub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k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d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T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∞</m:t>
                          </m:r>
                        </m:sup>
                        <m:e>
                          <m:sSubSup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ext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k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</m:sSub>
                      <m:sSup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I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− </m:t>
                              </m:r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sub>
                              </m:s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R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−1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T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(S5)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행벡터 P_sub, B_T; 행렬 B_R(θ_i, θ_r); R = diag[R_LED(θ)]. 소자 흡수 또는 B_T &gt; 0이면 수렴.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5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(S6)  k번째 통과의 탈출 확률 p_k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f>
                        <m:num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sSubSup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sub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k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</m:d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sSubSup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sub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k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(S6) see Word version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000" y="52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k번째로 광추출 구조에 도달한 빛 중 공기로 나가는 분율. p_0은 소자의 P_sub로 정해지고, k ≥ 1은 광추출 구조가 되돌린 분포로 정해진다.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(S7)  k번째 왕복의 손실 A′_k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A′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1 − </m:t>
                      </m:r>
                      <m:f>
                        <m:num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LED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θ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r</m:t>
                                      </m:r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∑"/>
                                  <m:limLoc m:val="undOvr"/>
                                  <m:supHide m:val="1"/>
                                </m:naryPr>
                                <m:sub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θ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i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Sup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sub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("/>
                                          <m:endChr m:val=")"/>
                                        </m:d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k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i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B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R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,</m:t>
                                      </m:r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r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sub>
                              </m:sSub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1"/>
                                </m:naryPr>
                                <m:sub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θ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i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Sup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sub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("/>
                                          <m:endChr m:val=")"/>
                                        </m:d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k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i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B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R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,</m:t>
                                      </m:r>
                                      <m:sSub>
                                        <m:e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θ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/>
                                              <a:cs typeface="Cambria Math"/>
                                            </a:rPr>
                                            <m:t xml:space="preserve">r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(S7)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k번째 통과에서 되돌아온 빛의 각도 분포로 가중한 소자 손실(흡수 + 배면 투과).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5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(S8)  급수의 정확한 통과별 표현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∞</m:t>
                          </m:r>
                        </m:sup>
                        <m:e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k</m:t>
                              </m:r>
                            </m:sub>
                          </m:sSub>
                          <m:nary>
                            <m:naryPr>
                              <m:chr m:val="∏"/>
                              <m:limLoc m:val="undOvr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j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=0</m:t>
                              </m:r>
                            </m:sub>
                            <m:sup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k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−1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1 − </m:t>
                                  </m:r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p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j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1 − </m:t>
                                  </m:r>
                                  <m:sSub>
                                    <m:e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A′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(S8) see Word version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000" y="52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(S4)–(S7)에서 바로 나오는 항등식(근사 없음). k = 0 항의 곱은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(S9)  각도 무작위화 극한의 p, A′ (본문의 정의)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f>
                        <m:num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cos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sin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cos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sin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nary>
                        </m:den>
                      </m:f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A′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1 − </m:t>
                      </m:r>
                      <m:f>
                        <m:num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LED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θ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cos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sin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cos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 sin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θ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(S9)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cos θ sin θ: 기판 안 램버시안 분포의 가중치. p는 광추출 구조 고유량(n 1.3/1.5/1.8/2.0 → 0.58/0.43/0.29/0.23).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5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(S10)  식 (3)으로의 축약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A′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A′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  ⇒  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p</m:t>
                      </m:r>
                      <m:nary>
                        <m:naryPr>
                          <m:chr m:val="∑"/>
                          <m:limLoc m:val="undOvr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∞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1 − </m:t>
                                      </m:r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p</m:t>
                                      </m:r>
                                    </m:e>
                                  </m:d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1 − </m:t>
                                      </m:r>
                                      <m:r>
                                        <a:rPr lang="en-US" sz="2000">
                                          <a:latin typeface="Cambria Math" panose="02040503050406030204"/>
                                          <a:cs typeface="Cambria Math"/>
                                        </a:rPr>
                                        <m:t xml:space="preserve">A′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k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f>
                        <m:num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p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 + 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1 − </m:t>
                              </m:r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p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A′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48000" y="403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(S10) see Word version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000" y="52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모든 통과에서 p_k와 A′_k가 같을 때만 정확. 반구 MLA에서는 p_k가 통과마다 줄고 A′_k가 늘어 식 (3)보다 낮다.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</a:rPr>
              <a:t>(S11)  스펙트럼 평균과 식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EQE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</m:sSub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sub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supHide m:val="1"/>
                        </m:naryPr>
                        <m:sub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λ</m:t>
                          </m:r>
                        </m:sub>
                        <m:sup/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w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λ</m:t>
                              </m:r>
                            </m:e>
                          </m:d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sub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λ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,      </m:t>
                      </m:r>
                      <m:sSub>
                        <m:e>
                          <m: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/>
                              <a:cs typeface="Cambria Math"/>
                            </a:rPr>
                            <m:t xml:space="preserve">ext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/>
                          <a:cs typeface="Cambria Math"/>
                        </a:rPr>
                        <m:t xml:space="preserve"> = </m:t>
                      </m:r>
                      <m:f>
                        <m:num>
                          <m:nary>
                            <m:naryPr>
                              <m:chr m:val="∑"/>
                              <m:limLoc m:val="undOvr"/>
                              <m:supHide m:val="1"/>
                            </m:naryPr>
                            <m:sub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λ</m:t>
                              </m:r>
                            </m:sub>
                            <m:sup/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w</m:t>
                              </m:r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λ</m:t>
                                  </m:r>
                                </m:e>
                              </m:d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sub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λ</m:t>
                                  </m:r>
                                </m:e>
                              </m:d>
                              <m:sSub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ext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r>
                                    <a:rPr lang="en-US" sz="2000">
                                      <a:latin typeface="Cambria Math" panose="02040503050406030204"/>
                                      <a:cs typeface="Cambria Math"/>
                                    </a:rPr>
                                    <m:t xml:space="preserve">λ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e>
                              <m: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/>
                                  <a:cs typeface="Cambria Math"/>
                                </a:rPr>
                                <m:t xml:space="preserve">sub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648000" y="792000"/>
                <a:ext cx="10800000" cy="115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 b="0"/>
                  <a:t>(S11) see Word version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48000" y="205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w(λ): 광자 수로 정규화한 발광 스펙트럼. η_int = 1(PLQY = 1, 완전한 전하 균형) 또는 η_int를 η_sub에 포함한 형태.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</a:rPr>
              <a:t>학위논문(슬라이드) 표기 → Note 1 표기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36000"/>
          <a:ext cx="1098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000"/>
                <a:gridCol w="3660000"/>
                <a:gridCol w="3660000"/>
              </a:tblGrid>
              <a:tr h="504000">
                <a:tc>
                  <a:txBody>
                    <a:bodyPr/>
                    <a:lstStyle/>
                    <a:p>
                      <a:r>
                        <a:rPr sz="1400" b="1"/>
                        <a:t>학위논문 / 슬라이드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BSDF_T, BSDF_R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B_T, B_R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본문 Methods와 통일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N_R = k, (R =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한 표기로 통일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η_sub^(N_R=k) × P_sub^(N_R=k) (k ≥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P_sub^(k) (정규화하지 않음)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η_sub는 k = 0(소자→기판)에만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η_out^(N_R=k)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η_ext^(k)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η_sub로 나눈 통과별 추출량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η_out^Total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η_out = η_sub · η_ext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본문 식 (1), (2)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P̄_sub × BSDF_T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 (또는 p_k)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탈출 확률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A′_para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A′ (또는 A′_k)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OLED에서는 A′_act = 0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A′_act, η*_rad,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PeLED 재발광 항: OLED에서 0, 문장으로만 언급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/>
                        <a:t>BSDF_R ≈ 1 − BSDF_T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Σ_θr B_R = 1 − B_T (등호)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흡수 없는 광추출 구조에서 정확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</a:rPr>
              <a:t>Supplementary Fig. (제안) — 통과별 p_k, A′_k와 누적 η_ext</a:t>
            </a:r>
          </a:p>
        </p:txBody>
      </p:sp>
      <p:pic>
        <p:nvPicPr>
          <p:cNvPr id="3" name="Picture 2" descr="pass_resolve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792000"/>
            <a:ext cx="7920000" cy="24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68000" y="864000"/>
            <a:ext cx="342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그림 2(d)–(f) 스택, 550 nm, 반구 MLA(n_MLA = n_sub).</a:t>
            </a:r>
          </a:p>
          <a:p>
            <a:r>
              <a:rPr sz="1300" b="0"/>
              <a:t/>
            </a:r>
          </a:p>
          <a:p>
            <a:r>
              <a:rPr sz="1300" b="0"/>
              <a:t>(a) p_k: 통과를 거듭할수록 감소. 되돌아온 빛이 큰 각도로 몰리기 때문(60° 이상 비율: Ag 1.5에서 29 → 51 %, k = 0 → 2).</a:t>
            </a:r>
          </a:p>
          <a:p>
            <a:r>
              <a:rPr sz="1300" b="0"/>
              <a:t/>
            </a:r>
          </a:p>
          <a:p>
            <a:r>
              <a:rPr sz="1300" b="0"/>
              <a:t>(b) A′_k: 같은 이유로 증가(Ag 1.5: 3.4 → 4.6 %, k = 0 → 5).</a:t>
            </a:r>
          </a:p>
          <a:p>
            <a:r>
              <a:rPr sz="1300" b="0"/>
              <a:t/>
            </a:r>
          </a:p>
          <a:p>
            <a:r>
              <a:rPr sz="1300" b="0"/>
              <a:t>(c) 누적 η_ext: 급수(실선)가 식 (3)(점선)보다 낮게 수렴. Ag 1.5: 0.911 대 0.964; Al 1.5: 0.782 대 0.840.</a:t>
            </a:r>
          </a:p>
          <a:p>
            <a:r>
              <a:rPr sz="1300" b="0"/>
              <a:t/>
            </a:r>
          </a:p>
          <a:p>
            <a:r>
              <a:rPr sz="1300" b="0"/>
              <a:t>가로 점선: 식 (3)에 쓴 p(cos θ sin θ)와 A′.</a:t>
            </a:r>
          </a:p>
          <a:p>
            <a:r>
              <a:rPr sz="1300" b="0"/>
              <a:t>데이터: sim/pass_resolved/pass_resolved.csv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