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ottom-emitting OLED / Glass (n = 1.77) right"/>
          <p:cNvSpPr/>
          <p:nvPr/>
        </p:nvSpPr>
        <p:spPr>
          <a:xfrm>
            <a:off x="6443311" y="4496209"/>
            <a:ext cx="1759958" cy="1009299"/>
          </a:xfrm>
          <a:custGeom>
            <a:avLst/>
            <a:gdLst/>
            <a:ahLst/>
            <a:cxnLst/>
            <a:rect l="l" t="t" r="r" b="b"/>
            <a:pathLst>
              <a:path w="1759958" h="1009299">
                <a:moveTo>
                  <a:pt x="1759958" y="522502"/>
                </a:moveTo>
                <a:lnTo>
                  <a:pt x="1759958" y="0"/>
                </a:lnTo>
                <a:lnTo>
                  <a:pt x="0" y="486797"/>
                </a:lnTo>
                <a:lnTo>
                  <a:pt x="0" y="1009299"/>
                </a:lnTo>
                <a:close/>
              </a:path>
            </a:pathLst>
          </a:custGeom>
          <a:solidFill>
            <a:srgbClr val="B2C4D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ottom-emitting OLED / Glass (n = 1.77) front"/>
          <p:cNvSpPr/>
          <p:nvPr/>
        </p:nvSpPr>
        <p:spPr>
          <a:xfrm>
            <a:off x="3987555" y="4303755"/>
            <a:ext cx="2455756" cy="1201753"/>
          </a:xfrm>
          <a:custGeom>
            <a:avLst/>
            <a:gdLst/>
            <a:ahLst/>
            <a:cxnLst/>
            <a:rect l="l" t="t" r="r" b="b"/>
            <a:pathLst>
              <a:path w="2455756" h="1201753">
                <a:moveTo>
                  <a:pt x="2455756" y="1201753"/>
                </a:moveTo>
                <a:lnTo>
                  <a:pt x="2455756" y="679251"/>
                </a:lnTo>
                <a:lnTo>
                  <a:pt x="0" y="0"/>
                </a:lnTo>
                <a:lnTo>
                  <a:pt x="0" y="522501"/>
                </a:lnTo>
                <a:close/>
              </a:path>
            </a:pathLst>
          </a:custGeom>
          <a:solidFill>
            <a:srgbClr val="91A0A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-emitting OLED / Glass (n = 1.77) label"/>
          <p:cNvSpPr txBox="1"/>
          <p:nvPr/>
        </p:nvSpPr>
        <p:spPr>
          <a:xfrm>
            <a:off x="6504269" y="4853687"/>
            <a:ext cx="1638041" cy="2943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91" b="0">
                <a:solidFill>
                  <a:srgbClr val="1B2026"/>
                </a:solidFill>
                <a:latin typeface="Arial"/>
              </a:rPr>
              <a:t>Glass (n = 1.77)</a:t>
            </a:r>
          </a:p>
        </p:txBody>
      </p:sp>
      <p:sp>
        <p:nvSpPr>
          <p:cNvPr id="5" name="Bottom-emitting OLED / Transparent electrode right"/>
          <p:cNvSpPr/>
          <p:nvPr/>
        </p:nvSpPr>
        <p:spPr>
          <a:xfrm>
            <a:off x="6443311" y="3747291"/>
            <a:ext cx="1759958" cy="1235715"/>
          </a:xfrm>
          <a:custGeom>
            <a:avLst/>
            <a:gdLst/>
            <a:ahLst/>
            <a:cxnLst/>
            <a:rect l="l" t="t" r="r" b="b"/>
            <a:pathLst>
              <a:path w="1759958" h="1235715">
                <a:moveTo>
                  <a:pt x="1759958" y="748918"/>
                </a:moveTo>
                <a:lnTo>
                  <a:pt x="1759958" y="0"/>
                </a:lnTo>
                <a:lnTo>
                  <a:pt x="0" y="486797"/>
                </a:lnTo>
                <a:lnTo>
                  <a:pt x="0" y="1235715"/>
                </a:lnTo>
                <a:close/>
              </a:path>
            </a:pathLst>
          </a:custGeom>
          <a:solidFill>
            <a:srgbClr val="6DB5C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-emitting OLED / Transparent electrode front"/>
          <p:cNvSpPr/>
          <p:nvPr/>
        </p:nvSpPr>
        <p:spPr>
          <a:xfrm>
            <a:off x="3987555" y="3554836"/>
            <a:ext cx="2455756" cy="1428170"/>
          </a:xfrm>
          <a:custGeom>
            <a:avLst/>
            <a:gdLst/>
            <a:ahLst/>
            <a:cxnLst/>
            <a:rect l="l" t="t" r="r" b="b"/>
            <a:pathLst>
              <a:path w="2455756" h="1428170">
                <a:moveTo>
                  <a:pt x="2455756" y="1428170"/>
                </a:moveTo>
                <a:lnTo>
                  <a:pt x="2455756" y="679252"/>
                </a:lnTo>
                <a:lnTo>
                  <a:pt x="0" y="0"/>
                </a:lnTo>
                <a:lnTo>
                  <a:pt x="0" y="748919"/>
                </a:lnTo>
                <a:close/>
              </a:path>
            </a:pathLst>
          </a:custGeom>
          <a:solidFill>
            <a:srgbClr val="5994A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ottom-emitting OLED / Transparent electrode label"/>
          <p:cNvSpPr txBox="1"/>
          <p:nvPr/>
        </p:nvSpPr>
        <p:spPr>
          <a:xfrm>
            <a:off x="6504269" y="4096061"/>
            <a:ext cx="1638041" cy="2943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91" b="0">
                <a:solidFill>
                  <a:srgbClr val="1B2026"/>
                </a:solidFill>
                <a:latin typeface="Arial"/>
              </a:rPr>
              <a:t>Transparent electrode</a:t>
            </a:r>
          </a:p>
        </p:txBody>
      </p:sp>
      <p:sp>
        <p:nvSpPr>
          <p:cNvPr id="8" name="Bottom-emitting OLED / Transparent electrode label note"/>
          <p:cNvSpPr txBox="1"/>
          <p:nvPr/>
        </p:nvSpPr>
        <p:spPr>
          <a:xfrm>
            <a:off x="6504269" y="4345119"/>
            <a:ext cx="1638041" cy="24905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4" b="0">
                <a:solidFill>
                  <a:srgbClr val="D62828"/>
                </a:solidFill>
                <a:latin typeface="Arial"/>
              </a:rPr>
              <a:t>ITO 50 nm   or   Ag 10 nm</a:t>
            </a:r>
          </a:p>
        </p:txBody>
      </p:sp>
      <p:sp>
        <p:nvSpPr>
          <p:cNvPr id="9" name="Bottom-emitting OLED / HTL (200 nm) right"/>
          <p:cNvSpPr/>
          <p:nvPr/>
        </p:nvSpPr>
        <p:spPr>
          <a:xfrm>
            <a:off x="6443311" y="3224790"/>
            <a:ext cx="1759958" cy="1009298"/>
          </a:xfrm>
          <a:custGeom>
            <a:avLst/>
            <a:gdLst/>
            <a:ahLst/>
            <a:cxnLst/>
            <a:rect l="l" t="t" r="r" b="b"/>
            <a:pathLst>
              <a:path w="1759958" h="1009298">
                <a:moveTo>
                  <a:pt x="1759958" y="522501"/>
                </a:moveTo>
                <a:lnTo>
                  <a:pt x="1759958" y="0"/>
                </a:lnTo>
                <a:lnTo>
                  <a:pt x="0" y="486797"/>
                </a:lnTo>
                <a:lnTo>
                  <a:pt x="0" y="1009298"/>
                </a:lnTo>
                <a:close/>
              </a:path>
            </a:pathLst>
          </a:custGeom>
          <a:solidFill>
            <a:srgbClr val="CE9E5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ottom-emitting OLED / HTL (200 nm) front"/>
          <p:cNvSpPr/>
          <p:nvPr/>
        </p:nvSpPr>
        <p:spPr>
          <a:xfrm>
            <a:off x="3987555" y="3032335"/>
            <a:ext cx="2455756" cy="1201753"/>
          </a:xfrm>
          <a:custGeom>
            <a:avLst/>
            <a:gdLst/>
            <a:ahLst/>
            <a:cxnLst/>
            <a:rect l="l" t="t" r="r" b="b"/>
            <a:pathLst>
              <a:path w="2455756" h="1201753">
                <a:moveTo>
                  <a:pt x="2455756" y="1201753"/>
                </a:moveTo>
                <a:lnTo>
                  <a:pt x="2455756" y="679252"/>
                </a:lnTo>
                <a:lnTo>
                  <a:pt x="0" y="0"/>
                </a:lnTo>
                <a:lnTo>
                  <a:pt x="0" y="522501"/>
                </a:lnTo>
                <a:close/>
              </a:path>
            </a:pathLst>
          </a:custGeom>
          <a:solidFill>
            <a:srgbClr val="A8814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ottom-emitting OLED / HTL (200 nm) label"/>
          <p:cNvSpPr txBox="1"/>
          <p:nvPr/>
        </p:nvSpPr>
        <p:spPr>
          <a:xfrm>
            <a:off x="6504269" y="3582268"/>
            <a:ext cx="1638041" cy="2943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91" b="0">
                <a:solidFill>
                  <a:srgbClr val="1B2026"/>
                </a:solidFill>
                <a:latin typeface="Arial"/>
              </a:rPr>
              <a:t>HTL (200 nm)</a:t>
            </a:r>
          </a:p>
        </p:txBody>
      </p:sp>
      <p:sp>
        <p:nvSpPr>
          <p:cNvPr id="12" name="Bottom-emitting OLED / EML (20 nm) right"/>
          <p:cNvSpPr/>
          <p:nvPr/>
        </p:nvSpPr>
        <p:spPr>
          <a:xfrm>
            <a:off x="6443311" y="2702289"/>
            <a:ext cx="1759958" cy="1009298"/>
          </a:xfrm>
          <a:custGeom>
            <a:avLst/>
            <a:gdLst/>
            <a:ahLst/>
            <a:cxnLst/>
            <a:rect l="l" t="t" r="r" b="b"/>
            <a:pathLst>
              <a:path w="1759958" h="1009298">
                <a:moveTo>
                  <a:pt x="1759958" y="522501"/>
                </a:moveTo>
                <a:lnTo>
                  <a:pt x="1759958" y="0"/>
                </a:lnTo>
                <a:lnTo>
                  <a:pt x="0" y="486797"/>
                </a:lnTo>
                <a:lnTo>
                  <a:pt x="0" y="1009298"/>
                </a:lnTo>
                <a:close/>
              </a:path>
            </a:pathLst>
          </a:custGeom>
          <a:solidFill>
            <a:srgbClr val="99323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Bottom-emitting OLED / EML (20 nm) front"/>
          <p:cNvSpPr/>
          <p:nvPr/>
        </p:nvSpPr>
        <p:spPr>
          <a:xfrm>
            <a:off x="3987555" y="2509834"/>
            <a:ext cx="2455756" cy="1201753"/>
          </a:xfrm>
          <a:custGeom>
            <a:avLst/>
            <a:gdLst/>
            <a:ahLst/>
            <a:cxnLst/>
            <a:rect l="l" t="t" r="r" b="b"/>
            <a:pathLst>
              <a:path w="2455756" h="1201753">
                <a:moveTo>
                  <a:pt x="2455756" y="1201753"/>
                </a:moveTo>
                <a:lnTo>
                  <a:pt x="2455756" y="679252"/>
                </a:lnTo>
                <a:lnTo>
                  <a:pt x="0" y="0"/>
                </a:lnTo>
                <a:lnTo>
                  <a:pt x="0" y="522501"/>
                </a:lnTo>
                <a:close/>
              </a:path>
            </a:pathLst>
          </a:custGeom>
          <a:solidFill>
            <a:srgbClr val="7D292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Bottom-emitting OLED / EML (20 nm) label"/>
          <p:cNvSpPr txBox="1"/>
          <p:nvPr/>
        </p:nvSpPr>
        <p:spPr>
          <a:xfrm>
            <a:off x="6504269" y="3059766"/>
            <a:ext cx="1638041" cy="2943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91" b="0">
                <a:solidFill>
                  <a:srgbClr val="F2F5F8"/>
                </a:solidFill>
                <a:latin typeface="Arial"/>
              </a:rPr>
              <a:t>EML (20 nm)</a:t>
            </a:r>
          </a:p>
        </p:txBody>
      </p:sp>
      <p:sp>
        <p:nvSpPr>
          <p:cNvPr id="15" name="Bottom-emitting OLED / ETL (200 nm) right"/>
          <p:cNvSpPr/>
          <p:nvPr/>
        </p:nvSpPr>
        <p:spPr>
          <a:xfrm>
            <a:off x="6443311" y="2179787"/>
            <a:ext cx="1759958" cy="1009299"/>
          </a:xfrm>
          <a:custGeom>
            <a:avLst/>
            <a:gdLst/>
            <a:ahLst/>
            <a:cxnLst/>
            <a:rect l="l" t="t" r="r" b="b"/>
            <a:pathLst>
              <a:path w="1759958" h="1009299">
                <a:moveTo>
                  <a:pt x="1759958" y="522502"/>
                </a:moveTo>
                <a:lnTo>
                  <a:pt x="1759958" y="0"/>
                </a:lnTo>
                <a:lnTo>
                  <a:pt x="0" y="486797"/>
                </a:lnTo>
                <a:lnTo>
                  <a:pt x="0" y="1009299"/>
                </a:lnTo>
                <a:close/>
              </a:path>
            </a:pathLst>
          </a:custGeom>
          <a:solidFill>
            <a:srgbClr val="6D84BB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Bottom-emitting OLED / ETL (200 nm) front"/>
          <p:cNvSpPr/>
          <p:nvPr/>
        </p:nvSpPr>
        <p:spPr>
          <a:xfrm>
            <a:off x="3987555" y="1987333"/>
            <a:ext cx="2455756" cy="1201753"/>
          </a:xfrm>
          <a:custGeom>
            <a:avLst/>
            <a:gdLst/>
            <a:ahLst/>
            <a:cxnLst/>
            <a:rect l="l" t="t" r="r" b="b"/>
            <a:pathLst>
              <a:path w="2455756" h="1201753">
                <a:moveTo>
                  <a:pt x="2455756" y="1201753"/>
                </a:moveTo>
                <a:lnTo>
                  <a:pt x="2455756" y="679251"/>
                </a:lnTo>
                <a:lnTo>
                  <a:pt x="0" y="0"/>
                </a:lnTo>
                <a:lnTo>
                  <a:pt x="0" y="522501"/>
                </a:lnTo>
                <a:close/>
              </a:path>
            </a:pathLst>
          </a:custGeom>
          <a:solidFill>
            <a:srgbClr val="596C9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Bottom-emitting OLED / ETL (200 nm) label"/>
          <p:cNvSpPr txBox="1"/>
          <p:nvPr/>
        </p:nvSpPr>
        <p:spPr>
          <a:xfrm>
            <a:off x="6504269" y="2537265"/>
            <a:ext cx="1638041" cy="2943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91" b="0">
                <a:solidFill>
                  <a:srgbClr val="1B2026"/>
                </a:solidFill>
                <a:latin typeface="Arial"/>
              </a:rPr>
              <a:t>ETL (200 nm)</a:t>
            </a:r>
          </a:p>
        </p:txBody>
      </p:sp>
      <p:sp>
        <p:nvSpPr>
          <p:cNvPr id="18" name="Bottom-emitting OLED / Ag (100 nm) top"/>
          <p:cNvSpPr/>
          <p:nvPr/>
        </p:nvSpPr>
        <p:spPr>
          <a:xfrm>
            <a:off x="3987555" y="978035"/>
            <a:ext cx="4215714" cy="1166048"/>
          </a:xfrm>
          <a:custGeom>
            <a:avLst/>
            <a:gdLst/>
            <a:ahLst/>
            <a:cxnLst/>
            <a:rect l="l" t="t" r="r" b="b"/>
            <a:pathLst>
              <a:path w="4215714" h="1166048">
                <a:moveTo>
                  <a:pt x="1759958" y="0"/>
                </a:moveTo>
                <a:lnTo>
                  <a:pt x="4215714" y="679251"/>
                </a:lnTo>
                <a:lnTo>
                  <a:pt x="2455756" y="1166048"/>
                </a:lnTo>
                <a:lnTo>
                  <a:pt x="0" y="486797"/>
                </a:lnTo>
                <a:close/>
              </a:path>
            </a:pathLst>
          </a:custGeom>
          <a:solidFill>
            <a:srgbClr val="C9CED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Bottom-emitting OLED / Ag (100 nm) right"/>
          <p:cNvSpPr/>
          <p:nvPr/>
        </p:nvSpPr>
        <p:spPr>
          <a:xfrm>
            <a:off x="6443311" y="1657286"/>
            <a:ext cx="1759958" cy="1009298"/>
          </a:xfrm>
          <a:custGeom>
            <a:avLst/>
            <a:gdLst/>
            <a:ahLst/>
            <a:cxnLst/>
            <a:rect l="l" t="t" r="r" b="b"/>
            <a:pathLst>
              <a:path w="1759958" h="1009298">
                <a:moveTo>
                  <a:pt x="1759958" y="522501"/>
                </a:moveTo>
                <a:lnTo>
                  <a:pt x="1759958" y="0"/>
                </a:lnTo>
                <a:lnTo>
                  <a:pt x="0" y="486797"/>
                </a:lnTo>
                <a:lnTo>
                  <a:pt x="0" y="1009298"/>
                </a:lnTo>
                <a:close/>
              </a:path>
            </a:pathLst>
          </a:custGeom>
          <a:solidFill>
            <a:srgbClr val="ADB1B5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ottom-emitting OLED / Ag (100 nm) front"/>
          <p:cNvSpPr/>
          <p:nvPr/>
        </p:nvSpPr>
        <p:spPr>
          <a:xfrm>
            <a:off x="3987555" y="1464832"/>
            <a:ext cx="2455756" cy="1201752"/>
          </a:xfrm>
          <a:custGeom>
            <a:avLst/>
            <a:gdLst/>
            <a:ahLst/>
            <a:cxnLst/>
            <a:rect l="l" t="t" r="r" b="b"/>
            <a:pathLst>
              <a:path w="2455756" h="1201752">
                <a:moveTo>
                  <a:pt x="2455756" y="1201752"/>
                </a:moveTo>
                <a:lnTo>
                  <a:pt x="2455756" y="679251"/>
                </a:lnTo>
                <a:lnTo>
                  <a:pt x="0" y="0"/>
                </a:lnTo>
                <a:lnTo>
                  <a:pt x="0" y="522501"/>
                </a:lnTo>
                <a:close/>
              </a:path>
            </a:pathLst>
          </a:custGeom>
          <a:solidFill>
            <a:srgbClr val="8D9094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Bottom-emitting OLED / Ag (100 nm) label"/>
          <p:cNvSpPr txBox="1"/>
          <p:nvPr/>
        </p:nvSpPr>
        <p:spPr>
          <a:xfrm>
            <a:off x="6504269" y="2014764"/>
            <a:ext cx="1638041" cy="2943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91" b="0">
                <a:solidFill>
                  <a:srgbClr val="1B2026"/>
                </a:solidFill>
                <a:latin typeface="Arial"/>
              </a:rPr>
              <a:t>Ag (100 nm)</a:t>
            </a:r>
          </a:p>
        </p:txBody>
      </p:sp>
      <p:sp>
        <p:nvSpPr>
          <p:cNvPr id="22" name="Bottom-emitting OLED title"/>
          <p:cNvSpPr txBox="1"/>
          <p:nvPr/>
        </p:nvSpPr>
        <p:spPr>
          <a:xfrm>
            <a:off x="3831240" y="223020"/>
            <a:ext cx="4528344" cy="43019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2" b="1">
                <a:solidFill>
                  <a:srgbClr val="1B2026"/>
                </a:solidFill>
                <a:latin typeface="Arial"/>
              </a:rPr>
              <a:t>Bottom-emitting OLED</a:t>
            </a:r>
          </a:p>
        </p:txBody>
      </p:sp>
      <p:cxnSp>
        <p:nvCxnSpPr>
          <p:cNvPr id="23" name="bottom emission"/>
          <p:cNvCxnSpPr/>
          <p:nvPr/>
        </p:nvCxnSpPr>
        <p:spPr>
          <a:xfrm flipH="1">
            <a:off x="5416161" y="5540341"/>
            <a:ext cx="461891" cy="487668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bottom emission"/>
          <p:cNvCxnSpPr/>
          <p:nvPr/>
        </p:nvCxnSpPr>
        <p:spPr>
          <a:xfrm>
            <a:off x="6095412" y="5540341"/>
            <a:ext cx="0" cy="627001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bottom emission"/>
          <p:cNvCxnSpPr/>
          <p:nvPr/>
        </p:nvCxnSpPr>
        <p:spPr>
          <a:xfrm>
            <a:off x="6312773" y="5540341"/>
            <a:ext cx="461891" cy="487668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emission label"/>
          <p:cNvSpPr txBox="1"/>
          <p:nvPr/>
        </p:nvSpPr>
        <p:spPr>
          <a:xfrm>
            <a:off x="4789159" y="6270536"/>
            <a:ext cx="2612506" cy="35094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62" b="0">
                <a:solidFill>
                  <a:srgbClr val="2E9E4F"/>
                </a:solidFill>
                <a:latin typeface="Arial"/>
              </a:rPr>
              <a:t>Bottom emission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