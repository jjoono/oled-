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ottom-emitting OLED / Glass (n = 1.77) right"/>
          <p:cNvSpPr/>
          <p:nvPr/>
        </p:nvSpPr>
        <p:spPr>
          <a:xfrm>
            <a:off x="7038091" y="4660362"/>
            <a:ext cx="900444" cy="771560"/>
          </a:xfrm>
          <a:custGeom>
            <a:avLst/>
            <a:gdLst/>
            <a:ahLst/>
            <a:cxnLst/>
            <a:rect l="l" t="t" r="r" b="b"/>
            <a:pathLst>
              <a:path w="900444" h="771560">
                <a:moveTo>
                  <a:pt x="900444" y="522501"/>
                </a:moveTo>
                <a:lnTo>
                  <a:pt x="900444" y="0"/>
                </a:lnTo>
                <a:lnTo>
                  <a:pt x="0" y="249059"/>
                </a:lnTo>
                <a:lnTo>
                  <a:pt x="0" y="771560"/>
                </a:lnTo>
                <a:close/>
              </a:path>
            </a:pathLst>
          </a:custGeom>
          <a:solidFill>
            <a:srgbClr val="B2C4D3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ottom-emitting OLED / Glass (n = 1.77) front"/>
          <p:cNvSpPr/>
          <p:nvPr/>
        </p:nvSpPr>
        <p:spPr>
          <a:xfrm>
            <a:off x="4254902" y="4139602"/>
            <a:ext cx="2783189" cy="1292320"/>
          </a:xfrm>
          <a:custGeom>
            <a:avLst/>
            <a:gdLst/>
            <a:ahLst/>
            <a:cxnLst/>
            <a:rect l="l" t="t" r="r" b="b"/>
            <a:pathLst>
              <a:path w="2783189" h="1292320">
                <a:moveTo>
                  <a:pt x="2783189" y="1292320"/>
                </a:moveTo>
                <a:lnTo>
                  <a:pt x="2783189" y="769819"/>
                </a:lnTo>
                <a:lnTo>
                  <a:pt x="0" y="0"/>
                </a:lnTo>
                <a:lnTo>
                  <a:pt x="0" y="522502"/>
                </a:lnTo>
                <a:close/>
              </a:path>
            </a:pathLst>
          </a:custGeom>
          <a:solidFill>
            <a:srgbClr val="91A0AC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ottom-emitting OLED / Glass (n = 1.77) label"/>
          <p:cNvSpPr txBox="1"/>
          <p:nvPr/>
        </p:nvSpPr>
        <p:spPr>
          <a:xfrm>
            <a:off x="4166076" y="4638591"/>
            <a:ext cx="2960840" cy="29434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91" b="0">
                <a:solidFill>
                  <a:srgbClr val="1B2026"/>
                </a:solidFill>
                <a:latin typeface="Arial"/>
              </a:rPr>
              <a:t>Glass (n = 1.77)</a:t>
            </a:r>
          </a:p>
        </p:txBody>
      </p:sp>
      <p:sp>
        <p:nvSpPr>
          <p:cNvPr id="5" name="Bottom-emitting OLED / Transparent electrode right"/>
          <p:cNvSpPr/>
          <p:nvPr/>
        </p:nvSpPr>
        <p:spPr>
          <a:xfrm>
            <a:off x="7038091" y="3911443"/>
            <a:ext cx="900444" cy="997978"/>
          </a:xfrm>
          <a:custGeom>
            <a:avLst/>
            <a:gdLst/>
            <a:ahLst/>
            <a:cxnLst/>
            <a:rect l="l" t="t" r="r" b="b"/>
            <a:pathLst>
              <a:path w="900444" h="997978">
                <a:moveTo>
                  <a:pt x="900444" y="748919"/>
                </a:moveTo>
                <a:lnTo>
                  <a:pt x="900444" y="0"/>
                </a:lnTo>
                <a:lnTo>
                  <a:pt x="0" y="249059"/>
                </a:lnTo>
                <a:lnTo>
                  <a:pt x="0" y="997978"/>
                </a:lnTo>
                <a:close/>
              </a:path>
            </a:pathLst>
          </a:custGeom>
          <a:solidFill>
            <a:srgbClr val="6DB5C8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ttom-emitting OLED / Transparent electrode front"/>
          <p:cNvSpPr/>
          <p:nvPr/>
        </p:nvSpPr>
        <p:spPr>
          <a:xfrm>
            <a:off x="4254902" y="3390684"/>
            <a:ext cx="2783189" cy="1518737"/>
          </a:xfrm>
          <a:custGeom>
            <a:avLst/>
            <a:gdLst/>
            <a:ahLst/>
            <a:cxnLst/>
            <a:rect l="l" t="t" r="r" b="b"/>
            <a:pathLst>
              <a:path w="2783189" h="1518737">
                <a:moveTo>
                  <a:pt x="2783189" y="1518737"/>
                </a:moveTo>
                <a:lnTo>
                  <a:pt x="2783189" y="769818"/>
                </a:lnTo>
                <a:lnTo>
                  <a:pt x="0" y="0"/>
                </a:lnTo>
                <a:lnTo>
                  <a:pt x="0" y="748918"/>
                </a:lnTo>
                <a:close/>
              </a:path>
            </a:pathLst>
          </a:custGeom>
          <a:solidFill>
            <a:srgbClr val="5994A2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ottom-emitting OLED / Transparent electrode label"/>
          <p:cNvSpPr txBox="1"/>
          <p:nvPr/>
        </p:nvSpPr>
        <p:spPr>
          <a:xfrm>
            <a:off x="4166076" y="3880964"/>
            <a:ext cx="2960840" cy="29434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91" b="0">
                <a:solidFill>
                  <a:srgbClr val="1B2026"/>
                </a:solidFill>
                <a:latin typeface="Arial"/>
              </a:rPr>
              <a:t>Transparent electrode</a:t>
            </a:r>
          </a:p>
        </p:txBody>
      </p:sp>
      <p:sp>
        <p:nvSpPr>
          <p:cNvPr id="8" name="Bottom-emitting OLED / Transparent electrode label note"/>
          <p:cNvSpPr txBox="1"/>
          <p:nvPr/>
        </p:nvSpPr>
        <p:spPr>
          <a:xfrm>
            <a:off x="4166076" y="4130023"/>
            <a:ext cx="2960840" cy="24905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54" b="0">
                <a:solidFill>
                  <a:srgbClr val="D62828"/>
                </a:solidFill>
                <a:latin typeface="Arial"/>
              </a:rPr>
              <a:t>ITO 50 nm   or   Ag 10 nm</a:t>
            </a:r>
          </a:p>
        </p:txBody>
      </p:sp>
      <p:sp>
        <p:nvSpPr>
          <p:cNvPr id="9" name="Bottom-emitting OLED / HTL (200 nm) right"/>
          <p:cNvSpPr/>
          <p:nvPr/>
        </p:nvSpPr>
        <p:spPr>
          <a:xfrm>
            <a:off x="7038091" y="3388942"/>
            <a:ext cx="900444" cy="771560"/>
          </a:xfrm>
          <a:custGeom>
            <a:avLst/>
            <a:gdLst/>
            <a:ahLst/>
            <a:cxnLst/>
            <a:rect l="l" t="t" r="r" b="b"/>
            <a:pathLst>
              <a:path w="900444" h="771560">
                <a:moveTo>
                  <a:pt x="900444" y="522501"/>
                </a:moveTo>
                <a:lnTo>
                  <a:pt x="900444" y="0"/>
                </a:lnTo>
                <a:lnTo>
                  <a:pt x="0" y="249059"/>
                </a:lnTo>
                <a:lnTo>
                  <a:pt x="0" y="771560"/>
                </a:lnTo>
                <a:close/>
              </a:path>
            </a:pathLst>
          </a:custGeom>
          <a:solidFill>
            <a:srgbClr val="CE9E53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ottom-emitting OLED / HTL (200 nm) front"/>
          <p:cNvSpPr/>
          <p:nvPr/>
        </p:nvSpPr>
        <p:spPr>
          <a:xfrm>
            <a:off x="4254902" y="2868183"/>
            <a:ext cx="2783189" cy="1292319"/>
          </a:xfrm>
          <a:custGeom>
            <a:avLst/>
            <a:gdLst/>
            <a:ahLst/>
            <a:cxnLst/>
            <a:rect l="l" t="t" r="r" b="b"/>
            <a:pathLst>
              <a:path w="2783189" h="1292319">
                <a:moveTo>
                  <a:pt x="2783189" y="1292319"/>
                </a:moveTo>
                <a:lnTo>
                  <a:pt x="2783189" y="769818"/>
                </a:lnTo>
                <a:lnTo>
                  <a:pt x="0" y="0"/>
                </a:lnTo>
                <a:lnTo>
                  <a:pt x="0" y="522501"/>
                </a:lnTo>
                <a:close/>
              </a:path>
            </a:pathLst>
          </a:custGeom>
          <a:solidFill>
            <a:srgbClr val="A88143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ottom-emitting OLED / HTL (200 nm) label"/>
          <p:cNvSpPr txBox="1"/>
          <p:nvPr/>
        </p:nvSpPr>
        <p:spPr>
          <a:xfrm>
            <a:off x="4166076" y="3367171"/>
            <a:ext cx="2960840" cy="29434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91" b="0">
                <a:solidFill>
                  <a:srgbClr val="1B2026"/>
                </a:solidFill>
                <a:latin typeface="Arial"/>
              </a:rPr>
              <a:t>HTL (200 nm)</a:t>
            </a:r>
          </a:p>
        </p:txBody>
      </p:sp>
      <p:sp>
        <p:nvSpPr>
          <p:cNvPr id="12" name="Bottom-emitting OLED / EML (20 nm) right"/>
          <p:cNvSpPr/>
          <p:nvPr/>
        </p:nvSpPr>
        <p:spPr>
          <a:xfrm>
            <a:off x="7038091" y="2866441"/>
            <a:ext cx="900444" cy="771560"/>
          </a:xfrm>
          <a:custGeom>
            <a:avLst/>
            <a:gdLst/>
            <a:ahLst/>
            <a:cxnLst/>
            <a:rect l="l" t="t" r="r" b="b"/>
            <a:pathLst>
              <a:path w="900444" h="771560">
                <a:moveTo>
                  <a:pt x="900444" y="522501"/>
                </a:moveTo>
                <a:lnTo>
                  <a:pt x="900444" y="0"/>
                </a:lnTo>
                <a:lnTo>
                  <a:pt x="0" y="249059"/>
                </a:lnTo>
                <a:lnTo>
                  <a:pt x="0" y="771560"/>
                </a:lnTo>
                <a:close/>
              </a:path>
            </a:pathLst>
          </a:custGeom>
          <a:solidFill>
            <a:srgbClr val="993232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ottom-emitting OLED / EML (20 nm) front"/>
          <p:cNvSpPr/>
          <p:nvPr/>
        </p:nvSpPr>
        <p:spPr>
          <a:xfrm>
            <a:off x="4254902" y="2345681"/>
            <a:ext cx="2783189" cy="1292320"/>
          </a:xfrm>
          <a:custGeom>
            <a:avLst/>
            <a:gdLst/>
            <a:ahLst/>
            <a:cxnLst/>
            <a:rect l="l" t="t" r="r" b="b"/>
            <a:pathLst>
              <a:path w="2783189" h="1292320">
                <a:moveTo>
                  <a:pt x="2783189" y="1292320"/>
                </a:moveTo>
                <a:lnTo>
                  <a:pt x="2783189" y="769819"/>
                </a:lnTo>
                <a:lnTo>
                  <a:pt x="0" y="0"/>
                </a:lnTo>
                <a:lnTo>
                  <a:pt x="0" y="522502"/>
                </a:lnTo>
                <a:close/>
              </a:path>
            </a:pathLst>
          </a:custGeom>
          <a:solidFill>
            <a:srgbClr val="7D2929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ottom-emitting OLED / EML (20 nm) label"/>
          <p:cNvSpPr txBox="1"/>
          <p:nvPr/>
        </p:nvSpPr>
        <p:spPr>
          <a:xfrm>
            <a:off x="4166076" y="2844670"/>
            <a:ext cx="2960840" cy="29434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91" b="0">
                <a:solidFill>
                  <a:srgbClr val="F2F5F8"/>
                </a:solidFill>
                <a:latin typeface="Arial"/>
              </a:rPr>
              <a:t>EML (20 nm)</a:t>
            </a:r>
          </a:p>
        </p:txBody>
      </p:sp>
      <p:sp>
        <p:nvSpPr>
          <p:cNvPr id="15" name="Bottom-emitting OLED / ETL (200 nm) right"/>
          <p:cNvSpPr/>
          <p:nvPr/>
        </p:nvSpPr>
        <p:spPr>
          <a:xfrm>
            <a:off x="7038091" y="2343940"/>
            <a:ext cx="900444" cy="771560"/>
          </a:xfrm>
          <a:custGeom>
            <a:avLst/>
            <a:gdLst/>
            <a:ahLst/>
            <a:cxnLst/>
            <a:rect l="l" t="t" r="r" b="b"/>
            <a:pathLst>
              <a:path w="900444" h="771560">
                <a:moveTo>
                  <a:pt x="900444" y="522501"/>
                </a:moveTo>
                <a:lnTo>
                  <a:pt x="900444" y="0"/>
                </a:lnTo>
                <a:lnTo>
                  <a:pt x="0" y="249059"/>
                </a:lnTo>
                <a:lnTo>
                  <a:pt x="0" y="771560"/>
                </a:lnTo>
                <a:close/>
              </a:path>
            </a:pathLst>
          </a:custGeom>
          <a:solidFill>
            <a:srgbClr val="6D84BB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ottom-emitting OLED / ETL (200 nm) front"/>
          <p:cNvSpPr/>
          <p:nvPr/>
        </p:nvSpPr>
        <p:spPr>
          <a:xfrm>
            <a:off x="4254902" y="1823180"/>
            <a:ext cx="2783189" cy="1292320"/>
          </a:xfrm>
          <a:custGeom>
            <a:avLst/>
            <a:gdLst/>
            <a:ahLst/>
            <a:cxnLst/>
            <a:rect l="l" t="t" r="r" b="b"/>
            <a:pathLst>
              <a:path w="2783189" h="1292320">
                <a:moveTo>
                  <a:pt x="2783189" y="1292320"/>
                </a:moveTo>
                <a:lnTo>
                  <a:pt x="2783189" y="769819"/>
                </a:lnTo>
                <a:lnTo>
                  <a:pt x="0" y="0"/>
                </a:lnTo>
                <a:lnTo>
                  <a:pt x="0" y="522501"/>
                </a:lnTo>
                <a:close/>
              </a:path>
            </a:pathLst>
          </a:custGeom>
          <a:solidFill>
            <a:srgbClr val="596C99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ottom-emitting OLED / ETL (200 nm) label"/>
          <p:cNvSpPr txBox="1"/>
          <p:nvPr/>
        </p:nvSpPr>
        <p:spPr>
          <a:xfrm>
            <a:off x="4166076" y="2322169"/>
            <a:ext cx="2960840" cy="29434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91" b="0">
                <a:solidFill>
                  <a:srgbClr val="1B2026"/>
                </a:solidFill>
                <a:latin typeface="Arial"/>
              </a:rPr>
              <a:t>ETL (200 nm)</a:t>
            </a:r>
          </a:p>
        </p:txBody>
      </p:sp>
      <p:sp>
        <p:nvSpPr>
          <p:cNvPr id="18" name="Bottom-emitting OLED / Ag (100 nm) top"/>
          <p:cNvSpPr/>
          <p:nvPr/>
        </p:nvSpPr>
        <p:spPr>
          <a:xfrm>
            <a:off x="4254902" y="1051620"/>
            <a:ext cx="3683633" cy="1018878"/>
          </a:xfrm>
          <a:custGeom>
            <a:avLst/>
            <a:gdLst/>
            <a:ahLst/>
            <a:cxnLst/>
            <a:rect l="l" t="t" r="r" b="b"/>
            <a:pathLst>
              <a:path w="3683633" h="1018878">
                <a:moveTo>
                  <a:pt x="900443" y="0"/>
                </a:moveTo>
                <a:lnTo>
                  <a:pt x="3683633" y="769819"/>
                </a:lnTo>
                <a:lnTo>
                  <a:pt x="2783189" y="1018878"/>
                </a:lnTo>
                <a:lnTo>
                  <a:pt x="0" y="249059"/>
                </a:lnTo>
                <a:close/>
              </a:path>
            </a:pathLst>
          </a:custGeom>
          <a:solidFill>
            <a:srgbClr val="C9CED3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ottom-emitting OLED / Ag (100 nm) right"/>
          <p:cNvSpPr/>
          <p:nvPr/>
        </p:nvSpPr>
        <p:spPr>
          <a:xfrm>
            <a:off x="7038091" y="1821439"/>
            <a:ext cx="900444" cy="771560"/>
          </a:xfrm>
          <a:custGeom>
            <a:avLst/>
            <a:gdLst/>
            <a:ahLst/>
            <a:cxnLst/>
            <a:rect l="l" t="t" r="r" b="b"/>
            <a:pathLst>
              <a:path w="900444" h="771560">
                <a:moveTo>
                  <a:pt x="900444" y="522501"/>
                </a:moveTo>
                <a:lnTo>
                  <a:pt x="900444" y="0"/>
                </a:lnTo>
                <a:lnTo>
                  <a:pt x="0" y="249059"/>
                </a:lnTo>
                <a:lnTo>
                  <a:pt x="0" y="771560"/>
                </a:lnTo>
                <a:close/>
              </a:path>
            </a:pathLst>
          </a:custGeom>
          <a:solidFill>
            <a:srgbClr val="ADB1B5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ottom-emitting OLED / Ag (100 nm) front"/>
          <p:cNvSpPr/>
          <p:nvPr/>
        </p:nvSpPr>
        <p:spPr>
          <a:xfrm>
            <a:off x="4254902" y="1300679"/>
            <a:ext cx="2783189" cy="1292320"/>
          </a:xfrm>
          <a:custGeom>
            <a:avLst/>
            <a:gdLst/>
            <a:ahLst/>
            <a:cxnLst/>
            <a:rect l="l" t="t" r="r" b="b"/>
            <a:pathLst>
              <a:path w="2783189" h="1292320">
                <a:moveTo>
                  <a:pt x="2783189" y="1292320"/>
                </a:moveTo>
                <a:lnTo>
                  <a:pt x="2783189" y="769819"/>
                </a:lnTo>
                <a:lnTo>
                  <a:pt x="0" y="0"/>
                </a:lnTo>
                <a:lnTo>
                  <a:pt x="0" y="522501"/>
                </a:lnTo>
                <a:close/>
              </a:path>
            </a:pathLst>
          </a:custGeom>
          <a:solidFill>
            <a:srgbClr val="8D9094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ottom-emitting OLED / Ag (100 nm) label"/>
          <p:cNvSpPr txBox="1"/>
          <p:nvPr/>
        </p:nvSpPr>
        <p:spPr>
          <a:xfrm>
            <a:off x="4166076" y="1799668"/>
            <a:ext cx="2960840" cy="29434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91" b="0">
                <a:solidFill>
                  <a:srgbClr val="1B2026"/>
                </a:solidFill>
                <a:latin typeface="Arial"/>
              </a:rPr>
              <a:t>Ag (100 nm)</a:t>
            </a:r>
          </a:p>
        </p:txBody>
      </p:sp>
      <p:sp>
        <p:nvSpPr>
          <p:cNvPr id="22" name="Bottom-emitting OLED title"/>
          <p:cNvSpPr txBox="1"/>
          <p:nvPr/>
        </p:nvSpPr>
        <p:spPr>
          <a:xfrm>
            <a:off x="3832546" y="296606"/>
            <a:ext cx="4528344" cy="43019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2" b="1">
                <a:solidFill>
                  <a:srgbClr val="1B2026"/>
                </a:solidFill>
                <a:latin typeface="Arial"/>
              </a:rPr>
              <a:t>Bottom-emitting OLED</a:t>
            </a:r>
          </a:p>
        </p:txBody>
      </p:sp>
      <p:cxnSp>
        <p:nvCxnSpPr>
          <p:cNvPr id="23" name="bottom emission"/>
          <p:cNvCxnSpPr/>
          <p:nvPr/>
        </p:nvCxnSpPr>
        <p:spPr>
          <a:xfrm flipH="1">
            <a:off x="5417467" y="5466755"/>
            <a:ext cx="461891" cy="487668"/>
          </a:xfrm>
          <a:prstGeom prst="line">
            <a:avLst/>
          </a:prstGeom>
          <a:ln w="22642">
            <a:solidFill>
              <a:srgbClr val="2E9E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bottom emission"/>
          <p:cNvCxnSpPr/>
          <p:nvPr/>
        </p:nvCxnSpPr>
        <p:spPr>
          <a:xfrm>
            <a:off x="6096718" y="5466755"/>
            <a:ext cx="0" cy="627002"/>
          </a:xfrm>
          <a:prstGeom prst="line">
            <a:avLst/>
          </a:prstGeom>
          <a:ln w="22642">
            <a:solidFill>
              <a:srgbClr val="2E9E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bottom emission"/>
          <p:cNvCxnSpPr/>
          <p:nvPr/>
        </p:nvCxnSpPr>
        <p:spPr>
          <a:xfrm>
            <a:off x="6314079" y="5466755"/>
            <a:ext cx="461891" cy="487668"/>
          </a:xfrm>
          <a:prstGeom prst="line">
            <a:avLst/>
          </a:prstGeom>
          <a:ln w="22642">
            <a:solidFill>
              <a:srgbClr val="2E9E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emission label"/>
          <p:cNvSpPr txBox="1"/>
          <p:nvPr/>
        </p:nvSpPr>
        <p:spPr>
          <a:xfrm>
            <a:off x="4790465" y="6196951"/>
            <a:ext cx="2612506" cy="35094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62" b="0">
                <a:solidFill>
                  <a:srgbClr val="2E9E4F"/>
                </a:solidFill>
                <a:latin typeface="Arial"/>
              </a:rPr>
              <a:t>Bottom emission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