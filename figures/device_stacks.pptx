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 reflector + MLA film / Glass + Microlens array film right"/>
          <p:cNvSpPr/>
          <p:nvPr/>
        </p:nvSpPr>
        <p:spPr>
          <a:xfrm>
            <a:off x="2304579" y="4665587"/>
            <a:ext cx="980386" cy="1015911"/>
          </a:xfrm>
          <a:custGeom>
            <a:avLst/>
            <a:gdLst/>
            <a:ahLst/>
            <a:cxnLst/>
            <a:rect l="l" t="t" r="r" b="b"/>
            <a:pathLst>
              <a:path w="980386" h="1015911">
                <a:moveTo>
                  <a:pt x="980386" y="0"/>
                </a:moveTo>
                <a:lnTo>
                  <a:pt x="0" y="566043"/>
                </a:lnTo>
                <a:lnTo>
                  <a:pt x="0" y="966627"/>
                </a:lnTo>
                <a:lnTo>
                  <a:pt x="15561" y="1008468"/>
                </a:lnTo>
                <a:lnTo>
                  <a:pt x="31123" y="1015894"/>
                </a:lnTo>
                <a:lnTo>
                  <a:pt x="46685" y="1015911"/>
                </a:lnTo>
                <a:lnTo>
                  <a:pt x="62246" y="1011050"/>
                </a:lnTo>
                <a:lnTo>
                  <a:pt x="77808" y="1002066"/>
                </a:lnTo>
                <a:lnTo>
                  <a:pt x="93370" y="988957"/>
                </a:lnTo>
                <a:lnTo>
                  <a:pt x="108932" y="970970"/>
                </a:lnTo>
                <a:lnTo>
                  <a:pt x="124493" y="945574"/>
                </a:lnTo>
                <a:lnTo>
                  <a:pt x="140055" y="885764"/>
                </a:lnTo>
                <a:lnTo>
                  <a:pt x="140055" y="885764"/>
                </a:lnTo>
                <a:lnTo>
                  <a:pt x="155617" y="927605"/>
                </a:lnTo>
                <a:lnTo>
                  <a:pt x="171178" y="935030"/>
                </a:lnTo>
                <a:lnTo>
                  <a:pt x="186740" y="935048"/>
                </a:lnTo>
                <a:lnTo>
                  <a:pt x="202302" y="930187"/>
                </a:lnTo>
                <a:lnTo>
                  <a:pt x="217863" y="921202"/>
                </a:lnTo>
                <a:lnTo>
                  <a:pt x="233425" y="908094"/>
                </a:lnTo>
                <a:lnTo>
                  <a:pt x="248987" y="890106"/>
                </a:lnTo>
                <a:lnTo>
                  <a:pt x="264548" y="864711"/>
                </a:lnTo>
                <a:lnTo>
                  <a:pt x="280110" y="804901"/>
                </a:lnTo>
                <a:lnTo>
                  <a:pt x="280110" y="804901"/>
                </a:lnTo>
                <a:lnTo>
                  <a:pt x="295672" y="846741"/>
                </a:lnTo>
                <a:lnTo>
                  <a:pt x="311233" y="854167"/>
                </a:lnTo>
                <a:lnTo>
                  <a:pt x="326795" y="854185"/>
                </a:lnTo>
                <a:lnTo>
                  <a:pt x="342357" y="849324"/>
                </a:lnTo>
                <a:lnTo>
                  <a:pt x="357919" y="840339"/>
                </a:lnTo>
                <a:lnTo>
                  <a:pt x="373480" y="827230"/>
                </a:lnTo>
                <a:lnTo>
                  <a:pt x="389042" y="809243"/>
                </a:lnTo>
                <a:lnTo>
                  <a:pt x="404604" y="783848"/>
                </a:lnTo>
                <a:lnTo>
                  <a:pt x="420165" y="724037"/>
                </a:lnTo>
                <a:lnTo>
                  <a:pt x="420165" y="724037"/>
                </a:lnTo>
                <a:lnTo>
                  <a:pt x="435727" y="765878"/>
                </a:lnTo>
                <a:lnTo>
                  <a:pt x="451289" y="773304"/>
                </a:lnTo>
                <a:lnTo>
                  <a:pt x="466850" y="773321"/>
                </a:lnTo>
                <a:lnTo>
                  <a:pt x="482412" y="768461"/>
                </a:lnTo>
                <a:lnTo>
                  <a:pt x="497974" y="759476"/>
                </a:lnTo>
                <a:lnTo>
                  <a:pt x="513535" y="746367"/>
                </a:lnTo>
                <a:lnTo>
                  <a:pt x="529097" y="728380"/>
                </a:lnTo>
                <a:lnTo>
                  <a:pt x="544659" y="702985"/>
                </a:lnTo>
                <a:lnTo>
                  <a:pt x="560221" y="643174"/>
                </a:lnTo>
                <a:lnTo>
                  <a:pt x="560221" y="643174"/>
                </a:lnTo>
                <a:lnTo>
                  <a:pt x="575782" y="685015"/>
                </a:lnTo>
                <a:lnTo>
                  <a:pt x="591344" y="692441"/>
                </a:lnTo>
                <a:lnTo>
                  <a:pt x="606906" y="692458"/>
                </a:lnTo>
                <a:lnTo>
                  <a:pt x="622467" y="687597"/>
                </a:lnTo>
                <a:lnTo>
                  <a:pt x="638029" y="678613"/>
                </a:lnTo>
                <a:lnTo>
                  <a:pt x="653591" y="665504"/>
                </a:lnTo>
                <a:lnTo>
                  <a:pt x="669152" y="647516"/>
                </a:lnTo>
                <a:lnTo>
                  <a:pt x="684714" y="622121"/>
                </a:lnTo>
                <a:lnTo>
                  <a:pt x="700276" y="562311"/>
                </a:lnTo>
                <a:lnTo>
                  <a:pt x="700276" y="562311"/>
                </a:lnTo>
                <a:lnTo>
                  <a:pt x="715837" y="604152"/>
                </a:lnTo>
                <a:lnTo>
                  <a:pt x="731399" y="611577"/>
                </a:lnTo>
                <a:lnTo>
                  <a:pt x="746961" y="611595"/>
                </a:lnTo>
                <a:lnTo>
                  <a:pt x="762522" y="606734"/>
                </a:lnTo>
                <a:lnTo>
                  <a:pt x="778084" y="597749"/>
                </a:lnTo>
                <a:lnTo>
                  <a:pt x="793646" y="584640"/>
                </a:lnTo>
                <a:lnTo>
                  <a:pt x="809208" y="566653"/>
                </a:lnTo>
                <a:lnTo>
                  <a:pt x="824769" y="541258"/>
                </a:lnTo>
                <a:lnTo>
                  <a:pt x="840331" y="481447"/>
                </a:lnTo>
                <a:lnTo>
                  <a:pt x="840331" y="481447"/>
                </a:lnTo>
                <a:lnTo>
                  <a:pt x="855893" y="523288"/>
                </a:lnTo>
                <a:lnTo>
                  <a:pt x="871454" y="530714"/>
                </a:lnTo>
                <a:lnTo>
                  <a:pt x="887016" y="530732"/>
                </a:lnTo>
                <a:lnTo>
                  <a:pt x="902578" y="525871"/>
                </a:lnTo>
                <a:lnTo>
                  <a:pt x="918139" y="516886"/>
                </a:lnTo>
                <a:lnTo>
                  <a:pt x="933701" y="503777"/>
                </a:lnTo>
                <a:lnTo>
                  <a:pt x="949263" y="485790"/>
                </a:lnTo>
                <a:lnTo>
                  <a:pt x="964824" y="460395"/>
                </a:lnTo>
                <a:lnTo>
                  <a:pt x="980386" y="400584"/>
                </a:lnTo>
                <a:close/>
              </a:path>
            </a:pathLst>
          </a:custGeom>
          <a:solidFill>
            <a:srgbClr val="B2C4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 reflector + MLA film / Glass + Microlens array film front"/>
          <p:cNvSpPr/>
          <p:nvPr/>
        </p:nvSpPr>
        <p:spPr>
          <a:xfrm>
            <a:off x="1022535" y="4491420"/>
            <a:ext cx="1282044" cy="1190921"/>
          </a:xfrm>
          <a:custGeom>
            <a:avLst/>
            <a:gdLst/>
            <a:ahLst/>
            <a:cxnLst/>
            <a:rect l="l" t="t" r="r" b="b"/>
            <a:pathLst>
              <a:path w="1282044" h="1190921">
                <a:moveTo>
                  <a:pt x="1282044" y="740210"/>
                </a:moveTo>
                <a:lnTo>
                  <a:pt x="0" y="0"/>
                </a:lnTo>
                <a:lnTo>
                  <a:pt x="0" y="400584"/>
                </a:lnTo>
                <a:lnTo>
                  <a:pt x="15828" y="461417"/>
                </a:lnTo>
                <a:lnTo>
                  <a:pt x="31655" y="487246"/>
                </a:lnTo>
                <a:lnTo>
                  <a:pt x="47483" y="505541"/>
                </a:lnTo>
                <a:lnTo>
                  <a:pt x="63311" y="518874"/>
                </a:lnTo>
                <a:lnTo>
                  <a:pt x="79138" y="528012"/>
                </a:lnTo>
                <a:lnTo>
                  <a:pt x="94966" y="532956"/>
                </a:lnTo>
                <a:lnTo>
                  <a:pt x="110794" y="532938"/>
                </a:lnTo>
                <a:lnTo>
                  <a:pt x="126621" y="525386"/>
                </a:lnTo>
                <a:lnTo>
                  <a:pt x="142449" y="482830"/>
                </a:lnTo>
                <a:lnTo>
                  <a:pt x="142449" y="482830"/>
                </a:lnTo>
                <a:lnTo>
                  <a:pt x="158277" y="543663"/>
                </a:lnTo>
                <a:lnTo>
                  <a:pt x="174105" y="569492"/>
                </a:lnTo>
                <a:lnTo>
                  <a:pt x="189932" y="587787"/>
                </a:lnTo>
                <a:lnTo>
                  <a:pt x="205760" y="601120"/>
                </a:lnTo>
                <a:lnTo>
                  <a:pt x="221588" y="610258"/>
                </a:lnTo>
                <a:lnTo>
                  <a:pt x="237415" y="615202"/>
                </a:lnTo>
                <a:lnTo>
                  <a:pt x="253243" y="615184"/>
                </a:lnTo>
                <a:lnTo>
                  <a:pt x="269071" y="607631"/>
                </a:lnTo>
                <a:lnTo>
                  <a:pt x="284899" y="565075"/>
                </a:lnTo>
                <a:lnTo>
                  <a:pt x="284899" y="565075"/>
                </a:lnTo>
                <a:lnTo>
                  <a:pt x="300726" y="625908"/>
                </a:lnTo>
                <a:lnTo>
                  <a:pt x="316554" y="651737"/>
                </a:lnTo>
                <a:lnTo>
                  <a:pt x="332382" y="670032"/>
                </a:lnTo>
                <a:lnTo>
                  <a:pt x="348209" y="683365"/>
                </a:lnTo>
                <a:lnTo>
                  <a:pt x="364037" y="692503"/>
                </a:lnTo>
                <a:lnTo>
                  <a:pt x="379865" y="697447"/>
                </a:lnTo>
                <a:lnTo>
                  <a:pt x="395692" y="697429"/>
                </a:lnTo>
                <a:lnTo>
                  <a:pt x="411520" y="689877"/>
                </a:lnTo>
                <a:lnTo>
                  <a:pt x="427348" y="647321"/>
                </a:lnTo>
                <a:lnTo>
                  <a:pt x="427348" y="647321"/>
                </a:lnTo>
                <a:lnTo>
                  <a:pt x="443176" y="708154"/>
                </a:lnTo>
                <a:lnTo>
                  <a:pt x="459003" y="733983"/>
                </a:lnTo>
                <a:lnTo>
                  <a:pt x="474831" y="752278"/>
                </a:lnTo>
                <a:lnTo>
                  <a:pt x="490659" y="765611"/>
                </a:lnTo>
                <a:lnTo>
                  <a:pt x="506486" y="774749"/>
                </a:lnTo>
                <a:lnTo>
                  <a:pt x="522314" y="779693"/>
                </a:lnTo>
                <a:lnTo>
                  <a:pt x="538142" y="779675"/>
                </a:lnTo>
                <a:lnTo>
                  <a:pt x="553969" y="772122"/>
                </a:lnTo>
                <a:lnTo>
                  <a:pt x="569797" y="729566"/>
                </a:lnTo>
                <a:lnTo>
                  <a:pt x="569797" y="729566"/>
                </a:lnTo>
                <a:lnTo>
                  <a:pt x="585625" y="790399"/>
                </a:lnTo>
                <a:lnTo>
                  <a:pt x="601453" y="816229"/>
                </a:lnTo>
                <a:lnTo>
                  <a:pt x="617280" y="834523"/>
                </a:lnTo>
                <a:lnTo>
                  <a:pt x="633108" y="847856"/>
                </a:lnTo>
                <a:lnTo>
                  <a:pt x="648936" y="856995"/>
                </a:lnTo>
                <a:lnTo>
                  <a:pt x="664763" y="861939"/>
                </a:lnTo>
                <a:lnTo>
                  <a:pt x="680591" y="861921"/>
                </a:lnTo>
                <a:lnTo>
                  <a:pt x="696419" y="854368"/>
                </a:lnTo>
                <a:lnTo>
                  <a:pt x="712246" y="811812"/>
                </a:lnTo>
                <a:lnTo>
                  <a:pt x="712246" y="811812"/>
                </a:lnTo>
                <a:lnTo>
                  <a:pt x="728074" y="872645"/>
                </a:lnTo>
                <a:lnTo>
                  <a:pt x="743902" y="898474"/>
                </a:lnTo>
                <a:lnTo>
                  <a:pt x="759730" y="916769"/>
                </a:lnTo>
                <a:lnTo>
                  <a:pt x="775557" y="930102"/>
                </a:lnTo>
                <a:lnTo>
                  <a:pt x="791385" y="939240"/>
                </a:lnTo>
                <a:lnTo>
                  <a:pt x="807213" y="944184"/>
                </a:lnTo>
                <a:lnTo>
                  <a:pt x="823040" y="944166"/>
                </a:lnTo>
                <a:lnTo>
                  <a:pt x="838868" y="936614"/>
                </a:lnTo>
                <a:lnTo>
                  <a:pt x="854696" y="894057"/>
                </a:lnTo>
                <a:lnTo>
                  <a:pt x="854696" y="894057"/>
                </a:lnTo>
                <a:lnTo>
                  <a:pt x="870523" y="954890"/>
                </a:lnTo>
                <a:lnTo>
                  <a:pt x="886351" y="980720"/>
                </a:lnTo>
                <a:lnTo>
                  <a:pt x="902179" y="999014"/>
                </a:lnTo>
                <a:lnTo>
                  <a:pt x="918007" y="1012347"/>
                </a:lnTo>
                <a:lnTo>
                  <a:pt x="933834" y="1021486"/>
                </a:lnTo>
                <a:lnTo>
                  <a:pt x="949662" y="1026430"/>
                </a:lnTo>
                <a:lnTo>
                  <a:pt x="965490" y="1026412"/>
                </a:lnTo>
                <a:lnTo>
                  <a:pt x="981317" y="1018859"/>
                </a:lnTo>
                <a:lnTo>
                  <a:pt x="997145" y="976303"/>
                </a:lnTo>
                <a:lnTo>
                  <a:pt x="997145" y="976303"/>
                </a:lnTo>
                <a:lnTo>
                  <a:pt x="1012973" y="1037136"/>
                </a:lnTo>
                <a:lnTo>
                  <a:pt x="1028800" y="1062965"/>
                </a:lnTo>
                <a:lnTo>
                  <a:pt x="1044628" y="1081260"/>
                </a:lnTo>
                <a:lnTo>
                  <a:pt x="1060456" y="1094593"/>
                </a:lnTo>
                <a:lnTo>
                  <a:pt x="1076284" y="1103731"/>
                </a:lnTo>
                <a:lnTo>
                  <a:pt x="1092111" y="1108675"/>
                </a:lnTo>
                <a:lnTo>
                  <a:pt x="1107939" y="1108657"/>
                </a:lnTo>
                <a:lnTo>
                  <a:pt x="1123767" y="1101105"/>
                </a:lnTo>
                <a:lnTo>
                  <a:pt x="1139594" y="1058549"/>
                </a:lnTo>
                <a:lnTo>
                  <a:pt x="1139594" y="1058549"/>
                </a:lnTo>
                <a:lnTo>
                  <a:pt x="1155422" y="1119382"/>
                </a:lnTo>
                <a:lnTo>
                  <a:pt x="1171250" y="1145211"/>
                </a:lnTo>
                <a:lnTo>
                  <a:pt x="1187077" y="1163506"/>
                </a:lnTo>
                <a:lnTo>
                  <a:pt x="1202905" y="1176838"/>
                </a:lnTo>
                <a:lnTo>
                  <a:pt x="1218733" y="1185977"/>
                </a:lnTo>
                <a:lnTo>
                  <a:pt x="1234561" y="1190921"/>
                </a:lnTo>
                <a:lnTo>
                  <a:pt x="1250388" y="1190903"/>
                </a:lnTo>
                <a:lnTo>
                  <a:pt x="1266216" y="1183350"/>
                </a:lnTo>
                <a:lnTo>
                  <a:pt x="1282044" y="1140794"/>
                </a:lnTo>
                <a:close/>
              </a:path>
            </a:pathLst>
          </a:custGeom>
          <a:solidFill>
            <a:srgbClr val="91A0A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Ag reflector + MLA film / Glass + Microlens array film leader"/>
          <p:cNvCxnSpPr/>
          <p:nvPr/>
        </p:nvCxnSpPr>
        <p:spPr>
          <a:xfrm>
            <a:off x="3337215" y="486587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Ag reflector + MLA film / Glass + Microlens array film label"/>
          <p:cNvSpPr txBox="1"/>
          <p:nvPr/>
        </p:nvSpPr>
        <p:spPr>
          <a:xfrm>
            <a:off x="3744592" y="470172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Glass + Microlens array film</a:t>
            </a:r>
          </a:p>
        </p:txBody>
      </p:sp>
      <p:sp>
        <p:nvSpPr>
          <p:cNvPr id="6" name="Ag reflector + MLA film / ITO [150] right"/>
          <p:cNvSpPr/>
          <p:nvPr/>
        </p:nvSpPr>
        <p:spPr>
          <a:xfrm>
            <a:off x="2304579" y="4378211"/>
            <a:ext cx="980386" cy="853419"/>
          </a:xfrm>
          <a:custGeom>
            <a:avLst/>
            <a:gdLst/>
            <a:ahLst/>
            <a:cxnLst/>
            <a:rect l="l" t="t" r="r" b="b"/>
            <a:pathLst>
              <a:path w="980386" h="853419">
                <a:moveTo>
                  <a:pt x="980386" y="287376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B5C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 reflector + MLA film / ITO [150] front"/>
          <p:cNvSpPr/>
          <p:nvPr/>
        </p:nvSpPr>
        <p:spPr>
          <a:xfrm>
            <a:off x="1022535" y="4204044"/>
            <a:ext cx="1282044" cy="1027586"/>
          </a:xfrm>
          <a:custGeom>
            <a:avLst/>
            <a:gdLst/>
            <a:ahLst/>
            <a:cxnLst/>
            <a:rect l="l" t="t" r="r" b="b"/>
            <a:pathLst>
              <a:path w="1282044" h="1027586">
                <a:moveTo>
                  <a:pt x="1282044" y="1027586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94A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Ag reflector + MLA film / ITO [150] leader"/>
          <p:cNvCxnSpPr/>
          <p:nvPr/>
        </p:nvCxnSpPr>
        <p:spPr>
          <a:xfrm>
            <a:off x="3337215" y="452189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Ag reflector + MLA film / ITO [150] label"/>
          <p:cNvSpPr txBox="1"/>
          <p:nvPr/>
        </p:nvSpPr>
        <p:spPr>
          <a:xfrm>
            <a:off x="3744592" y="435774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ITO [150]</a:t>
            </a:r>
          </a:p>
        </p:txBody>
      </p:sp>
      <p:sp>
        <p:nvSpPr>
          <p:cNvPr id="10" name="Ag reflector + MLA film / HATCN/TAPC [5/55] 3 pairs right"/>
          <p:cNvSpPr/>
          <p:nvPr/>
        </p:nvSpPr>
        <p:spPr>
          <a:xfrm>
            <a:off x="2304579" y="4090836"/>
            <a:ext cx="980386" cy="853418"/>
          </a:xfrm>
          <a:custGeom>
            <a:avLst/>
            <a:gdLst/>
            <a:ahLst/>
            <a:cxnLst/>
            <a:rect l="l" t="t" r="r" b="b"/>
            <a:pathLst>
              <a:path w="980386" h="853418">
                <a:moveTo>
                  <a:pt x="980386" y="287375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8"/>
                </a:lnTo>
                <a:close/>
              </a:path>
            </a:pathLst>
          </a:custGeom>
          <a:solidFill>
            <a:srgbClr val="D4C09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 reflector + MLA film / HATCN/TAPC [5/55] 3 pairs front"/>
          <p:cNvSpPr/>
          <p:nvPr/>
        </p:nvSpPr>
        <p:spPr>
          <a:xfrm>
            <a:off x="1022535" y="3916668"/>
            <a:ext cx="1282044" cy="1027586"/>
          </a:xfrm>
          <a:custGeom>
            <a:avLst/>
            <a:gdLst/>
            <a:ahLst/>
            <a:cxnLst/>
            <a:rect l="l" t="t" r="r" b="b"/>
            <a:pathLst>
              <a:path w="1282044" h="1027586">
                <a:moveTo>
                  <a:pt x="1282044" y="1027586"/>
                </a:moveTo>
                <a:lnTo>
                  <a:pt x="1282044" y="740211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AC9C7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Ag reflector + MLA film / HATCN/TAPC [5/55] 3 pairs leader"/>
          <p:cNvCxnSpPr/>
          <p:nvPr/>
        </p:nvCxnSpPr>
        <p:spPr>
          <a:xfrm>
            <a:off x="3337215" y="423452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g reflector + MLA film / HATCN/TAPC [5/55] 3 pairs label"/>
          <p:cNvSpPr txBox="1"/>
          <p:nvPr/>
        </p:nvSpPr>
        <p:spPr>
          <a:xfrm>
            <a:off x="3744592" y="4070371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HATCN/TAPC [5/55] 3 pairs</a:t>
            </a:r>
          </a:p>
        </p:txBody>
      </p:sp>
      <p:sp>
        <p:nvSpPr>
          <p:cNvPr id="14" name="Ag reflector + MLA film / TCTA [10] right"/>
          <p:cNvSpPr/>
          <p:nvPr/>
        </p:nvSpPr>
        <p:spPr>
          <a:xfrm>
            <a:off x="2304579" y="3847002"/>
            <a:ext cx="980386" cy="809877"/>
          </a:xfrm>
          <a:custGeom>
            <a:avLst/>
            <a:gdLst/>
            <a:ahLst/>
            <a:cxnLst/>
            <a:rect l="l" t="t" r="r" b="b"/>
            <a:pathLst>
              <a:path w="980386" h="809877">
                <a:moveTo>
                  <a:pt x="980386" y="243834"/>
                </a:moveTo>
                <a:lnTo>
                  <a:pt x="980386" y="0"/>
                </a:lnTo>
                <a:lnTo>
                  <a:pt x="0" y="566043"/>
                </a:lnTo>
                <a:lnTo>
                  <a:pt x="0" y="809877"/>
                </a:lnTo>
                <a:close/>
              </a:path>
            </a:pathLst>
          </a:custGeom>
          <a:solidFill>
            <a:srgbClr val="CE9E5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g reflector + MLA film / TCTA [10] front"/>
          <p:cNvSpPr/>
          <p:nvPr/>
        </p:nvSpPr>
        <p:spPr>
          <a:xfrm>
            <a:off x="1022535" y="3672835"/>
            <a:ext cx="1282044" cy="984044"/>
          </a:xfrm>
          <a:custGeom>
            <a:avLst/>
            <a:gdLst/>
            <a:ahLst/>
            <a:cxnLst/>
            <a:rect l="l" t="t" r="r" b="b"/>
            <a:pathLst>
              <a:path w="1282044" h="984044">
                <a:moveTo>
                  <a:pt x="1282044" y="984044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43833"/>
                </a:lnTo>
                <a:close/>
              </a:path>
            </a:pathLst>
          </a:custGeom>
          <a:solidFill>
            <a:srgbClr val="A8814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Ag reflector + MLA film / TCTA [10] leader"/>
          <p:cNvCxnSpPr/>
          <p:nvPr/>
        </p:nvCxnSpPr>
        <p:spPr>
          <a:xfrm>
            <a:off x="3337215" y="396891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g reflector + MLA film / TCTA [10] label"/>
          <p:cNvSpPr txBox="1"/>
          <p:nvPr/>
        </p:nvSpPr>
        <p:spPr>
          <a:xfrm>
            <a:off x="3744592" y="3804766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 [10]</a:t>
            </a:r>
          </a:p>
        </p:txBody>
      </p:sp>
      <p:sp>
        <p:nvSpPr>
          <p:cNvPr id="18" name="Ag reflector + MLA film / TCTA:B3PyMPM:Irppy₂acac [25] right"/>
          <p:cNvSpPr/>
          <p:nvPr/>
        </p:nvSpPr>
        <p:spPr>
          <a:xfrm>
            <a:off x="2304579" y="3533501"/>
            <a:ext cx="980386" cy="879544"/>
          </a:xfrm>
          <a:custGeom>
            <a:avLst/>
            <a:gdLst/>
            <a:ahLst/>
            <a:cxnLst/>
            <a:rect l="l" t="t" r="r" b="b"/>
            <a:pathLst>
              <a:path w="980386" h="879544">
                <a:moveTo>
                  <a:pt x="980386" y="313501"/>
                </a:moveTo>
                <a:lnTo>
                  <a:pt x="980386" y="0"/>
                </a:lnTo>
                <a:lnTo>
                  <a:pt x="0" y="566043"/>
                </a:lnTo>
                <a:lnTo>
                  <a:pt x="0" y="879544"/>
                </a:lnTo>
                <a:close/>
              </a:path>
            </a:pathLst>
          </a:custGeom>
          <a:solidFill>
            <a:srgbClr val="99323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 reflector + MLA film / TCTA:B3PyMPM:Irppy₂acac [25] front"/>
          <p:cNvSpPr/>
          <p:nvPr/>
        </p:nvSpPr>
        <p:spPr>
          <a:xfrm>
            <a:off x="1022535" y="3359334"/>
            <a:ext cx="1282044" cy="1053711"/>
          </a:xfrm>
          <a:custGeom>
            <a:avLst/>
            <a:gdLst/>
            <a:ahLst/>
            <a:cxnLst/>
            <a:rect l="l" t="t" r="r" b="b"/>
            <a:pathLst>
              <a:path w="1282044" h="1053711">
                <a:moveTo>
                  <a:pt x="1282044" y="1053711"/>
                </a:moveTo>
                <a:lnTo>
                  <a:pt x="1282044" y="740210"/>
                </a:lnTo>
                <a:lnTo>
                  <a:pt x="0" y="0"/>
                </a:lnTo>
                <a:lnTo>
                  <a:pt x="0" y="313501"/>
                </a:lnTo>
                <a:close/>
              </a:path>
            </a:pathLst>
          </a:custGeom>
          <a:solidFill>
            <a:srgbClr val="7D292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Ag reflector + MLA film / TCTA:B3PyMPM:Irppy₂acac [25] leader"/>
          <p:cNvCxnSpPr/>
          <p:nvPr/>
        </p:nvCxnSpPr>
        <p:spPr>
          <a:xfrm>
            <a:off x="3337215" y="3690251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g reflector + MLA film / TCTA:B3PyMPM:Irppy₂acac [25] label"/>
          <p:cNvSpPr txBox="1"/>
          <p:nvPr/>
        </p:nvSpPr>
        <p:spPr>
          <a:xfrm>
            <a:off x="3744592" y="3526099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TCTA:B3PyMPM:Irppy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acac [25]</a:t>
            </a:r>
          </a:p>
        </p:txBody>
      </p:sp>
      <p:sp>
        <p:nvSpPr>
          <p:cNvPr id="22" name="Ag reflector + MLA film / B3PyMPM [50] right"/>
          <p:cNvSpPr/>
          <p:nvPr/>
        </p:nvSpPr>
        <p:spPr>
          <a:xfrm>
            <a:off x="2304579" y="3246125"/>
            <a:ext cx="980386" cy="853419"/>
          </a:xfrm>
          <a:custGeom>
            <a:avLst/>
            <a:gdLst/>
            <a:ahLst/>
            <a:cxnLst/>
            <a:rect l="l" t="t" r="r" b="b"/>
            <a:pathLst>
              <a:path w="980386" h="853419">
                <a:moveTo>
                  <a:pt x="980386" y="287376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84B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g reflector + MLA film / B3PyMPM [50] front"/>
          <p:cNvSpPr/>
          <p:nvPr/>
        </p:nvSpPr>
        <p:spPr>
          <a:xfrm>
            <a:off x="1022535" y="3071958"/>
            <a:ext cx="1282044" cy="1027586"/>
          </a:xfrm>
          <a:custGeom>
            <a:avLst/>
            <a:gdLst/>
            <a:ahLst/>
            <a:cxnLst/>
            <a:rect l="l" t="t" r="r" b="b"/>
            <a:pathLst>
              <a:path w="1282044" h="1027586">
                <a:moveTo>
                  <a:pt x="1282044" y="1027586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6C9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Ag reflector + MLA film / B3PyMPM [50] leader"/>
          <p:cNvCxnSpPr/>
          <p:nvPr/>
        </p:nvCxnSpPr>
        <p:spPr>
          <a:xfrm>
            <a:off x="3337215" y="338981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g reflector + MLA film / B3PyMPM [50] label"/>
          <p:cNvSpPr txBox="1"/>
          <p:nvPr/>
        </p:nvSpPr>
        <p:spPr>
          <a:xfrm>
            <a:off x="3744592" y="3225661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 [50]</a:t>
            </a:r>
          </a:p>
        </p:txBody>
      </p:sp>
      <p:sp>
        <p:nvSpPr>
          <p:cNvPr id="26" name="Ag reflector + MLA film / B3PyMPM:Cs₂CO₃ [5] right"/>
          <p:cNvSpPr/>
          <p:nvPr/>
        </p:nvSpPr>
        <p:spPr>
          <a:xfrm>
            <a:off x="2304579" y="3019708"/>
            <a:ext cx="980386" cy="792460"/>
          </a:xfrm>
          <a:custGeom>
            <a:avLst/>
            <a:gdLst/>
            <a:ahLst/>
            <a:cxnLst/>
            <a:rect l="l" t="t" r="r" b="b"/>
            <a:pathLst>
              <a:path w="980386" h="792460">
                <a:moveTo>
                  <a:pt x="980386" y="226417"/>
                </a:moveTo>
                <a:lnTo>
                  <a:pt x="980386" y="0"/>
                </a:lnTo>
                <a:lnTo>
                  <a:pt x="0" y="566043"/>
                </a:lnTo>
                <a:lnTo>
                  <a:pt x="0" y="792460"/>
                </a:lnTo>
                <a:close/>
              </a:path>
            </a:pathLst>
          </a:custGeom>
          <a:solidFill>
            <a:srgbClr val="3B539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g reflector + MLA film / B3PyMPM:Cs₂CO₃ [5] front"/>
          <p:cNvSpPr/>
          <p:nvPr/>
        </p:nvSpPr>
        <p:spPr>
          <a:xfrm>
            <a:off x="1022535" y="2845541"/>
            <a:ext cx="1282044" cy="966627"/>
          </a:xfrm>
          <a:custGeom>
            <a:avLst/>
            <a:gdLst/>
            <a:ahLst/>
            <a:cxnLst/>
            <a:rect l="l" t="t" r="r" b="b"/>
            <a:pathLst>
              <a:path w="1282044" h="966627">
                <a:moveTo>
                  <a:pt x="1282044" y="966627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26417"/>
                </a:lnTo>
                <a:close/>
              </a:path>
            </a:pathLst>
          </a:custGeom>
          <a:solidFill>
            <a:srgbClr val="30437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Ag reflector + MLA film / B3PyMPM:Cs₂CO₃ [5] leader"/>
          <p:cNvCxnSpPr/>
          <p:nvPr/>
        </p:nvCxnSpPr>
        <p:spPr>
          <a:xfrm>
            <a:off x="3337215" y="3132917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g reflector + MLA film / B3PyMPM:Cs₂CO₃ [5] label"/>
          <p:cNvSpPr txBox="1"/>
          <p:nvPr/>
        </p:nvSpPr>
        <p:spPr>
          <a:xfrm>
            <a:off x="3744592" y="2968764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B3PyMPM:Cs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CO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3</a:t>
            </a:r>
            <a:r>
              <a:rPr sz="994" b="0">
                <a:solidFill>
                  <a:srgbClr val="1B2026"/>
                </a:solidFill>
                <a:latin typeface="Arial"/>
              </a:rPr>
              <a:t> [5]</a:t>
            </a:r>
          </a:p>
        </p:txBody>
      </p:sp>
      <p:sp>
        <p:nvSpPr>
          <p:cNvPr id="30" name="Ag reflector + MLA film / Ag [100] right"/>
          <p:cNvSpPr/>
          <p:nvPr/>
        </p:nvSpPr>
        <p:spPr>
          <a:xfrm>
            <a:off x="2304579" y="2758457"/>
            <a:ext cx="980386" cy="827294"/>
          </a:xfrm>
          <a:custGeom>
            <a:avLst/>
            <a:gdLst/>
            <a:ahLst/>
            <a:cxnLst/>
            <a:rect l="l" t="t" r="r" b="b"/>
            <a:pathLst>
              <a:path w="980386" h="827294">
                <a:moveTo>
                  <a:pt x="980386" y="261251"/>
                </a:moveTo>
                <a:lnTo>
                  <a:pt x="980386" y="0"/>
                </a:lnTo>
                <a:lnTo>
                  <a:pt x="0" y="566043"/>
                </a:lnTo>
                <a:lnTo>
                  <a:pt x="0" y="827294"/>
                </a:lnTo>
                <a:close/>
              </a:path>
            </a:pathLst>
          </a:custGeom>
          <a:solidFill>
            <a:srgbClr val="ADB1B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g reflector + MLA film / Ag [100] front"/>
          <p:cNvSpPr/>
          <p:nvPr/>
        </p:nvSpPr>
        <p:spPr>
          <a:xfrm>
            <a:off x="1022535" y="2584290"/>
            <a:ext cx="1282044" cy="1001461"/>
          </a:xfrm>
          <a:custGeom>
            <a:avLst/>
            <a:gdLst/>
            <a:ahLst/>
            <a:cxnLst/>
            <a:rect l="l" t="t" r="r" b="b"/>
            <a:pathLst>
              <a:path w="1282044" h="1001461">
                <a:moveTo>
                  <a:pt x="1282044" y="1001461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61251"/>
                </a:lnTo>
                <a:close/>
              </a:path>
            </a:pathLst>
          </a:custGeom>
          <a:solidFill>
            <a:srgbClr val="8D909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Ag reflector + MLA film / Ag [100] leader"/>
          <p:cNvCxnSpPr/>
          <p:nvPr/>
        </p:nvCxnSpPr>
        <p:spPr>
          <a:xfrm>
            <a:off x="3337215" y="288908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g reflector + MLA film / Ag [100] label"/>
          <p:cNvSpPr txBox="1"/>
          <p:nvPr/>
        </p:nvSpPr>
        <p:spPr>
          <a:xfrm>
            <a:off x="3744592" y="2724930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Ag [100]</a:t>
            </a:r>
          </a:p>
        </p:txBody>
      </p:sp>
      <p:sp>
        <p:nvSpPr>
          <p:cNvPr id="34" name="Ag reflector + MLA film / Nanolaminate right"/>
          <p:cNvSpPr/>
          <p:nvPr/>
        </p:nvSpPr>
        <p:spPr>
          <a:xfrm>
            <a:off x="2304579" y="2471082"/>
            <a:ext cx="980386" cy="853418"/>
          </a:xfrm>
          <a:custGeom>
            <a:avLst/>
            <a:gdLst/>
            <a:ahLst/>
            <a:cxnLst/>
            <a:rect l="l" t="t" r="r" b="b"/>
            <a:pathLst>
              <a:path w="980386" h="853418">
                <a:moveTo>
                  <a:pt x="980386" y="287375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8"/>
                </a:lnTo>
                <a:close/>
              </a:path>
            </a:pathLst>
          </a:custGeom>
          <a:solidFill>
            <a:srgbClr val="BBC6C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g reflector + MLA film / Nanolaminate front"/>
          <p:cNvSpPr/>
          <p:nvPr/>
        </p:nvSpPr>
        <p:spPr>
          <a:xfrm>
            <a:off x="1022535" y="2296915"/>
            <a:ext cx="1282044" cy="1027585"/>
          </a:xfrm>
          <a:custGeom>
            <a:avLst/>
            <a:gdLst/>
            <a:ahLst/>
            <a:cxnLst/>
            <a:rect l="l" t="t" r="r" b="b"/>
            <a:pathLst>
              <a:path w="1282044" h="1027585">
                <a:moveTo>
                  <a:pt x="1282044" y="1027585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87375"/>
                </a:lnTo>
                <a:close/>
              </a:path>
            </a:pathLst>
          </a:custGeom>
          <a:solidFill>
            <a:srgbClr val="98A19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Ag reflector + MLA film / Nanolaminate leader"/>
          <p:cNvCxnSpPr/>
          <p:nvPr/>
        </p:nvCxnSpPr>
        <p:spPr>
          <a:xfrm>
            <a:off x="3337215" y="2614770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Ag reflector + MLA film / Nanolaminate label"/>
          <p:cNvSpPr txBox="1"/>
          <p:nvPr/>
        </p:nvSpPr>
        <p:spPr>
          <a:xfrm>
            <a:off x="3744592" y="245061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Nanolaminate</a:t>
            </a:r>
          </a:p>
        </p:txBody>
      </p:sp>
      <p:sp>
        <p:nvSpPr>
          <p:cNvPr id="38" name="Ag reflector + MLA film / Parylene-C [3000] right"/>
          <p:cNvSpPr/>
          <p:nvPr/>
        </p:nvSpPr>
        <p:spPr>
          <a:xfrm>
            <a:off x="2304579" y="2122748"/>
            <a:ext cx="980386" cy="914377"/>
          </a:xfrm>
          <a:custGeom>
            <a:avLst/>
            <a:gdLst/>
            <a:ahLst/>
            <a:cxnLst/>
            <a:rect l="l" t="t" r="r" b="b"/>
            <a:pathLst>
              <a:path w="980386" h="914377">
                <a:moveTo>
                  <a:pt x="980386" y="348334"/>
                </a:moveTo>
                <a:lnTo>
                  <a:pt x="980386" y="0"/>
                </a:lnTo>
                <a:lnTo>
                  <a:pt x="0" y="566043"/>
                </a:lnTo>
                <a:lnTo>
                  <a:pt x="0" y="914377"/>
                </a:lnTo>
                <a:close/>
              </a:path>
            </a:pathLst>
          </a:custGeom>
          <a:solidFill>
            <a:srgbClr val="C2BDC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g reflector + MLA film / Parylene-C [3000] front"/>
          <p:cNvSpPr/>
          <p:nvPr/>
        </p:nvSpPr>
        <p:spPr>
          <a:xfrm>
            <a:off x="1022535" y="1948581"/>
            <a:ext cx="1282044" cy="1088544"/>
          </a:xfrm>
          <a:custGeom>
            <a:avLst/>
            <a:gdLst/>
            <a:ahLst/>
            <a:cxnLst/>
            <a:rect l="l" t="t" r="r" b="b"/>
            <a:pathLst>
              <a:path w="1282044" h="1088544">
                <a:moveTo>
                  <a:pt x="1282044" y="1088544"/>
                </a:moveTo>
                <a:lnTo>
                  <a:pt x="1282044" y="740210"/>
                </a:lnTo>
                <a:lnTo>
                  <a:pt x="0" y="0"/>
                </a:lnTo>
                <a:lnTo>
                  <a:pt x="0" y="348334"/>
                </a:lnTo>
                <a:close/>
              </a:path>
            </a:pathLst>
          </a:custGeom>
          <a:solidFill>
            <a:srgbClr val="9E9AA7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Ag reflector + MLA film / Parylene-C [3000] leader"/>
          <p:cNvCxnSpPr/>
          <p:nvPr/>
        </p:nvCxnSpPr>
        <p:spPr>
          <a:xfrm>
            <a:off x="3337215" y="2296915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g reflector + MLA film / Parylene-C [3000] label"/>
          <p:cNvSpPr txBox="1"/>
          <p:nvPr/>
        </p:nvSpPr>
        <p:spPr>
          <a:xfrm>
            <a:off x="3744592" y="2132762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Parylene-C [3000]</a:t>
            </a:r>
          </a:p>
        </p:txBody>
      </p:sp>
      <p:sp>
        <p:nvSpPr>
          <p:cNvPr id="42" name="Ag reflector + MLA film / MoOx [5] + Ag reflector [100] top"/>
          <p:cNvSpPr/>
          <p:nvPr/>
        </p:nvSpPr>
        <p:spPr>
          <a:xfrm>
            <a:off x="1022535" y="1086454"/>
            <a:ext cx="2262430" cy="1306253"/>
          </a:xfrm>
          <a:custGeom>
            <a:avLst/>
            <a:gdLst/>
            <a:ahLst/>
            <a:cxnLst/>
            <a:rect l="l" t="t" r="r" b="b"/>
            <a:pathLst>
              <a:path w="2262430" h="1306253">
                <a:moveTo>
                  <a:pt x="980386" y="0"/>
                </a:moveTo>
                <a:lnTo>
                  <a:pt x="2262430" y="740210"/>
                </a:lnTo>
                <a:lnTo>
                  <a:pt x="1282044" y="1306253"/>
                </a:lnTo>
                <a:lnTo>
                  <a:pt x="0" y="566043"/>
                </a:lnTo>
                <a:close/>
              </a:path>
            </a:pathLst>
          </a:custGeom>
          <a:solidFill>
            <a:srgbClr val="9AA1A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g reflector + MLA film / MoOx [5] + Ag reflector [100] right"/>
          <p:cNvSpPr/>
          <p:nvPr/>
        </p:nvSpPr>
        <p:spPr>
          <a:xfrm>
            <a:off x="2304579" y="1826664"/>
            <a:ext cx="980386" cy="862127"/>
          </a:xfrm>
          <a:custGeom>
            <a:avLst/>
            <a:gdLst/>
            <a:ahLst/>
            <a:cxnLst/>
            <a:rect l="l" t="t" r="r" b="b"/>
            <a:pathLst>
              <a:path w="980386" h="862127">
                <a:moveTo>
                  <a:pt x="980386" y="296084"/>
                </a:moveTo>
                <a:lnTo>
                  <a:pt x="980386" y="0"/>
                </a:lnTo>
                <a:lnTo>
                  <a:pt x="0" y="566043"/>
                </a:lnTo>
                <a:lnTo>
                  <a:pt x="0" y="862127"/>
                </a:lnTo>
                <a:close/>
              </a:path>
            </a:pathLst>
          </a:custGeom>
          <a:solidFill>
            <a:srgbClr val="848A9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g reflector + MLA film / MoOx [5] + Ag reflector [100] front"/>
          <p:cNvSpPr/>
          <p:nvPr/>
        </p:nvSpPr>
        <p:spPr>
          <a:xfrm>
            <a:off x="1022535" y="1652497"/>
            <a:ext cx="1282044" cy="1036294"/>
          </a:xfrm>
          <a:custGeom>
            <a:avLst/>
            <a:gdLst/>
            <a:ahLst/>
            <a:cxnLst/>
            <a:rect l="l" t="t" r="r" b="b"/>
            <a:pathLst>
              <a:path w="1282044" h="1036294">
                <a:moveTo>
                  <a:pt x="1282044" y="1036294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96084"/>
                </a:lnTo>
                <a:close/>
              </a:path>
            </a:pathLst>
          </a:custGeom>
          <a:solidFill>
            <a:srgbClr val="6C717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Ag reflector + MLA film / MoOx [5] + Ag reflector [100] leader"/>
          <p:cNvCxnSpPr/>
          <p:nvPr/>
        </p:nvCxnSpPr>
        <p:spPr>
          <a:xfrm>
            <a:off x="3337215" y="1974706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Ag reflector + MLA film / MoOx [5] + Ag reflector [100] label"/>
          <p:cNvSpPr txBox="1"/>
          <p:nvPr/>
        </p:nvSpPr>
        <p:spPr>
          <a:xfrm>
            <a:off x="3744592" y="1810553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MoOx [5] + Ag reflector [100]</a:t>
            </a:r>
          </a:p>
        </p:txBody>
      </p:sp>
      <p:sp>
        <p:nvSpPr>
          <p:cNvPr id="47" name="Ag reflector + MLA film title"/>
          <p:cNvSpPr txBox="1"/>
          <p:nvPr/>
        </p:nvSpPr>
        <p:spPr>
          <a:xfrm>
            <a:off x="-110422" y="314023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Ag reflector + MLA film</a:t>
            </a:r>
          </a:p>
        </p:txBody>
      </p:sp>
      <p:sp>
        <p:nvSpPr>
          <p:cNvPr id="48" name="DBR + MLA substrate / MLA substrate (n = 1.77) right"/>
          <p:cNvSpPr/>
          <p:nvPr/>
        </p:nvSpPr>
        <p:spPr>
          <a:xfrm>
            <a:off x="7790841" y="4665587"/>
            <a:ext cx="980387" cy="1015911"/>
          </a:xfrm>
          <a:custGeom>
            <a:avLst/>
            <a:gdLst/>
            <a:ahLst/>
            <a:cxnLst/>
            <a:rect l="l" t="t" r="r" b="b"/>
            <a:pathLst>
              <a:path w="980387" h="1015911">
                <a:moveTo>
                  <a:pt x="980387" y="0"/>
                </a:moveTo>
                <a:lnTo>
                  <a:pt x="0" y="566043"/>
                </a:lnTo>
                <a:lnTo>
                  <a:pt x="0" y="966627"/>
                </a:lnTo>
                <a:lnTo>
                  <a:pt x="15562" y="1008468"/>
                </a:lnTo>
                <a:lnTo>
                  <a:pt x="31124" y="1015894"/>
                </a:lnTo>
                <a:lnTo>
                  <a:pt x="46686" y="1015911"/>
                </a:lnTo>
                <a:lnTo>
                  <a:pt x="62247" y="1011050"/>
                </a:lnTo>
                <a:lnTo>
                  <a:pt x="77809" y="1002066"/>
                </a:lnTo>
                <a:lnTo>
                  <a:pt x="93371" y="988957"/>
                </a:lnTo>
                <a:lnTo>
                  <a:pt x="108932" y="970970"/>
                </a:lnTo>
                <a:lnTo>
                  <a:pt x="124494" y="945574"/>
                </a:lnTo>
                <a:lnTo>
                  <a:pt x="140056" y="885764"/>
                </a:lnTo>
                <a:lnTo>
                  <a:pt x="140056" y="885764"/>
                </a:lnTo>
                <a:lnTo>
                  <a:pt x="155617" y="927605"/>
                </a:lnTo>
                <a:lnTo>
                  <a:pt x="171179" y="935030"/>
                </a:lnTo>
                <a:lnTo>
                  <a:pt x="186741" y="935048"/>
                </a:lnTo>
                <a:lnTo>
                  <a:pt x="202302" y="930187"/>
                </a:lnTo>
                <a:lnTo>
                  <a:pt x="217864" y="921202"/>
                </a:lnTo>
                <a:lnTo>
                  <a:pt x="233426" y="908094"/>
                </a:lnTo>
                <a:lnTo>
                  <a:pt x="248987" y="890106"/>
                </a:lnTo>
                <a:lnTo>
                  <a:pt x="264549" y="864711"/>
                </a:lnTo>
                <a:lnTo>
                  <a:pt x="280111" y="804901"/>
                </a:lnTo>
                <a:lnTo>
                  <a:pt x="280111" y="804901"/>
                </a:lnTo>
                <a:lnTo>
                  <a:pt x="295673" y="846741"/>
                </a:lnTo>
                <a:lnTo>
                  <a:pt x="311234" y="854167"/>
                </a:lnTo>
                <a:lnTo>
                  <a:pt x="326796" y="854185"/>
                </a:lnTo>
                <a:lnTo>
                  <a:pt x="342358" y="849324"/>
                </a:lnTo>
                <a:lnTo>
                  <a:pt x="357919" y="840339"/>
                </a:lnTo>
                <a:lnTo>
                  <a:pt x="373481" y="827230"/>
                </a:lnTo>
                <a:lnTo>
                  <a:pt x="389043" y="809243"/>
                </a:lnTo>
                <a:lnTo>
                  <a:pt x="404604" y="783848"/>
                </a:lnTo>
                <a:lnTo>
                  <a:pt x="420166" y="724037"/>
                </a:lnTo>
                <a:lnTo>
                  <a:pt x="420166" y="724037"/>
                </a:lnTo>
                <a:lnTo>
                  <a:pt x="435728" y="765878"/>
                </a:lnTo>
                <a:lnTo>
                  <a:pt x="451289" y="773304"/>
                </a:lnTo>
                <a:lnTo>
                  <a:pt x="466851" y="773321"/>
                </a:lnTo>
                <a:lnTo>
                  <a:pt x="482413" y="768461"/>
                </a:lnTo>
                <a:lnTo>
                  <a:pt x="497975" y="759476"/>
                </a:lnTo>
                <a:lnTo>
                  <a:pt x="513536" y="746367"/>
                </a:lnTo>
                <a:lnTo>
                  <a:pt x="529098" y="728380"/>
                </a:lnTo>
                <a:lnTo>
                  <a:pt x="544660" y="702985"/>
                </a:lnTo>
                <a:lnTo>
                  <a:pt x="560221" y="643174"/>
                </a:lnTo>
                <a:lnTo>
                  <a:pt x="560221" y="643174"/>
                </a:lnTo>
                <a:lnTo>
                  <a:pt x="575783" y="685015"/>
                </a:lnTo>
                <a:lnTo>
                  <a:pt x="591345" y="692441"/>
                </a:lnTo>
                <a:lnTo>
                  <a:pt x="606906" y="692458"/>
                </a:lnTo>
                <a:lnTo>
                  <a:pt x="622468" y="687597"/>
                </a:lnTo>
                <a:lnTo>
                  <a:pt x="638030" y="678613"/>
                </a:lnTo>
                <a:lnTo>
                  <a:pt x="653591" y="665504"/>
                </a:lnTo>
                <a:lnTo>
                  <a:pt x="669153" y="647516"/>
                </a:lnTo>
                <a:lnTo>
                  <a:pt x="684715" y="622121"/>
                </a:lnTo>
                <a:lnTo>
                  <a:pt x="700276" y="562311"/>
                </a:lnTo>
                <a:lnTo>
                  <a:pt x="700276" y="562311"/>
                </a:lnTo>
                <a:lnTo>
                  <a:pt x="715838" y="604152"/>
                </a:lnTo>
                <a:lnTo>
                  <a:pt x="731400" y="611577"/>
                </a:lnTo>
                <a:lnTo>
                  <a:pt x="746962" y="611595"/>
                </a:lnTo>
                <a:lnTo>
                  <a:pt x="762523" y="606734"/>
                </a:lnTo>
                <a:lnTo>
                  <a:pt x="778085" y="597749"/>
                </a:lnTo>
                <a:lnTo>
                  <a:pt x="793647" y="584640"/>
                </a:lnTo>
                <a:lnTo>
                  <a:pt x="809208" y="566653"/>
                </a:lnTo>
                <a:lnTo>
                  <a:pt x="824770" y="541258"/>
                </a:lnTo>
                <a:lnTo>
                  <a:pt x="840332" y="481447"/>
                </a:lnTo>
                <a:lnTo>
                  <a:pt x="840332" y="481447"/>
                </a:lnTo>
                <a:lnTo>
                  <a:pt x="855893" y="523288"/>
                </a:lnTo>
                <a:lnTo>
                  <a:pt x="871455" y="530714"/>
                </a:lnTo>
                <a:lnTo>
                  <a:pt x="887017" y="530732"/>
                </a:lnTo>
                <a:lnTo>
                  <a:pt x="902578" y="525871"/>
                </a:lnTo>
                <a:lnTo>
                  <a:pt x="918140" y="516886"/>
                </a:lnTo>
                <a:lnTo>
                  <a:pt x="933702" y="503777"/>
                </a:lnTo>
                <a:lnTo>
                  <a:pt x="949264" y="485790"/>
                </a:lnTo>
                <a:lnTo>
                  <a:pt x="964825" y="460395"/>
                </a:lnTo>
                <a:lnTo>
                  <a:pt x="980387" y="400584"/>
                </a:lnTo>
                <a:close/>
              </a:path>
            </a:pathLst>
          </a:custGeom>
          <a:solidFill>
            <a:srgbClr val="B2C4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BR + MLA substrate / MLA substrate (n = 1.77) front"/>
          <p:cNvSpPr/>
          <p:nvPr/>
        </p:nvSpPr>
        <p:spPr>
          <a:xfrm>
            <a:off x="6508798" y="4491420"/>
            <a:ext cx="1282043" cy="1190921"/>
          </a:xfrm>
          <a:custGeom>
            <a:avLst/>
            <a:gdLst/>
            <a:ahLst/>
            <a:cxnLst/>
            <a:rect l="l" t="t" r="r" b="b"/>
            <a:pathLst>
              <a:path w="1282043" h="1190921">
                <a:moveTo>
                  <a:pt x="1282043" y="740210"/>
                </a:moveTo>
                <a:lnTo>
                  <a:pt x="0" y="0"/>
                </a:lnTo>
                <a:lnTo>
                  <a:pt x="0" y="400584"/>
                </a:lnTo>
                <a:lnTo>
                  <a:pt x="15827" y="461417"/>
                </a:lnTo>
                <a:lnTo>
                  <a:pt x="31655" y="487246"/>
                </a:lnTo>
                <a:lnTo>
                  <a:pt x="47483" y="505541"/>
                </a:lnTo>
                <a:lnTo>
                  <a:pt x="63310" y="518874"/>
                </a:lnTo>
                <a:lnTo>
                  <a:pt x="79138" y="528012"/>
                </a:lnTo>
                <a:lnTo>
                  <a:pt x="94966" y="532956"/>
                </a:lnTo>
                <a:lnTo>
                  <a:pt x="110794" y="532938"/>
                </a:lnTo>
                <a:lnTo>
                  <a:pt x="126621" y="525386"/>
                </a:lnTo>
                <a:lnTo>
                  <a:pt x="142449" y="482830"/>
                </a:lnTo>
                <a:lnTo>
                  <a:pt x="142449" y="482830"/>
                </a:lnTo>
                <a:lnTo>
                  <a:pt x="158277" y="543663"/>
                </a:lnTo>
                <a:lnTo>
                  <a:pt x="174104" y="569492"/>
                </a:lnTo>
                <a:lnTo>
                  <a:pt x="189932" y="587787"/>
                </a:lnTo>
                <a:lnTo>
                  <a:pt x="205760" y="601120"/>
                </a:lnTo>
                <a:lnTo>
                  <a:pt x="221587" y="610258"/>
                </a:lnTo>
                <a:lnTo>
                  <a:pt x="237415" y="615202"/>
                </a:lnTo>
                <a:lnTo>
                  <a:pt x="253243" y="615184"/>
                </a:lnTo>
                <a:lnTo>
                  <a:pt x="269071" y="607631"/>
                </a:lnTo>
                <a:lnTo>
                  <a:pt x="284898" y="565075"/>
                </a:lnTo>
                <a:lnTo>
                  <a:pt x="284898" y="565075"/>
                </a:lnTo>
                <a:lnTo>
                  <a:pt x="300726" y="625908"/>
                </a:lnTo>
                <a:lnTo>
                  <a:pt x="316554" y="651737"/>
                </a:lnTo>
                <a:lnTo>
                  <a:pt x="332381" y="670032"/>
                </a:lnTo>
                <a:lnTo>
                  <a:pt x="348209" y="683365"/>
                </a:lnTo>
                <a:lnTo>
                  <a:pt x="364037" y="692503"/>
                </a:lnTo>
                <a:lnTo>
                  <a:pt x="379864" y="697447"/>
                </a:lnTo>
                <a:lnTo>
                  <a:pt x="395692" y="697429"/>
                </a:lnTo>
                <a:lnTo>
                  <a:pt x="411520" y="689877"/>
                </a:lnTo>
                <a:lnTo>
                  <a:pt x="427348" y="647321"/>
                </a:lnTo>
                <a:lnTo>
                  <a:pt x="427348" y="647321"/>
                </a:lnTo>
                <a:lnTo>
                  <a:pt x="443175" y="708154"/>
                </a:lnTo>
                <a:lnTo>
                  <a:pt x="459003" y="733983"/>
                </a:lnTo>
                <a:lnTo>
                  <a:pt x="474831" y="752278"/>
                </a:lnTo>
                <a:lnTo>
                  <a:pt x="490658" y="765611"/>
                </a:lnTo>
                <a:lnTo>
                  <a:pt x="506486" y="774749"/>
                </a:lnTo>
                <a:lnTo>
                  <a:pt x="522314" y="779693"/>
                </a:lnTo>
                <a:lnTo>
                  <a:pt x="538141" y="779675"/>
                </a:lnTo>
                <a:lnTo>
                  <a:pt x="553969" y="772122"/>
                </a:lnTo>
                <a:lnTo>
                  <a:pt x="569797" y="729566"/>
                </a:lnTo>
                <a:lnTo>
                  <a:pt x="569797" y="729566"/>
                </a:lnTo>
                <a:lnTo>
                  <a:pt x="585625" y="790399"/>
                </a:lnTo>
                <a:lnTo>
                  <a:pt x="601452" y="816229"/>
                </a:lnTo>
                <a:lnTo>
                  <a:pt x="617280" y="834523"/>
                </a:lnTo>
                <a:lnTo>
                  <a:pt x="633108" y="847856"/>
                </a:lnTo>
                <a:lnTo>
                  <a:pt x="648935" y="856995"/>
                </a:lnTo>
                <a:lnTo>
                  <a:pt x="664763" y="861939"/>
                </a:lnTo>
                <a:lnTo>
                  <a:pt x="680591" y="861921"/>
                </a:lnTo>
                <a:lnTo>
                  <a:pt x="696418" y="854368"/>
                </a:lnTo>
                <a:lnTo>
                  <a:pt x="712246" y="811812"/>
                </a:lnTo>
                <a:lnTo>
                  <a:pt x="712246" y="811812"/>
                </a:lnTo>
                <a:lnTo>
                  <a:pt x="728074" y="872645"/>
                </a:lnTo>
                <a:lnTo>
                  <a:pt x="743902" y="898474"/>
                </a:lnTo>
                <a:lnTo>
                  <a:pt x="759729" y="916769"/>
                </a:lnTo>
                <a:lnTo>
                  <a:pt x="775557" y="930102"/>
                </a:lnTo>
                <a:lnTo>
                  <a:pt x="791385" y="939240"/>
                </a:lnTo>
                <a:lnTo>
                  <a:pt x="807212" y="944184"/>
                </a:lnTo>
                <a:lnTo>
                  <a:pt x="823040" y="944166"/>
                </a:lnTo>
                <a:lnTo>
                  <a:pt x="838868" y="936614"/>
                </a:lnTo>
                <a:lnTo>
                  <a:pt x="854696" y="894057"/>
                </a:lnTo>
                <a:lnTo>
                  <a:pt x="854696" y="894057"/>
                </a:lnTo>
                <a:lnTo>
                  <a:pt x="870523" y="954890"/>
                </a:lnTo>
                <a:lnTo>
                  <a:pt x="886351" y="980720"/>
                </a:lnTo>
                <a:lnTo>
                  <a:pt x="902179" y="999014"/>
                </a:lnTo>
                <a:lnTo>
                  <a:pt x="918006" y="1012347"/>
                </a:lnTo>
                <a:lnTo>
                  <a:pt x="933834" y="1021486"/>
                </a:lnTo>
                <a:lnTo>
                  <a:pt x="949662" y="1026430"/>
                </a:lnTo>
                <a:lnTo>
                  <a:pt x="965489" y="1026412"/>
                </a:lnTo>
                <a:lnTo>
                  <a:pt x="981317" y="1018859"/>
                </a:lnTo>
                <a:lnTo>
                  <a:pt x="997145" y="976303"/>
                </a:lnTo>
                <a:lnTo>
                  <a:pt x="997145" y="976303"/>
                </a:lnTo>
                <a:lnTo>
                  <a:pt x="1012973" y="1037136"/>
                </a:lnTo>
                <a:lnTo>
                  <a:pt x="1028800" y="1062965"/>
                </a:lnTo>
                <a:lnTo>
                  <a:pt x="1044628" y="1081260"/>
                </a:lnTo>
                <a:lnTo>
                  <a:pt x="1060456" y="1094593"/>
                </a:lnTo>
                <a:lnTo>
                  <a:pt x="1076283" y="1103731"/>
                </a:lnTo>
                <a:lnTo>
                  <a:pt x="1092111" y="1108675"/>
                </a:lnTo>
                <a:lnTo>
                  <a:pt x="1107939" y="1108657"/>
                </a:lnTo>
                <a:lnTo>
                  <a:pt x="1123766" y="1101105"/>
                </a:lnTo>
                <a:lnTo>
                  <a:pt x="1139594" y="1058549"/>
                </a:lnTo>
                <a:lnTo>
                  <a:pt x="1139594" y="1058549"/>
                </a:lnTo>
                <a:lnTo>
                  <a:pt x="1155422" y="1119382"/>
                </a:lnTo>
                <a:lnTo>
                  <a:pt x="1171250" y="1145211"/>
                </a:lnTo>
                <a:lnTo>
                  <a:pt x="1187077" y="1163506"/>
                </a:lnTo>
                <a:lnTo>
                  <a:pt x="1202905" y="1176838"/>
                </a:lnTo>
                <a:lnTo>
                  <a:pt x="1218733" y="1185977"/>
                </a:lnTo>
                <a:lnTo>
                  <a:pt x="1234560" y="1190921"/>
                </a:lnTo>
                <a:lnTo>
                  <a:pt x="1250388" y="1190903"/>
                </a:lnTo>
                <a:lnTo>
                  <a:pt x="1266216" y="1183350"/>
                </a:lnTo>
                <a:lnTo>
                  <a:pt x="1282043" y="1140794"/>
                </a:lnTo>
                <a:close/>
              </a:path>
            </a:pathLst>
          </a:custGeom>
          <a:solidFill>
            <a:srgbClr val="91A0A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DBR + MLA substrate / MLA substrate (n = 1.77) leader"/>
          <p:cNvCxnSpPr/>
          <p:nvPr/>
        </p:nvCxnSpPr>
        <p:spPr>
          <a:xfrm>
            <a:off x="8823478" y="486587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DBR + MLA substrate / MLA substrate (n = 1.77) label"/>
          <p:cNvSpPr txBox="1"/>
          <p:nvPr/>
        </p:nvSpPr>
        <p:spPr>
          <a:xfrm>
            <a:off x="9230855" y="470172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MLA substrate (n = 1.77)</a:t>
            </a:r>
          </a:p>
        </p:txBody>
      </p:sp>
      <p:sp>
        <p:nvSpPr>
          <p:cNvPr id="52" name="DBR + MLA substrate / IZO right"/>
          <p:cNvSpPr/>
          <p:nvPr/>
        </p:nvSpPr>
        <p:spPr>
          <a:xfrm>
            <a:off x="7790841" y="4378211"/>
            <a:ext cx="980387" cy="853419"/>
          </a:xfrm>
          <a:custGeom>
            <a:avLst/>
            <a:gdLst/>
            <a:ahLst/>
            <a:cxnLst/>
            <a:rect l="l" t="t" r="r" b="b"/>
            <a:pathLst>
              <a:path w="980387" h="853419">
                <a:moveTo>
                  <a:pt x="980387" y="287376"/>
                </a:moveTo>
                <a:lnTo>
                  <a:pt x="980387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B5C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BR + MLA substrate / IZO front"/>
          <p:cNvSpPr/>
          <p:nvPr/>
        </p:nvSpPr>
        <p:spPr>
          <a:xfrm>
            <a:off x="6508798" y="4204044"/>
            <a:ext cx="1282043" cy="1027586"/>
          </a:xfrm>
          <a:custGeom>
            <a:avLst/>
            <a:gdLst/>
            <a:ahLst/>
            <a:cxnLst/>
            <a:rect l="l" t="t" r="r" b="b"/>
            <a:pathLst>
              <a:path w="1282043" h="1027586">
                <a:moveTo>
                  <a:pt x="1282043" y="1027586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94A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DBR + MLA substrate / IZO leader"/>
          <p:cNvCxnSpPr/>
          <p:nvPr/>
        </p:nvCxnSpPr>
        <p:spPr>
          <a:xfrm>
            <a:off x="8823478" y="452189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DBR + MLA substrate / IZO label"/>
          <p:cNvSpPr txBox="1"/>
          <p:nvPr/>
        </p:nvSpPr>
        <p:spPr>
          <a:xfrm>
            <a:off x="9230855" y="435774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IZO</a:t>
            </a:r>
          </a:p>
        </p:txBody>
      </p:sp>
      <p:sp>
        <p:nvSpPr>
          <p:cNvPr id="56" name="DBR + MLA substrate / TAPC/HAT-CN/TAPC/HAT-CN right"/>
          <p:cNvSpPr/>
          <p:nvPr/>
        </p:nvSpPr>
        <p:spPr>
          <a:xfrm>
            <a:off x="7790841" y="4090836"/>
            <a:ext cx="980387" cy="853418"/>
          </a:xfrm>
          <a:custGeom>
            <a:avLst/>
            <a:gdLst/>
            <a:ahLst/>
            <a:cxnLst/>
            <a:rect l="l" t="t" r="r" b="b"/>
            <a:pathLst>
              <a:path w="980387" h="853418">
                <a:moveTo>
                  <a:pt x="980387" y="287375"/>
                </a:moveTo>
                <a:lnTo>
                  <a:pt x="980387" y="0"/>
                </a:lnTo>
                <a:lnTo>
                  <a:pt x="0" y="566043"/>
                </a:lnTo>
                <a:lnTo>
                  <a:pt x="0" y="853418"/>
                </a:lnTo>
                <a:close/>
              </a:path>
            </a:pathLst>
          </a:custGeom>
          <a:solidFill>
            <a:srgbClr val="D4C09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BR + MLA substrate / TAPC/HAT-CN/TAPC/HAT-CN front"/>
          <p:cNvSpPr/>
          <p:nvPr/>
        </p:nvSpPr>
        <p:spPr>
          <a:xfrm>
            <a:off x="6508798" y="3916668"/>
            <a:ext cx="1282043" cy="1027586"/>
          </a:xfrm>
          <a:custGeom>
            <a:avLst/>
            <a:gdLst/>
            <a:ahLst/>
            <a:cxnLst/>
            <a:rect l="l" t="t" r="r" b="b"/>
            <a:pathLst>
              <a:path w="1282043" h="1027586">
                <a:moveTo>
                  <a:pt x="1282043" y="1027586"/>
                </a:moveTo>
                <a:lnTo>
                  <a:pt x="1282043" y="740211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AC9C7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DBR + MLA substrate / TAPC/HAT-CN/TAPC/HAT-CN leader"/>
          <p:cNvCxnSpPr/>
          <p:nvPr/>
        </p:nvCxnSpPr>
        <p:spPr>
          <a:xfrm>
            <a:off x="8823478" y="423452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DBR + MLA substrate / TAPC/HAT-CN/TAPC/HAT-CN label"/>
          <p:cNvSpPr txBox="1"/>
          <p:nvPr/>
        </p:nvSpPr>
        <p:spPr>
          <a:xfrm>
            <a:off x="9230855" y="4070371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TAPC/HAT-CN/TAPC/HAT-CN</a:t>
            </a:r>
          </a:p>
        </p:txBody>
      </p:sp>
      <p:sp>
        <p:nvSpPr>
          <p:cNvPr id="60" name="DBR + MLA substrate / TCTA right"/>
          <p:cNvSpPr/>
          <p:nvPr/>
        </p:nvSpPr>
        <p:spPr>
          <a:xfrm>
            <a:off x="7790841" y="3847002"/>
            <a:ext cx="980387" cy="809877"/>
          </a:xfrm>
          <a:custGeom>
            <a:avLst/>
            <a:gdLst/>
            <a:ahLst/>
            <a:cxnLst/>
            <a:rect l="l" t="t" r="r" b="b"/>
            <a:pathLst>
              <a:path w="980387" h="809877">
                <a:moveTo>
                  <a:pt x="980387" y="243834"/>
                </a:moveTo>
                <a:lnTo>
                  <a:pt x="980387" y="0"/>
                </a:lnTo>
                <a:lnTo>
                  <a:pt x="0" y="566043"/>
                </a:lnTo>
                <a:lnTo>
                  <a:pt x="0" y="809877"/>
                </a:lnTo>
                <a:close/>
              </a:path>
            </a:pathLst>
          </a:custGeom>
          <a:solidFill>
            <a:srgbClr val="CE9E5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BR + MLA substrate / TCTA front"/>
          <p:cNvSpPr/>
          <p:nvPr/>
        </p:nvSpPr>
        <p:spPr>
          <a:xfrm>
            <a:off x="6508798" y="3672835"/>
            <a:ext cx="1282043" cy="984044"/>
          </a:xfrm>
          <a:custGeom>
            <a:avLst/>
            <a:gdLst/>
            <a:ahLst/>
            <a:cxnLst/>
            <a:rect l="l" t="t" r="r" b="b"/>
            <a:pathLst>
              <a:path w="1282043" h="984044">
                <a:moveTo>
                  <a:pt x="1282043" y="984044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43833"/>
                </a:lnTo>
                <a:close/>
              </a:path>
            </a:pathLst>
          </a:custGeom>
          <a:solidFill>
            <a:srgbClr val="A8814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DBR + MLA substrate / TCTA leader"/>
          <p:cNvCxnSpPr/>
          <p:nvPr/>
        </p:nvCxnSpPr>
        <p:spPr>
          <a:xfrm>
            <a:off x="8823478" y="396891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DBR + MLA substrate / TCTA label"/>
          <p:cNvSpPr txBox="1"/>
          <p:nvPr/>
        </p:nvSpPr>
        <p:spPr>
          <a:xfrm>
            <a:off x="9230855" y="3804766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</a:t>
            </a:r>
          </a:p>
        </p:txBody>
      </p:sp>
      <p:sp>
        <p:nvSpPr>
          <p:cNvPr id="64" name="DBR + MLA substrate / TCTA:B3PyMPM:Ir(dmppy-ph)₂tmd right"/>
          <p:cNvSpPr/>
          <p:nvPr/>
        </p:nvSpPr>
        <p:spPr>
          <a:xfrm>
            <a:off x="7790841" y="3533501"/>
            <a:ext cx="980387" cy="879544"/>
          </a:xfrm>
          <a:custGeom>
            <a:avLst/>
            <a:gdLst/>
            <a:ahLst/>
            <a:cxnLst/>
            <a:rect l="l" t="t" r="r" b="b"/>
            <a:pathLst>
              <a:path w="980387" h="879544">
                <a:moveTo>
                  <a:pt x="980387" y="313501"/>
                </a:moveTo>
                <a:lnTo>
                  <a:pt x="980387" y="0"/>
                </a:lnTo>
                <a:lnTo>
                  <a:pt x="0" y="566043"/>
                </a:lnTo>
                <a:lnTo>
                  <a:pt x="0" y="879544"/>
                </a:lnTo>
                <a:close/>
              </a:path>
            </a:pathLst>
          </a:custGeom>
          <a:solidFill>
            <a:srgbClr val="99323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BR + MLA substrate / TCTA:B3PyMPM:Ir(dmppy-ph)₂tmd front"/>
          <p:cNvSpPr/>
          <p:nvPr/>
        </p:nvSpPr>
        <p:spPr>
          <a:xfrm>
            <a:off x="6508798" y="3359334"/>
            <a:ext cx="1282043" cy="1053711"/>
          </a:xfrm>
          <a:custGeom>
            <a:avLst/>
            <a:gdLst/>
            <a:ahLst/>
            <a:cxnLst/>
            <a:rect l="l" t="t" r="r" b="b"/>
            <a:pathLst>
              <a:path w="1282043" h="1053711">
                <a:moveTo>
                  <a:pt x="1282043" y="105371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313501"/>
                </a:lnTo>
                <a:close/>
              </a:path>
            </a:pathLst>
          </a:custGeom>
          <a:solidFill>
            <a:srgbClr val="7D292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DBR + MLA substrate / TCTA:B3PyMPM:Ir(dmppy-ph)₂tmd leader"/>
          <p:cNvCxnSpPr/>
          <p:nvPr/>
        </p:nvCxnSpPr>
        <p:spPr>
          <a:xfrm>
            <a:off x="8823478" y="3690251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DBR + MLA substrate / TCTA:B3PyMPM:Ir(dmppy-ph)₂tmd label"/>
          <p:cNvSpPr txBox="1"/>
          <p:nvPr/>
        </p:nvSpPr>
        <p:spPr>
          <a:xfrm>
            <a:off x="9230855" y="3526099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TCTA:B3PyMPM:Ir(dmppy-ph)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tmd</a:t>
            </a:r>
          </a:p>
        </p:txBody>
      </p:sp>
      <p:sp>
        <p:nvSpPr>
          <p:cNvPr id="68" name="DBR + MLA substrate / B3PyMPM right"/>
          <p:cNvSpPr/>
          <p:nvPr/>
        </p:nvSpPr>
        <p:spPr>
          <a:xfrm>
            <a:off x="7790841" y="3246125"/>
            <a:ext cx="980387" cy="853419"/>
          </a:xfrm>
          <a:custGeom>
            <a:avLst/>
            <a:gdLst/>
            <a:ahLst/>
            <a:cxnLst/>
            <a:rect l="l" t="t" r="r" b="b"/>
            <a:pathLst>
              <a:path w="980387" h="853419">
                <a:moveTo>
                  <a:pt x="980387" y="287376"/>
                </a:moveTo>
                <a:lnTo>
                  <a:pt x="980387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84B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BR + MLA substrate / B3PyMPM front"/>
          <p:cNvSpPr/>
          <p:nvPr/>
        </p:nvSpPr>
        <p:spPr>
          <a:xfrm>
            <a:off x="6508798" y="3071958"/>
            <a:ext cx="1282043" cy="1027586"/>
          </a:xfrm>
          <a:custGeom>
            <a:avLst/>
            <a:gdLst/>
            <a:ahLst/>
            <a:cxnLst/>
            <a:rect l="l" t="t" r="r" b="b"/>
            <a:pathLst>
              <a:path w="1282043" h="1027586">
                <a:moveTo>
                  <a:pt x="1282043" y="1027586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6C9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DBR + MLA substrate / B3PyMPM leader"/>
          <p:cNvCxnSpPr/>
          <p:nvPr/>
        </p:nvCxnSpPr>
        <p:spPr>
          <a:xfrm>
            <a:off x="8823478" y="338981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BR + MLA substrate / B3PyMPM label"/>
          <p:cNvSpPr txBox="1"/>
          <p:nvPr/>
        </p:nvSpPr>
        <p:spPr>
          <a:xfrm>
            <a:off x="9230855" y="3225661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</a:t>
            </a:r>
          </a:p>
        </p:txBody>
      </p:sp>
      <p:sp>
        <p:nvSpPr>
          <p:cNvPr id="72" name="DBR + MLA substrate / Al/Liq right"/>
          <p:cNvSpPr/>
          <p:nvPr/>
        </p:nvSpPr>
        <p:spPr>
          <a:xfrm>
            <a:off x="7790841" y="2984875"/>
            <a:ext cx="980387" cy="827293"/>
          </a:xfrm>
          <a:custGeom>
            <a:avLst/>
            <a:gdLst/>
            <a:ahLst/>
            <a:cxnLst/>
            <a:rect l="l" t="t" r="r" b="b"/>
            <a:pathLst>
              <a:path w="980387" h="827293">
                <a:moveTo>
                  <a:pt x="980387" y="261250"/>
                </a:moveTo>
                <a:lnTo>
                  <a:pt x="980387" y="0"/>
                </a:lnTo>
                <a:lnTo>
                  <a:pt x="0" y="566043"/>
                </a:lnTo>
                <a:lnTo>
                  <a:pt x="0" y="827293"/>
                </a:lnTo>
                <a:close/>
              </a:path>
            </a:pathLst>
          </a:custGeom>
          <a:solidFill>
            <a:srgbClr val="9FA4A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BR + MLA substrate / Al/Liq front"/>
          <p:cNvSpPr/>
          <p:nvPr/>
        </p:nvSpPr>
        <p:spPr>
          <a:xfrm>
            <a:off x="6508798" y="2810708"/>
            <a:ext cx="1282043" cy="1001460"/>
          </a:xfrm>
          <a:custGeom>
            <a:avLst/>
            <a:gdLst/>
            <a:ahLst/>
            <a:cxnLst/>
            <a:rect l="l" t="t" r="r" b="b"/>
            <a:pathLst>
              <a:path w="1282043" h="1001460">
                <a:moveTo>
                  <a:pt x="1282043" y="1001460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61250"/>
                </a:lnTo>
                <a:close/>
              </a:path>
            </a:pathLst>
          </a:custGeom>
          <a:solidFill>
            <a:srgbClr val="82868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DBR + MLA substrate / Al/Liq leader"/>
          <p:cNvCxnSpPr/>
          <p:nvPr/>
        </p:nvCxnSpPr>
        <p:spPr>
          <a:xfrm>
            <a:off x="8823478" y="3115500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DBR + MLA substrate / Al/Liq label"/>
          <p:cNvSpPr txBox="1"/>
          <p:nvPr/>
        </p:nvSpPr>
        <p:spPr>
          <a:xfrm>
            <a:off x="9230855" y="295134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Al/Liq</a:t>
            </a:r>
          </a:p>
        </p:txBody>
      </p:sp>
      <p:sp>
        <p:nvSpPr>
          <p:cNvPr id="76" name="DBR + MLA substrate / DBR pair 1 right"/>
          <p:cNvSpPr/>
          <p:nvPr/>
        </p:nvSpPr>
        <p:spPr>
          <a:xfrm>
            <a:off x="7790841" y="2926093"/>
            <a:ext cx="980387" cy="624825"/>
          </a:xfrm>
          <a:custGeom>
            <a:avLst/>
            <a:gdLst/>
            <a:ahLst/>
            <a:cxnLst/>
            <a:rect l="l" t="t" r="r" b="b"/>
            <a:pathLst>
              <a:path w="980387" h="624825">
                <a:moveTo>
                  <a:pt x="980387" y="58782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5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BR + MLA substrate / DBR pair 1 front"/>
          <p:cNvSpPr/>
          <p:nvPr/>
        </p:nvSpPr>
        <p:spPr>
          <a:xfrm>
            <a:off x="6508798" y="2751926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BR + MLA substrate / DBR pair 1 right"/>
          <p:cNvSpPr/>
          <p:nvPr/>
        </p:nvSpPr>
        <p:spPr>
          <a:xfrm>
            <a:off x="7790841" y="2867312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BR + MLA substrate / DBR pair 1 front"/>
          <p:cNvSpPr/>
          <p:nvPr/>
        </p:nvSpPr>
        <p:spPr>
          <a:xfrm>
            <a:off x="6508798" y="2693145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BR + MLA substrate / DBR pair 2 right"/>
          <p:cNvSpPr/>
          <p:nvPr/>
        </p:nvSpPr>
        <p:spPr>
          <a:xfrm>
            <a:off x="7790841" y="2808530"/>
            <a:ext cx="980387" cy="624825"/>
          </a:xfrm>
          <a:custGeom>
            <a:avLst/>
            <a:gdLst/>
            <a:ahLst/>
            <a:cxnLst/>
            <a:rect l="l" t="t" r="r" b="b"/>
            <a:pathLst>
              <a:path w="980387" h="624825">
                <a:moveTo>
                  <a:pt x="980387" y="58782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5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BR + MLA substrate / DBR pair 2 front"/>
          <p:cNvSpPr/>
          <p:nvPr/>
        </p:nvSpPr>
        <p:spPr>
          <a:xfrm>
            <a:off x="6508798" y="2634363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DBR + MLA substrate / DBR pair 2 right"/>
          <p:cNvSpPr/>
          <p:nvPr/>
        </p:nvSpPr>
        <p:spPr>
          <a:xfrm>
            <a:off x="7790841" y="2749749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BR + MLA substrate / DBR pair 2 front"/>
          <p:cNvSpPr/>
          <p:nvPr/>
        </p:nvSpPr>
        <p:spPr>
          <a:xfrm>
            <a:off x="6508798" y="2575582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BR + MLA substrate / DBR pair 3 right"/>
          <p:cNvSpPr/>
          <p:nvPr/>
        </p:nvSpPr>
        <p:spPr>
          <a:xfrm>
            <a:off x="7790841" y="2690968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BR + MLA substrate / DBR pair 3 front"/>
          <p:cNvSpPr/>
          <p:nvPr/>
        </p:nvSpPr>
        <p:spPr>
          <a:xfrm>
            <a:off x="6508798" y="2516801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BR + MLA substrate / DBR pair 3 right"/>
          <p:cNvSpPr/>
          <p:nvPr/>
        </p:nvSpPr>
        <p:spPr>
          <a:xfrm>
            <a:off x="7790841" y="2632186"/>
            <a:ext cx="980387" cy="624825"/>
          </a:xfrm>
          <a:custGeom>
            <a:avLst/>
            <a:gdLst/>
            <a:ahLst/>
            <a:cxnLst/>
            <a:rect l="l" t="t" r="r" b="b"/>
            <a:pathLst>
              <a:path w="980387" h="624825">
                <a:moveTo>
                  <a:pt x="980387" y="58782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5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BR + MLA substrate / DBR pair 3 front"/>
          <p:cNvSpPr/>
          <p:nvPr/>
        </p:nvSpPr>
        <p:spPr>
          <a:xfrm>
            <a:off x="6508798" y="2458019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BR + MLA substrate / DBR pair 4 right"/>
          <p:cNvSpPr/>
          <p:nvPr/>
        </p:nvSpPr>
        <p:spPr>
          <a:xfrm>
            <a:off x="7790841" y="2573405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DBR + MLA substrate / DBR pair 4 front"/>
          <p:cNvSpPr/>
          <p:nvPr/>
        </p:nvSpPr>
        <p:spPr>
          <a:xfrm>
            <a:off x="6508798" y="2399238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DBR + MLA substrate / DBR pair 4 top"/>
          <p:cNvSpPr/>
          <p:nvPr/>
        </p:nvSpPr>
        <p:spPr>
          <a:xfrm>
            <a:off x="6508798" y="1774413"/>
            <a:ext cx="2262430" cy="1306254"/>
          </a:xfrm>
          <a:custGeom>
            <a:avLst/>
            <a:gdLst/>
            <a:ahLst/>
            <a:cxnLst/>
            <a:rect l="l" t="t" r="r" b="b"/>
            <a:pathLst>
              <a:path w="2262430" h="1306254">
                <a:moveTo>
                  <a:pt x="980386" y="0"/>
                </a:moveTo>
                <a:lnTo>
                  <a:pt x="2262430" y="740211"/>
                </a:lnTo>
                <a:lnTo>
                  <a:pt x="1282043" y="1306254"/>
                </a:lnTo>
                <a:lnTo>
                  <a:pt x="0" y="566043"/>
                </a:lnTo>
                <a:close/>
              </a:path>
            </a:pathLst>
          </a:custGeom>
          <a:solidFill>
            <a:srgbClr val="2B2F3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DBR + MLA substrate / DBR pair 4 right"/>
          <p:cNvSpPr/>
          <p:nvPr/>
        </p:nvSpPr>
        <p:spPr>
          <a:xfrm>
            <a:off x="7790841" y="2514624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DBR + MLA substrate / DBR pair 4 front"/>
          <p:cNvSpPr/>
          <p:nvPr/>
        </p:nvSpPr>
        <p:spPr>
          <a:xfrm>
            <a:off x="6508798" y="2340456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1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DBR + MLA substrate / DBR leader"/>
          <p:cNvCxnSpPr/>
          <p:nvPr/>
        </p:nvCxnSpPr>
        <p:spPr>
          <a:xfrm>
            <a:off x="8823478" y="274974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DBR + MLA substrate / DBR label"/>
          <p:cNvSpPr txBox="1"/>
          <p:nvPr/>
        </p:nvSpPr>
        <p:spPr>
          <a:xfrm>
            <a:off x="9230855" y="258559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DBR</a:t>
            </a:r>
          </a:p>
        </p:txBody>
      </p:sp>
      <p:sp>
        <p:nvSpPr>
          <p:cNvPr id="95" name="DBR + MLA substrate title"/>
          <p:cNvSpPr txBox="1"/>
          <p:nvPr/>
        </p:nvSpPr>
        <p:spPr>
          <a:xfrm>
            <a:off x="5375841" y="314023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DBR + MLA substrate</a:t>
            </a:r>
          </a:p>
        </p:txBody>
      </p:sp>
      <p:cxnSp>
        <p:nvCxnSpPr>
          <p:cNvPr id="96" name="bottom emission"/>
          <p:cNvCxnSpPr/>
          <p:nvPr/>
        </p:nvCxnSpPr>
        <p:spPr>
          <a:xfrm flipH="1">
            <a:off x="1286677" y="5444501"/>
            <a:ext cx="505084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bottom emission"/>
          <p:cNvCxnSpPr/>
          <p:nvPr/>
        </p:nvCxnSpPr>
        <p:spPr>
          <a:xfrm>
            <a:off x="2304579" y="5740585"/>
            <a:ext cx="0" cy="566043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bottom emission"/>
          <p:cNvCxnSpPr/>
          <p:nvPr/>
        </p:nvCxnSpPr>
        <p:spPr>
          <a:xfrm>
            <a:off x="2696733" y="5512785"/>
            <a:ext cx="505085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emission label"/>
          <p:cNvSpPr txBox="1"/>
          <p:nvPr/>
        </p:nvSpPr>
        <p:spPr>
          <a:xfrm>
            <a:off x="998326" y="6409822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  <p:cxnSp>
        <p:nvCxnSpPr>
          <p:cNvPr id="100" name="bottom emission"/>
          <p:cNvCxnSpPr/>
          <p:nvPr/>
        </p:nvCxnSpPr>
        <p:spPr>
          <a:xfrm flipH="1">
            <a:off x="6772939" y="5444501"/>
            <a:ext cx="505085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bottom emission"/>
          <p:cNvCxnSpPr/>
          <p:nvPr/>
        </p:nvCxnSpPr>
        <p:spPr>
          <a:xfrm>
            <a:off x="7790841" y="5740585"/>
            <a:ext cx="0" cy="566043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bottom emission"/>
          <p:cNvCxnSpPr/>
          <p:nvPr/>
        </p:nvCxnSpPr>
        <p:spPr>
          <a:xfrm>
            <a:off x="8182996" y="5512785"/>
            <a:ext cx="505085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emission label"/>
          <p:cNvSpPr txBox="1"/>
          <p:nvPr/>
        </p:nvSpPr>
        <p:spPr>
          <a:xfrm>
            <a:off x="6484588" y="6409822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