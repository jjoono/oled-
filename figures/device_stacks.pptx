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 reflector + MLA film / Glass + Microlens array film right"/>
          <p:cNvSpPr/>
          <p:nvPr/>
        </p:nvSpPr>
        <p:spPr>
          <a:xfrm>
            <a:off x="2002921" y="4578503"/>
            <a:ext cx="1131215" cy="1103469"/>
          </a:xfrm>
          <a:custGeom>
            <a:avLst/>
            <a:gdLst/>
            <a:ahLst/>
            <a:cxnLst/>
            <a:rect l="l" t="t" r="r" b="b"/>
            <a:pathLst>
              <a:path w="1131215" h="1103469">
                <a:moveTo>
                  <a:pt x="1131215" y="0"/>
                </a:moveTo>
                <a:lnTo>
                  <a:pt x="0" y="653127"/>
                </a:lnTo>
                <a:lnTo>
                  <a:pt x="0" y="1053711"/>
                </a:lnTo>
                <a:lnTo>
                  <a:pt x="15712" y="1095954"/>
                </a:lnTo>
                <a:lnTo>
                  <a:pt x="31423" y="1103451"/>
                </a:lnTo>
                <a:lnTo>
                  <a:pt x="47134" y="1103469"/>
                </a:lnTo>
                <a:lnTo>
                  <a:pt x="62846" y="1098562"/>
                </a:lnTo>
                <a:lnTo>
                  <a:pt x="78557" y="1089490"/>
                </a:lnTo>
                <a:lnTo>
                  <a:pt x="94268" y="1076256"/>
                </a:lnTo>
                <a:lnTo>
                  <a:pt x="109980" y="1058095"/>
                </a:lnTo>
                <a:lnTo>
                  <a:pt x="125691" y="1032456"/>
                </a:lnTo>
                <a:lnTo>
                  <a:pt x="141402" y="972070"/>
                </a:lnTo>
                <a:lnTo>
                  <a:pt x="141402" y="972070"/>
                </a:lnTo>
                <a:lnTo>
                  <a:pt x="157114" y="1014314"/>
                </a:lnTo>
                <a:lnTo>
                  <a:pt x="172825" y="1021811"/>
                </a:lnTo>
                <a:lnTo>
                  <a:pt x="188536" y="1021828"/>
                </a:lnTo>
                <a:lnTo>
                  <a:pt x="204247" y="1016921"/>
                </a:lnTo>
                <a:lnTo>
                  <a:pt x="219959" y="1007850"/>
                </a:lnTo>
                <a:lnTo>
                  <a:pt x="235670" y="994615"/>
                </a:lnTo>
                <a:lnTo>
                  <a:pt x="251381" y="976455"/>
                </a:lnTo>
                <a:lnTo>
                  <a:pt x="267093" y="950815"/>
                </a:lnTo>
                <a:lnTo>
                  <a:pt x="282804" y="890429"/>
                </a:lnTo>
                <a:lnTo>
                  <a:pt x="282804" y="890429"/>
                </a:lnTo>
                <a:lnTo>
                  <a:pt x="298515" y="932673"/>
                </a:lnTo>
                <a:lnTo>
                  <a:pt x="314227" y="940170"/>
                </a:lnTo>
                <a:lnTo>
                  <a:pt x="329938" y="940188"/>
                </a:lnTo>
                <a:lnTo>
                  <a:pt x="345649" y="935280"/>
                </a:lnTo>
                <a:lnTo>
                  <a:pt x="361361" y="926209"/>
                </a:lnTo>
                <a:lnTo>
                  <a:pt x="377072" y="912974"/>
                </a:lnTo>
                <a:lnTo>
                  <a:pt x="392783" y="894814"/>
                </a:lnTo>
                <a:lnTo>
                  <a:pt x="408495" y="869174"/>
                </a:lnTo>
                <a:lnTo>
                  <a:pt x="424206" y="808789"/>
                </a:lnTo>
                <a:lnTo>
                  <a:pt x="424206" y="808789"/>
                </a:lnTo>
                <a:lnTo>
                  <a:pt x="439917" y="851032"/>
                </a:lnTo>
                <a:lnTo>
                  <a:pt x="455629" y="858529"/>
                </a:lnTo>
                <a:lnTo>
                  <a:pt x="471340" y="858547"/>
                </a:lnTo>
                <a:lnTo>
                  <a:pt x="487051" y="853639"/>
                </a:lnTo>
                <a:lnTo>
                  <a:pt x="502763" y="844568"/>
                </a:lnTo>
                <a:lnTo>
                  <a:pt x="518474" y="831333"/>
                </a:lnTo>
                <a:lnTo>
                  <a:pt x="534185" y="813173"/>
                </a:lnTo>
                <a:lnTo>
                  <a:pt x="549897" y="787534"/>
                </a:lnTo>
                <a:lnTo>
                  <a:pt x="565608" y="727148"/>
                </a:lnTo>
                <a:lnTo>
                  <a:pt x="565608" y="727148"/>
                </a:lnTo>
                <a:lnTo>
                  <a:pt x="581319" y="769391"/>
                </a:lnTo>
                <a:lnTo>
                  <a:pt x="597031" y="776888"/>
                </a:lnTo>
                <a:lnTo>
                  <a:pt x="612742" y="776906"/>
                </a:lnTo>
                <a:lnTo>
                  <a:pt x="628453" y="771998"/>
                </a:lnTo>
                <a:lnTo>
                  <a:pt x="644164" y="762927"/>
                </a:lnTo>
                <a:lnTo>
                  <a:pt x="659876" y="749692"/>
                </a:lnTo>
                <a:lnTo>
                  <a:pt x="675587" y="731532"/>
                </a:lnTo>
                <a:lnTo>
                  <a:pt x="691298" y="705893"/>
                </a:lnTo>
                <a:lnTo>
                  <a:pt x="707010" y="645507"/>
                </a:lnTo>
                <a:lnTo>
                  <a:pt x="707010" y="645507"/>
                </a:lnTo>
                <a:lnTo>
                  <a:pt x="722721" y="687750"/>
                </a:lnTo>
                <a:lnTo>
                  <a:pt x="738432" y="695247"/>
                </a:lnTo>
                <a:lnTo>
                  <a:pt x="754144" y="695265"/>
                </a:lnTo>
                <a:lnTo>
                  <a:pt x="769855" y="690358"/>
                </a:lnTo>
                <a:lnTo>
                  <a:pt x="785566" y="681286"/>
                </a:lnTo>
                <a:lnTo>
                  <a:pt x="801278" y="668052"/>
                </a:lnTo>
                <a:lnTo>
                  <a:pt x="816989" y="649891"/>
                </a:lnTo>
                <a:lnTo>
                  <a:pt x="832700" y="624252"/>
                </a:lnTo>
                <a:lnTo>
                  <a:pt x="848412" y="563866"/>
                </a:lnTo>
                <a:lnTo>
                  <a:pt x="848412" y="563866"/>
                </a:lnTo>
                <a:lnTo>
                  <a:pt x="864123" y="606109"/>
                </a:lnTo>
                <a:lnTo>
                  <a:pt x="879834" y="613606"/>
                </a:lnTo>
                <a:lnTo>
                  <a:pt x="895546" y="613624"/>
                </a:lnTo>
                <a:lnTo>
                  <a:pt x="911257" y="608717"/>
                </a:lnTo>
                <a:lnTo>
                  <a:pt x="926968" y="599646"/>
                </a:lnTo>
                <a:lnTo>
                  <a:pt x="942680" y="586411"/>
                </a:lnTo>
                <a:lnTo>
                  <a:pt x="958391" y="568250"/>
                </a:lnTo>
                <a:lnTo>
                  <a:pt x="974102" y="542611"/>
                </a:lnTo>
                <a:lnTo>
                  <a:pt x="989814" y="482225"/>
                </a:lnTo>
                <a:lnTo>
                  <a:pt x="989814" y="482225"/>
                </a:lnTo>
                <a:lnTo>
                  <a:pt x="1005525" y="524469"/>
                </a:lnTo>
                <a:lnTo>
                  <a:pt x="1021236" y="531966"/>
                </a:lnTo>
                <a:lnTo>
                  <a:pt x="1036948" y="531984"/>
                </a:lnTo>
                <a:lnTo>
                  <a:pt x="1052659" y="527076"/>
                </a:lnTo>
                <a:lnTo>
                  <a:pt x="1068370" y="518005"/>
                </a:lnTo>
                <a:lnTo>
                  <a:pt x="1084081" y="504770"/>
                </a:lnTo>
                <a:lnTo>
                  <a:pt x="1099793" y="486610"/>
                </a:lnTo>
                <a:lnTo>
                  <a:pt x="1115504" y="460970"/>
                </a:lnTo>
                <a:lnTo>
                  <a:pt x="1131215" y="400585"/>
                </a:lnTo>
                <a:close/>
              </a:path>
            </a:pathLst>
          </a:custGeom>
          <a:solidFill>
            <a:srgbClr val="B2C4D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 reflector + MLA film / Glass + Microlens array film front"/>
          <p:cNvSpPr/>
          <p:nvPr/>
        </p:nvSpPr>
        <p:spPr>
          <a:xfrm>
            <a:off x="871706" y="4578503"/>
            <a:ext cx="1131215" cy="1103469"/>
          </a:xfrm>
          <a:custGeom>
            <a:avLst/>
            <a:gdLst/>
            <a:ahLst/>
            <a:cxnLst/>
            <a:rect l="l" t="t" r="r" b="b"/>
            <a:pathLst>
              <a:path w="1131215" h="1103469">
                <a:moveTo>
                  <a:pt x="1131215" y="653127"/>
                </a:moveTo>
                <a:lnTo>
                  <a:pt x="0" y="0"/>
                </a:lnTo>
                <a:lnTo>
                  <a:pt x="0" y="400585"/>
                </a:lnTo>
                <a:lnTo>
                  <a:pt x="15712" y="460970"/>
                </a:lnTo>
                <a:lnTo>
                  <a:pt x="31423" y="486610"/>
                </a:lnTo>
                <a:lnTo>
                  <a:pt x="47134" y="504770"/>
                </a:lnTo>
                <a:lnTo>
                  <a:pt x="62845" y="518005"/>
                </a:lnTo>
                <a:lnTo>
                  <a:pt x="78557" y="527076"/>
                </a:lnTo>
                <a:lnTo>
                  <a:pt x="94268" y="531984"/>
                </a:lnTo>
                <a:lnTo>
                  <a:pt x="109979" y="531966"/>
                </a:lnTo>
                <a:lnTo>
                  <a:pt x="125691" y="524469"/>
                </a:lnTo>
                <a:lnTo>
                  <a:pt x="141402" y="482225"/>
                </a:lnTo>
                <a:lnTo>
                  <a:pt x="141402" y="482225"/>
                </a:lnTo>
                <a:lnTo>
                  <a:pt x="157113" y="542611"/>
                </a:lnTo>
                <a:lnTo>
                  <a:pt x="172825" y="568250"/>
                </a:lnTo>
                <a:lnTo>
                  <a:pt x="188536" y="586411"/>
                </a:lnTo>
                <a:lnTo>
                  <a:pt x="204247" y="599646"/>
                </a:lnTo>
                <a:lnTo>
                  <a:pt x="219959" y="608717"/>
                </a:lnTo>
                <a:lnTo>
                  <a:pt x="235670" y="613624"/>
                </a:lnTo>
                <a:lnTo>
                  <a:pt x="251381" y="613606"/>
                </a:lnTo>
                <a:lnTo>
                  <a:pt x="267093" y="606109"/>
                </a:lnTo>
                <a:lnTo>
                  <a:pt x="282804" y="563866"/>
                </a:lnTo>
                <a:lnTo>
                  <a:pt x="282804" y="563866"/>
                </a:lnTo>
                <a:lnTo>
                  <a:pt x="298515" y="624252"/>
                </a:lnTo>
                <a:lnTo>
                  <a:pt x="314227" y="649891"/>
                </a:lnTo>
                <a:lnTo>
                  <a:pt x="329938" y="668052"/>
                </a:lnTo>
                <a:lnTo>
                  <a:pt x="345649" y="681286"/>
                </a:lnTo>
                <a:lnTo>
                  <a:pt x="361361" y="690358"/>
                </a:lnTo>
                <a:lnTo>
                  <a:pt x="377072" y="695265"/>
                </a:lnTo>
                <a:lnTo>
                  <a:pt x="392783" y="695247"/>
                </a:lnTo>
                <a:lnTo>
                  <a:pt x="408495" y="687750"/>
                </a:lnTo>
                <a:lnTo>
                  <a:pt x="424206" y="645507"/>
                </a:lnTo>
                <a:lnTo>
                  <a:pt x="424206" y="645507"/>
                </a:lnTo>
                <a:lnTo>
                  <a:pt x="439917" y="705893"/>
                </a:lnTo>
                <a:lnTo>
                  <a:pt x="455629" y="731532"/>
                </a:lnTo>
                <a:lnTo>
                  <a:pt x="471340" y="749692"/>
                </a:lnTo>
                <a:lnTo>
                  <a:pt x="487051" y="762927"/>
                </a:lnTo>
                <a:lnTo>
                  <a:pt x="502762" y="771998"/>
                </a:lnTo>
                <a:lnTo>
                  <a:pt x="518474" y="776906"/>
                </a:lnTo>
                <a:lnTo>
                  <a:pt x="534185" y="776888"/>
                </a:lnTo>
                <a:lnTo>
                  <a:pt x="549896" y="769391"/>
                </a:lnTo>
                <a:lnTo>
                  <a:pt x="565608" y="727148"/>
                </a:lnTo>
                <a:lnTo>
                  <a:pt x="565608" y="727148"/>
                </a:lnTo>
                <a:lnTo>
                  <a:pt x="581319" y="787534"/>
                </a:lnTo>
                <a:lnTo>
                  <a:pt x="597030" y="813173"/>
                </a:lnTo>
                <a:lnTo>
                  <a:pt x="612742" y="831333"/>
                </a:lnTo>
                <a:lnTo>
                  <a:pt x="628453" y="844568"/>
                </a:lnTo>
                <a:lnTo>
                  <a:pt x="644164" y="853639"/>
                </a:lnTo>
                <a:lnTo>
                  <a:pt x="659876" y="858547"/>
                </a:lnTo>
                <a:lnTo>
                  <a:pt x="675587" y="858529"/>
                </a:lnTo>
                <a:lnTo>
                  <a:pt x="691298" y="851032"/>
                </a:lnTo>
                <a:lnTo>
                  <a:pt x="707010" y="808789"/>
                </a:lnTo>
                <a:lnTo>
                  <a:pt x="707010" y="808789"/>
                </a:lnTo>
                <a:lnTo>
                  <a:pt x="722721" y="869174"/>
                </a:lnTo>
                <a:lnTo>
                  <a:pt x="738432" y="894814"/>
                </a:lnTo>
                <a:lnTo>
                  <a:pt x="754144" y="912974"/>
                </a:lnTo>
                <a:lnTo>
                  <a:pt x="769855" y="926209"/>
                </a:lnTo>
                <a:lnTo>
                  <a:pt x="785566" y="935280"/>
                </a:lnTo>
                <a:lnTo>
                  <a:pt x="801278" y="940188"/>
                </a:lnTo>
                <a:lnTo>
                  <a:pt x="816989" y="940170"/>
                </a:lnTo>
                <a:lnTo>
                  <a:pt x="832700" y="932673"/>
                </a:lnTo>
                <a:lnTo>
                  <a:pt x="848412" y="890429"/>
                </a:lnTo>
                <a:lnTo>
                  <a:pt x="848412" y="890429"/>
                </a:lnTo>
                <a:lnTo>
                  <a:pt x="864123" y="950815"/>
                </a:lnTo>
                <a:lnTo>
                  <a:pt x="879834" y="976455"/>
                </a:lnTo>
                <a:lnTo>
                  <a:pt x="895546" y="994615"/>
                </a:lnTo>
                <a:lnTo>
                  <a:pt x="911257" y="1007850"/>
                </a:lnTo>
                <a:lnTo>
                  <a:pt x="926968" y="1016921"/>
                </a:lnTo>
                <a:lnTo>
                  <a:pt x="942679" y="1021828"/>
                </a:lnTo>
                <a:lnTo>
                  <a:pt x="958391" y="1021811"/>
                </a:lnTo>
                <a:lnTo>
                  <a:pt x="974102" y="1014314"/>
                </a:lnTo>
                <a:lnTo>
                  <a:pt x="989813" y="972070"/>
                </a:lnTo>
                <a:lnTo>
                  <a:pt x="989813" y="972070"/>
                </a:lnTo>
                <a:lnTo>
                  <a:pt x="1005525" y="1032456"/>
                </a:lnTo>
                <a:lnTo>
                  <a:pt x="1021236" y="1058095"/>
                </a:lnTo>
                <a:lnTo>
                  <a:pt x="1036947" y="1076256"/>
                </a:lnTo>
                <a:lnTo>
                  <a:pt x="1052659" y="1089490"/>
                </a:lnTo>
                <a:lnTo>
                  <a:pt x="1068370" y="1098562"/>
                </a:lnTo>
                <a:lnTo>
                  <a:pt x="1084081" y="1103469"/>
                </a:lnTo>
                <a:lnTo>
                  <a:pt x="1099793" y="1103451"/>
                </a:lnTo>
                <a:lnTo>
                  <a:pt x="1115504" y="1095954"/>
                </a:lnTo>
                <a:lnTo>
                  <a:pt x="1131215" y="1053711"/>
                </a:lnTo>
                <a:close/>
              </a:path>
            </a:pathLst>
          </a:custGeom>
          <a:solidFill>
            <a:srgbClr val="91A0A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Ag reflector + MLA film / Glass + Microlens array film leader"/>
          <p:cNvCxnSpPr/>
          <p:nvPr/>
        </p:nvCxnSpPr>
        <p:spPr>
          <a:xfrm>
            <a:off x="3186387" y="4778795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Ag reflector + MLA film / Glass + Microlens array film label"/>
          <p:cNvSpPr txBox="1"/>
          <p:nvPr/>
        </p:nvSpPr>
        <p:spPr>
          <a:xfrm>
            <a:off x="3744592" y="4614643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D62828"/>
                </a:solidFill>
                <a:latin typeface="Arial"/>
              </a:rPr>
              <a:t>Glass + Microlens array film</a:t>
            </a:r>
          </a:p>
        </p:txBody>
      </p:sp>
      <p:sp>
        <p:nvSpPr>
          <p:cNvPr id="6" name="Ag reflector + MLA film / ITO [150] right"/>
          <p:cNvSpPr/>
          <p:nvPr/>
        </p:nvSpPr>
        <p:spPr>
          <a:xfrm>
            <a:off x="2002921" y="4291128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287375"/>
                </a:moveTo>
                <a:lnTo>
                  <a:pt x="1131215" y="0"/>
                </a:lnTo>
                <a:lnTo>
                  <a:pt x="0" y="653126"/>
                </a:lnTo>
                <a:lnTo>
                  <a:pt x="0" y="940502"/>
                </a:lnTo>
                <a:close/>
              </a:path>
            </a:pathLst>
          </a:custGeom>
          <a:solidFill>
            <a:srgbClr val="6DB5C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 reflector + MLA film / ITO [150] front"/>
          <p:cNvSpPr/>
          <p:nvPr/>
        </p:nvSpPr>
        <p:spPr>
          <a:xfrm>
            <a:off x="871706" y="4291128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940502"/>
                </a:moveTo>
                <a:lnTo>
                  <a:pt x="1131215" y="653126"/>
                </a:lnTo>
                <a:lnTo>
                  <a:pt x="0" y="0"/>
                </a:lnTo>
                <a:lnTo>
                  <a:pt x="0" y="287375"/>
                </a:lnTo>
                <a:close/>
              </a:path>
            </a:pathLst>
          </a:custGeom>
          <a:solidFill>
            <a:srgbClr val="5994A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Ag reflector + MLA film / ITO [150] leader"/>
          <p:cNvCxnSpPr/>
          <p:nvPr/>
        </p:nvCxnSpPr>
        <p:spPr>
          <a:xfrm>
            <a:off x="3186387" y="4434815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Ag reflector + MLA film / ITO [150] label"/>
          <p:cNvSpPr txBox="1"/>
          <p:nvPr/>
        </p:nvSpPr>
        <p:spPr>
          <a:xfrm>
            <a:off x="3744592" y="4270663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ITO [150]</a:t>
            </a:r>
          </a:p>
        </p:txBody>
      </p:sp>
      <p:sp>
        <p:nvSpPr>
          <p:cNvPr id="10" name="Ag reflector + MLA film / HATCN/TAPC [5/55] 3 pairs right"/>
          <p:cNvSpPr/>
          <p:nvPr/>
        </p:nvSpPr>
        <p:spPr>
          <a:xfrm>
            <a:off x="2002921" y="4003752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287376"/>
                </a:moveTo>
                <a:lnTo>
                  <a:pt x="1131215" y="0"/>
                </a:lnTo>
                <a:lnTo>
                  <a:pt x="0" y="653127"/>
                </a:lnTo>
                <a:lnTo>
                  <a:pt x="0" y="940502"/>
                </a:lnTo>
                <a:close/>
              </a:path>
            </a:pathLst>
          </a:custGeom>
          <a:solidFill>
            <a:srgbClr val="D4C09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 reflector + MLA film / HATCN/TAPC [5/55] 3 pairs front"/>
          <p:cNvSpPr/>
          <p:nvPr/>
        </p:nvSpPr>
        <p:spPr>
          <a:xfrm>
            <a:off x="871706" y="4003752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940502"/>
                </a:moveTo>
                <a:lnTo>
                  <a:pt x="1131215" y="653127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AC9C7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Ag reflector + MLA film / HATCN/TAPC [5/55] 3 pairs leader"/>
          <p:cNvCxnSpPr/>
          <p:nvPr/>
        </p:nvCxnSpPr>
        <p:spPr>
          <a:xfrm>
            <a:off x="3186387" y="4147440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g reflector + MLA film / HATCN/TAPC [5/55] 3 pairs label"/>
          <p:cNvSpPr txBox="1"/>
          <p:nvPr/>
        </p:nvSpPr>
        <p:spPr>
          <a:xfrm>
            <a:off x="3744592" y="3983287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HATCN/TAPC [5/55] 3 pairs</a:t>
            </a:r>
          </a:p>
        </p:txBody>
      </p:sp>
      <p:sp>
        <p:nvSpPr>
          <p:cNvPr id="14" name="Ag reflector + MLA film / TCTA [10] right"/>
          <p:cNvSpPr/>
          <p:nvPr/>
        </p:nvSpPr>
        <p:spPr>
          <a:xfrm>
            <a:off x="2002921" y="3759918"/>
            <a:ext cx="1131215" cy="896961"/>
          </a:xfrm>
          <a:custGeom>
            <a:avLst/>
            <a:gdLst/>
            <a:ahLst/>
            <a:cxnLst/>
            <a:rect l="l" t="t" r="r" b="b"/>
            <a:pathLst>
              <a:path w="1131215" h="896961">
                <a:moveTo>
                  <a:pt x="1131215" y="243834"/>
                </a:moveTo>
                <a:lnTo>
                  <a:pt x="1131215" y="0"/>
                </a:lnTo>
                <a:lnTo>
                  <a:pt x="0" y="653127"/>
                </a:lnTo>
                <a:lnTo>
                  <a:pt x="0" y="896961"/>
                </a:lnTo>
                <a:close/>
              </a:path>
            </a:pathLst>
          </a:custGeom>
          <a:solidFill>
            <a:srgbClr val="CE9E5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g reflector + MLA film / TCTA [10] front"/>
          <p:cNvSpPr/>
          <p:nvPr/>
        </p:nvSpPr>
        <p:spPr>
          <a:xfrm>
            <a:off x="871706" y="3759918"/>
            <a:ext cx="1131215" cy="896961"/>
          </a:xfrm>
          <a:custGeom>
            <a:avLst/>
            <a:gdLst/>
            <a:ahLst/>
            <a:cxnLst/>
            <a:rect l="l" t="t" r="r" b="b"/>
            <a:pathLst>
              <a:path w="1131215" h="896961">
                <a:moveTo>
                  <a:pt x="1131215" y="896961"/>
                </a:moveTo>
                <a:lnTo>
                  <a:pt x="1131215" y="653127"/>
                </a:lnTo>
                <a:lnTo>
                  <a:pt x="0" y="0"/>
                </a:lnTo>
                <a:lnTo>
                  <a:pt x="0" y="243834"/>
                </a:lnTo>
                <a:close/>
              </a:path>
            </a:pathLst>
          </a:custGeom>
          <a:solidFill>
            <a:srgbClr val="A8814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Ag reflector + MLA film / TCTA [10] leader"/>
          <p:cNvCxnSpPr/>
          <p:nvPr/>
        </p:nvCxnSpPr>
        <p:spPr>
          <a:xfrm>
            <a:off x="3186387" y="3881835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g reflector + MLA film / TCTA [10] label"/>
          <p:cNvSpPr txBox="1"/>
          <p:nvPr/>
        </p:nvSpPr>
        <p:spPr>
          <a:xfrm>
            <a:off x="3744592" y="3717683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 [10]</a:t>
            </a:r>
          </a:p>
        </p:txBody>
      </p:sp>
      <p:sp>
        <p:nvSpPr>
          <p:cNvPr id="18" name="Ag reflector + MLA film / TCTA:B3PyMPM:Irppy₂acac [25] right"/>
          <p:cNvSpPr/>
          <p:nvPr/>
        </p:nvSpPr>
        <p:spPr>
          <a:xfrm>
            <a:off x="2002921" y="3446417"/>
            <a:ext cx="1131215" cy="966628"/>
          </a:xfrm>
          <a:custGeom>
            <a:avLst/>
            <a:gdLst/>
            <a:ahLst/>
            <a:cxnLst/>
            <a:rect l="l" t="t" r="r" b="b"/>
            <a:pathLst>
              <a:path w="1131215" h="966628">
                <a:moveTo>
                  <a:pt x="1131215" y="313501"/>
                </a:moveTo>
                <a:lnTo>
                  <a:pt x="1131215" y="0"/>
                </a:lnTo>
                <a:lnTo>
                  <a:pt x="0" y="653127"/>
                </a:lnTo>
                <a:lnTo>
                  <a:pt x="0" y="966628"/>
                </a:lnTo>
                <a:close/>
              </a:path>
            </a:pathLst>
          </a:custGeom>
          <a:solidFill>
            <a:srgbClr val="99323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 reflector + MLA film / TCTA:B3PyMPM:Irppy₂acac [25] front"/>
          <p:cNvSpPr/>
          <p:nvPr/>
        </p:nvSpPr>
        <p:spPr>
          <a:xfrm>
            <a:off x="871706" y="3446417"/>
            <a:ext cx="1131215" cy="966628"/>
          </a:xfrm>
          <a:custGeom>
            <a:avLst/>
            <a:gdLst/>
            <a:ahLst/>
            <a:cxnLst/>
            <a:rect l="l" t="t" r="r" b="b"/>
            <a:pathLst>
              <a:path w="1131215" h="966628">
                <a:moveTo>
                  <a:pt x="1131215" y="966628"/>
                </a:moveTo>
                <a:lnTo>
                  <a:pt x="1131215" y="653127"/>
                </a:lnTo>
                <a:lnTo>
                  <a:pt x="0" y="0"/>
                </a:lnTo>
                <a:lnTo>
                  <a:pt x="0" y="313501"/>
                </a:lnTo>
                <a:close/>
              </a:path>
            </a:pathLst>
          </a:custGeom>
          <a:solidFill>
            <a:srgbClr val="7D292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Ag reflector + MLA film / TCTA:B3PyMPM:Irppy₂acac [25] leader"/>
          <p:cNvCxnSpPr/>
          <p:nvPr/>
        </p:nvCxnSpPr>
        <p:spPr>
          <a:xfrm>
            <a:off x="3186387" y="3603168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g reflector + MLA film / TCTA:B3PyMPM:Irppy₂acac [25] label"/>
          <p:cNvSpPr txBox="1"/>
          <p:nvPr/>
        </p:nvSpPr>
        <p:spPr>
          <a:xfrm>
            <a:off x="3744592" y="3439015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TCTA:B3PyMPM:Irppy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2</a:t>
            </a:r>
            <a:r>
              <a:rPr sz="994" b="0">
                <a:solidFill>
                  <a:srgbClr val="1B2026"/>
                </a:solidFill>
                <a:latin typeface="Arial"/>
              </a:rPr>
              <a:t>acac [25]</a:t>
            </a:r>
          </a:p>
        </p:txBody>
      </p:sp>
      <p:sp>
        <p:nvSpPr>
          <p:cNvPr id="22" name="Ag reflector + MLA film / B3PyMPM [50] right"/>
          <p:cNvSpPr/>
          <p:nvPr/>
        </p:nvSpPr>
        <p:spPr>
          <a:xfrm>
            <a:off x="2002921" y="3159042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287375"/>
                </a:moveTo>
                <a:lnTo>
                  <a:pt x="1131215" y="0"/>
                </a:lnTo>
                <a:lnTo>
                  <a:pt x="0" y="653126"/>
                </a:lnTo>
                <a:lnTo>
                  <a:pt x="0" y="940502"/>
                </a:lnTo>
                <a:close/>
              </a:path>
            </a:pathLst>
          </a:custGeom>
          <a:solidFill>
            <a:srgbClr val="6D84BB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g reflector + MLA film / B3PyMPM [50] front"/>
          <p:cNvSpPr/>
          <p:nvPr/>
        </p:nvSpPr>
        <p:spPr>
          <a:xfrm>
            <a:off x="871706" y="3159042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940502"/>
                </a:moveTo>
                <a:lnTo>
                  <a:pt x="1131215" y="653126"/>
                </a:lnTo>
                <a:lnTo>
                  <a:pt x="0" y="0"/>
                </a:lnTo>
                <a:lnTo>
                  <a:pt x="0" y="287375"/>
                </a:lnTo>
                <a:close/>
              </a:path>
            </a:pathLst>
          </a:custGeom>
          <a:solidFill>
            <a:srgbClr val="596C9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Ag reflector + MLA film / B3PyMPM [50] leader"/>
          <p:cNvCxnSpPr/>
          <p:nvPr/>
        </p:nvCxnSpPr>
        <p:spPr>
          <a:xfrm>
            <a:off x="3186387" y="3302730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g reflector + MLA film / B3PyMPM [50] label"/>
          <p:cNvSpPr txBox="1"/>
          <p:nvPr/>
        </p:nvSpPr>
        <p:spPr>
          <a:xfrm>
            <a:off x="3744592" y="3138577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B3PyMPM [50]</a:t>
            </a:r>
          </a:p>
        </p:txBody>
      </p:sp>
      <p:sp>
        <p:nvSpPr>
          <p:cNvPr id="26" name="Ag reflector + MLA film / B3PyMPM:Cs₂CO₃ [5] right"/>
          <p:cNvSpPr/>
          <p:nvPr/>
        </p:nvSpPr>
        <p:spPr>
          <a:xfrm>
            <a:off x="2002921" y="2932625"/>
            <a:ext cx="1131215" cy="879543"/>
          </a:xfrm>
          <a:custGeom>
            <a:avLst/>
            <a:gdLst/>
            <a:ahLst/>
            <a:cxnLst/>
            <a:rect l="l" t="t" r="r" b="b"/>
            <a:pathLst>
              <a:path w="1131215" h="879543">
                <a:moveTo>
                  <a:pt x="1131215" y="226417"/>
                </a:moveTo>
                <a:lnTo>
                  <a:pt x="1131215" y="0"/>
                </a:lnTo>
                <a:lnTo>
                  <a:pt x="0" y="653126"/>
                </a:lnTo>
                <a:lnTo>
                  <a:pt x="0" y="879543"/>
                </a:lnTo>
                <a:close/>
              </a:path>
            </a:pathLst>
          </a:custGeom>
          <a:solidFill>
            <a:srgbClr val="3B5390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g reflector + MLA film / B3PyMPM:Cs₂CO₃ [5] front"/>
          <p:cNvSpPr/>
          <p:nvPr/>
        </p:nvSpPr>
        <p:spPr>
          <a:xfrm>
            <a:off x="871706" y="2932625"/>
            <a:ext cx="1131215" cy="879543"/>
          </a:xfrm>
          <a:custGeom>
            <a:avLst/>
            <a:gdLst/>
            <a:ahLst/>
            <a:cxnLst/>
            <a:rect l="l" t="t" r="r" b="b"/>
            <a:pathLst>
              <a:path w="1131215" h="879543">
                <a:moveTo>
                  <a:pt x="1131215" y="879543"/>
                </a:moveTo>
                <a:lnTo>
                  <a:pt x="1131215" y="653126"/>
                </a:lnTo>
                <a:lnTo>
                  <a:pt x="0" y="0"/>
                </a:lnTo>
                <a:lnTo>
                  <a:pt x="0" y="226417"/>
                </a:lnTo>
                <a:close/>
              </a:path>
            </a:pathLst>
          </a:custGeom>
          <a:solidFill>
            <a:srgbClr val="30437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Ag reflector + MLA film / B3PyMPM:Cs₂CO₃ [5] leader"/>
          <p:cNvCxnSpPr/>
          <p:nvPr/>
        </p:nvCxnSpPr>
        <p:spPr>
          <a:xfrm>
            <a:off x="3186387" y="3045833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g reflector + MLA film / B3PyMPM:Cs₂CO₃ [5] label"/>
          <p:cNvSpPr txBox="1"/>
          <p:nvPr/>
        </p:nvSpPr>
        <p:spPr>
          <a:xfrm>
            <a:off x="3744592" y="2881681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B3PyMPM:Cs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2</a:t>
            </a:r>
            <a:r>
              <a:rPr sz="994" b="0">
                <a:solidFill>
                  <a:srgbClr val="1B2026"/>
                </a:solidFill>
                <a:latin typeface="Arial"/>
              </a:rPr>
              <a:t>CO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3</a:t>
            </a:r>
            <a:r>
              <a:rPr sz="994" b="0">
                <a:solidFill>
                  <a:srgbClr val="1B2026"/>
                </a:solidFill>
                <a:latin typeface="Arial"/>
              </a:rPr>
              <a:t> [5]</a:t>
            </a:r>
          </a:p>
        </p:txBody>
      </p:sp>
      <p:sp>
        <p:nvSpPr>
          <p:cNvPr id="30" name="Ag reflector + MLA film / Ag [100] right"/>
          <p:cNvSpPr/>
          <p:nvPr/>
        </p:nvSpPr>
        <p:spPr>
          <a:xfrm>
            <a:off x="2002921" y="2671374"/>
            <a:ext cx="1131215" cy="914377"/>
          </a:xfrm>
          <a:custGeom>
            <a:avLst/>
            <a:gdLst/>
            <a:ahLst/>
            <a:cxnLst/>
            <a:rect l="l" t="t" r="r" b="b"/>
            <a:pathLst>
              <a:path w="1131215" h="914377">
                <a:moveTo>
                  <a:pt x="1131215" y="261251"/>
                </a:moveTo>
                <a:lnTo>
                  <a:pt x="1131215" y="0"/>
                </a:lnTo>
                <a:lnTo>
                  <a:pt x="0" y="653126"/>
                </a:lnTo>
                <a:lnTo>
                  <a:pt x="0" y="914377"/>
                </a:lnTo>
                <a:close/>
              </a:path>
            </a:pathLst>
          </a:custGeom>
          <a:solidFill>
            <a:srgbClr val="ADB1B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g reflector + MLA film / Ag [100] front"/>
          <p:cNvSpPr/>
          <p:nvPr/>
        </p:nvSpPr>
        <p:spPr>
          <a:xfrm>
            <a:off x="871706" y="2671374"/>
            <a:ext cx="1131215" cy="914377"/>
          </a:xfrm>
          <a:custGeom>
            <a:avLst/>
            <a:gdLst/>
            <a:ahLst/>
            <a:cxnLst/>
            <a:rect l="l" t="t" r="r" b="b"/>
            <a:pathLst>
              <a:path w="1131215" h="914377">
                <a:moveTo>
                  <a:pt x="1131215" y="914377"/>
                </a:moveTo>
                <a:lnTo>
                  <a:pt x="1131215" y="653126"/>
                </a:lnTo>
                <a:lnTo>
                  <a:pt x="0" y="0"/>
                </a:lnTo>
                <a:lnTo>
                  <a:pt x="0" y="261251"/>
                </a:lnTo>
                <a:close/>
              </a:path>
            </a:pathLst>
          </a:custGeom>
          <a:solidFill>
            <a:srgbClr val="8D909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Ag reflector + MLA film / Ag [100] leader"/>
          <p:cNvCxnSpPr/>
          <p:nvPr/>
        </p:nvCxnSpPr>
        <p:spPr>
          <a:xfrm>
            <a:off x="3186387" y="2801999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g reflector + MLA film / Ag [100] label"/>
          <p:cNvSpPr txBox="1"/>
          <p:nvPr/>
        </p:nvSpPr>
        <p:spPr>
          <a:xfrm>
            <a:off x="3744592" y="2637847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Ag [100]</a:t>
            </a:r>
          </a:p>
        </p:txBody>
      </p:sp>
      <p:sp>
        <p:nvSpPr>
          <p:cNvPr id="34" name="Ag reflector + MLA film / Nanolaminate right"/>
          <p:cNvSpPr/>
          <p:nvPr/>
        </p:nvSpPr>
        <p:spPr>
          <a:xfrm>
            <a:off x="2002921" y="2383998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287376"/>
                </a:moveTo>
                <a:lnTo>
                  <a:pt x="1131215" y="0"/>
                </a:lnTo>
                <a:lnTo>
                  <a:pt x="0" y="653127"/>
                </a:lnTo>
                <a:lnTo>
                  <a:pt x="0" y="940502"/>
                </a:lnTo>
                <a:close/>
              </a:path>
            </a:pathLst>
          </a:custGeom>
          <a:solidFill>
            <a:srgbClr val="BBC6C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g reflector + MLA film / Nanolaminate front"/>
          <p:cNvSpPr/>
          <p:nvPr/>
        </p:nvSpPr>
        <p:spPr>
          <a:xfrm>
            <a:off x="871706" y="2383998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940502"/>
                </a:moveTo>
                <a:lnTo>
                  <a:pt x="1131215" y="653127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98A19E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Ag reflector + MLA film / Nanolaminate leader"/>
          <p:cNvCxnSpPr/>
          <p:nvPr/>
        </p:nvCxnSpPr>
        <p:spPr>
          <a:xfrm>
            <a:off x="3186387" y="2527686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Ag reflector + MLA film / Nanolaminate label"/>
          <p:cNvSpPr txBox="1"/>
          <p:nvPr/>
        </p:nvSpPr>
        <p:spPr>
          <a:xfrm>
            <a:off x="3744592" y="2363534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Nanolaminate</a:t>
            </a:r>
          </a:p>
        </p:txBody>
      </p:sp>
      <p:sp>
        <p:nvSpPr>
          <p:cNvPr id="38" name="Ag reflector + MLA film / Parylene-C [3000] right"/>
          <p:cNvSpPr/>
          <p:nvPr/>
        </p:nvSpPr>
        <p:spPr>
          <a:xfrm>
            <a:off x="2002921" y="2035664"/>
            <a:ext cx="1131215" cy="1001461"/>
          </a:xfrm>
          <a:custGeom>
            <a:avLst/>
            <a:gdLst/>
            <a:ahLst/>
            <a:cxnLst/>
            <a:rect l="l" t="t" r="r" b="b"/>
            <a:pathLst>
              <a:path w="1131215" h="1001461">
                <a:moveTo>
                  <a:pt x="1131215" y="348334"/>
                </a:moveTo>
                <a:lnTo>
                  <a:pt x="1131215" y="0"/>
                </a:lnTo>
                <a:lnTo>
                  <a:pt x="0" y="653127"/>
                </a:lnTo>
                <a:lnTo>
                  <a:pt x="0" y="1001461"/>
                </a:lnTo>
                <a:close/>
              </a:path>
            </a:pathLst>
          </a:custGeom>
          <a:solidFill>
            <a:srgbClr val="C2BDCE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g reflector + MLA film / Parylene-C [3000] front"/>
          <p:cNvSpPr/>
          <p:nvPr/>
        </p:nvSpPr>
        <p:spPr>
          <a:xfrm>
            <a:off x="871706" y="2035664"/>
            <a:ext cx="1131215" cy="1001461"/>
          </a:xfrm>
          <a:custGeom>
            <a:avLst/>
            <a:gdLst/>
            <a:ahLst/>
            <a:cxnLst/>
            <a:rect l="l" t="t" r="r" b="b"/>
            <a:pathLst>
              <a:path w="1131215" h="1001461">
                <a:moveTo>
                  <a:pt x="1131215" y="1001461"/>
                </a:moveTo>
                <a:lnTo>
                  <a:pt x="1131215" y="653127"/>
                </a:lnTo>
                <a:lnTo>
                  <a:pt x="0" y="0"/>
                </a:lnTo>
                <a:lnTo>
                  <a:pt x="0" y="348334"/>
                </a:lnTo>
                <a:close/>
              </a:path>
            </a:pathLst>
          </a:custGeom>
          <a:solidFill>
            <a:srgbClr val="9E9AA7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Ag reflector + MLA film / Parylene-C [3000] leader"/>
          <p:cNvCxnSpPr/>
          <p:nvPr/>
        </p:nvCxnSpPr>
        <p:spPr>
          <a:xfrm>
            <a:off x="3186387" y="2209831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Ag reflector + MLA film / Parylene-C [3000] label"/>
          <p:cNvSpPr txBox="1"/>
          <p:nvPr/>
        </p:nvSpPr>
        <p:spPr>
          <a:xfrm>
            <a:off x="3744592" y="2045679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D62828"/>
                </a:solidFill>
                <a:latin typeface="Arial"/>
              </a:rPr>
              <a:t>Parylene-C [3000]</a:t>
            </a:r>
          </a:p>
        </p:txBody>
      </p:sp>
      <p:sp>
        <p:nvSpPr>
          <p:cNvPr id="42" name="Ag reflector + MLA film / MoOx [5] + Ag reflector [100] top"/>
          <p:cNvSpPr/>
          <p:nvPr/>
        </p:nvSpPr>
        <p:spPr>
          <a:xfrm>
            <a:off x="871706" y="1086454"/>
            <a:ext cx="2262430" cy="1306253"/>
          </a:xfrm>
          <a:custGeom>
            <a:avLst/>
            <a:gdLst/>
            <a:ahLst/>
            <a:cxnLst/>
            <a:rect l="l" t="t" r="r" b="b"/>
            <a:pathLst>
              <a:path w="2262430" h="1306253">
                <a:moveTo>
                  <a:pt x="1131215" y="0"/>
                </a:moveTo>
                <a:lnTo>
                  <a:pt x="2262430" y="653126"/>
                </a:lnTo>
                <a:lnTo>
                  <a:pt x="1131215" y="1306253"/>
                </a:lnTo>
                <a:lnTo>
                  <a:pt x="0" y="653126"/>
                </a:lnTo>
                <a:close/>
              </a:path>
            </a:pathLst>
          </a:custGeom>
          <a:solidFill>
            <a:srgbClr val="9AA1A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g reflector + MLA film / MoOx [5] + Ag reflector [100] right"/>
          <p:cNvSpPr/>
          <p:nvPr/>
        </p:nvSpPr>
        <p:spPr>
          <a:xfrm>
            <a:off x="2002921" y="1739580"/>
            <a:ext cx="1131215" cy="949211"/>
          </a:xfrm>
          <a:custGeom>
            <a:avLst/>
            <a:gdLst/>
            <a:ahLst/>
            <a:cxnLst/>
            <a:rect l="l" t="t" r="r" b="b"/>
            <a:pathLst>
              <a:path w="1131215" h="949211">
                <a:moveTo>
                  <a:pt x="1131215" y="296084"/>
                </a:moveTo>
                <a:lnTo>
                  <a:pt x="1131215" y="0"/>
                </a:lnTo>
                <a:lnTo>
                  <a:pt x="0" y="653127"/>
                </a:lnTo>
                <a:lnTo>
                  <a:pt x="0" y="949211"/>
                </a:lnTo>
                <a:close/>
              </a:path>
            </a:pathLst>
          </a:custGeom>
          <a:solidFill>
            <a:srgbClr val="848A90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g reflector + MLA film / MoOx [5] + Ag reflector [100] front"/>
          <p:cNvSpPr/>
          <p:nvPr/>
        </p:nvSpPr>
        <p:spPr>
          <a:xfrm>
            <a:off x="871706" y="1739580"/>
            <a:ext cx="1131215" cy="949211"/>
          </a:xfrm>
          <a:custGeom>
            <a:avLst/>
            <a:gdLst/>
            <a:ahLst/>
            <a:cxnLst/>
            <a:rect l="l" t="t" r="r" b="b"/>
            <a:pathLst>
              <a:path w="1131215" h="949211">
                <a:moveTo>
                  <a:pt x="1131215" y="949211"/>
                </a:moveTo>
                <a:lnTo>
                  <a:pt x="1131215" y="653127"/>
                </a:lnTo>
                <a:lnTo>
                  <a:pt x="0" y="0"/>
                </a:lnTo>
                <a:lnTo>
                  <a:pt x="0" y="296084"/>
                </a:lnTo>
                <a:close/>
              </a:path>
            </a:pathLst>
          </a:custGeom>
          <a:solidFill>
            <a:srgbClr val="6C717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Ag reflector + MLA film / MoOx [5] + Ag reflector [100] leader"/>
          <p:cNvCxnSpPr/>
          <p:nvPr/>
        </p:nvCxnSpPr>
        <p:spPr>
          <a:xfrm>
            <a:off x="3186387" y="1887622"/>
            <a:ext cx="488538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Ag reflector + MLA film / MoOx [5] + Ag reflector [100] label"/>
          <p:cNvSpPr txBox="1"/>
          <p:nvPr/>
        </p:nvSpPr>
        <p:spPr>
          <a:xfrm>
            <a:off x="3744592" y="1723470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D62828"/>
                </a:solidFill>
                <a:latin typeface="Arial"/>
              </a:rPr>
              <a:t>MoOx [5] + Ag reflector [100]</a:t>
            </a:r>
          </a:p>
        </p:txBody>
      </p:sp>
      <p:sp>
        <p:nvSpPr>
          <p:cNvPr id="47" name="Ag reflector + MLA film title"/>
          <p:cNvSpPr txBox="1"/>
          <p:nvPr/>
        </p:nvSpPr>
        <p:spPr>
          <a:xfrm>
            <a:off x="-261251" y="314023"/>
            <a:ext cx="4528344" cy="43019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2" b="1">
                <a:solidFill>
                  <a:srgbClr val="1B2026"/>
                </a:solidFill>
                <a:latin typeface="Arial"/>
              </a:rPr>
              <a:t>Ag reflector + MLA film</a:t>
            </a:r>
          </a:p>
        </p:txBody>
      </p:sp>
      <p:sp>
        <p:nvSpPr>
          <p:cNvPr id="48" name="DBR + MLA substrate / MLA substrate (n = 1.77) right"/>
          <p:cNvSpPr/>
          <p:nvPr/>
        </p:nvSpPr>
        <p:spPr>
          <a:xfrm>
            <a:off x="7489184" y="4578503"/>
            <a:ext cx="1131215" cy="1103469"/>
          </a:xfrm>
          <a:custGeom>
            <a:avLst/>
            <a:gdLst/>
            <a:ahLst/>
            <a:cxnLst/>
            <a:rect l="l" t="t" r="r" b="b"/>
            <a:pathLst>
              <a:path w="1131215" h="1103469">
                <a:moveTo>
                  <a:pt x="1131215" y="0"/>
                </a:moveTo>
                <a:lnTo>
                  <a:pt x="0" y="653127"/>
                </a:lnTo>
                <a:lnTo>
                  <a:pt x="0" y="1053711"/>
                </a:lnTo>
                <a:lnTo>
                  <a:pt x="15711" y="1095954"/>
                </a:lnTo>
                <a:lnTo>
                  <a:pt x="31423" y="1103451"/>
                </a:lnTo>
                <a:lnTo>
                  <a:pt x="47134" y="1103469"/>
                </a:lnTo>
                <a:lnTo>
                  <a:pt x="62845" y="1098562"/>
                </a:lnTo>
                <a:lnTo>
                  <a:pt x="78557" y="1089490"/>
                </a:lnTo>
                <a:lnTo>
                  <a:pt x="94268" y="1076256"/>
                </a:lnTo>
                <a:lnTo>
                  <a:pt x="109979" y="1058095"/>
                </a:lnTo>
                <a:lnTo>
                  <a:pt x="125691" y="1032456"/>
                </a:lnTo>
                <a:lnTo>
                  <a:pt x="141402" y="972070"/>
                </a:lnTo>
                <a:lnTo>
                  <a:pt x="141402" y="972070"/>
                </a:lnTo>
                <a:lnTo>
                  <a:pt x="157113" y="1014314"/>
                </a:lnTo>
                <a:lnTo>
                  <a:pt x="172825" y="1021811"/>
                </a:lnTo>
                <a:lnTo>
                  <a:pt x="188536" y="1021828"/>
                </a:lnTo>
                <a:lnTo>
                  <a:pt x="204247" y="1016921"/>
                </a:lnTo>
                <a:lnTo>
                  <a:pt x="219959" y="1007850"/>
                </a:lnTo>
                <a:lnTo>
                  <a:pt x="235670" y="994615"/>
                </a:lnTo>
                <a:lnTo>
                  <a:pt x="251381" y="976455"/>
                </a:lnTo>
                <a:lnTo>
                  <a:pt x="267093" y="950815"/>
                </a:lnTo>
                <a:lnTo>
                  <a:pt x="282804" y="890429"/>
                </a:lnTo>
                <a:lnTo>
                  <a:pt x="282804" y="890429"/>
                </a:lnTo>
                <a:lnTo>
                  <a:pt x="298515" y="932673"/>
                </a:lnTo>
                <a:lnTo>
                  <a:pt x="314226" y="940170"/>
                </a:lnTo>
                <a:lnTo>
                  <a:pt x="329938" y="940188"/>
                </a:lnTo>
                <a:lnTo>
                  <a:pt x="345649" y="935280"/>
                </a:lnTo>
                <a:lnTo>
                  <a:pt x="361360" y="926209"/>
                </a:lnTo>
                <a:lnTo>
                  <a:pt x="377072" y="912974"/>
                </a:lnTo>
                <a:lnTo>
                  <a:pt x="392783" y="894814"/>
                </a:lnTo>
                <a:lnTo>
                  <a:pt x="408494" y="869174"/>
                </a:lnTo>
                <a:lnTo>
                  <a:pt x="424206" y="808789"/>
                </a:lnTo>
                <a:lnTo>
                  <a:pt x="424206" y="808789"/>
                </a:lnTo>
                <a:lnTo>
                  <a:pt x="439917" y="851032"/>
                </a:lnTo>
                <a:lnTo>
                  <a:pt x="455628" y="858529"/>
                </a:lnTo>
                <a:lnTo>
                  <a:pt x="471340" y="858547"/>
                </a:lnTo>
                <a:lnTo>
                  <a:pt x="487051" y="853639"/>
                </a:lnTo>
                <a:lnTo>
                  <a:pt x="502762" y="844568"/>
                </a:lnTo>
                <a:lnTo>
                  <a:pt x="518474" y="831333"/>
                </a:lnTo>
                <a:lnTo>
                  <a:pt x="534185" y="813173"/>
                </a:lnTo>
                <a:lnTo>
                  <a:pt x="549896" y="787534"/>
                </a:lnTo>
                <a:lnTo>
                  <a:pt x="565608" y="727148"/>
                </a:lnTo>
                <a:lnTo>
                  <a:pt x="565608" y="727148"/>
                </a:lnTo>
                <a:lnTo>
                  <a:pt x="581319" y="769391"/>
                </a:lnTo>
                <a:lnTo>
                  <a:pt x="597030" y="776888"/>
                </a:lnTo>
                <a:lnTo>
                  <a:pt x="612742" y="776906"/>
                </a:lnTo>
                <a:lnTo>
                  <a:pt x="628453" y="771998"/>
                </a:lnTo>
                <a:lnTo>
                  <a:pt x="644164" y="762927"/>
                </a:lnTo>
                <a:lnTo>
                  <a:pt x="659876" y="749692"/>
                </a:lnTo>
                <a:lnTo>
                  <a:pt x="675587" y="731532"/>
                </a:lnTo>
                <a:lnTo>
                  <a:pt x="691298" y="705893"/>
                </a:lnTo>
                <a:lnTo>
                  <a:pt x="707010" y="645507"/>
                </a:lnTo>
                <a:lnTo>
                  <a:pt x="707010" y="645507"/>
                </a:lnTo>
                <a:lnTo>
                  <a:pt x="722721" y="687750"/>
                </a:lnTo>
                <a:lnTo>
                  <a:pt x="738432" y="695247"/>
                </a:lnTo>
                <a:lnTo>
                  <a:pt x="754143" y="695265"/>
                </a:lnTo>
                <a:lnTo>
                  <a:pt x="769855" y="690358"/>
                </a:lnTo>
                <a:lnTo>
                  <a:pt x="785566" y="681286"/>
                </a:lnTo>
                <a:lnTo>
                  <a:pt x="801277" y="668052"/>
                </a:lnTo>
                <a:lnTo>
                  <a:pt x="816989" y="649891"/>
                </a:lnTo>
                <a:lnTo>
                  <a:pt x="832700" y="624252"/>
                </a:lnTo>
                <a:lnTo>
                  <a:pt x="848411" y="563866"/>
                </a:lnTo>
                <a:lnTo>
                  <a:pt x="848411" y="563866"/>
                </a:lnTo>
                <a:lnTo>
                  <a:pt x="864123" y="606109"/>
                </a:lnTo>
                <a:lnTo>
                  <a:pt x="879834" y="613606"/>
                </a:lnTo>
                <a:lnTo>
                  <a:pt x="895545" y="613624"/>
                </a:lnTo>
                <a:lnTo>
                  <a:pt x="911257" y="608717"/>
                </a:lnTo>
                <a:lnTo>
                  <a:pt x="926968" y="599646"/>
                </a:lnTo>
                <a:lnTo>
                  <a:pt x="942679" y="586411"/>
                </a:lnTo>
                <a:lnTo>
                  <a:pt x="958391" y="568250"/>
                </a:lnTo>
                <a:lnTo>
                  <a:pt x="974102" y="542611"/>
                </a:lnTo>
                <a:lnTo>
                  <a:pt x="989813" y="482225"/>
                </a:lnTo>
                <a:lnTo>
                  <a:pt x="989813" y="482225"/>
                </a:lnTo>
                <a:lnTo>
                  <a:pt x="1005525" y="524469"/>
                </a:lnTo>
                <a:lnTo>
                  <a:pt x="1021236" y="531966"/>
                </a:lnTo>
                <a:lnTo>
                  <a:pt x="1036947" y="531984"/>
                </a:lnTo>
                <a:lnTo>
                  <a:pt x="1052659" y="527076"/>
                </a:lnTo>
                <a:lnTo>
                  <a:pt x="1068370" y="518005"/>
                </a:lnTo>
                <a:lnTo>
                  <a:pt x="1084081" y="504770"/>
                </a:lnTo>
                <a:lnTo>
                  <a:pt x="1099793" y="486610"/>
                </a:lnTo>
                <a:lnTo>
                  <a:pt x="1115504" y="460970"/>
                </a:lnTo>
                <a:lnTo>
                  <a:pt x="1131215" y="400585"/>
                </a:lnTo>
                <a:close/>
              </a:path>
            </a:pathLst>
          </a:custGeom>
          <a:solidFill>
            <a:srgbClr val="B2C4D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BR + MLA substrate / MLA substrate (n = 1.77) front"/>
          <p:cNvSpPr/>
          <p:nvPr/>
        </p:nvSpPr>
        <p:spPr>
          <a:xfrm>
            <a:off x="6357969" y="4578503"/>
            <a:ext cx="1131215" cy="1103469"/>
          </a:xfrm>
          <a:custGeom>
            <a:avLst/>
            <a:gdLst/>
            <a:ahLst/>
            <a:cxnLst/>
            <a:rect l="l" t="t" r="r" b="b"/>
            <a:pathLst>
              <a:path w="1131215" h="1103469">
                <a:moveTo>
                  <a:pt x="1131215" y="653127"/>
                </a:moveTo>
                <a:lnTo>
                  <a:pt x="0" y="0"/>
                </a:lnTo>
                <a:lnTo>
                  <a:pt x="0" y="400585"/>
                </a:lnTo>
                <a:lnTo>
                  <a:pt x="15711" y="460970"/>
                </a:lnTo>
                <a:lnTo>
                  <a:pt x="31423" y="486610"/>
                </a:lnTo>
                <a:lnTo>
                  <a:pt x="47134" y="504770"/>
                </a:lnTo>
                <a:lnTo>
                  <a:pt x="62845" y="518005"/>
                </a:lnTo>
                <a:lnTo>
                  <a:pt x="78557" y="527076"/>
                </a:lnTo>
                <a:lnTo>
                  <a:pt x="94268" y="531984"/>
                </a:lnTo>
                <a:lnTo>
                  <a:pt x="109979" y="531966"/>
                </a:lnTo>
                <a:lnTo>
                  <a:pt x="125691" y="524469"/>
                </a:lnTo>
                <a:lnTo>
                  <a:pt x="141402" y="482225"/>
                </a:lnTo>
                <a:lnTo>
                  <a:pt x="141402" y="482225"/>
                </a:lnTo>
                <a:lnTo>
                  <a:pt x="157113" y="542611"/>
                </a:lnTo>
                <a:lnTo>
                  <a:pt x="172824" y="568250"/>
                </a:lnTo>
                <a:lnTo>
                  <a:pt x="188536" y="586411"/>
                </a:lnTo>
                <a:lnTo>
                  <a:pt x="204247" y="599646"/>
                </a:lnTo>
                <a:lnTo>
                  <a:pt x="219958" y="608717"/>
                </a:lnTo>
                <a:lnTo>
                  <a:pt x="235670" y="613624"/>
                </a:lnTo>
                <a:lnTo>
                  <a:pt x="251381" y="613606"/>
                </a:lnTo>
                <a:lnTo>
                  <a:pt x="267092" y="606109"/>
                </a:lnTo>
                <a:lnTo>
                  <a:pt x="282804" y="563866"/>
                </a:lnTo>
                <a:lnTo>
                  <a:pt x="282804" y="563866"/>
                </a:lnTo>
                <a:lnTo>
                  <a:pt x="298515" y="624252"/>
                </a:lnTo>
                <a:lnTo>
                  <a:pt x="314226" y="649891"/>
                </a:lnTo>
                <a:lnTo>
                  <a:pt x="329938" y="668052"/>
                </a:lnTo>
                <a:lnTo>
                  <a:pt x="345649" y="681286"/>
                </a:lnTo>
                <a:lnTo>
                  <a:pt x="361360" y="690358"/>
                </a:lnTo>
                <a:lnTo>
                  <a:pt x="377072" y="695265"/>
                </a:lnTo>
                <a:lnTo>
                  <a:pt x="392783" y="695247"/>
                </a:lnTo>
                <a:lnTo>
                  <a:pt x="408494" y="687750"/>
                </a:lnTo>
                <a:lnTo>
                  <a:pt x="424206" y="645507"/>
                </a:lnTo>
                <a:lnTo>
                  <a:pt x="424206" y="645507"/>
                </a:lnTo>
                <a:lnTo>
                  <a:pt x="439917" y="705893"/>
                </a:lnTo>
                <a:lnTo>
                  <a:pt x="455628" y="731532"/>
                </a:lnTo>
                <a:lnTo>
                  <a:pt x="471340" y="749692"/>
                </a:lnTo>
                <a:lnTo>
                  <a:pt x="487051" y="762927"/>
                </a:lnTo>
                <a:lnTo>
                  <a:pt x="502762" y="771998"/>
                </a:lnTo>
                <a:lnTo>
                  <a:pt x="518474" y="776906"/>
                </a:lnTo>
                <a:lnTo>
                  <a:pt x="534185" y="776888"/>
                </a:lnTo>
                <a:lnTo>
                  <a:pt x="549896" y="769391"/>
                </a:lnTo>
                <a:lnTo>
                  <a:pt x="565608" y="727148"/>
                </a:lnTo>
                <a:lnTo>
                  <a:pt x="565608" y="727148"/>
                </a:lnTo>
                <a:lnTo>
                  <a:pt x="581319" y="787534"/>
                </a:lnTo>
                <a:lnTo>
                  <a:pt x="597030" y="813173"/>
                </a:lnTo>
                <a:lnTo>
                  <a:pt x="612741" y="831333"/>
                </a:lnTo>
                <a:lnTo>
                  <a:pt x="628453" y="844568"/>
                </a:lnTo>
                <a:lnTo>
                  <a:pt x="644164" y="853639"/>
                </a:lnTo>
                <a:lnTo>
                  <a:pt x="659875" y="858547"/>
                </a:lnTo>
                <a:lnTo>
                  <a:pt x="675587" y="858529"/>
                </a:lnTo>
                <a:lnTo>
                  <a:pt x="691298" y="851032"/>
                </a:lnTo>
                <a:lnTo>
                  <a:pt x="707009" y="808789"/>
                </a:lnTo>
                <a:lnTo>
                  <a:pt x="707009" y="808789"/>
                </a:lnTo>
                <a:lnTo>
                  <a:pt x="722721" y="869174"/>
                </a:lnTo>
                <a:lnTo>
                  <a:pt x="738432" y="894814"/>
                </a:lnTo>
                <a:lnTo>
                  <a:pt x="754143" y="912974"/>
                </a:lnTo>
                <a:lnTo>
                  <a:pt x="769855" y="926209"/>
                </a:lnTo>
                <a:lnTo>
                  <a:pt x="785566" y="935280"/>
                </a:lnTo>
                <a:lnTo>
                  <a:pt x="801277" y="940188"/>
                </a:lnTo>
                <a:lnTo>
                  <a:pt x="816989" y="940170"/>
                </a:lnTo>
                <a:lnTo>
                  <a:pt x="832700" y="932673"/>
                </a:lnTo>
                <a:lnTo>
                  <a:pt x="848411" y="890429"/>
                </a:lnTo>
                <a:lnTo>
                  <a:pt x="848411" y="890429"/>
                </a:lnTo>
                <a:lnTo>
                  <a:pt x="864123" y="950815"/>
                </a:lnTo>
                <a:lnTo>
                  <a:pt x="879834" y="976455"/>
                </a:lnTo>
                <a:lnTo>
                  <a:pt x="895545" y="994615"/>
                </a:lnTo>
                <a:lnTo>
                  <a:pt x="911257" y="1007850"/>
                </a:lnTo>
                <a:lnTo>
                  <a:pt x="926968" y="1016921"/>
                </a:lnTo>
                <a:lnTo>
                  <a:pt x="942679" y="1021828"/>
                </a:lnTo>
                <a:lnTo>
                  <a:pt x="958391" y="1021811"/>
                </a:lnTo>
                <a:lnTo>
                  <a:pt x="974102" y="1014314"/>
                </a:lnTo>
                <a:lnTo>
                  <a:pt x="989813" y="972070"/>
                </a:lnTo>
                <a:lnTo>
                  <a:pt x="989813" y="972070"/>
                </a:lnTo>
                <a:lnTo>
                  <a:pt x="1005525" y="1032456"/>
                </a:lnTo>
                <a:lnTo>
                  <a:pt x="1021236" y="1058095"/>
                </a:lnTo>
                <a:lnTo>
                  <a:pt x="1036947" y="1076256"/>
                </a:lnTo>
                <a:lnTo>
                  <a:pt x="1052658" y="1089490"/>
                </a:lnTo>
                <a:lnTo>
                  <a:pt x="1068370" y="1098562"/>
                </a:lnTo>
                <a:lnTo>
                  <a:pt x="1084081" y="1103469"/>
                </a:lnTo>
                <a:lnTo>
                  <a:pt x="1099792" y="1103451"/>
                </a:lnTo>
                <a:lnTo>
                  <a:pt x="1115504" y="1095954"/>
                </a:lnTo>
                <a:lnTo>
                  <a:pt x="1131215" y="1053711"/>
                </a:lnTo>
                <a:close/>
              </a:path>
            </a:pathLst>
          </a:custGeom>
          <a:solidFill>
            <a:srgbClr val="91A0A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DBR + MLA substrate / MLA substrate (n = 1.77) leader"/>
          <p:cNvCxnSpPr/>
          <p:nvPr/>
        </p:nvCxnSpPr>
        <p:spPr>
          <a:xfrm>
            <a:off x="8672649" y="4778795"/>
            <a:ext cx="488539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DBR + MLA substrate / MLA substrate (n = 1.77) label"/>
          <p:cNvSpPr txBox="1"/>
          <p:nvPr/>
        </p:nvSpPr>
        <p:spPr>
          <a:xfrm>
            <a:off x="9230855" y="4614643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MLA substrate (n = 1.77)</a:t>
            </a:r>
          </a:p>
        </p:txBody>
      </p:sp>
      <p:sp>
        <p:nvSpPr>
          <p:cNvPr id="52" name="DBR + MLA substrate / IZO right"/>
          <p:cNvSpPr/>
          <p:nvPr/>
        </p:nvSpPr>
        <p:spPr>
          <a:xfrm>
            <a:off x="7489184" y="4291128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287375"/>
                </a:moveTo>
                <a:lnTo>
                  <a:pt x="1131215" y="0"/>
                </a:lnTo>
                <a:lnTo>
                  <a:pt x="0" y="653126"/>
                </a:lnTo>
                <a:lnTo>
                  <a:pt x="0" y="940502"/>
                </a:lnTo>
                <a:close/>
              </a:path>
            </a:pathLst>
          </a:custGeom>
          <a:solidFill>
            <a:srgbClr val="6DB5C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BR + MLA substrate / IZO front"/>
          <p:cNvSpPr/>
          <p:nvPr/>
        </p:nvSpPr>
        <p:spPr>
          <a:xfrm>
            <a:off x="6357969" y="4291128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940502"/>
                </a:moveTo>
                <a:lnTo>
                  <a:pt x="1131215" y="653126"/>
                </a:lnTo>
                <a:lnTo>
                  <a:pt x="0" y="0"/>
                </a:lnTo>
                <a:lnTo>
                  <a:pt x="0" y="287375"/>
                </a:lnTo>
                <a:close/>
              </a:path>
            </a:pathLst>
          </a:custGeom>
          <a:solidFill>
            <a:srgbClr val="5994A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DBR + MLA substrate / IZO leader"/>
          <p:cNvCxnSpPr/>
          <p:nvPr/>
        </p:nvCxnSpPr>
        <p:spPr>
          <a:xfrm>
            <a:off x="8672649" y="4434815"/>
            <a:ext cx="488539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DBR + MLA substrate / IZO label"/>
          <p:cNvSpPr txBox="1"/>
          <p:nvPr/>
        </p:nvSpPr>
        <p:spPr>
          <a:xfrm>
            <a:off x="9230855" y="4270663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IZO</a:t>
            </a:r>
          </a:p>
        </p:txBody>
      </p:sp>
      <p:sp>
        <p:nvSpPr>
          <p:cNvPr id="56" name="DBR + MLA substrate / TAPC/HAT-CN/TAPC/HAT-CN right"/>
          <p:cNvSpPr/>
          <p:nvPr/>
        </p:nvSpPr>
        <p:spPr>
          <a:xfrm>
            <a:off x="7489184" y="4003752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287376"/>
                </a:moveTo>
                <a:lnTo>
                  <a:pt x="1131215" y="0"/>
                </a:lnTo>
                <a:lnTo>
                  <a:pt x="0" y="653127"/>
                </a:lnTo>
                <a:lnTo>
                  <a:pt x="0" y="940502"/>
                </a:lnTo>
                <a:close/>
              </a:path>
            </a:pathLst>
          </a:custGeom>
          <a:solidFill>
            <a:srgbClr val="D4C09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BR + MLA substrate / TAPC/HAT-CN/TAPC/HAT-CN front"/>
          <p:cNvSpPr/>
          <p:nvPr/>
        </p:nvSpPr>
        <p:spPr>
          <a:xfrm>
            <a:off x="6357969" y="4003752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940502"/>
                </a:moveTo>
                <a:lnTo>
                  <a:pt x="1131215" y="653127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AC9C7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DBR + MLA substrate / TAPC/HAT-CN/TAPC/HAT-CN leader"/>
          <p:cNvCxnSpPr/>
          <p:nvPr/>
        </p:nvCxnSpPr>
        <p:spPr>
          <a:xfrm>
            <a:off x="8672649" y="4147440"/>
            <a:ext cx="488539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DBR + MLA substrate / TAPC/HAT-CN/TAPC/HAT-CN label"/>
          <p:cNvSpPr txBox="1"/>
          <p:nvPr/>
        </p:nvSpPr>
        <p:spPr>
          <a:xfrm>
            <a:off x="9230855" y="3983287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TAPC/HAT-CN/TAPC/HAT-CN</a:t>
            </a:r>
          </a:p>
        </p:txBody>
      </p:sp>
      <p:sp>
        <p:nvSpPr>
          <p:cNvPr id="60" name="DBR + MLA substrate / TCTA right"/>
          <p:cNvSpPr/>
          <p:nvPr/>
        </p:nvSpPr>
        <p:spPr>
          <a:xfrm>
            <a:off x="7489184" y="3759918"/>
            <a:ext cx="1131215" cy="896961"/>
          </a:xfrm>
          <a:custGeom>
            <a:avLst/>
            <a:gdLst/>
            <a:ahLst/>
            <a:cxnLst/>
            <a:rect l="l" t="t" r="r" b="b"/>
            <a:pathLst>
              <a:path w="1131215" h="896961">
                <a:moveTo>
                  <a:pt x="1131215" y="243834"/>
                </a:moveTo>
                <a:lnTo>
                  <a:pt x="1131215" y="0"/>
                </a:lnTo>
                <a:lnTo>
                  <a:pt x="0" y="653127"/>
                </a:lnTo>
                <a:lnTo>
                  <a:pt x="0" y="896961"/>
                </a:lnTo>
                <a:close/>
              </a:path>
            </a:pathLst>
          </a:custGeom>
          <a:solidFill>
            <a:srgbClr val="CE9E5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BR + MLA substrate / TCTA front"/>
          <p:cNvSpPr/>
          <p:nvPr/>
        </p:nvSpPr>
        <p:spPr>
          <a:xfrm>
            <a:off x="6357969" y="3759918"/>
            <a:ext cx="1131215" cy="896961"/>
          </a:xfrm>
          <a:custGeom>
            <a:avLst/>
            <a:gdLst/>
            <a:ahLst/>
            <a:cxnLst/>
            <a:rect l="l" t="t" r="r" b="b"/>
            <a:pathLst>
              <a:path w="1131215" h="896961">
                <a:moveTo>
                  <a:pt x="1131215" y="896961"/>
                </a:moveTo>
                <a:lnTo>
                  <a:pt x="1131215" y="653127"/>
                </a:lnTo>
                <a:lnTo>
                  <a:pt x="0" y="0"/>
                </a:lnTo>
                <a:lnTo>
                  <a:pt x="0" y="243834"/>
                </a:lnTo>
                <a:close/>
              </a:path>
            </a:pathLst>
          </a:custGeom>
          <a:solidFill>
            <a:srgbClr val="A8814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DBR + MLA substrate / TCTA leader"/>
          <p:cNvCxnSpPr/>
          <p:nvPr/>
        </p:nvCxnSpPr>
        <p:spPr>
          <a:xfrm>
            <a:off x="8672649" y="3881835"/>
            <a:ext cx="488539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DBR + MLA substrate / TCTA label"/>
          <p:cNvSpPr txBox="1"/>
          <p:nvPr/>
        </p:nvSpPr>
        <p:spPr>
          <a:xfrm>
            <a:off x="9230855" y="3717683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</a:t>
            </a:r>
          </a:p>
        </p:txBody>
      </p:sp>
      <p:sp>
        <p:nvSpPr>
          <p:cNvPr id="64" name="DBR + MLA substrate / TCTA:B3PyMPM:Ir(dmppy-ph)₂tmd right"/>
          <p:cNvSpPr/>
          <p:nvPr/>
        </p:nvSpPr>
        <p:spPr>
          <a:xfrm>
            <a:off x="7489184" y="3446417"/>
            <a:ext cx="1131215" cy="966628"/>
          </a:xfrm>
          <a:custGeom>
            <a:avLst/>
            <a:gdLst/>
            <a:ahLst/>
            <a:cxnLst/>
            <a:rect l="l" t="t" r="r" b="b"/>
            <a:pathLst>
              <a:path w="1131215" h="966628">
                <a:moveTo>
                  <a:pt x="1131215" y="313501"/>
                </a:moveTo>
                <a:lnTo>
                  <a:pt x="1131215" y="0"/>
                </a:lnTo>
                <a:lnTo>
                  <a:pt x="0" y="653127"/>
                </a:lnTo>
                <a:lnTo>
                  <a:pt x="0" y="966628"/>
                </a:lnTo>
                <a:close/>
              </a:path>
            </a:pathLst>
          </a:custGeom>
          <a:solidFill>
            <a:srgbClr val="99323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BR + MLA substrate / TCTA:B3PyMPM:Ir(dmppy-ph)₂tmd front"/>
          <p:cNvSpPr/>
          <p:nvPr/>
        </p:nvSpPr>
        <p:spPr>
          <a:xfrm>
            <a:off x="6357969" y="3446417"/>
            <a:ext cx="1131215" cy="966628"/>
          </a:xfrm>
          <a:custGeom>
            <a:avLst/>
            <a:gdLst/>
            <a:ahLst/>
            <a:cxnLst/>
            <a:rect l="l" t="t" r="r" b="b"/>
            <a:pathLst>
              <a:path w="1131215" h="966628">
                <a:moveTo>
                  <a:pt x="1131215" y="966628"/>
                </a:moveTo>
                <a:lnTo>
                  <a:pt x="1131215" y="653127"/>
                </a:lnTo>
                <a:lnTo>
                  <a:pt x="0" y="0"/>
                </a:lnTo>
                <a:lnTo>
                  <a:pt x="0" y="313501"/>
                </a:lnTo>
                <a:close/>
              </a:path>
            </a:pathLst>
          </a:custGeom>
          <a:solidFill>
            <a:srgbClr val="7D292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DBR + MLA substrate / TCTA:B3PyMPM:Ir(dmppy-ph)₂tmd leader"/>
          <p:cNvCxnSpPr/>
          <p:nvPr/>
        </p:nvCxnSpPr>
        <p:spPr>
          <a:xfrm>
            <a:off x="8672649" y="3603168"/>
            <a:ext cx="488539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DBR + MLA substrate / TCTA:B3PyMPM:Ir(dmppy-ph)₂tmd label"/>
          <p:cNvSpPr txBox="1"/>
          <p:nvPr/>
        </p:nvSpPr>
        <p:spPr>
          <a:xfrm>
            <a:off x="9230855" y="3439015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TCTA:B3PyMPM:Ir(dmppy-ph)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2</a:t>
            </a:r>
            <a:r>
              <a:rPr sz="994" b="0">
                <a:solidFill>
                  <a:srgbClr val="1B2026"/>
                </a:solidFill>
                <a:latin typeface="Arial"/>
              </a:rPr>
              <a:t>tmd</a:t>
            </a:r>
          </a:p>
        </p:txBody>
      </p:sp>
      <p:sp>
        <p:nvSpPr>
          <p:cNvPr id="68" name="DBR + MLA substrate / B3PyMPM right"/>
          <p:cNvSpPr/>
          <p:nvPr/>
        </p:nvSpPr>
        <p:spPr>
          <a:xfrm>
            <a:off x="7489184" y="3159042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287375"/>
                </a:moveTo>
                <a:lnTo>
                  <a:pt x="1131215" y="0"/>
                </a:lnTo>
                <a:lnTo>
                  <a:pt x="0" y="653126"/>
                </a:lnTo>
                <a:lnTo>
                  <a:pt x="0" y="940502"/>
                </a:lnTo>
                <a:close/>
              </a:path>
            </a:pathLst>
          </a:custGeom>
          <a:solidFill>
            <a:srgbClr val="6D84BB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BR + MLA substrate / B3PyMPM front"/>
          <p:cNvSpPr/>
          <p:nvPr/>
        </p:nvSpPr>
        <p:spPr>
          <a:xfrm>
            <a:off x="6357969" y="3159042"/>
            <a:ext cx="1131215" cy="940502"/>
          </a:xfrm>
          <a:custGeom>
            <a:avLst/>
            <a:gdLst/>
            <a:ahLst/>
            <a:cxnLst/>
            <a:rect l="l" t="t" r="r" b="b"/>
            <a:pathLst>
              <a:path w="1131215" h="940502">
                <a:moveTo>
                  <a:pt x="1131215" y="940502"/>
                </a:moveTo>
                <a:lnTo>
                  <a:pt x="1131215" y="653126"/>
                </a:lnTo>
                <a:lnTo>
                  <a:pt x="0" y="0"/>
                </a:lnTo>
                <a:lnTo>
                  <a:pt x="0" y="287375"/>
                </a:lnTo>
                <a:close/>
              </a:path>
            </a:pathLst>
          </a:custGeom>
          <a:solidFill>
            <a:srgbClr val="596C9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DBR + MLA substrate / B3PyMPM leader"/>
          <p:cNvCxnSpPr/>
          <p:nvPr/>
        </p:nvCxnSpPr>
        <p:spPr>
          <a:xfrm>
            <a:off x="8672649" y="3302730"/>
            <a:ext cx="488539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BR + MLA substrate / B3PyMPM label"/>
          <p:cNvSpPr txBox="1"/>
          <p:nvPr/>
        </p:nvSpPr>
        <p:spPr>
          <a:xfrm>
            <a:off x="9230855" y="3138577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B3PyMPM</a:t>
            </a:r>
          </a:p>
        </p:txBody>
      </p:sp>
      <p:sp>
        <p:nvSpPr>
          <p:cNvPr id="72" name="DBR + MLA substrate / Al/Liq right"/>
          <p:cNvSpPr/>
          <p:nvPr/>
        </p:nvSpPr>
        <p:spPr>
          <a:xfrm>
            <a:off x="7489184" y="2897791"/>
            <a:ext cx="1131215" cy="914377"/>
          </a:xfrm>
          <a:custGeom>
            <a:avLst/>
            <a:gdLst/>
            <a:ahLst/>
            <a:cxnLst/>
            <a:rect l="l" t="t" r="r" b="b"/>
            <a:pathLst>
              <a:path w="1131215" h="914377">
                <a:moveTo>
                  <a:pt x="1131215" y="261251"/>
                </a:moveTo>
                <a:lnTo>
                  <a:pt x="1131215" y="0"/>
                </a:lnTo>
                <a:lnTo>
                  <a:pt x="0" y="653127"/>
                </a:lnTo>
                <a:lnTo>
                  <a:pt x="0" y="914377"/>
                </a:lnTo>
                <a:close/>
              </a:path>
            </a:pathLst>
          </a:custGeom>
          <a:solidFill>
            <a:srgbClr val="9FA4A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BR + MLA substrate / Al/Liq front"/>
          <p:cNvSpPr/>
          <p:nvPr/>
        </p:nvSpPr>
        <p:spPr>
          <a:xfrm>
            <a:off x="6357969" y="2897791"/>
            <a:ext cx="1131215" cy="914377"/>
          </a:xfrm>
          <a:custGeom>
            <a:avLst/>
            <a:gdLst/>
            <a:ahLst/>
            <a:cxnLst/>
            <a:rect l="l" t="t" r="r" b="b"/>
            <a:pathLst>
              <a:path w="1131215" h="914377">
                <a:moveTo>
                  <a:pt x="1131215" y="914377"/>
                </a:moveTo>
                <a:lnTo>
                  <a:pt x="1131215" y="653127"/>
                </a:lnTo>
                <a:lnTo>
                  <a:pt x="0" y="0"/>
                </a:lnTo>
                <a:lnTo>
                  <a:pt x="0" y="261251"/>
                </a:lnTo>
                <a:close/>
              </a:path>
            </a:pathLst>
          </a:custGeom>
          <a:solidFill>
            <a:srgbClr val="82868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DBR + MLA substrate / Al/Liq leader"/>
          <p:cNvCxnSpPr/>
          <p:nvPr/>
        </p:nvCxnSpPr>
        <p:spPr>
          <a:xfrm>
            <a:off x="8672649" y="3028416"/>
            <a:ext cx="488539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DBR + MLA substrate / Al/Liq label"/>
          <p:cNvSpPr txBox="1"/>
          <p:nvPr/>
        </p:nvSpPr>
        <p:spPr>
          <a:xfrm>
            <a:off x="9230855" y="2864264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Al/Liq</a:t>
            </a:r>
          </a:p>
        </p:txBody>
      </p:sp>
      <p:sp>
        <p:nvSpPr>
          <p:cNvPr id="76" name="DBR + MLA substrate / DBR pair 1 right"/>
          <p:cNvSpPr/>
          <p:nvPr/>
        </p:nvSpPr>
        <p:spPr>
          <a:xfrm>
            <a:off x="7489184" y="2839010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58781"/>
                </a:moveTo>
                <a:lnTo>
                  <a:pt x="1131215" y="0"/>
                </a:lnTo>
                <a:lnTo>
                  <a:pt x="0" y="653126"/>
                </a:lnTo>
                <a:lnTo>
                  <a:pt x="0" y="711908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DBR + MLA substrate / DBR pair 1 front"/>
          <p:cNvSpPr/>
          <p:nvPr/>
        </p:nvSpPr>
        <p:spPr>
          <a:xfrm>
            <a:off x="6357969" y="2839010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711908"/>
                </a:moveTo>
                <a:lnTo>
                  <a:pt x="1131215" y="653126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DBR + MLA substrate / DBR pair 1 right"/>
          <p:cNvSpPr/>
          <p:nvPr/>
        </p:nvSpPr>
        <p:spPr>
          <a:xfrm>
            <a:off x="7489184" y="2780228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58782"/>
                </a:moveTo>
                <a:lnTo>
                  <a:pt x="1131215" y="0"/>
                </a:lnTo>
                <a:lnTo>
                  <a:pt x="0" y="653127"/>
                </a:lnTo>
                <a:lnTo>
                  <a:pt x="0" y="711908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DBR + MLA substrate / DBR pair 1 front"/>
          <p:cNvSpPr/>
          <p:nvPr/>
        </p:nvSpPr>
        <p:spPr>
          <a:xfrm>
            <a:off x="6357969" y="2780228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711908"/>
                </a:moveTo>
                <a:lnTo>
                  <a:pt x="1131215" y="653127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DBR + MLA substrate / DBR pair 2 right"/>
          <p:cNvSpPr/>
          <p:nvPr/>
        </p:nvSpPr>
        <p:spPr>
          <a:xfrm>
            <a:off x="7489184" y="2721447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58781"/>
                </a:moveTo>
                <a:lnTo>
                  <a:pt x="1131215" y="0"/>
                </a:lnTo>
                <a:lnTo>
                  <a:pt x="0" y="653126"/>
                </a:lnTo>
                <a:lnTo>
                  <a:pt x="0" y="711908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DBR + MLA substrate / DBR pair 2 front"/>
          <p:cNvSpPr/>
          <p:nvPr/>
        </p:nvSpPr>
        <p:spPr>
          <a:xfrm>
            <a:off x="6357969" y="2721447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711908"/>
                </a:moveTo>
                <a:lnTo>
                  <a:pt x="1131215" y="653126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DBR + MLA substrate / DBR pair 2 right"/>
          <p:cNvSpPr/>
          <p:nvPr/>
        </p:nvSpPr>
        <p:spPr>
          <a:xfrm>
            <a:off x="7489184" y="2662666"/>
            <a:ext cx="1131215" cy="711907"/>
          </a:xfrm>
          <a:custGeom>
            <a:avLst/>
            <a:gdLst/>
            <a:ahLst/>
            <a:cxnLst/>
            <a:rect l="l" t="t" r="r" b="b"/>
            <a:pathLst>
              <a:path w="1131215" h="711907">
                <a:moveTo>
                  <a:pt x="1131215" y="58781"/>
                </a:moveTo>
                <a:lnTo>
                  <a:pt x="1131215" y="0"/>
                </a:lnTo>
                <a:lnTo>
                  <a:pt x="0" y="653126"/>
                </a:lnTo>
                <a:lnTo>
                  <a:pt x="0" y="711907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BR + MLA substrate / DBR pair 2 front"/>
          <p:cNvSpPr/>
          <p:nvPr/>
        </p:nvSpPr>
        <p:spPr>
          <a:xfrm>
            <a:off x="6357969" y="2662666"/>
            <a:ext cx="1131215" cy="711907"/>
          </a:xfrm>
          <a:custGeom>
            <a:avLst/>
            <a:gdLst/>
            <a:ahLst/>
            <a:cxnLst/>
            <a:rect l="l" t="t" r="r" b="b"/>
            <a:pathLst>
              <a:path w="1131215" h="711907">
                <a:moveTo>
                  <a:pt x="1131215" y="711907"/>
                </a:moveTo>
                <a:lnTo>
                  <a:pt x="1131215" y="653126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BR + MLA substrate / DBR pair 3 right"/>
          <p:cNvSpPr/>
          <p:nvPr/>
        </p:nvSpPr>
        <p:spPr>
          <a:xfrm>
            <a:off x="7489184" y="2603884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58782"/>
                </a:moveTo>
                <a:lnTo>
                  <a:pt x="1131215" y="0"/>
                </a:lnTo>
                <a:lnTo>
                  <a:pt x="0" y="653127"/>
                </a:lnTo>
                <a:lnTo>
                  <a:pt x="0" y="711908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BR + MLA substrate / DBR pair 3 front"/>
          <p:cNvSpPr/>
          <p:nvPr/>
        </p:nvSpPr>
        <p:spPr>
          <a:xfrm>
            <a:off x="6357969" y="2603884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711908"/>
                </a:moveTo>
                <a:lnTo>
                  <a:pt x="1131215" y="653127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BR + MLA substrate / DBR pair 3 right"/>
          <p:cNvSpPr/>
          <p:nvPr/>
        </p:nvSpPr>
        <p:spPr>
          <a:xfrm>
            <a:off x="7489184" y="2545103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58781"/>
                </a:moveTo>
                <a:lnTo>
                  <a:pt x="1131215" y="0"/>
                </a:lnTo>
                <a:lnTo>
                  <a:pt x="0" y="653126"/>
                </a:lnTo>
                <a:lnTo>
                  <a:pt x="0" y="711908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BR + MLA substrate / DBR pair 3 front"/>
          <p:cNvSpPr/>
          <p:nvPr/>
        </p:nvSpPr>
        <p:spPr>
          <a:xfrm>
            <a:off x="6357969" y="2545103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711908"/>
                </a:moveTo>
                <a:lnTo>
                  <a:pt x="1131215" y="653126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BR + MLA substrate / DBR pair 4 right"/>
          <p:cNvSpPr/>
          <p:nvPr/>
        </p:nvSpPr>
        <p:spPr>
          <a:xfrm>
            <a:off x="7489184" y="2486321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58782"/>
                </a:moveTo>
                <a:lnTo>
                  <a:pt x="1131215" y="0"/>
                </a:lnTo>
                <a:lnTo>
                  <a:pt x="0" y="653127"/>
                </a:lnTo>
                <a:lnTo>
                  <a:pt x="0" y="711908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DBR + MLA substrate / DBR pair 4 front"/>
          <p:cNvSpPr/>
          <p:nvPr/>
        </p:nvSpPr>
        <p:spPr>
          <a:xfrm>
            <a:off x="6357969" y="2486321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711908"/>
                </a:moveTo>
                <a:lnTo>
                  <a:pt x="1131215" y="653127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DBR + MLA substrate / DBR pair 4 top"/>
          <p:cNvSpPr/>
          <p:nvPr/>
        </p:nvSpPr>
        <p:spPr>
          <a:xfrm>
            <a:off x="6357969" y="1774413"/>
            <a:ext cx="2262430" cy="1306254"/>
          </a:xfrm>
          <a:custGeom>
            <a:avLst/>
            <a:gdLst/>
            <a:ahLst/>
            <a:cxnLst/>
            <a:rect l="l" t="t" r="r" b="b"/>
            <a:pathLst>
              <a:path w="2262430" h="1306254">
                <a:moveTo>
                  <a:pt x="1131215" y="0"/>
                </a:moveTo>
                <a:lnTo>
                  <a:pt x="2262430" y="653127"/>
                </a:lnTo>
                <a:lnTo>
                  <a:pt x="1131215" y="1306254"/>
                </a:lnTo>
                <a:lnTo>
                  <a:pt x="0" y="653127"/>
                </a:lnTo>
                <a:close/>
              </a:path>
            </a:pathLst>
          </a:custGeom>
          <a:solidFill>
            <a:srgbClr val="2B2F3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DBR + MLA substrate / DBR pair 4 right"/>
          <p:cNvSpPr/>
          <p:nvPr/>
        </p:nvSpPr>
        <p:spPr>
          <a:xfrm>
            <a:off x="7489184" y="2427540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58781"/>
                </a:moveTo>
                <a:lnTo>
                  <a:pt x="1131215" y="0"/>
                </a:lnTo>
                <a:lnTo>
                  <a:pt x="0" y="653127"/>
                </a:lnTo>
                <a:lnTo>
                  <a:pt x="0" y="711908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DBR + MLA substrate / DBR pair 4 front"/>
          <p:cNvSpPr/>
          <p:nvPr/>
        </p:nvSpPr>
        <p:spPr>
          <a:xfrm>
            <a:off x="6357969" y="2427540"/>
            <a:ext cx="1131215" cy="711908"/>
          </a:xfrm>
          <a:custGeom>
            <a:avLst/>
            <a:gdLst/>
            <a:ahLst/>
            <a:cxnLst/>
            <a:rect l="l" t="t" r="r" b="b"/>
            <a:pathLst>
              <a:path w="1131215" h="711908">
                <a:moveTo>
                  <a:pt x="1131215" y="711908"/>
                </a:moveTo>
                <a:lnTo>
                  <a:pt x="1131215" y="653127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DBR + MLA substrate / DBR leader"/>
          <p:cNvCxnSpPr/>
          <p:nvPr/>
        </p:nvCxnSpPr>
        <p:spPr>
          <a:xfrm>
            <a:off x="8672649" y="2662666"/>
            <a:ext cx="488539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DBR + MLA substrate / DBR label"/>
          <p:cNvSpPr txBox="1"/>
          <p:nvPr/>
        </p:nvSpPr>
        <p:spPr>
          <a:xfrm>
            <a:off x="9230855" y="2498513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DBR</a:t>
            </a:r>
          </a:p>
        </p:txBody>
      </p:sp>
      <p:sp>
        <p:nvSpPr>
          <p:cNvPr id="95" name="DBR + MLA substrate title"/>
          <p:cNvSpPr txBox="1"/>
          <p:nvPr/>
        </p:nvSpPr>
        <p:spPr>
          <a:xfrm>
            <a:off x="5225012" y="314023"/>
            <a:ext cx="4528344" cy="43019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2" b="1">
                <a:solidFill>
                  <a:srgbClr val="1B2026"/>
                </a:solidFill>
                <a:latin typeface="Arial"/>
              </a:rPr>
              <a:t>DBR + MLA substrate</a:t>
            </a:r>
          </a:p>
        </p:txBody>
      </p:sp>
      <p:cxnSp>
        <p:nvCxnSpPr>
          <p:cNvPr id="96" name="bottom emission"/>
          <p:cNvCxnSpPr/>
          <p:nvPr/>
        </p:nvCxnSpPr>
        <p:spPr>
          <a:xfrm flipH="1">
            <a:off x="1045351" y="5478729"/>
            <a:ext cx="505084" cy="374460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bottom emission"/>
          <p:cNvCxnSpPr/>
          <p:nvPr/>
        </p:nvCxnSpPr>
        <p:spPr>
          <a:xfrm>
            <a:off x="2002921" y="5739980"/>
            <a:ext cx="0" cy="566043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bottom emission"/>
          <p:cNvCxnSpPr/>
          <p:nvPr/>
        </p:nvCxnSpPr>
        <p:spPr>
          <a:xfrm>
            <a:off x="2455407" y="5478729"/>
            <a:ext cx="505085" cy="374460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emission label"/>
          <p:cNvSpPr txBox="1"/>
          <p:nvPr/>
        </p:nvSpPr>
        <p:spPr>
          <a:xfrm>
            <a:off x="696668" y="6409217"/>
            <a:ext cx="2612506" cy="35094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62" b="0">
                <a:solidFill>
                  <a:srgbClr val="2E9E4F"/>
                </a:solidFill>
                <a:latin typeface="Arial"/>
              </a:rPr>
              <a:t>Bottom emission</a:t>
            </a:r>
          </a:p>
        </p:txBody>
      </p:sp>
      <p:cxnSp>
        <p:nvCxnSpPr>
          <p:cNvPr id="100" name="bottom emission"/>
          <p:cNvCxnSpPr/>
          <p:nvPr/>
        </p:nvCxnSpPr>
        <p:spPr>
          <a:xfrm flipH="1">
            <a:off x="6531614" y="5478729"/>
            <a:ext cx="505084" cy="374460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bottom emission"/>
          <p:cNvCxnSpPr/>
          <p:nvPr/>
        </p:nvCxnSpPr>
        <p:spPr>
          <a:xfrm>
            <a:off x="7489184" y="5739980"/>
            <a:ext cx="0" cy="566043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bottom emission"/>
          <p:cNvCxnSpPr/>
          <p:nvPr/>
        </p:nvCxnSpPr>
        <p:spPr>
          <a:xfrm>
            <a:off x="7941670" y="5478729"/>
            <a:ext cx="505085" cy="374460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emission label"/>
          <p:cNvSpPr txBox="1"/>
          <p:nvPr/>
        </p:nvSpPr>
        <p:spPr>
          <a:xfrm>
            <a:off x="6182931" y="6409217"/>
            <a:ext cx="2612506" cy="35094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62" b="0">
                <a:solidFill>
                  <a:srgbClr val="2E9E4F"/>
                </a:solidFill>
                <a:latin typeface="Arial"/>
              </a:rPr>
              <a:t>Bottom emission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