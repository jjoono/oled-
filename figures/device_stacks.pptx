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 reflector + MLA film / Glass + Microlens array film right"/>
          <p:cNvSpPr/>
          <p:nvPr/>
        </p:nvSpPr>
        <p:spPr>
          <a:xfrm>
            <a:off x="2304579" y="4665587"/>
            <a:ext cx="980386" cy="966627"/>
          </a:xfrm>
          <a:custGeom>
            <a:avLst/>
            <a:gdLst/>
            <a:ahLst/>
            <a:cxnLst/>
            <a:rect l="l" t="t" r="r" b="b"/>
            <a:pathLst>
              <a:path w="980386" h="966627">
                <a:moveTo>
                  <a:pt x="980386" y="400584"/>
                </a:moveTo>
                <a:lnTo>
                  <a:pt x="980386" y="0"/>
                </a:lnTo>
                <a:lnTo>
                  <a:pt x="0" y="566043"/>
                </a:lnTo>
                <a:lnTo>
                  <a:pt x="0" y="966627"/>
                </a:lnTo>
                <a:close/>
              </a:path>
            </a:pathLst>
          </a:custGeom>
          <a:solidFill>
            <a:srgbClr val="B2C4D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 reflector + MLA film / Glass + Microlens array film front"/>
          <p:cNvSpPr/>
          <p:nvPr/>
        </p:nvSpPr>
        <p:spPr>
          <a:xfrm>
            <a:off x="1022535" y="4491420"/>
            <a:ext cx="1282044" cy="1140794"/>
          </a:xfrm>
          <a:custGeom>
            <a:avLst/>
            <a:gdLst/>
            <a:ahLst/>
            <a:cxnLst/>
            <a:rect l="l" t="t" r="r" b="b"/>
            <a:pathLst>
              <a:path w="1282044" h="1140794">
                <a:moveTo>
                  <a:pt x="1282044" y="1140794"/>
                </a:moveTo>
                <a:lnTo>
                  <a:pt x="1282044" y="740210"/>
                </a:lnTo>
                <a:lnTo>
                  <a:pt x="0" y="0"/>
                </a:lnTo>
                <a:lnTo>
                  <a:pt x="0" y="400584"/>
                </a:lnTo>
                <a:close/>
              </a:path>
            </a:pathLst>
          </a:custGeom>
          <a:solidFill>
            <a:srgbClr val="91A0A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Ag reflector + MLA film / Glass + Microlens array film leader"/>
          <p:cNvCxnSpPr/>
          <p:nvPr/>
        </p:nvCxnSpPr>
        <p:spPr>
          <a:xfrm>
            <a:off x="3337215" y="4865879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Ag reflector + MLA film / Glass + Microlens array film label"/>
          <p:cNvSpPr txBox="1"/>
          <p:nvPr/>
        </p:nvSpPr>
        <p:spPr>
          <a:xfrm>
            <a:off x="3744592" y="4701727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D62828"/>
                </a:solidFill>
                <a:latin typeface="Arial"/>
              </a:rPr>
              <a:t>Glass + Microlens array film</a:t>
            </a:r>
          </a:p>
        </p:txBody>
      </p:sp>
      <p:sp>
        <p:nvSpPr>
          <p:cNvPr id="6" name="Ag reflector + MLA film / ITO [150] right"/>
          <p:cNvSpPr/>
          <p:nvPr/>
        </p:nvSpPr>
        <p:spPr>
          <a:xfrm>
            <a:off x="2304579" y="4378211"/>
            <a:ext cx="980386" cy="853419"/>
          </a:xfrm>
          <a:custGeom>
            <a:avLst/>
            <a:gdLst/>
            <a:ahLst/>
            <a:cxnLst/>
            <a:rect l="l" t="t" r="r" b="b"/>
            <a:pathLst>
              <a:path w="980386" h="853419">
                <a:moveTo>
                  <a:pt x="980386" y="287376"/>
                </a:moveTo>
                <a:lnTo>
                  <a:pt x="980386" y="0"/>
                </a:lnTo>
                <a:lnTo>
                  <a:pt x="0" y="566043"/>
                </a:lnTo>
                <a:lnTo>
                  <a:pt x="0" y="853419"/>
                </a:lnTo>
                <a:close/>
              </a:path>
            </a:pathLst>
          </a:custGeom>
          <a:solidFill>
            <a:srgbClr val="6DB5C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 reflector + MLA film / ITO [150] front"/>
          <p:cNvSpPr/>
          <p:nvPr/>
        </p:nvSpPr>
        <p:spPr>
          <a:xfrm>
            <a:off x="1022535" y="4204044"/>
            <a:ext cx="1282044" cy="1027586"/>
          </a:xfrm>
          <a:custGeom>
            <a:avLst/>
            <a:gdLst/>
            <a:ahLst/>
            <a:cxnLst/>
            <a:rect l="l" t="t" r="r" b="b"/>
            <a:pathLst>
              <a:path w="1282044" h="1027586">
                <a:moveTo>
                  <a:pt x="1282044" y="1027586"/>
                </a:moveTo>
                <a:lnTo>
                  <a:pt x="1282044" y="740210"/>
                </a:lnTo>
                <a:lnTo>
                  <a:pt x="0" y="0"/>
                </a:lnTo>
                <a:lnTo>
                  <a:pt x="0" y="287376"/>
                </a:lnTo>
                <a:close/>
              </a:path>
            </a:pathLst>
          </a:custGeom>
          <a:solidFill>
            <a:srgbClr val="5994A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Ag reflector + MLA film / ITO [150] leader"/>
          <p:cNvCxnSpPr/>
          <p:nvPr/>
        </p:nvCxnSpPr>
        <p:spPr>
          <a:xfrm>
            <a:off x="3337215" y="4521899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Ag reflector + MLA film / ITO [150] label"/>
          <p:cNvSpPr txBox="1"/>
          <p:nvPr/>
        </p:nvSpPr>
        <p:spPr>
          <a:xfrm>
            <a:off x="3744592" y="4357747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ITO [150]</a:t>
            </a:r>
          </a:p>
        </p:txBody>
      </p:sp>
      <p:sp>
        <p:nvSpPr>
          <p:cNvPr id="10" name="Ag reflector + MLA film / HATCN/TAPC [5/55] 3 pairs right"/>
          <p:cNvSpPr/>
          <p:nvPr/>
        </p:nvSpPr>
        <p:spPr>
          <a:xfrm>
            <a:off x="2304579" y="4090836"/>
            <a:ext cx="980386" cy="853418"/>
          </a:xfrm>
          <a:custGeom>
            <a:avLst/>
            <a:gdLst/>
            <a:ahLst/>
            <a:cxnLst/>
            <a:rect l="l" t="t" r="r" b="b"/>
            <a:pathLst>
              <a:path w="980386" h="853418">
                <a:moveTo>
                  <a:pt x="980386" y="287375"/>
                </a:moveTo>
                <a:lnTo>
                  <a:pt x="980386" y="0"/>
                </a:lnTo>
                <a:lnTo>
                  <a:pt x="0" y="566043"/>
                </a:lnTo>
                <a:lnTo>
                  <a:pt x="0" y="853418"/>
                </a:lnTo>
                <a:close/>
              </a:path>
            </a:pathLst>
          </a:custGeom>
          <a:solidFill>
            <a:srgbClr val="D4C096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 reflector + MLA film / HATCN/TAPC [5/55] 3 pairs front"/>
          <p:cNvSpPr/>
          <p:nvPr/>
        </p:nvSpPr>
        <p:spPr>
          <a:xfrm>
            <a:off x="1022535" y="3916668"/>
            <a:ext cx="1282044" cy="1027586"/>
          </a:xfrm>
          <a:custGeom>
            <a:avLst/>
            <a:gdLst/>
            <a:ahLst/>
            <a:cxnLst/>
            <a:rect l="l" t="t" r="r" b="b"/>
            <a:pathLst>
              <a:path w="1282044" h="1027586">
                <a:moveTo>
                  <a:pt x="1282044" y="1027586"/>
                </a:moveTo>
                <a:lnTo>
                  <a:pt x="1282044" y="740211"/>
                </a:lnTo>
                <a:lnTo>
                  <a:pt x="0" y="0"/>
                </a:lnTo>
                <a:lnTo>
                  <a:pt x="0" y="287376"/>
                </a:lnTo>
                <a:close/>
              </a:path>
            </a:pathLst>
          </a:custGeom>
          <a:solidFill>
            <a:srgbClr val="AC9C7A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Ag reflector + MLA film / HATCN/TAPC [5/55] 3 pairs leader"/>
          <p:cNvCxnSpPr/>
          <p:nvPr/>
        </p:nvCxnSpPr>
        <p:spPr>
          <a:xfrm>
            <a:off x="3337215" y="4234523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g reflector + MLA film / HATCN/TAPC [5/55] 3 pairs label"/>
          <p:cNvSpPr txBox="1"/>
          <p:nvPr/>
        </p:nvSpPr>
        <p:spPr>
          <a:xfrm>
            <a:off x="3744592" y="4070371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HATCN/TAPC [5/55] 3 pairs</a:t>
            </a:r>
          </a:p>
        </p:txBody>
      </p:sp>
      <p:sp>
        <p:nvSpPr>
          <p:cNvPr id="14" name="Ag reflector + MLA film / TCTA [10] right"/>
          <p:cNvSpPr/>
          <p:nvPr/>
        </p:nvSpPr>
        <p:spPr>
          <a:xfrm>
            <a:off x="2304579" y="3847002"/>
            <a:ext cx="980386" cy="809877"/>
          </a:xfrm>
          <a:custGeom>
            <a:avLst/>
            <a:gdLst/>
            <a:ahLst/>
            <a:cxnLst/>
            <a:rect l="l" t="t" r="r" b="b"/>
            <a:pathLst>
              <a:path w="980386" h="809877">
                <a:moveTo>
                  <a:pt x="980386" y="243834"/>
                </a:moveTo>
                <a:lnTo>
                  <a:pt x="980386" y="0"/>
                </a:lnTo>
                <a:lnTo>
                  <a:pt x="0" y="566043"/>
                </a:lnTo>
                <a:lnTo>
                  <a:pt x="0" y="809877"/>
                </a:lnTo>
                <a:close/>
              </a:path>
            </a:pathLst>
          </a:custGeom>
          <a:solidFill>
            <a:srgbClr val="CE9E5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g reflector + MLA film / TCTA [10] front"/>
          <p:cNvSpPr/>
          <p:nvPr/>
        </p:nvSpPr>
        <p:spPr>
          <a:xfrm>
            <a:off x="1022535" y="3672835"/>
            <a:ext cx="1282044" cy="984044"/>
          </a:xfrm>
          <a:custGeom>
            <a:avLst/>
            <a:gdLst/>
            <a:ahLst/>
            <a:cxnLst/>
            <a:rect l="l" t="t" r="r" b="b"/>
            <a:pathLst>
              <a:path w="1282044" h="984044">
                <a:moveTo>
                  <a:pt x="1282044" y="984044"/>
                </a:moveTo>
                <a:lnTo>
                  <a:pt x="1282044" y="740210"/>
                </a:lnTo>
                <a:lnTo>
                  <a:pt x="0" y="0"/>
                </a:lnTo>
                <a:lnTo>
                  <a:pt x="0" y="243833"/>
                </a:lnTo>
                <a:close/>
              </a:path>
            </a:pathLst>
          </a:custGeom>
          <a:solidFill>
            <a:srgbClr val="A8814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Ag reflector + MLA film / TCTA [10] leader"/>
          <p:cNvCxnSpPr/>
          <p:nvPr/>
        </p:nvCxnSpPr>
        <p:spPr>
          <a:xfrm>
            <a:off x="3337215" y="3968919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Ag reflector + MLA film / TCTA [10] label"/>
          <p:cNvSpPr txBox="1"/>
          <p:nvPr/>
        </p:nvSpPr>
        <p:spPr>
          <a:xfrm>
            <a:off x="3744592" y="3804766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TCTA [10]</a:t>
            </a:r>
          </a:p>
        </p:txBody>
      </p:sp>
      <p:sp>
        <p:nvSpPr>
          <p:cNvPr id="18" name="Ag reflector + MLA film / TCTA:B3PyMPM:Irppy₂acac [25] right"/>
          <p:cNvSpPr/>
          <p:nvPr/>
        </p:nvSpPr>
        <p:spPr>
          <a:xfrm>
            <a:off x="2304579" y="3533501"/>
            <a:ext cx="980386" cy="879544"/>
          </a:xfrm>
          <a:custGeom>
            <a:avLst/>
            <a:gdLst/>
            <a:ahLst/>
            <a:cxnLst/>
            <a:rect l="l" t="t" r="r" b="b"/>
            <a:pathLst>
              <a:path w="980386" h="879544">
                <a:moveTo>
                  <a:pt x="980386" y="313501"/>
                </a:moveTo>
                <a:lnTo>
                  <a:pt x="980386" y="0"/>
                </a:lnTo>
                <a:lnTo>
                  <a:pt x="0" y="566043"/>
                </a:lnTo>
                <a:lnTo>
                  <a:pt x="0" y="879544"/>
                </a:lnTo>
                <a:close/>
              </a:path>
            </a:pathLst>
          </a:custGeom>
          <a:solidFill>
            <a:srgbClr val="99323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 reflector + MLA film / TCTA:B3PyMPM:Irppy₂acac [25] front"/>
          <p:cNvSpPr/>
          <p:nvPr/>
        </p:nvSpPr>
        <p:spPr>
          <a:xfrm>
            <a:off x="1022535" y="3359334"/>
            <a:ext cx="1282044" cy="1053711"/>
          </a:xfrm>
          <a:custGeom>
            <a:avLst/>
            <a:gdLst/>
            <a:ahLst/>
            <a:cxnLst/>
            <a:rect l="l" t="t" r="r" b="b"/>
            <a:pathLst>
              <a:path w="1282044" h="1053711">
                <a:moveTo>
                  <a:pt x="1282044" y="1053711"/>
                </a:moveTo>
                <a:lnTo>
                  <a:pt x="1282044" y="740210"/>
                </a:lnTo>
                <a:lnTo>
                  <a:pt x="0" y="0"/>
                </a:lnTo>
                <a:lnTo>
                  <a:pt x="0" y="313501"/>
                </a:lnTo>
                <a:close/>
              </a:path>
            </a:pathLst>
          </a:custGeom>
          <a:solidFill>
            <a:srgbClr val="7D2929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Ag reflector + MLA film / TCTA:B3PyMPM:Irppy₂acac [25] leader"/>
          <p:cNvCxnSpPr/>
          <p:nvPr/>
        </p:nvCxnSpPr>
        <p:spPr>
          <a:xfrm>
            <a:off x="3337215" y="3690251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g reflector + MLA film / TCTA:B3PyMPM:Irppy₂acac [25] label"/>
          <p:cNvSpPr txBox="1"/>
          <p:nvPr/>
        </p:nvSpPr>
        <p:spPr>
          <a:xfrm>
            <a:off x="3744592" y="3526099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TCTA:B3PyMPM:Irppy</a:t>
            </a:r>
            <a:r>
              <a:rPr sz="994" b="0" baseline="-25000">
                <a:solidFill>
                  <a:srgbClr val="1B2026"/>
                </a:solidFill>
                <a:latin typeface="Arial"/>
              </a:rPr>
              <a:t>2</a:t>
            </a:r>
            <a:r>
              <a:rPr sz="994" b="0">
                <a:solidFill>
                  <a:srgbClr val="1B2026"/>
                </a:solidFill>
                <a:latin typeface="Arial"/>
              </a:rPr>
              <a:t>acac [25]</a:t>
            </a:r>
          </a:p>
        </p:txBody>
      </p:sp>
      <p:sp>
        <p:nvSpPr>
          <p:cNvPr id="22" name="Ag reflector + MLA film / B3PyMPM [50] right"/>
          <p:cNvSpPr/>
          <p:nvPr/>
        </p:nvSpPr>
        <p:spPr>
          <a:xfrm>
            <a:off x="2304579" y="3246125"/>
            <a:ext cx="980386" cy="853419"/>
          </a:xfrm>
          <a:custGeom>
            <a:avLst/>
            <a:gdLst/>
            <a:ahLst/>
            <a:cxnLst/>
            <a:rect l="l" t="t" r="r" b="b"/>
            <a:pathLst>
              <a:path w="980386" h="853419">
                <a:moveTo>
                  <a:pt x="980386" y="287376"/>
                </a:moveTo>
                <a:lnTo>
                  <a:pt x="980386" y="0"/>
                </a:lnTo>
                <a:lnTo>
                  <a:pt x="0" y="566043"/>
                </a:lnTo>
                <a:lnTo>
                  <a:pt x="0" y="853419"/>
                </a:lnTo>
                <a:close/>
              </a:path>
            </a:pathLst>
          </a:custGeom>
          <a:solidFill>
            <a:srgbClr val="6D84BB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g reflector + MLA film / B3PyMPM [50] front"/>
          <p:cNvSpPr/>
          <p:nvPr/>
        </p:nvSpPr>
        <p:spPr>
          <a:xfrm>
            <a:off x="1022535" y="3071958"/>
            <a:ext cx="1282044" cy="1027586"/>
          </a:xfrm>
          <a:custGeom>
            <a:avLst/>
            <a:gdLst/>
            <a:ahLst/>
            <a:cxnLst/>
            <a:rect l="l" t="t" r="r" b="b"/>
            <a:pathLst>
              <a:path w="1282044" h="1027586">
                <a:moveTo>
                  <a:pt x="1282044" y="1027586"/>
                </a:moveTo>
                <a:lnTo>
                  <a:pt x="1282044" y="740210"/>
                </a:lnTo>
                <a:lnTo>
                  <a:pt x="0" y="0"/>
                </a:lnTo>
                <a:lnTo>
                  <a:pt x="0" y="287376"/>
                </a:lnTo>
                <a:close/>
              </a:path>
            </a:pathLst>
          </a:custGeom>
          <a:solidFill>
            <a:srgbClr val="596C99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Ag reflector + MLA film / B3PyMPM [50] leader"/>
          <p:cNvCxnSpPr/>
          <p:nvPr/>
        </p:nvCxnSpPr>
        <p:spPr>
          <a:xfrm>
            <a:off x="3337215" y="3389813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g reflector + MLA film / B3PyMPM [50] label"/>
          <p:cNvSpPr txBox="1"/>
          <p:nvPr/>
        </p:nvSpPr>
        <p:spPr>
          <a:xfrm>
            <a:off x="3744592" y="3225661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B3PyMPM [50]</a:t>
            </a:r>
          </a:p>
        </p:txBody>
      </p:sp>
      <p:sp>
        <p:nvSpPr>
          <p:cNvPr id="26" name="Ag reflector + MLA film / B3PyMPM:Cs₂CO₃ [5] right"/>
          <p:cNvSpPr/>
          <p:nvPr/>
        </p:nvSpPr>
        <p:spPr>
          <a:xfrm>
            <a:off x="2304579" y="3019708"/>
            <a:ext cx="980386" cy="792460"/>
          </a:xfrm>
          <a:custGeom>
            <a:avLst/>
            <a:gdLst/>
            <a:ahLst/>
            <a:cxnLst/>
            <a:rect l="l" t="t" r="r" b="b"/>
            <a:pathLst>
              <a:path w="980386" h="792460">
                <a:moveTo>
                  <a:pt x="980386" y="226417"/>
                </a:moveTo>
                <a:lnTo>
                  <a:pt x="980386" y="0"/>
                </a:lnTo>
                <a:lnTo>
                  <a:pt x="0" y="566043"/>
                </a:lnTo>
                <a:lnTo>
                  <a:pt x="0" y="792460"/>
                </a:lnTo>
                <a:close/>
              </a:path>
            </a:pathLst>
          </a:custGeom>
          <a:solidFill>
            <a:srgbClr val="3B5390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g reflector + MLA film / B3PyMPM:Cs₂CO₃ [5] front"/>
          <p:cNvSpPr/>
          <p:nvPr/>
        </p:nvSpPr>
        <p:spPr>
          <a:xfrm>
            <a:off x="1022535" y="2845541"/>
            <a:ext cx="1282044" cy="966627"/>
          </a:xfrm>
          <a:custGeom>
            <a:avLst/>
            <a:gdLst/>
            <a:ahLst/>
            <a:cxnLst/>
            <a:rect l="l" t="t" r="r" b="b"/>
            <a:pathLst>
              <a:path w="1282044" h="966627">
                <a:moveTo>
                  <a:pt x="1282044" y="966627"/>
                </a:moveTo>
                <a:lnTo>
                  <a:pt x="1282044" y="740210"/>
                </a:lnTo>
                <a:lnTo>
                  <a:pt x="0" y="0"/>
                </a:lnTo>
                <a:lnTo>
                  <a:pt x="0" y="226417"/>
                </a:lnTo>
                <a:close/>
              </a:path>
            </a:pathLst>
          </a:custGeom>
          <a:solidFill>
            <a:srgbClr val="304376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Ag reflector + MLA film / B3PyMPM:Cs₂CO₃ [5] leader"/>
          <p:cNvCxnSpPr/>
          <p:nvPr/>
        </p:nvCxnSpPr>
        <p:spPr>
          <a:xfrm>
            <a:off x="3337215" y="3132917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g reflector + MLA film / B3PyMPM:Cs₂CO₃ [5] label"/>
          <p:cNvSpPr txBox="1"/>
          <p:nvPr/>
        </p:nvSpPr>
        <p:spPr>
          <a:xfrm>
            <a:off x="3744592" y="2968764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B3PyMPM:Cs</a:t>
            </a:r>
            <a:r>
              <a:rPr sz="994" b="0" baseline="-25000">
                <a:solidFill>
                  <a:srgbClr val="1B2026"/>
                </a:solidFill>
                <a:latin typeface="Arial"/>
              </a:rPr>
              <a:t>2</a:t>
            </a:r>
            <a:r>
              <a:rPr sz="994" b="0">
                <a:solidFill>
                  <a:srgbClr val="1B2026"/>
                </a:solidFill>
                <a:latin typeface="Arial"/>
              </a:rPr>
              <a:t>CO</a:t>
            </a:r>
            <a:r>
              <a:rPr sz="994" b="0" baseline="-25000">
                <a:solidFill>
                  <a:srgbClr val="1B2026"/>
                </a:solidFill>
                <a:latin typeface="Arial"/>
              </a:rPr>
              <a:t>3</a:t>
            </a:r>
            <a:r>
              <a:rPr sz="994" b="0">
                <a:solidFill>
                  <a:srgbClr val="1B2026"/>
                </a:solidFill>
                <a:latin typeface="Arial"/>
              </a:rPr>
              <a:t> [5]</a:t>
            </a:r>
          </a:p>
        </p:txBody>
      </p:sp>
      <p:sp>
        <p:nvSpPr>
          <p:cNvPr id="30" name="Ag reflector + MLA film / Ag [100] right"/>
          <p:cNvSpPr/>
          <p:nvPr/>
        </p:nvSpPr>
        <p:spPr>
          <a:xfrm>
            <a:off x="2304579" y="2758457"/>
            <a:ext cx="980386" cy="827294"/>
          </a:xfrm>
          <a:custGeom>
            <a:avLst/>
            <a:gdLst/>
            <a:ahLst/>
            <a:cxnLst/>
            <a:rect l="l" t="t" r="r" b="b"/>
            <a:pathLst>
              <a:path w="980386" h="827294">
                <a:moveTo>
                  <a:pt x="980386" y="261251"/>
                </a:moveTo>
                <a:lnTo>
                  <a:pt x="980386" y="0"/>
                </a:lnTo>
                <a:lnTo>
                  <a:pt x="0" y="566043"/>
                </a:lnTo>
                <a:lnTo>
                  <a:pt x="0" y="827294"/>
                </a:lnTo>
                <a:close/>
              </a:path>
            </a:pathLst>
          </a:custGeom>
          <a:solidFill>
            <a:srgbClr val="ADB1B5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Ag reflector + MLA film / Ag [100] front"/>
          <p:cNvSpPr/>
          <p:nvPr/>
        </p:nvSpPr>
        <p:spPr>
          <a:xfrm>
            <a:off x="1022535" y="2584290"/>
            <a:ext cx="1282044" cy="1001461"/>
          </a:xfrm>
          <a:custGeom>
            <a:avLst/>
            <a:gdLst/>
            <a:ahLst/>
            <a:cxnLst/>
            <a:rect l="l" t="t" r="r" b="b"/>
            <a:pathLst>
              <a:path w="1282044" h="1001461">
                <a:moveTo>
                  <a:pt x="1282044" y="1001461"/>
                </a:moveTo>
                <a:lnTo>
                  <a:pt x="1282044" y="740210"/>
                </a:lnTo>
                <a:lnTo>
                  <a:pt x="0" y="0"/>
                </a:lnTo>
                <a:lnTo>
                  <a:pt x="0" y="261251"/>
                </a:lnTo>
                <a:close/>
              </a:path>
            </a:pathLst>
          </a:custGeom>
          <a:solidFill>
            <a:srgbClr val="8D9094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Ag reflector + MLA film / Ag [100] leader"/>
          <p:cNvCxnSpPr/>
          <p:nvPr/>
        </p:nvCxnSpPr>
        <p:spPr>
          <a:xfrm>
            <a:off x="3337215" y="2889083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g reflector + MLA film / Ag [100] label"/>
          <p:cNvSpPr txBox="1"/>
          <p:nvPr/>
        </p:nvSpPr>
        <p:spPr>
          <a:xfrm>
            <a:off x="3744592" y="2724930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Ag [100]</a:t>
            </a:r>
          </a:p>
        </p:txBody>
      </p:sp>
      <p:sp>
        <p:nvSpPr>
          <p:cNvPr id="34" name="Ag reflector + MLA film / Nanolaminate right"/>
          <p:cNvSpPr/>
          <p:nvPr/>
        </p:nvSpPr>
        <p:spPr>
          <a:xfrm>
            <a:off x="2304579" y="2471082"/>
            <a:ext cx="980386" cy="853418"/>
          </a:xfrm>
          <a:custGeom>
            <a:avLst/>
            <a:gdLst/>
            <a:ahLst/>
            <a:cxnLst/>
            <a:rect l="l" t="t" r="r" b="b"/>
            <a:pathLst>
              <a:path w="980386" h="853418">
                <a:moveTo>
                  <a:pt x="980386" y="287375"/>
                </a:moveTo>
                <a:lnTo>
                  <a:pt x="980386" y="0"/>
                </a:lnTo>
                <a:lnTo>
                  <a:pt x="0" y="566043"/>
                </a:lnTo>
                <a:lnTo>
                  <a:pt x="0" y="853418"/>
                </a:lnTo>
                <a:close/>
              </a:path>
            </a:pathLst>
          </a:custGeom>
          <a:solidFill>
            <a:srgbClr val="BBC6C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g reflector + MLA film / Nanolaminate front"/>
          <p:cNvSpPr/>
          <p:nvPr/>
        </p:nvSpPr>
        <p:spPr>
          <a:xfrm>
            <a:off x="1022535" y="2296915"/>
            <a:ext cx="1282044" cy="1027585"/>
          </a:xfrm>
          <a:custGeom>
            <a:avLst/>
            <a:gdLst/>
            <a:ahLst/>
            <a:cxnLst/>
            <a:rect l="l" t="t" r="r" b="b"/>
            <a:pathLst>
              <a:path w="1282044" h="1027585">
                <a:moveTo>
                  <a:pt x="1282044" y="1027585"/>
                </a:moveTo>
                <a:lnTo>
                  <a:pt x="1282044" y="740210"/>
                </a:lnTo>
                <a:lnTo>
                  <a:pt x="0" y="0"/>
                </a:lnTo>
                <a:lnTo>
                  <a:pt x="0" y="287375"/>
                </a:lnTo>
                <a:close/>
              </a:path>
            </a:pathLst>
          </a:custGeom>
          <a:solidFill>
            <a:srgbClr val="98A19E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Ag reflector + MLA film / Nanolaminate leader"/>
          <p:cNvCxnSpPr/>
          <p:nvPr/>
        </p:nvCxnSpPr>
        <p:spPr>
          <a:xfrm>
            <a:off x="3337215" y="2614770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Ag reflector + MLA film / Nanolaminate label"/>
          <p:cNvSpPr txBox="1"/>
          <p:nvPr/>
        </p:nvSpPr>
        <p:spPr>
          <a:xfrm>
            <a:off x="3744592" y="2450617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Nanolaminate</a:t>
            </a:r>
          </a:p>
        </p:txBody>
      </p:sp>
      <p:sp>
        <p:nvSpPr>
          <p:cNvPr id="38" name="Ag reflector + MLA film / Parylene-C [3000] right"/>
          <p:cNvSpPr/>
          <p:nvPr/>
        </p:nvSpPr>
        <p:spPr>
          <a:xfrm>
            <a:off x="2304579" y="2122748"/>
            <a:ext cx="980386" cy="914377"/>
          </a:xfrm>
          <a:custGeom>
            <a:avLst/>
            <a:gdLst/>
            <a:ahLst/>
            <a:cxnLst/>
            <a:rect l="l" t="t" r="r" b="b"/>
            <a:pathLst>
              <a:path w="980386" h="914377">
                <a:moveTo>
                  <a:pt x="980386" y="348334"/>
                </a:moveTo>
                <a:lnTo>
                  <a:pt x="980386" y="0"/>
                </a:lnTo>
                <a:lnTo>
                  <a:pt x="0" y="566043"/>
                </a:lnTo>
                <a:lnTo>
                  <a:pt x="0" y="914377"/>
                </a:lnTo>
                <a:close/>
              </a:path>
            </a:pathLst>
          </a:custGeom>
          <a:solidFill>
            <a:srgbClr val="C2BDCE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g reflector + MLA film / Parylene-C [3000] front"/>
          <p:cNvSpPr/>
          <p:nvPr/>
        </p:nvSpPr>
        <p:spPr>
          <a:xfrm>
            <a:off x="1022535" y="1948581"/>
            <a:ext cx="1282044" cy="1088544"/>
          </a:xfrm>
          <a:custGeom>
            <a:avLst/>
            <a:gdLst/>
            <a:ahLst/>
            <a:cxnLst/>
            <a:rect l="l" t="t" r="r" b="b"/>
            <a:pathLst>
              <a:path w="1282044" h="1088544">
                <a:moveTo>
                  <a:pt x="1282044" y="1088544"/>
                </a:moveTo>
                <a:lnTo>
                  <a:pt x="1282044" y="740210"/>
                </a:lnTo>
                <a:lnTo>
                  <a:pt x="0" y="0"/>
                </a:lnTo>
                <a:lnTo>
                  <a:pt x="0" y="348334"/>
                </a:lnTo>
                <a:close/>
              </a:path>
            </a:pathLst>
          </a:custGeom>
          <a:solidFill>
            <a:srgbClr val="9E9AA7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Ag reflector + MLA film / Parylene-C [3000] leader"/>
          <p:cNvCxnSpPr/>
          <p:nvPr/>
        </p:nvCxnSpPr>
        <p:spPr>
          <a:xfrm>
            <a:off x="3337215" y="2296915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Ag reflector + MLA film / Parylene-C [3000] label"/>
          <p:cNvSpPr txBox="1"/>
          <p:nvPr/>
        </p:nvSpPr>
        <p:spPr>
          <a:xfrm>
            <a:off x="3744592" y="2132762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D62828"/>
                </a:solidFill>
                <a:latin typeface="Arial"/>
              </a:rPr>
              <a:t>Parylene-C [3000]</a:t>
            </a:r>
          </a:p>
        </p:txBody>
      </p:sp>
      <p:sp>
        <p:nvSpPr>
          <p:cNvPr id="42" name="Ag reflector + MLA film / MoOx [5] + Ag reflector [100] top"/>
          <p:cNvSpPr/>
          <p:nvPr/>
        </p:nvSpPr>
        <p:spPr>
          <a:xfrm>
            <a:off x="1022535" y="1086454"/>
            <a:ext cx="2262430" cy="1306253"/>
          </a:xfrm>
          <a:custGeom>
            <a:avLst/>
            <a:gdLst/>
            <a:ahLst/>
            <a:cxnLst/>
            <a:rect l="l" t="t" r="r" b="b"/>
            <a:pathLst>
              <a:path w="2262430" h="1306253">
                <a:moveTo>
                  <a:pt x="980386" y="0"/>
                </a:moveTo>
                <a:lnTo>
                  <a:pt x="2262430" y="740210"/>
                </a:lnTo>
                <a:lnTo>
                  <a:pt x="1282044" y="1306253"/>
                </a:lnTo>
                <a:lnTo>
                  <a:pt x="0" y="566043"/>
                </a:lnTo>
                <a:close/>
              </a:path>
            </a:pathLst>
          </a:custGeom>
          <a:solidFill>
            <a:srgbClr val="9AA1A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g reflector + MLA film / MoOx [5] + Ag reflector [100] right"/>
          <p:cNvSpPr/>
          <p:nvPr/>
        </p:nvSpPr>
        <p:spPr>
          <a:xfrm>
            <a:off x="2304579" y="1826664"/>
            <a:ext cx="980386" cy="862127"/>
          </a:xfrm>
          <a:custGeom>
            <a:avLst/>
            <a:gdLst/>
            <a:ahLst/>
            <a:cxnLst/>
            <a:rect l="l" t="t" r="r" b="b"/>
            <a:pathLst>
              <a:path w="980386" h="862127">
                <a:moveTo>
                  <a:pt x="980386" y="296084"/>
                </a:moveTo>
                <a:lnTo>
                  <a:pt x="980386" y="0"/>
                </a:lnTo>
                <a:lnTo>
                  <a:pt x="0" y="566043"/>
                </a:lnTo>
                <a:lnTo>
                  <a:pt x="0" y="862127"/>
                </a:lnTo>
                <a:close/>
              </a:path>
            </a:pathLst>
          </a:custGeom>
          <a:solidFill>
            <a:srgbClr val="848A90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Ag reflector + MLA film / MoOx [5] + Ag reflector [100] front"/>
          <p:cNvSpPr/>
          <p:nvPr/>
        </p:nvSpPr>
        <p:spPr>
          <a:xfrm>
            <a:off x="1022535" y="1652497"/>
            <a:ext cx="1282044" cy="1036294"/>
          </a:xfrm>
          <a:custGeom>
            <a:avLst/>
            <a:gdLst/>
            <a:ahLst/>
            <a:cxnLst/>
            <a:rect l="l" t="t" r="r" b="b"/>
            <a:pathLst>
              <a:path w="1282044" h="1036294">
                <a:moveTo>
                  <a:pt x="1282044" y="1036294"/>
                </a:moveTo>
                <a:lnTo>
                  <a:pt x="1282044" y="740210"/>
                </a:lnTo>
                <a:lnTo>
                  <a:pt x="0" y="0"/>
                </a:lnTo>
                <a:lnTo>
                  <a:pt x="0" y="296084"/>
                </a:lnTo>
                <a:close/>
              </a:path>
            </a:pathLst>
          </a:custGeom>
          <a:solidFill>
            <a:srgbClr val="6C7176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Ag reflector + MLA film / MoOx [5] + Ag reflector [100] leader"/>
          <p:cNvCxnSpPr/>
          <p:nvPr/>
        </p:nvCxnSpPr>
        <p:spPr>
          <a:xfrm>
            <a:off x="3337215" y="1974706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Ag reflector + MLA film / MoOx [5] + Ag reflector [100] label"/>
          <p:cNvSpPr txBox="1"/>
          <p:nvPr/>
        </p:nvSpPr>
        <p:spPr>
          <a:xfrm>
            <a:off x="3744592" y="1810553"/>
            <a:ext cx="2960840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D62828"/>
                </a:solidFill>
                <a:latin typeface="Arial"/>
              </a:rPr>
              <a:t>MoOx [5] + Ag reflector [100]</a:t>
            </a:r>
          </a:p>
        </p:txBody>
      </p:sp>
      <p:sp>
        <p:nvSpPr>
          <p:cNvPr id="47" name="Ag reflector + MLA film title"/>
          <p:cNvSpPr txBox="1"/>
          <p:nvPr/>
        </p:nvSpPr>
        <p:spPr>
          <a:xfrm>
            <a:off x="-110422" y="314023"/>
            <a:ext cx="4528344" cy="43019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2" b="1">
                <a:solidFill>
                  <a:srgbClr val="1B2026"/>
                </a:solidFill>
                <a:latin typeface="Arial"/>
              </a:rPr>
              <a:t>Ag reflector + MLA film</a:t>
            </a:r>
          </a:p>
        </p:txBody>
      </p:sp>
      <p:sp>
        <p:nvSpPr>
          <p:cNvPr id="48" name="DBR + MLA substrate / MLA substrate (n = 1.77) right"/>
          <p:cNvSpPr/>
          <p:nvPr/>
        </p:nvSpPr>
        <p:spPr>
          <a:xfrm>
            <a:off x="7790841" y="4665587"/>
            <a:ext cx="980387" cy="966627"/>
          </a:xfrm>
          <a:custGeom>
            <a:avLst/>
            <a:gdLst/>
            <a:ahLst/>
            <a:cxnLst/>
            <a:rect l="l" t="t" r="r" b="b"/>
            <a:pathLst>
              <a:path w="980387" h="966627">
                <a:moveTo>
                  <a:pt x="980387" y="400584"/>
                </a:moveTo>
                <a:lnTo>
                  <a:pt x="980387" y="0"/>
                </a:lnTo>
                <a:lnTo>
                  <a:pt x="0" y="566043"/>
                </a:lnTo>
                <a:lnTo>
                  <a:pt x="0" y="966627"/>
                </a:lnTo>
                <a:close/>
              </a:path>
            </a:pathLst>
          </a:custGeom>
          <a:solidFill>
            <a:srgbClr val="B2C4D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DBR + MLA substrate / MLA substrate (n = 1.77) front"/>
          <p:cNvSpPr/>
          <p:nvPr/>
        </p:nvSpPr>
        <p:spPr>
          <a:xfrm>
            <a:off x="6508798" y="4491420"/>
            <a:ext cx="1282043" cy="1140794"/>
          </a:xfrm>
          <a:custGeom>
            <a:avLst/>
            <a:gdLst/>
            <a:ahLst/>
            <a:cxnLst/>
            <a:rect l="l" t="t" r="r" b="b"/>
            <a:pathLst>
              <a:path w="1282043" h="1140794">
                <a:moveTo>
                  <a:pt x="1282043" y="1140794"/>
                </a:moveTo>
                <a:lnTo>
                  <a:pt x="1282043" y="740210"/>
                </a:lnTo>
                <a:lnTo>
                  <a:pt x="0" y="0"/>
                </a:lnTo>
                <a:lnTo>
                  <a:pt x="0" y="400584"/>
                </a:lnTo>
                <a:close/>
              </a:path>
            </a:pathLst>
          </a:custGeom>
          <a:solidFill>
            <a:srgbClr val="91A0A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DBR + MLA substrate / MLA substrate (n = 1.77) leader"/>
          <p:cNvCxnSpPr/>
          <p:nvPr/>
        </p:nvCxnSpPr>
        <p:spPr>
          <a:xfrm>
            <a:off x="8823478" y="4865879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DBR + MLA substrate / MLA substrate (n = 1.77) label"/>
          <p:cNvSpPr txBox="1"/>
          <p:nvPr/>
        </p:nvSpPr>
        <p:spPr>
          <a:xfrm>
            <a:off x="9230855" y="4701727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MLA substrate (n = 1.77)</a:t>
            </a:r>
          </a:p>
        </p:txBody>
      </p:sp>
      <p:sp>
        <p:nvSpPr>
          <p:cNvPr id="52" name="DBR + MLA substrate / IZO right"/>
          <p:cNvSpPr/>
          <p:nvPr/>
        </p:nvSpPr>
        <p:spPr>
          <a:xfrm>
            <a:off x="7790841" y="4378211"/>
            <a:ext cx="980387" cy="853419"/>
          </a:xfrm>
          <a:custGeom>
            <a:avLst/>
            <a:gdLst/>
            <a:ahLst/>
            <a:cxnLst/>
            <a:rect l="l" t="t" r="r" b="b"/>
            <a:pathLst>
              <a:path w="980387" h="853419">
                <a:moveTo>
                  <a:pt x="980387" y="287376"/>
                </a:moveTo>
                <a:lnTo>
                  <a:pt x="980387" y="0"/>
                </a:lnTo>
                <a:lnTo>
                  <a:pt x="0" y="566043"/>
                </a:lnTo>
                <a:lnTo>
                  <a:pt x="0" y="853419"/>
                </a:lnTo>
                <a:close/>
              </a:path>
            </a:pathLst>
          </a:custGeom>
          <a:solidFill>
            <a:srgbClr val="6DB5C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DBR + MLA substrate / IZO front"/>
          <p:cNvSpPr/>
          <p:nvPr/>
        </p:nvSpPr>
        <p:spPr>
          <a:xfrm>
            <a:off x="6508798" y="4204044"/>
            <a:ext cx="1282043" cy="1027586"/>
          </a:xfrm>
          <a:custGeom>
            <a:avLst/>
            <a:gdLst/>
            <a:ahLst/>
            <a:cxnLst/>
            <a:rect l="l" t="t" r="r" b="b"/>
            <a:pathLst>
              <a:path w="1282043" h="1027586">
                <a:moveTo>
                  <a:pt x="1282043" y="1027586"/>
                </a:moveTo>
                <a:lnTo>
                  <a:pt x="1282043" y="740210"/>
                </a:lnTo>
                <a:lnTo>
                  <a:pt x="0" y="0"/>
                </a:lnTo>
                <a:lnTo>
                  <a:pt x="0" y="287376"/>
                </a:lnTo>
                <a:close/>
              </a:path>
            </a:pathLst>
          </a:custGeom>
          <a:solidFill>
            <a:srgbClr val="5994A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DBR + MLA substrate / IZO leader"/>
          <p:cNvCxnSpPr/>
          <p:nvPr/>
        </p:nvCxnSpPr>
        <p:spPr>
          <a:xfrm>
            <a:off x="8823478" y="4521899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DBR + MLA substrate / IZO label"/>
          <p:cNvSpPr txBox="1"/>
          <p:nvPr/>
        </p:nvSpPr>
        <p:spPr>
          <a:xfrm>
            <a:off x="9230855" y="4357747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IZO</a:t>
            </a:r>
          </a:p>
        </p:txBody>
      </p:sp>
      <p:sp>
        <p:nvSpPr>
          <p:cNvPr id="56" name="DBR + MLA substrate / TAPC/HAT-CN/TAPC/HAT-CN right"/>
          <p:cNvSpPr/>
          <p:nvPr/>
        </p:nvSpPr>
        <p:spPr>
          <a:xfrm>
            <a:off x="7790841" y="4090836"/>
            <a:ext cx="980387" cy="853418"/>
          </a:xfrm>
          <a:custGeom>
            <a:avLst/>
            <a:gdLst/>
            <a:ahLst/>
            <a:cxnLst/>
            <a:rect l="l" t="t" r="r" b="b"/>
            <a:pathLst>
              <a:path w="980387" h="853418">
                <a:moveTo>
                  <a:pt x="980387" y="287375"/>
                </a:moveTo>
                <a:lnTo>
                  <a:pt x="980387" y="0"/>
                </a:lnTo>
                <a:lnTo>
                  <a:pt x="0" y="566043"/>
                </a:lnTo>
                <a:lnTo>
                  <a:pt x="0" y="853418"/>
                </a:lnTo>
                <a:close/>
              </a:path>
            </a:pathLst>
          </a:custGeom>
          <a:solidFill>
            <a:srgbClr val="D4C096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DBR + MLA substrate / TAPC/HAT-CN/TAPC/HAT-CN front"/>
          <p:cNvSpPr/>
          <p:nvPr/>
        </p:nvSpPr>
        <p:spPr>
          <a:xfrm>
            <a:off x="6508798" y="3916668"/>
            <a:ext cx="1282043" cy="1027586"/>
          </a:xfrm>
          <a:custGeom>
            <a:avLst/>
            <a:gdLst/>
            <a:ahLst/>
            <a:cxnLst/>
            <a:rect l="l" t="t" r="r" b="b"/>
            <a:pathLst>
              <a:path w="1282043" h="1027586">
                <a:moveTo>
                  <a:pt x="1282043" y="1027586"/>
                </a:moveTo>
                <a:lnTo>
                  <a:pt x="1282043" y="740211"/>
                </a:lnTo>
                <a:lnTo>
                  <a:pt x="0" y="0"/>
                </a:lnTo>
                <a:lnTo>
                  <a:pt x="0" y="287376"/>
                </a:lnTo>
                <a:close/>
              </a:path>
            </a:pathLst>
          </a:custGeom>
          <a:solidFill>
            <a:srgbClr val="AC9C7A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DBR + MLA substrate / TAPC/HAT-CN/TAPC/HAT-CN leader"/>
          <p:cNvCxnSpPr/>
          <p:nvPr/>
        </p:nvCxnSpPr>
        <p:spPr>
          <a:xfrm>
            <a:off x="8823478" y="4234523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DBR + MLA substrate / TAPC/HAT-CN/TAPC/HAT-CN label"/>
          <p:cNvSpPr txBox="1"/>
          <p:nvPr/>
        </p:nvSpPr>
        <p:spPr>
          <a:xfrm>
            <a:off x="9230855" y="4070371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TAPC/HAT-CN/TAPC/HAT-CN</a:t>
            </a:r>
          </a:p>
        </p:txBody>
      </p:sp>
      <p:sp>
        <p:nvSpPr>
          <p:cNvPr id="60" name="DBR + MLA substrate / TCTA right"/>
          <p:cNvSpPr/>
          <p:nvPr/>
        </p:nvSpPr>
        <p:spPr>
          <a:xfrm>
            <a:off x="7790841" y="3847002"/>
            <a:ext cx="980387" cy="809877"/>
          </a:xfrm>
          <a:custGeom>
            <a:avLst/>
            <a:gdLst/>
            <a:ahLst/>
            <a:cxnLst/>
            <a:rect l="l" t="t" r="r" b="b"/>
            <a:pathLst>
              <a:path w="980387" h="809877">
                <a:moveTo>
                  <a:pt x="980387" y="243834"/>
                </a:moveTo>
                <a:lnTo>
                  <a:pt x="980387" y="0"/>
                </a:lnTo>
                <a:lnTo>
                  <a:pt x="0" y="566043"/>
                </a:lnTo>
                <a:lnTo>
                  <a:pt x="0" y="809877"/>
                </a:lnTo>
                <a:close/>
              </a:path>
            </a:pathLst>
          </a:custGeom>
          <a:solidFill>
            <a:srgbClr val="CE9E5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DBR + MLA substrate / TCTA front"/>
          <p:cNvSpPr/>
          <p:nvPr/>
        </p:nvSpPr>
        <p:spPr>
          <a:xfrm>
            <a:off x="6508798" y="3672835"/>
            <a:ext cx="1282043" cy="984044"/>
          </a:xfrm>
          <a:custGeom>
            <a:avLst/>
            <a:gdLst/>
            <a:ahLst/>
            <a:cxnLst/>
            <a:rect l="l" t="t" r="r" b="b"/>
            <a:pathLst>
              <a:path w="1282043" h="984044">
                <a:moveTo>
                  <a:pt x="1282043" y="984044"/>
                </a:moveTo>
                <a:lnTo>
                  <a:pt x="1282043" y="740210"/>
                </a:lnTo>
                <a:lnTo>
                  <a:pt x="0" y="0"/>
                </a:lnTo>
                <a:lnTo>
                  <a:pt x="0" y="243833"/>
                </a:lnTo>
                <a:close/>
              </a:path>
            </a:pathLst>
          </a:custGeom>
          <a:solidFill>
            <a:srgbClr val="A8814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DBR + MLA substrate / TCTA leader"/>
          <p:cNvCxnSpPr/>
          <p:nvPr/>
        </p:nvCxnSpPr>
        <p:spPr>
          <a:xfrm>
            <a:off x="8823478" y="3968919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DBR + MLA substrate / TCTA label"/>
          <p:cNvSpPr txBox="1"/>
          <p:nvPr/>
        </p:nvSpPr>
        <p:spPr>
          <a:xfrm>
            <a:off x="9230855" y="3804766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TCTA</a:t>
            </a:r>
          </a:p>
        </p:txBody>
      </p:sp>
      <p:sp>
        <p:nvSpPr>
          <p:cNvPr id="64" name="DBR + MLA substrate / TCTA:B3PyMPM:Ir(dmppy-ph)₂tmd right"/>
          <p:cNvSpPr/>
          <p:nvPr/>
        </p:nvSpPr>
        <p:spPr>
          <a:xfrm>
            <a:off x="7790841" y="3533501"/>
            <a:ext cx="980387" cy="879544"/>
          </a:xfrm>
          <a:custGeom>
            <a:avLst/>
            <a:gdLst/>
            <a:ahLst/>
            <a:cxnLst/>
            <a:rect l="l" t="t" r="r" b="b"/>
            <a:pathLst>
              <a:path w="980387" h="879544">
                <a:moveTo>
                  <a:pt x="980387" y="313501"/>
                </a:moveTo>
                <a:lnTo>
                  <a:pt x="980387" y="0"/>
                </a:lnTo>
                <a:lnTo>
                  <a:pt x="0" y="566043"/>
                </a:lnTo>
                <a:lnTo>
                  <a:pt x="0" y="879544"/>
                </a:lnTo>
                <a:close/>
              </a:path>
            </a:pathLst>
          </a:custGeom>
          <a:solidFill>
            <a:srgbClr val="99323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DBR + MLA substrate / TCTA:B3PyMPM:Ir(dmppy-ph)₂tmd front"/>
          <p:cNvSpPr/>
          <p:nvPr/>
        </p:nvSpPr>
        <p:spPr>
          <a:xfrm>
            <a:off x="6508798" y="3359334"/>
            <a:ext cx="1282043" cy="1053711"/>
          </a:xfrm>
          <a:custGeom>
            <a:avLst/>
            <a:gdLst/>
            <a:ahLst/>
            <a:cxnLst/>
            <a:rect l="l" t="t" r="r" b="b"/>
            <a:pathLst>
              <a:path w="1282043" h="1053711">
                <a:moveTo>
                  <a:pt x="1282043" y="1053711"/>
                </a:moveTo>
                <a:lnTo>
                  <a:pt x="1282043" y="740210"/>
                </a:lnTo>
                <a:lnTo>
                  <a:pt x="0" y="0"/>
                </a:lnTo>
                <a:lnTo>
                  <a:pt x="0" y="313501"/>
                </a:lnTo>
                <a:close/>
              </a:path>
            </a:pathLst>
          </a:custGeom>
          <a:solidFill>
            <a:srgbClr val="7D2929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DBR + MLA substrate / TCTA:B3PyMPM:Ir(dmppy-ph)₂tmd leader"/>
          <p:cNvCxnSpPr/>
          <p:nvPr/>
        </p:nvCxnSpPr>
        <p:spPr>
          <a:xfrm>
            <a:off x="8823478" y="3690251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DBR + MLA substrate / TCTA:B3PyMPM:Ir(dmppy-ph)₂tmd label"/>
          <p:cNvSpPr txBox="1"/>
          <p:nvPr/>
        </p:nvSpPr>
        <p:spPr>
          <a:xfrm>
            <a:off x="9230855" y="3526099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TCTA:B3PyMPM:Ir(dmppy-ph)</a:t>
            </a:r>
            <a:r>
              <a:rPr sz="994" b="0" baseline="-25000">
                <a:solidFill>
                  <a:srgbClr val="1B2026"/>
                </a:solidFill>
                <a:latin typeface="Arial"/>
              </a:rPr>
              <a:t>2</a:t>
            </a:r>
            <a:r>
              <a:rPr sz="994" b="0">
                <a:solidFill>
                  <a:srgbClr val="1B2026"/>
                </a:solidFill>
                <a:latin typeface="Arial"/>
              </a:rPr>
              <a:t>tmd</a:t>
            </a:r>
          </a:p>
        </p:txBody>
      </p:sp>
      <p:sp>
        <p:nvSpPr>
          <p:cNvPr id="68" name="DBR + MLA substrate / B3PyMPM right"/>
          <p:cNvSpPr/>
          <p:nvPr/>
        </p:nvSpPr>
        <p:spPr>
          <a:xfrm>
            <a:off x="7790841" y="3246125"/>
            <a:ext cx="980387" cy="853419"/>
          </a:xfrm>
          <a:custGeom>
            <a:avLst/>
            <a:gdLst/>
            <a:ahLst/>
            <a:cxnLst/>
            <a:rect l="l" t="t" r="r" b="b"/>
            <a:pathLst>
              <a:path w="980387" h="853419">
                <a:moveTo>
                  <a:pt x="980387" y="287376"/>
                </a:moveTo>
                <a:lnTo>
                  <a:pt x="980387" y="0"/>
                </a:lnTo>
                <a:lnTo>
                  <a:pt x="0" y="566043"/>
                </a:lnTo>
                <a:lnTo>
                  <a:pt x="0" y="853419"/>
                </a:lnTo>
                <a:close/>
              </a:path>
            </a:pathLst>
          </a:custGeom>
          <a:solidFill>
            <a:srgbClr val="6D84BB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DBR + MLA substrate / B3PyMPM front"/>
          <p:cNvSpPr/>
          <p:nvPr/>
        </p:nvSpPr>
        <p:spPr>
          <a:xfrm>
            <a:off x="6508798" y="3071958"/>
            <a:ext cx="1282043" cy="1027586"/>
          </a:xfrm>
          <a:custGeom>
            <a:avLst/>
            <a:gdLst/>
            <a:ahLst/>
            <a:cxnLst/>
            <a:rect l="l" t="t" r="r" b="b"/>
            <a:pathLst>
              <a:path w="1282043" h="1027586">
                <a:moveTo>
                  <a:pt x="1282043" y="1027586"/>
                </a:moveTo>
                <a:lnTo>
                  <a:pt x="1282043" y="740210"/>
                </a:lnTo>
                <a:lnTo>
                  <a:pt x="0" y="0"/>
                </a:lnTo>
                <a:lnTo>
                  <a:pt x="0" y="287376"/>
                </a:lnTo>
                <a:close/>
              </a:path>
            </a:pathLst>
          </a:custGeom>
          <a:solidFill>
            <a:srgbClr val="596C99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DBR + MLA substrate / B3PyMPM leader"/>
          <p:cNvCxnSpPr/>
          <p:nvPr/>
        </p:nvCxnSpPr>
        <p:spPr>
          <a:xfrm>
            <a:off x="8823478" y="3389813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DBR + MLA substrate / B3PyMPM label"/>
          <p:cNvSpPr txBox="1"/>
          <p:nvPr/>
        </p:nvSpPr>
        <p:spPr>
          <a:xfrm>
            <a:off x="9230855" y="3225661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B3PyMPM</a:t>
            </a:r>
          </a:p>
        </p:txBody>
      </p:sp>
      <p:sp>
        <p:nvSpPr>
          <p:cNvPr id="72" name="DBR + MLA substrate / Al/Liq right"/>
          <p:cNvSpPr/>
          <p:nvPr/>
        </p:nvSpPr>
        <p:spPr>
          <a:xfrm>
            <a:off x="7790841" y="2984875"/>
            <a:ext cx="980387" cy="827293"/>
          </a:xfrm>
          <a:custGeom>
            <a:avLst/>
            <a:gdLst/>
            <a:ahLst/>
            <a:cxnLst/>
            <a:rect l="l" t="t" r="r" b="b"/>
            <a:pathLst>
              <a:path w="980387" h="827293">
                <a:moveTo>
                  <a:pt x="980387" y="261250"/>
                </a:moveTo>
                <a:lnTo>
                  <a:pt x="980387" y="0"/>
                </a:lnTo>
                <a:lnTo>
                  <a:pt x="0" y="566043"/>
                </a:lnTo>
                <a:lnTo>
                  <a:pt x="0" y="827293"/>
                </a:lnTo>
                <a:close/>
              </a:path>
            </a:pathLst>
          </a:custGeom>
          <a:solidFill>
            <a:srgbClr val="9FA4A9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DBR + MLA substrate / Al/Liq front"/>
          <p:cNvSpPr/>
          <p:nvPr/>
        </p:nvSpPr>
        <p:spPr>
          <a:xfrm>
            <a:off x="6508798" y="2810708"/>
            <a:ext cx="1282043" cy="1001460"/>
          </a:xfrm>
          <a:custGeom>
            <a:avLst/>
            <a:gdLst/>
            <a:ahLst/>
            <a:cxnLst/>
            <a:rect l="l" t="t" r="r" b="b"/>
            <a:pathLst>
              <a:path w="1282043" h="1001460">
                <a:moveTo>
                  <a:pt x="1282043" y="1001460"/>
                </a:moveTo>
                <a:lnTo>
                  <a:pt x="1282043" y="740210"/>
                </a:lnTo>
                <a:lnTo>
                  <a:pt x="0" y="0"/>
                </a:lnTo>
                <a:lnTo>
                  <a:pt x="0" y="261250"/>
                </a:lnTo>
                <a:close/>
              </a:path>
            </a:pathLst>
          </a:custGeom>
          <a:solidFill>
            <a:srgbClr val="82868A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DBR + MLA substrate / Al/Liq leader"/>
          <p:cNvCxnSpPr/>
          <p:nvPr/>
        </p:nvCxnSpPr>
        <p:spPr>
          <a:xfrm>
            <a:off x="8823478" y="3115500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DBR + MLA substrate / Al/Liq label"/>
          <p:cNvSpPr txBox="1"/>
          <p:nvPr/>
        </p:nvSpPr>
        <p:spPr>
          <a:xfrm>
            <a:off x="9230855" y="2951347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Al/Liq</a:t>
            </a:r>
          </a:p>
        </p:txBody>
      </p:sp>
      <p:sp>
        <p:nvSpPr>
          <p:cNvPr id="76" name="DBR + MLA substrate / DBR pair 1 right"/>
          <p:cNvSpPr/>
          <p:nvPr/>
        </p:nvSpPr>
        <p:spPr>
          <a:xfrm>
            <a:off x="7790841" y="2926093"/>
            <a:ext cx="980387" cy="624825"/>
          </a:xfrm>
          <a:custGeom>
            <a:avLst/>
            <a:gdLst/>
            <a:ahLst/>
            <a:cxnLst/>
            <a:rect l="l" t="t" r="r" b="b"/>
            <a:pathLst>
              <a:path w="980387" h="624825">
                <a:moveTo>
                  <a:pt x="980387" y="58782"/>
                </a:moveTo>
                <a:lnTo>
                  <a:pt x="980387" y="0"/>
                </a:lnTo>
                <a:lnTo>
                  <a:pt x="0" y="566043"/>
                </a:lnTo>
                <a:lnTo>
                  <a:pt x="0" y="624825"/>
                </a:lnTo>
                <a:close/>
              </a:path>
            </a:pathLst>
          </a:custGeom>
          <a:solidFill>
            <a:srgbClr val="8A222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DBR + MLA substrate / DBR pair 1 front"/>
          <p:cNvSpPr/>
          <p:nvPr/>
        </p:nvSpPr>
        <p:spPr>
          <a:xfrm>
            <a:off x="6508798" y="2751926"/>
            <a:ext cx="1282043" cy="798992"/>
          </a:xfrm>
          <a:custGeom>
            <a:avLst/>
            <a:gdLst/>
            <a:ahLst/>
            <a:cxnLst/>
            <a:rect l="l" t="t" r="r" b="b"/>
            <a:pathLst>
              <a:path w="1282043" h="798992">
                <a:moveTo>
                  <a:pt x="1282043" y="798992"/>
                </a:moveTo>
                <a:lnTo>
                  <a:pt x="1282043" y="740210"/>
                </a:lnTo>
                <a:lnTo>
                  <a:pt x="0" y="0"/>
                </a:lnTo>
                <a:lnTo>
                  <a:pt x="0" y="58782"/>
                </a:lnTo>
                <a:close/>
              </a:path>
            </a:pathLst>
          </a:custGeom>
          <a:solidFill>
            <a:srgbClr val="701C1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DBR + MLA substrate / DBR pair 1 right"/>
          <p:cNvSpPr/>
          <p:nvPr/>
        </p:nvSpPr>
        <p:spPr>
          <a:xfrm>
            <a:off x="7790841" y="2867312"/>
            <a:ext cx="980387" cy="624824"/>
          </a:xfrm>
          <a:custGeom>
            <a:avLst/>
            <a:gdLst/>
            <a:ahLst/>
            <a:cxnLst/>
            <a:rect l="l" t="t" r="r" b="b"/>
            <a:pathLst>
              <a:path w="980387" h="624824">
                <a:moveTo>
                  <a:pt x="980387" y="58781"/>
                </a:moveTo>
                <a:lnTo>
                  <a:pt x="980387" y="0"/>
                </a:lnTo>
                <a:lnTo>
                  <a:pt x="0" y="566043"/>
                </a:lnTo>
                <a:lnTo>
                  <a:pt x="0" y="624824"/>
                </a:lnTo>
                <a:close/>
              </a:path>
            </a:pathLst>
          </a:custGeom>
          <a:solidFill>
            <a:srgbClr val="25282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DBR + MLA substrate / DBR pair 1 front"/>
          <p:cNvSpPr/>
          <p:nvPr/>
        </p:nvSpPr>
        <p:spPr>
          <a:xfrm>
            <a:off x="6508798" y="2693145"/>
            <a:ext cx="1282043" cy="798991"/>
          </a:xfrm>
          <a:custGeom>
            <a:avLst/>
            <a:gdLst/>
            <a:ahLst/>
            <a:cxnLst/>
            <a:rect l="l" t="t" r="r" b="b"/>
            <a:pathLst>
              <a:path w="1282043" h="798991">
                <a:moveTo>
                  <a:pt x="1282043" y="798991"/>
                </a:moveTo>
                <a:lnTo>
                  <a:pt x="1282043" y="740210"/>
                </a:lnTo>
                <a:lnTo>
                  <a:pt x="0" y="0"/>
                </a:lnTo>
                <a:lnTo>
                  <a:pt x="0" y="58781"/>
                </a:lnTo>
                <a:close/>
              </a:path>
            </a:pathLst>
          </a:custGeom>
          <a:solidFill>
            <a:srgbClr val="1E2124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DBR + MLA substrate / DBR pair 2 right"/>
          <p:cNvSpPr/>
          <p:nvPr/>
        </p:nvSpPr>
        <p:spPr>
          <a:xfrm>
            <a:off x="7790841" y="2808530"/>
            <a:ext cx="980387" cy="624825"/>
          </a:xfrm>
          <a:custGeom>
            <a:avLst/>
            <a:gdLst/>
            <a:ahLst/>
            <a:cxnLst/>
            <a:rect l="l" t="t" r="r" b="b"/>
            <a:pathLst>
              <a:path w="980387" h="624825">
                <a:moveTo>
                  <a:pt x="980387" y="58782"/>
                </a:moveTo>
                <a:lnTo>
                  <a:pt x="980387" y="0"/>
                </a:lnTo>
                <a:lnTo>
                  <a:pt x="0" y="566043"/>
                </a:lnTo>
                <a:lnTo>
                  <a:pt x="0" y="624825"/>
                </a:lnTo>
                <a:close/>
              </a:path>
            </a:pathLst>
          </a:custGeom>
          <a:solidFill>
            <a:srgbClr val="8A222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DBR + MLA substrate / DBR pair 2 front"/>
          <p:cNvSpPr/>
          <p:nvPr/>
        </p:nvSpPr>
        <p:spPr>
          <a:xfrm>
            <a:off x="6508798" y="2634363"/>
            <a:ext cx="1282043" cy="798992"/>
          </a:xfrm>
          <a:custGeom>
            <a:avLst/>
            <a:gdLst/>
            <a:ahLst/>
            <a:cxnLst/>
            <a:rect l="l" t="t" r="r" b="b"/>
            <a:pathLst>
              <a:path w="1282043" h="798992">
                <a:moveTo>
                  <a:pt x="1282043" y="798992"/>
                </a:moveTo>
                <a:lnTo>
                  <a:pt x="1282043" y="740210"/>
                </a:lnTo>
                <a:lnTo>
                  <a:pt x="0" y="0"/>
                </a:lnTo>
                <a:lnTo>
                  <a:pt x="0" y="58782"/>
                </a:lnTo>
                <a:close/>
              </a:path>
            </a:pathLst>
          </a:custGeom>
          <a:solidFill>
            <a:srgbClr val="701C1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DBR + MLA substrate / DBR pair 2 right"/>
          <p:cNvSpPr/>
          <p:nvPr/>
        </p:nvSpPr>
        <p:spPr>
          <a:xfrm>
            <a:off x="7790841" y="2749749"/>
            <a:ext cx="980387" cy="624824"/>
          </a:xfrm>
          <a:custGeom>
            <a:avLst/>
            <a:gdLst/>
            <a:ahLst/>
            <a:cxnLst/>
            <a:rect l="l" t="t" r="r" b="b"/>
            <a:pathLst>
              <a:path w="980387" h="624824">
                <a:moveTo>
                  <a:pt x="980387" y="58781"/>
                </a:moveTo>
                <a:lnTo>
                  <a:pt x="980387" y="0"/>
                </a:lnTo>
                <a:lnTo>
                  <a:pt x="0" y="566043"/>
                </a:lnTo>
                <a:lnTo>
                  <a:pt x="0" y="624824"/>
                </a:lnTo>
                <a:close/>
              </a:path>
            </a:pathLst>
          </a:custGeom>
          <a:solidFill>
            <a:srgbClr val="25282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DBR + MLA substrate / DBR pair 2 front"/>
          <p:cNvSpPr/>
          <p:nvPr/>
        </p:nvSpPr>
        <p:spPr>
          <a:xfrm>
            <a:off x="6508798" y="2575582"/>
            <a:ext cx="1282043" cy="798991"/>
          </a:xfrm>
          <a:custGeom>
            <a:avLst/>
            <a:gdLst/>
            <a:ahLst/>
            <a:cxnLst/>
            <a:rect l="l" t="t" r="r" b="b"/>
            <a:pathLst>
              <a:path w="1282043" h="798991">
                <a:moveTo>
                  <a:pt x="1282043" y="798991"/>
                </a:moveTo>
                <a:lnTo>
                  <a:pt x="1282043" y="740210"/>
                </a:lnTo>
                <a:lnTo>
                  <a:pt x="0" y="0"/>
                </a:lnTo>
                <a:lnTo>
                  <a:pt x="0" y="58781"/>
                </a:lnTo>
                <a:close/>
              </a:path>
            </a:pathLst>
          </a:custGeom>
          <a:solidFill>
            <a:srgbClr val="1E2124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DBR + MLA substrate / DBR pair 3 right"/>
          <p:cNvSpPr/>
          <p:nvPr/>
        </p:nvSpPr>
        <p:spPr>
          <a:xfrm>
            <a:off x="7790841" y="2690968"/>
            <a:ext cx="980387" cy="624824"/>
          </a:xfrm>
          <a:custGeom>
            <a:avLst/>
            <a:gdLst/>
            <a:ahLst/>
            <a:cxnLst/>
            <a:rect l="l" t="t" r="r" b="b"/>
            <a:pathLst>
              <a:path w="980387" h="624824">
                <a:moveTo>
                  <a:pt x="980387" y="58781"/>
                </a:moveTo>
                <a:lnTo>
                  <a:pt x="980387" y="0"/>
                </a:lnTo>
                <a:lnTo>
                  <a:pt x="0" y="566043"/>
                </a:lnTo>
                <a:lnTo>
                  <a:pt x="0" y="624824"/>
                </a:lnTo>
                <a:close/>
              </a:path>
            </a:pathLst>
          </a:custGeom>
          <a:solidFill>
            <a:srgbClr val="8A222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DBR + MLA substrate / DBR pair 3 front"/>
          <p:cNvSpPr/>
          <p:nvPr/>
        </p:nvSpPr>
        <p:spPr>
          <a:xfrm>
            <a:off x="6508798" y="2516801"/>
            <a:ext cx="1282043" cy="798991"/>
          </a:xfrm>
          <a:custGeom>
            <a:avLst/>
            <a:gdLst/>
            <a:ahLst/>
            <a:cxnLst/>
            <a:rect l="l" t="t" r="r" b="b"/>
            <a:pathLst>
              <a:path w="1282043" h="798991">
                <a:moveTo>
                  <a:pt x="1282043" y="798991"/>
                </a:moveTo>
                <a:lnTo>
                  <a:pt x="1282043" y="740210"/>
                </a:lnTo>
                <a:lnTo>
                  <a:pt x="0" y="0"/>
                </a:lnTo>
                <a:lnTo>
                  <a:pt x="0" y="58781"/>
                </a:lnTo>
                <a:close/>
              </a:path>
            </a:pathLst>
          </a:custGeom>
          <a:solidFill>
            <a:srgbClr val="701C1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DBR + MLA substrate / DBR pair 3 right"/>
          <p:cNvSpPr/>
          <p:nvPr/>
        </p:nvSpPr>
        <p:spPr>
          <a:xfrm>
            <a:off x="7790841" y="2632186"/>
            <a:ext cx="980387" cy="624825"/>
          </a:xfrm>
          <a:custGeom>
            <a:avLst/>
            <a:gdLst/>
            <a:ahLst/>
            <a:cxnLst/>
            <a:rect l="l" t="t" r="r" b="b"/>
            <a:pathLst>
              <a:path w="980387" h="624825">
                <a:moveTo>
                  <a:pt x="980387" y="58782"/>
                </a:moveTo>
                <a:lnTo>
                  <a:pt x="980387" y="0"/>
                </a:lnTo>
                <a:lnTo>
                  <a:pt x="0" y="566043"/>
                </a:lnTo>
                <a:lnTo>
                  <a:pt x="0" y="624825"/>
                </a:lnTo>
                <a:close/>
              </a:path>
            </a:pathLst>
          </a:custGeom>
          <a:solidFill>
            <a:srgbClr val="25282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DBR + MLA substrate / DBR pair 3 front"/>
          <p:cNvSpPr/>
          <p:nvPr/>
        </p:nvSpPr>
        <p:spPr>
          <a:xfrm>
            <a:off x="6508798" y="2458019"/>
            <a:ext cx="1282043" cy="798992"/>
          </a:xfrm>
          <a:custGeom>
            <a:avLst/>
            <a:gdLst/>
            <a:ahLst/>
            <a:cxnLst/>
            <a:rect l="l" t="t" r="r" b="b"/>
            <a:pathLst>
              <a:path w="1282043" h="798992">
                <a:moveTo>
                  <a:pt x="1282043" y="798992"/>
                </a:moveTo>
                <a:lnTo>
                  <a:pt x="1282043" y="740210"/>
                </a:lnTo>
                <a:lnTo>
                  <a:pt x="0" y="0"/>
                </a:lnTo>
                <a:lnTo>
                  <a:pt x="0" y="58782"/>
                </a:lnTo>
                <a:close/>
              </a:path>
            </a:pathLst>
          </a:custGeom>
          <a:solidFill>
            <a:srgbClr val="1E2124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DBR + MLA substrate / DBR pair 4 right"/>
          <p:cNvSpPr/>
          <p:nvPr/>
        </p:nvSpPr>
        <p:spPr>
          <a:xfrm>
            <a:off x="7790841" y="2573405"/>
            <a:ext cx="980387" cy="624824"/>
          </a:xfrm>
          <a:custGeom>
            <a:avLst/>
            <a:gdLst/>
            <a:ahLst/>
            <a:cxnLst/>
            <a:rect l="l" t="t" r="r" b="b"/>
            <a:pathLst>
              <a:path w="980387" h="624824">
                <a:moveTo>
                  <a:pt x="980387" y="58781"/>
                </a:moveTo>
                <a:lnTo>
                  <a:pt x="980387" y="0"/>
                </a:lnTo>
                <a:lnTo>
                  <a:pt x="0" y="566043"/>
                </a:lnTo>
                <a:lnTo>
                  <a:pt x="0" y="624824"/>
                </a:lnTo>
                <a:close/>
              </a:path>
            </a:pathLst>
          </a:custGeom>
          <a:solidFill>
            <a:srgbClr val="8A222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DBR + MLA substrate / DBR pair 4 front"/>
          <p:cNvSpPr/>
          <p:nvPr/>
        </p:nvSpPr>
        <p:spPr>
          <a:xfrm>
            <a:off x="6508798" y="2399238"/>
            <a:ext cx="1282043" cy="798991"/>
          </a:xfrm>
          <a:custGeom>
            <a:avLst/>
            <a:gdLst/>
            <a:ahLst/>
            <a:cxnLst/>
            <a:rect l="l" t="t" r="r" b="b"/>
            <a:pathLst>
              <a:path w="1282043" h="798991">
                <a:moveTo>
                  <a:pt x="1282043" y="798991"/>
                </a:moveTo>
                <a:lnTo>
                  <a:pt x="1282043" y="740210"/>
                </a:lnTo>
                <a:lnTo>
                  <a:pt x="0" y="0"/>
                </a:lnTo>
                <a:lnTo>
                  <a:pt x="0" y="58781"/>
                </a:lnTo>
                <a:close/>
              </a:path>
            </a:pathLst>
          </a:custGeom>
          <a:solidFill>
            <a:srgbClr val="701C1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DBR + MLA substrate / DBR pair 4 top"/>
          <p:cNvSpPr/>
          <p:nvPr/>
        </p:nvSpPr>
        <p:spPr>
          <a:xfrm>
            <a:off x="6508798" y="1774413"/>
            <a:ext cx="2262430" cy="1306254"/>
          </a:xfrm>
          <a:custGeom>
            <a:avLst/>
            <a:gdLst/>
            <a:ahLst/>
            <a:cxnLst/>
            <a:rect l="l" t="t" r="r" b="b"/>
            <a:pathLst>
              <a:path w="2262430" h="1306254">
                <a:moveTo>
                  <a:pt x="980386" y="0"/>
                </a:moveTo>
                <a:lnTo>
                  <a:pt x="2262430" y="740211"/>
                </a:lnTo>
                <a:lnTo>
                  <a:pt x="1282043" y="1306254"/>
                </a:lnTo>
                <a:lnTo>
                  <a:pt x="0" y="566043"/>
                </a:lnTo>
                <a:close/>
              </a:path>
            </a:pathLst>
          </a:custGeom>
          <a:solidFill>
            <a:srgbClr val="2B2F3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DBR + MLA substrate / DBR pair 4 right"/>
          <p:cNvSpPr/>
          <p:nvPr/>
        </p:nvSpPr>
        <p:spPr>
          <a:xfrm>
            <a:off x="7790841" y="2514624"/>
            <a:ext cx="980387" cy="624824"/>
          </a:xfrm>
          <a:custGeom>
            <a:avLst/>
            <a:gdLst/>
            <a:ahLst/>
            <a:cxnLst/>
            <a:rect l="l" t="t" r="r" b="b"/>
            <a:pathLst>
              <a:path w="980387" h="624824">
                <a:moveTo>
                  <a:pt x="980387" y="58781"/>
                </a:moveTo>
                <a:lnTo>
                  <a:pt x="980387" y="0"/>
                </a:lnTo>
                <a:lnTo>
                  <a:pt x="0" y="566043"/>
                </a:lnTo>
                <a:lnTo>
                  <a:pt x="0" y="624824"/>
                </a:lnTo>
                <a:close/>
              </a:path>
            </a:pathLst>
          </a:custGeom>
          <a:solidFill>
            <a:srgbClr val="25282C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DBR + MLA substrate / DBR pair 4 front"/>
          <p:cNvSpPr/>
          <p:nvPr/>
        </p:nvSpPr>
        <p:spPr>
          <a:xfrm>
            <a:off x="6508798" y="2340456"/>
            <a:ext cx="1282043" cy="798992"/>
          </a:xfrm>
          <a:custGeom>
            <a:avLst/>
            <a:gdLst/>
            <a:ahLst/>
            <a:cxnLst/>
            <a:rect l="l" t="t" r="r" b="b"/>
            <a:pathLst>
              <a:path w="1282043" h="798992">
                <a:moveTo>
                  <a:pt x="1282043" y="798992"/>
                </a:moveTo>
                <a:lnTo>
                  <a:pt x="1282043" y="740211"/>
                </a:lnTo>
                <a:lnTo>
                  <a:pt x="0" y="0"/>
                </a:lnTo>
                <a:lnTo>
                  <a:pt x="0" y="58782"/>
                </a:lnTo>
                <a:close/>
              </a:path>
            </a:pathLst>
          </a:custGeom>
          <a:solidFill>
            <a:srgbClr val="1E2124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DBR + MLA substrate / DBR leader"/>
          <p:cNvCxnSpPr/>
          <p:nvPr/>
        </p:nvCxnSpPr>
        <p:spPr>
          <a:xfrm>
            <a:off x="8823478" y="2749749"/>
            <a:ext cx="337710" cy="0"/>
          </a:xfrm>
          <a:prstGeom prst="line">
            <a:avLst/>
          </a:prstGeom>
          <a:ln w="9579">
            <a:solidFill>
              <a:srgbClr val="98A2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DBR + MLA substrate / DBR label"/>
          <p:cNvSpPr txBox="1"/>
          <p:nvPr/>
        </p:nvSpPr>
        <p:spPr>
          <a:xfrm>
            <a:off x="9230855" y="2585597"/>
            <a:ext cx="2873757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94" b="0">
                <a:solidFill>
                  <a:srgbClr val="1B2026"/>
                </a:solidFill>
                <a:latin typeface="Arial"/>
              </a:rPr>
              <a:t>DBR</a:t>
            </a:r>
          </a:p>
        </p:txBody>
      </p:sp>
      <p:sp>
        <p:nvSpPr>
          <p:cNvPr id="95" name="DBR + MLA substrate title"/>
          <p:cNvSpPr txBox="1"/>
          <p:nvPr/>
        </p:nvSpPr>
        <p:spPr>
          <a:xfrm>
            <a:off x="5375841" y="314023"/>
            <a:ext cx="4528344" cy="43019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2" b="1">
                <a:solidFill>
                  <a:srgbClr val="1B2026"/>
                </a:solidFill>
                <a:latin typeface="Arial"/>
              </a:rPr>
              <a:t>DBR + MLA substrate</a:t>
            </a:r>
          </a:p>
        </p:txBody>
      </p:sp>
      <p:cxnSp>
        <p:nvCxnSpPr>
          <p:cNvPr id="96" name="bottom emission"/>
          <p:cNvCxnSpPr/>
          <p:nvPr/>
        </p:nvCxnSpPr>
        <p:spPr>
          <a:xfrm flipH="1">
            <a:off x="1286677" y="5362255"/>
            <a:ext cx="505084" cy="374459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bottom emission"/>
          <p:cNvCxnSpPr/>
          <p:nvPr/>
        </p:nvCxnSpPr>
        <p:spPr>
          <a:xfrm>
            <a:off x="2304579" y="5658339"/>
            <a:ext cx="0" cy="566043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bottom emission"/>
          <p:cNvCxnSpPr/>
          <p:nvPr/>
        </p:nvCxnSpPr>
        <p:spPr>
          <a:xfrm>
            <a:off x="2696733" y="5431922"/>
            <a:ext cx="505085" cy="374459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emission label"/>
          <p:cNvSpPr txBox="1"/>
          <p:nvPr/>
        </p:nvSpPr>
        <p:spPr>
          <a:xfrm>
            <a:off x="998326" y="6327576"/>
            <a:ext cx="2612506" cy="350947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62" b="0">
                <a:solidFill>
                  <a:srgbClr val="2E9E4F"/>
                </a:solidFill>
                <a:latin typeface="Arial"/>
              </a:rPr>
              <a:t>Bottom emission</a:t>
            </a:r>
          </a:p>
        </p:txBody>
      </p:sp>
      <p:cxnSp>
        <p:nvCxnSpPr>
          <p:cNvPr id="100" name="bottom emission"/>
          <p:cNvCxnSpPr/>
          <p:nvPr/>
        </p:nvCxnSpPr>
        <p:spPr>
          <a:xfrm flipH="1">
            <a:off x="6772939" y="5362255"/>
            <a:ext cx="505085" cy="374459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bottom emission"/>
          <p:cNvCxnSpPr/>
          <p:nvPr/>
        </p:nvCxnSpPr>
        <p:spPr>
          <a:xfrm>
            <a:off x="7790841" y="5658339"/>
            <a:ext cx="0" cy="566043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bottom emission"/>
          <p:cNvCxnSpPr/>
          <p:nvPr/>
        </p:nvCxnSpPr>
        <p:spPr>
          <a:xfrm>
            <a:off x="8182996" y="5431922"/>
            <a:ext cx="505085" cy="374459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emission label"/>
          <p:cNvSpPr txBox="1"/>
          <p:nvPr/>
        </p:nvSpPr>
        <p:spPr>
          <a:xfrm>
            <a:off x="6484588" y="6327576"/>
            <a:ext cx="2612506" cy="350947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62" b="0">
                <a:solidFill>
                  <a:srgbClr val="2E9E4F"/>
                </a:solidFill>
                <a:latin typeface="Arial"/>
              </a:rPr>
              <a:t>Bottom emission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