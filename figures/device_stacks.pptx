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 reflector + MLA film / Glass + Microlens array film right"/>
          <p:cNvSpPr/>
          <p:nvPr/>
        </p:nvSpPr>
        <p:spPr>
          <a:xfrm>
            <a:off x="2002921" y="4454954"/>
            <a:ext cx="1131215" cy="1103468"/>
          </a:xfrm>
          <a:custGeom>
            <a:avLst/>
            <a:gdLst/>
            <a:ahLst/>
            <a:cxnLst/>
            <a:rect l="l" t="t" r="r" b="b"/>
            <a:pathLst>
              <a:path w="1131215" h="1103468">
                <a:moveTo>
                  <a:pt x="1131215" y="0"/>
                </a:moveTo>
                <a:lnTo>
                  <a:pt x="0" y="653126"/>
                </a:lnTo>
                <a:lnTo>
                  <a:pt x="0" y="1053710"/>
                </a:lnTo>
                <a:lnTo>
                  <a:pt x="15712" y="1095954"/>
                </a:lnTo>
                <a:lnTo>
                  <a:pt x="31423" y="1103451"/>
                </a:lnTo>
                <a:lnTo>
                  <a:pt x="47134" y="1103468"/>
                </a:lnTo>
                <a:lnTo>
                  <a:pt x="62846" y="1098561"/>
                </a:lnTo>
                <a:lnTo>
                  <a:pt x="78557" y="1089490"/>
                </a:lnTo>
                <a:lnTo>
                  <a:pt x="94268" y="1076255"/>
                </a:lnTo>
                <a:lnTo>
                  <a:pt x="109980" y="1058095"/>
                </a:lnTo>
                <a:lnTo>
                  <a:pt x="125691" y="1032455"/>
                </a:lnTo>
                <a:lnTo>
                  <a:pt x="141402" y="972070"/>
                </a:lnTo>
                <a:lnTo>
                  <a:pt x="141402" y="972070"/>
                </a:lnTo>
                <a:lnTo>
                  <a:pt x="157114" y="1014313"/>
                </a:lnTo>
                <a:lnTo>
                  <a:pt x="172825" y="1021810"/>
                </a:lnTo>
                <a:lnTo>
                  <a:pt x="188536" y="1021828"/>
                </a:lnTo>
                <a:lnTo>
                  <a:pt x="204247" y="1016920"/>
                </a:lnTo>
                <a:lnTo>
                  <a:pt x="219959" y="1007849"/>
                </a:lnTo>
                <a:lnTo>
                  <a:pt x="235670" y="994614"/>
                </a:lnTo>
                <a:lnTo>
                  <a:pt x="251381" y="976454"/>
                </a:lnTo>
                <a:lnTo>
                  <a:pt x="267093" y="950814"/>
                </a:lnTo>
                <a:lnTo>
                  <a:pt x="282804" y="890429"/>
                </a:lnTo>
                <a:lnTo>
                  <a:pt x="282804" y="890429"/>
                </a:lnTo>
                <a:lnTo>
                  <a:pt x="298515" y="932672"/>
                </a:lnTo>
                <a:lnTo>
                  <a:pt x="314227" y="940169"/>
                </a:lnTo>
                <a:lnTo>
                  <a:pt x="329938" y="940187"/>
                </a:lnTo>
                <a:lnTo>
                  <a:pt x="345649" y="935279"/>
                </a:lnTo>
                <a:lnTo>
                  <a:pt x="361361" y="926208"/>
                </a:lnTo>
                <a:lnTo>
                  <a:pt x="377072" y="912973"/>
                </a:lnTo>
                <a:lnTo>
                  <a:pt x="392783" y="894813"/>
                </a:lnTo>
                <a:lnTo>
                  <a:pt x="408495" y="869174"/>
                </a:lnTo>
                <a:lnTo>
                  <a:pt x="424206" y="808788"/>
                </a:lnTo>
                <a:lnTo>
                  <a:pt x="424206" y="808788"/>
                </a:lnTo>
                <a:lnTo>
                  <a:pt x="439917" y="851031"/>
                </a:lnTo>
                <a:lnTo>
                  <a:pt x="455629" y="858528"/>
                </a:lnTo>
                <a:lnTo>
                  <a:pt x="471340" y="858546"/>
                </a:lnTo>
                <a:lnTo>
                  <a:pt x="487051" y="853638"/>
                </a:lnTo>
                <a:lnTo>
                  <a:pt x="502763" y="844567"/>
                </a:lnTo>
                <a:lnTo>
                  <a:pt x="518474" y="831332"/>
                </a:lnTo>
                <a:lnTo>
                  <a:pt x="534185" y="813172"/>
                </a:lnTo>
                <a:lnTo>
                  <a:pt x="549897" y="787533"/>
                </a:lnTo>
                <a:lnTo>
                  <a:pt x="565608" y="727147"/>
                </a:lnTo>
                <a:lnTo>
                  <a:pt x="565608" y="727147"/>
                </a:lnTo>
                <a:lnTo>
                  <a:pt x="581319" y="769390"/>
                </a:lnTo>
                <a:lnTo>
                  <a:pt x="597031" y="776887"/>
                </a:lnTo>
                <a:lnTo>
                  <a:pt x="612742" y="776905"/>
                </a:lnTo>
                <a:lnTo>
                  <a:pt x="628453" y="771998"/>
                </a:lnTo>
                <a:lnTo>
                  <a:pt x="644164" y="762926"/>
                </a:lnTo>
                <a:lnTo>
                  <a:pt x="659876" y="749692"/>
                </a:lnTo>
                <a:lnTo>
                  <a:pt x="675587" y="731531"/>
                </a:lnTo>
                <a:lnTo>
                  <a:pt x="691298" y="705892"/>
                </a:lnTo>
                <a:lnTo>
                  <a:pt x="707010" y="645506"/>
                </a:lnTo>
                <a:lnTo>
                  <a:pt x="707010" y="645506"/>
                </a:lnTo>
                <a:lnTo>
                  <a:pt x="722721" y="687750"/>
                </a:lnTo>
                <a:lnTo>
                  <a:pt x="738432" y="695247"/>
                </a:lnTo>
                <a:lnTo>
                  <a:pt x="754144" y="695264"/>
                </a:lnTo>
                <a:lnTo>
                  <a:pt x="769855" y="690357"/>
                </a:lnTo>
                <a:lnTo>
                  <a:pt x="785566" y="681286"/>
                </a:lnTo>
                <a:lnTo>
                  <a:pt x="801278" y="668051"/>
                </a:lnTo>
                <a:lnTo>
                  <a:pt x="816989" y="649891"/>
                </a:lnTo>
                <a:lnTo>
                  <a:pt x="832700" y="624251"/>
                </a:lnTo>
                <a:lnTo>
                  <a:pt x="848412" y="563865"/>
                </a:lnTo>
                <a:lnTo>
                  <a:pt x="848412" y="563865"/>
                </a:lnTo>
                <a:lnTo>
                  <a:pt x="864123" y="606109"/>
                </a:lnTo>
                <a:lnTo>
                  <a:pt x="879834" y="613606"/>
                </a:lnTo>
                <a:lnTo>
                  <a:pt x="895546" y="613624"/>
                </a:lnTo>
                <a:lnTo>
                  <a:pt x="911257" y="608716"/>
                </a:lnTo>
                <a:lnTo>
                  <a:pt x="926968" y="599645"/>
                </a:lnTo>
                <a:lnTo>
                  <a:pt x="942680" y="586410"/>
                </a:lnTo>
                <a:lnTo>
                  <a:pt x="958391" y="568250"/>
                </a:lnTo>
                <a:lnTo>
                  <a:pt x="974102" y="542610"/>
                </a:lnTo>
                <a:lnTo>
                  <a:pt x="989814" y="482225"/>
                </a:lnTo>
                <a:lnTo>
                  <a:pt x="989814" y="482225"/>
                </a:lnTo>
                <a:lnTo>
                  <a:pt x="1005525" y="524468"/>
                </a:lnTo>
                <a:lnTo>
                  <a:pt x="1021236" y="531965"/>
                </a:lnTo>
                <a:lnTo>
                  <a:pt x="1036948" y="531983"/>
                </a:lnTo>
                <a:lnTo>
                  <a:pt x="1052659" y="527075"/>
                </a:lnTo>
                <a:lnTo>
                  <a:pt x="1068370" y="518004"/>
                </a:lnTo>
                <a:lnTo>
                  <a:pt x="1084081" y="504769"/>
                </a:lnTo>
                <a:lnTo>
                  <a:pt x="1099793" y="486609"/>
                </a:lnTo>
                <a:lnTo>
                  <a:pt x="1115504" y="460969"/>
                </a:lnTo>
                <a:lnTo>
                  <a:pt x="1131215" y="400584"/>
                </a:lnTo>
                <a:close/>
              </a:path>
            </a:pathLst>
          </a:custGeom>
          <a:solidFill>
            <a:srgbClr val="B2C4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 reflector + MLA film / Glass + Microlens array film front"/>
          <p:cNvSpPr/>
          <p:nvPr/>
        </p:nvSpPr>
        <p:spPr>
          <a:xfrm>
            <a:off x="871706" y="4454954"/>
            <a:ext cx="1131215" cy="1103468"/>
          </a:xfrm>
          <a:custGeom>
            <a:avLst/>
            <a:gdLst/>
            <a:ahLst/>
            <a:cxnLst/>
            <a:rect l="l" t="t" r="r" b="b"/>
            <a:pathLst>
              <a:path w="1131215" h="1103468">
                <a:moveTo>
                  <a:pt x="1131215" y="653126"/>
                </a:moveTo>
                <a:lnTo>
                  <a:pt x="0" y="0"/>
                </a:lnTo>
                <a:lnTo>
                  <a:pt x="0" y="400584"/>
                </a:lnTo>
                <a:lnTo>
                  <a:pt x="15712" y="460969"/>
                </a:lnTo>
                <a:lnTo>
                  <a:pt x="31423" y="486609"/>
                </a:lnTo>
                <a:lnTo>
                  <a:pt x="47134" y="504769"/>
                </a:lnTo>
                <a:lnTo>
                  <a:pt x="62845" y="518004"/>
                </a:lnTo>
                <a:lnTo>
                  <a:pt x="78557" y="527075"/>
                </a:lnTo>
                <a:lnTo>
                  <a:pt x="94268" y="531983"/>
                </a:lnTo>
                <a:lnTo>
                  <a:pt x="109979" y="531965"/>
                </a:lnTo>
                <a:lnTo>
                  <a:pt x="125691" y="524468"/>
                </a:lnTo>
                <a:lnTo>
                  <a:pt x="141402" y="482225"/>
                </a:lnTo>
                <a:lnTo>
                  <a:pt x="141402" y="482225"/>
                </a:lnTo>
                <a:lnTo>
                  <a:pt x="157113" y="542610"/>
                </a:lnTo>
                <a:lnTo>
                  <a:pt x="172825" y="568250"/>
                </a:lnTo>
                <a:lnTo>
                  <a:pt x="188536" y="586410"/>
                </a:lnTo>
                <a:lnTo>
                  <a:pt x="204247" y="599645"/>
                </a:lnTo>
                <a:lnTo>
                  <a:pt x="219959" y="608716"/>
                </a:lnTo>
                <a:lnTo>
                  <a:pt x="235670" y="613624"/>
                </a:lnTo>
                <a:lnTo>
                  <a:pt x="251381" y="613606"/>
                </a:lnTo>
                <a:lnTo>
                  <a:pt x="267093" y="606109"/>
                </a:lnTo>
                <a:lnTo>
                  <a:pt x="282804" y="563865"/>
                </a:lnTo>
                <a:lnTo>
                  <a:pt x="282804" y="563865"/>
                </a:lnTo>
                <a:lnTo>
                  <a:pt x="298515" y="624251"/>
                </a:lnTo>
                <a:lnTo>
                  <a:pt x="314227" y="649891"/>
                </a:lnTo>
                <a:lnTo>
                  <a:pt x="329938" y="668051"/>
                </a:lnTo>
                <a:lnTo>
                  <a:pt x="345649" y="681286"/>
                </a:lnTo>
                <a:lnTo>
                  <a:pt x="361361" y="690357"/>
                </a:lnTo>
                <a:lnTo>
                  <a:pt x="377072" y="695264"/>
                </a:lnTo>
                <a:lnTo>
                  <a:pt x="392783" y="695247"/>
                </a:lnTo>
                <a:lnTo>
                  <a:pt x="408495" y="687750"/>
                </a:lnTo>
                <a:lnTo>
                  <a:pt x="424206" y="645506"/>
                </a:lnTo>
                <a:lnTo>
                  <a:pt x="424206" y="645506"/>
                </a:lnTo>
                <a:lnTo>
                  <a:pt x="439917" y="705892"/>
                </a:lnTo>
                <a:lnTo>
                  <a:pt x="455629" y="731531"/>
                </a:lnTo>
                <a:lnTo>
                  <a:pt x="471340" y="749692"/>
                </a:lnTo>
                <a:lnTo>
                  <a:pt x="487051" y="762926"/>
                </a:lnTo>
                <a:lnTo>
                  <a:pt x="502762" y="771998"/>
                </a:lnTo>
                <a:lnTo>
                  <a:pt x="518474" y="776905"/>
                </a:lnTo>
                <a:lnTo>
                  <a:pt x="534185" y="776887"/>
                </a:lnTo>
                <a:lnTo>
                  <a:pt x="549896" y="769390"/>
                </a:lnTo>
                <a:lnTo>
                  <a:pt x="565608" y="727147"/>
                </a:lnTo>
                <a:lnTo>
                  <a:pt x="565608" y="727147"/>
                </a:lnTo>
                <a:lnTo>
                  <a:pt x="581319" y="787533"/>
                </a:lnTo>
                <a:lnTo>
                  <a:pt x="597030" y="813172"/>
                </a:lnTo>
                <a:lnTo>
                  <a:pt x="612742" y="831332"/>
                </a:lnTo>
                <a:lnTo>
                  <a:pt x="628453" y="844567"/>
                </a:lnTo>
                <a:lnTo>
                  <a:pt x="644164" y="853638"/>
                </a:lnTo>
                <a:lnTo>
                  <a:pt x="659876" y="858546"/>
                </a:lnTo>
                <a:lnTo>
                  <a:pt x="675587" y="858528"/>
                </a:lnTo>
                <a:lnTo>
                  <a:pt x="691298" y="851031"/>
                </a:lnTo>
                <a:lnTo>
                  <a:pt x="707010" y="808788"/>
                </a:lnTo>
                <a:lnTo>
                  <a:pt x="707010" y="808788"/>
                </a:lnTo>
                <a:lnTo>
                  <a:pt x="722721" y="869174"/>
                </a:lnTo>
                <a:lnTo>
                  <a:pt x="738432" y="894813"/>
                </a:lnTo>
                <a:lnTo>
                  <a:pt x="754144" y="912973"/>
                </a:lnTo>
                <a:lnTo>
                  <a:pt x="769855" y="926208"/>
                </a:lnTo>
                <a:lnTo>
                  <a:pt x="785566" y="935279"/>
                </a:lnTo>
                <a:lnTo>
                  <a:pt x="801278" y="940187"/>
                </a:lnTo>
                <a:lnTo>
                  <a:pt x="816989" y="940169"/>
                </a:lnTo>
                <a:lnTo>
                  <a:pt x="832700" y="932672"/>
                </a:lnTo>
                <a:lnTo>
                  <a:pt x="848412" y="890429"/>
                </a:lnTo>
                <a:lnTo>
                  <a:pt x="848412" y="890429"/>
                </a:lnTo>
                <a:lnTo>
                  <a:pt x="864123" y="950814"/>
                </a:lnTo>
                <a:lnTo>
                  <a:pt x="879834" y="976454"/>
                </a:lnTo>
                <a:lnTo>
                  <a:pt x="895546" y="994614"/>
                </a:lnTo>
                <a:lnTo>
                  <a:pt x="911257" y="1007849"/>
                </a:lnTo>
                <a:lnTo>
                  <a:pt x="926968" y="1016920"/>
                </a:lnTo>
                <a:lnTo>
                  <a:pt x="942679" y="1021828"/>
                </a:lnTo>
                <a:lnTo>
                  <a:pt x="958391" y="1021810"/>
                </a:lnTo>
                <a:lnTo>
                  <a:pt x="974102" y="1014313"/>
                </a:lnTo>
                <a:lnTo>
                  <a:pt x="989813" y="972070"/>
                </a:lnTo>
                <a:lnTo>
                  <a:pt x="989813" y="972070"/>
                </a:lnTo>
                <a:lnTo>
                  <a:pt x="1005525" y="1032455"/>
                </a:lnTo>
                <a:lnTo>
                  <a:pt x="1021236" y="1058095"/>
                </a:lnTo>
                <a:lnTo>
                  <a:pt x="1036947" y="1076255"/>
                </a:lnTo>
                <a:lnTo>
                  <a:pt x="1052659" y="1089490"/>
                </a:lnTo>
                <a:lnTo>
                  <a:pt x="1068370" y="1098561"/>
                </a:lnTo>
                <a:lnTo>
                  <a:pt x="1084081" y="1103468"/>
                </a:lnTo>
                <a:lnTo>
                  <a:pt x="1099793" y="1103451"/>
                </a:lnTo>
                <a:lnTo>
                  <a:pt x="1115504" y="1095954"/>
                </a:lnTo>
                <a:lnTo>
                  <a:pt x="1131215" y="1053710"/>
                </a:lnTo>
                <a:close/>
              </a:path>
            </a:pathLst>
          </a:custGeom>
          <a:solidFill>
            <a:srgbClr val="91A0A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Ag reflector + MLA film / Glass + Microlens array film leader"/>
          <p:cNvCxnSpPr/>
          <p:nvPr/>
        </p:nvCxnSpPr>
        <p:spPr>
          <a:xfrm>
            <a:off x="3186387" y="4655246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g reflector + MLA film / Glass + Microlens array film label"/>
          <p:cNvSpPr txBox="1"/>
          <p:nvPr/>
        </p:nvSpPr>
        <p:spPr>
          <a:xfrm>
            <a:off x="3744592" y="4491093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D62828"/>
                </a:solidFill>
                <a:latin typeface="Arial"/>
              </a:rPr>
              <a:t>Glass + Microlens array film</a:t>
            </a:r>
          </a:p>
        </p:txBody>
      </p:sp>
      <p:sp>
        <p:nvSpPr>
          <p:cNvPr id="6" name="Ag reflector + MLA film / ITO [150] right"/>
          <p:cNvSpPr/>
          <p:nvPr/>
        </p:nvSpPr>
        <p:spPr>
          <a:xfrm>
            <a:off x="2002921" y="4167578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287376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40502"/>
                </a:lnTo>
                <a:close/>
              </a:path>
            </a:pathLst>
          </a:custGeom>
          <a:solidFill>
            <a:srgbClr val="6DB5C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 reflector + MLA film / ITO [150] front"/>
          <p:cNvSpPr/>
          <p:nvPr/>
        </p:nvSpPr>
        <p:spPr>
          <a:xfrm>
            <a:off x="871706" y="4167578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940502"/>
                </a:moveTo>
                <a:lnTo>
                  <a:pt x="1131215" y="653126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5994A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Ag reflector + MLA film / ITO [150] leader"/>
          <p:cNvCxnSpPr/>
          <p:nvPr/>
        </p:nvCxnSpPr>
        <p:spPr>
          <a:xfrm>
            <a:off x="3186387" y="4311266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g reflector + MLA film / ITO [150] label"/>
          <p:cNvSpPr txBox="1"/>
          <p:nvPr/>
        </p:nvSpPr>
        <p:spPr>
          <a:xfrm>
            <a:off x="3744592" y="4147113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ITO [150]</a:t>
            </a:r>
          </a:p>
        </p:txBody>
      </p:sp>
      <p:sp>
        <p:nvSpPr>
          <p:cNvPr id="10" name="Ag reflector + MLA film / HATCN/TAPC [5/55] 3 pairs right"/>
          <p:cNvSpPr/>
          <p:nvPr/>
        </p:nvSpPr>
        <p:spPr>
          <a:xfrm>
            <a:off x="2002921" y="388020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287376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40502"/>
                </a:lnTo>
                <a:close/>
              </a:path>
            </a:pathLst>
          </a:custGeom>
          <a:solidFill>
            <a:srgbClr val="D4C096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 reflector + MLA film / HATCN/TAPC [5/55] 3 pairs front"/>
          <p:cNvSpPr/>
          <p:nvPr/>
        </p:nvSpPr>
        <p:spPr>
          <a:xfrm>
            <a:off x="871706" y="388020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940502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AC9C7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Ag reflector + MLA film / HATCN/TAPC [5/55] 3 pairs leader"/>
          <p:cNvCxnSpPr/>
          <p:nvPr/>
        </p:nvCxnSpPr>
        <p:spPr>
          <a:xfrm>
            <a:off x="3186387" y="4023890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g reflector + MLA film / HATCN/TAPC [5/55] 3 pairs label"/>
          <p:cNvSpPr txBox="1"/>
          <p:nvPr/>
        </p:nvSpPr>
        <p:spPr>
          <a:xfrm>
            <a:off x="3744592" y="3859738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HATCN/TAPC [5/55] 3 pairs</a:t>
            </a:r>
          </a:p>
        </p:txBody>
      </p:sp>
      <p:sp>
        <p:nvSpPr>
          <p:cNvPr id="14" name="Ag reflector + MLA film / TCTA [10] right"/>
          <p:cNvSpPr/>
          <p:nvPr/>
        </p:nvSpPr>
        <p:spPr>
          <a:xfrm>
            <a:off x="2002921" y="3636368"/>
            <a:ext cx="1131215" cy="896961"/>
          </a:xfrm>
          <a:custGeom>
            <a:avLst/>
            <a:gdLst/>
            <a:ahLst/>
            <a:cxnLst/>
            <a:rect l="l" t="t" r="r" b="b"/>
            <a:pathLst>
              <a:path w="1131215" h="896961">
                <a:moveTo>
                  <a:pt x="1131215" y="24383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896961"/>
                </a:lnTo>
                <a:close/>
              </a:path>
            </a:pathLst>
          </a:custGeom>
          <a:solidFill>
            <a:srgbClr val="CE9E5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g reflector + MLA film / TCTA [10] front"/>
          <p:cNvSpPr/>
          <p:nvPr/>
        </p:nvSpPr>
        <p:spPr>
          <a:xfrm>
            <a:off x="871706" y="3636368"/>
            <a:ext cx="1131215" cy="896961"/>
          </a:xfrm>
          <a:custGeom>
            <a:avLst/>
            <a:gdLst/>
            <a:ahLst/>
            <a:cxnLst/>
            <a:rect l="l" t="t" r="r" b="b"/>
            <a:pathLst>
              <a:path w="1131215" h="896961">
                <a:moveTo>
                  <a:pt x="1131215" y="89696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43834"/>
                </a:lnTo>
                <a:close/>
              </a:path>
            </a:pathLst>
          </a:custGeom>
          <a:solidFill>
            <a:srgbClr val="A8814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Ag reflector + MLA film / TCTA [10] leader"/>
          <p:cNvCxnSpPr/>
          <p:nvPr/>
        </p:nvCxnSpPr>
        <p:spPr>
          <a:xfrm>
            <a:off x="3186387" y="3758285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g reflector + MLA film / TCTA [10] label"/>
          <p:cNvSpPr txBox="1"/>
          <p:nvPr/>
        </p:nvSpPr>
        <p:spPr>
          <a:xfrm>
            <a:off x="3744592" y="3594133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TCTA [10]</a:t>
            </a:r>
          </a:p>
        </p:txBody>
      </p:sp>
      <p:sp>
        <p:nvSpPr>
          <p:cNvPr id="18" name="Ag reflector + MLA film / TCTA:B3PyMPM:Irppy₂acac [25] right"/>
          <p:cNvSpPr/>
          <p:nvPr/>
        </p:nvSpPr>
        <p:spPr>
          <a:xfrm>
            <a:off x="2002921" y="3322868"/>
            <a:ext cx="1131215" cy="966627"/>
          </a:xfrm>
          <a:custGeom>
            <a:avLst/>
            <a:gdLst/>
            <a:ahLst/>
            <a:cxnLst/>
            <a:rect l="l" t="t" r="r" b="b"/>
            <a:pathLst>
              <a:path w="1131215" h="966627">
                <a:moveTo>
                  <a:pt x="1131215" y="313500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66627"/>
                </a:lnTo>
                <a:close/>
              </a:path>
            </a:pathLst>
          </a:custGeom>
          <a:solidFill>
            <a:srgbClr val="99323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 reflector + MLA film / TCTA:B3PyMPM:Irppy₂acac [25] front"/>
          <p:cNvSpPr/>
          <p:nvPr/>
        </p:nvSpPr>
        <p:spPr>
          <a:xfrm>
            <a:off x="871706" y="3322868"/>
            <a:ext cx="1131215" cy="966627"/>
          </a:xfrm>
          <a:custGeom>
            <a:avLst/>
            <a:gdLst/>
            <a:ahLst/>
            <a:cxnLst/>
            <a:rect l="l" t="t" r="r" b="b"/>
            <a:pathLst>
              <a:path w="1131215" h="966627">
                <a:moveTo>
                  <a:pt x="1131215" y="966627"/>
                </a:moveTo>
                <a:lnTo>
                  <a:pt x="1131215" y="653126"/>
                </a:lnTo>
                <a:lnTo>
                  <a:pt x="0" y="0"/>
                </a:lnTo>
                <a:lnTo>
                  <a:pt x="0" y="313500"/>
                </a:lnTo>
                <a:close/>
              </a:path>
            </a:pathLst>
          </a:custGeom>
          <a:solidFill>
            <a:srgbClr val="7D292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Ag reflector + MLA film / TCTA:B3PyMPM:Irppy₂acac [25] leader"/>
          <p:cNvCxnSpPr/>
          <p:nvPr/>
        </p:nvCxnSpPr>
        <p:spPr>
          <a:xfrm>
            <a:off x="3186387" y="3479618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g reflector + MLA film / TCTA:B3PyMPM:Irppy₂acac [25] label"/>
          <p:cNvSpPr txBox="1"/>
          <p:nvPr/>
        </p:nvSpPr>
        <p:spPr>
          <a:xfrm>
            <a:off x="3744592" y="3315466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TCTA:B3PyMPM:Irppy</a:t>
            </a:r>
            <a:r>
              <a:rPr sz="994" b="0" baseline="-25000">
                <a:solidFill>
                  <a:srgbClr val="1B2026"/>
                </a:solidFill>
                <a:latin typeface="Arial"/>
              </a:rPr>
              <a:t>2</a:t>
            </a:r>
            <a:r>
              <a:rPr sz="994" b="0">
                <a:solidFill>
                  <a:srgbClr val="1B2026"/>
                </a:solidFill>
                <a:latin typeface="Arial"/>
              </a:rPr>
              <a:t>acac [25]</a:t>
            </a:r>
          </a:p>
        </p:txBody>
      </p:sp>
      <p:sp>
        <p:nvSpPr>
          <p:cNvPr id="22" name="Ag reflector + MLA film / B3PyMPM [50] right"/>
          <p:cNvSpPr/>
          <p:nvPr/>
        </p:nvSpPr>
        <p:spPr>
          <a:xfrm>
            <a:off x="2002921" y="303549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287376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40502"/>
                </a:lnTo>
                <a:close/>
              </a:path>
            </a:pathLst>
          </a:custGeom>
          <a:solidFill>
            <a:srgbClr val="6D84B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g reflector + MLA film / B3PyMPM [50] front"/>
          <p:cNvSpPr/>
          <p:nvPr/>
        </p:nvSpPr>
        <p:spPr>
          <a:xfrm>
            <a:off x="871706" y="303549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940502"/>
                </a:moveTo>
                <a:lnTo>
                  <a:pt x="1131215" y="653126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596C9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Ag reflector + MLA film / B3PyMPM [50] leader"/>
          <p:cNvCxnSpPr/>
          <p:nvPr/>
        </p:nvCxnSpPr>
        <p:spPr>
          <a:xfrm>
            <a:off x="3186387" y="3179180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g reflector + MLA film / B3PyMPM [50] label"/>
          <p:cNvSpPr txBox="1"/>
          <p:nvPr/>
        </p:nvSpPr>
        <p:spPr>
          <a:xfrm>
            <a:off x="3744592" y="3015027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B3PyMPM [50]</a:t>
            </a:r>
          </a:p>
        </p:txBody>
      </p:sp>
      <p:sp>
        <p:nvSpPr>
          <p:cNvPr id="26" name="Ag reflector + MLA film / B3PyMPM:Cs₂CO₃ [5] right"/>
          <p:cNvSpPr/>
          <p:nvPr/>
        </p:nvSpPr>
        <p:spPr>
          <a:xfrm>
            <a:off x="2002921" y="2809075"/>
            <a:ext cx="1131215" cy="879543"/>
          </a:xfrm>
          <a:custGeom>
            <a:avLst/>
            <a:gdLst/>
            <a:ahLst/>
            <a:cxnLst/>
            <a:rect l="l" t="t" r="r" b="b"/>
            <a:pathLst>
              <a:path w="1131215" h="879543">
                <a:moveTo>
                  <a:pt x="1131215" y="226417"/>
                </a:moveTo>
                <a:lnTo>
                  <a:pt x="1131215" y="0"/>
                </a:lnTo>
                <a:lnTo>
                  <a:pt x="0" y="653126"/>
                </a:lnTo>
                <a:lnTo>
                  <a:pt x="0" y="879543"/>
                </a:lnTo>
                <a:close/>
              </a:path>
            </a:pathLst>
          </a:custGeom>
          <a:solidFill>
            <a:srgbClr val="3B5390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g reflector + MLA film / B3PyMPM:Cs₂CO₃ [5] front"/>
          <p:cNvSpPr/>
          <p:nvPr/>
        </p:nvSpPr>
        <p:spPr>
          <a:xfrm>
            <a:off x="871706" y="2809075"/>
            <a:ext cx="1131215" cy="879543"/>
          </a:xfrm>
          <a:custGeom>
            <a:avLst/>
            <a:gdLst/>
            <a:ahLst/>
            <a:cxnLst/>
            <a:rect l="l" t="t" r="r" b="b"/>
            <a:pathLst>
              <a:path w="1131215" h="879543">
                <a:moveTo>
                  <a:pt x="1131215" y="879543"/>
                </a:moveTo>
                <a:lnTo>
                  <a:pt x="1131215" y="653126"/>
                </a:lnTo>
                <a:lnTo>
                  <a:pt x="0" y="0"/>
                </a:lnTo>
                <a:lnTo>
                  <a:pt x="0" y="226417"/>
                </a:lnTo>
                <a:close/>
              </a:path>
            </a:pathLst>
          </a:custGeom>
          <a:solidFill>
            <a:srgbClr val="304376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Ag reflector + MLA film / B3PyMPM:Cs₂CO₃ [5] leader"/>
          <p:cNvCxnSpPr/>
          <p:nvPr/>
        </p:nvCxnSpPr>
        <p:spPr>
          <a:xfrm>
            <a:off x="3186387" y="2922283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g reflector + MLA film / B3PyMPM:Cs₂CO₃ [5] label"/>
          <p:cNvSpPr txBox="1"/>
          <p:nvPr/>
        </p:nvSpPr>
        <p:spPr>
          <a:xfrm>
            <a:off x="3744592" y="2758131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B3PyMPM:Cs</a:t>
            </a:r>
            <a:r>
              <a:rPr sz="994" b="0" baseline="-25000">
                <a:solidFill>
                  <a:srgbClr val="1B2026"/>
                </a:solidFill>
                <a:latin typeface="Arial"/>
              </a:rPr>
              <a:t>2</a:t>
            </a:r>
            <a:r>
              <a:rPr sz="994" b="0">
                <a:solidFill>
                  <a:srgbClr val="1B2026"/>
                </a:solidFill>
                <a:latin typeface="Arial"/>
              </a:rPr>
              <a:t>CO</a:t>
            </a:r>
            <a:r>
              <a:rPr sz="994" b="0" baseline="-25000">
                <a:solidFill>
                  <a:srgbClr val="1B2026"/>
                </a:solidFill>
                <a:latin typeface="Arial"/>
              </a:rPr>
              <a:t>3</a:t>
            </a:r>
            <a:r>
              <a:rPr sz="994" b="0">
                <a:solidFill>
                  <a:srgbClr val="1B2026"/>
                </a:solidFill>
                <a:latin typeface="Arial"/>
              </a:rPr>
              <a:t> [5]</a:t>
            </a:r>
          </a:p>
        </p:txBody>
      </p:sp>
      <p:sp>
        <p:nvSpPr>
          <p:cNvPr id="30" name="Ag reflector + MLA film / Ag [100] right"/>
          <p:cNvSpPr/>
          <p:nvPr/>
        </p:nvSpPr>
        <p:spPr>
          <a:xfrm>
            <a:off x="2002921" y="2547824"/>
            <a:ext cx="1131215" cy="914377"/>
          </a:xfrm>
          <a:custGeom>
            <a:avLst/>
            <a:gdLst/>
            <a:ahLst/>
            <a:cxnLst/>
            <a:rect l="l" t="t" r="r" b="b"/>
            <a:pathLst>
              <a:path w="1131215" h="914377">
                <a:moveTo>
                  <a:pt x="1131215" y="261251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14377"/>
                </a:lnTo>
                <a:close/>
              </a:path>
            </a:pathLst>
          </a:custGeom>
          <a:solidFill>
            <a:srgbClr val="ADB1B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g reflector + MLA film / Ag [100] front"/>
          <p:cNvSpPr/>
          <p:nvPr/>
        </p:nvSpPr>
        <p:spPr>
          <a:xfrm>
            <a:off x="871706" y="2547824"/>
            <a:ext cx="1131215" cy="914377"/>
          </a:xfrm>
          <a:custGeom>
            <a:avLst/>
            <a:gdLst/>
            <a:ahLst/>
            <a:cxnLst/>
            <a:rect l="l" t="t" r="r" b="b"/>
            <a:pathLst>
              <a:path w="1131215" h="914377">
                <a:moveTo>
                  <a:pt x="1131215" y="914377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61251"/>
                </a:lnTo>
                <a:close/>
              </a:path>
            </a:pathLst>
          </a:custGeom>
          <a:solidFill>
            <a:srgbClr val="8D909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Ag reflector + MLA film / Ag [100] leader"/>
          <p:cNvCxnSpPr/>
          <p:nvPr/>
        </p:nvCxnSpPr>
        <p:spPr>
          <a:xfrm>
            <a:off x="3186387" y="2678449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g reflector + MLA film / Ag [100] label"/>
          <p:cNvSpPr txBox="1"/>
          <p:nvPr/>
        </p:nvSpPr>
        <p:spPr>
          <a:xfrm>
            <a:off x="3744592" y="2514297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Ag [100]</a:t>
            </a:r>
          </a:p>
        </p:txBody>
      </p:sp>
      <p:sp>
        <p:nvSpPr>
          <p:cNvPr id="34" name="Ag reflector + MLA film / Nanolaminate right"/>
          <p:cNvSpPr/>
          <p:nvPr/>
        </p:nvSpPr>
        <p:spPr>
          <a:xfrm>
            <a:off x="2002921" y="2260448"/>
            <a:ext cx="1131215" cy="940503"/>
          </a:xfrm>
          <a:custGeom>
            <a:avLst/>
            <a:gdLst/>
            <a:ahLst/>
            <a:cxnLst/>
            <a:rect l="l" t="t" r="r" b="b"/>
            <a:pathLst>
              <a:path w="1131215" h="940503">
                <a:moveTo>
                  <a:pt x="1131215" y="287376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40503"/>
                </a:lnTo>
                <a:close/>
              </a:path>
            </a:pathLst>
          </a:custGeom>
          <a:solidFill>
            <a:srgbClr val="BBC6C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g reflector + MLA film / Nanolaminate front"/>
          <p:cNvSpPr/>
          <p:nvPr/>
        </p:nvSpPr>
        <p:spPr>
          <a:xfrm>
            <a:off x="871706" y="2260448"/>
            <a:ext cx="1131215" cy="940503"/>
          </a:xfrm>
          <a:custGeom>
            <a:avLst/>
            <a:gdLst/>
            <a:ahLst/>
            <a:cxnLst/>
            <a:rect l="l" t="t" r="r" b="b"/>
            <a:pathLst>
              <a:path w="1131215" h="940503">
                <a:moveTo>
                  <a:pt x="1131215" y="940503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98A19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Ag reflector + MLA film / Nanolaminate leader"/>
          <p:cNvCxnSpPr/>
          <p:nvPr/>
        </p:nvCxnSpPr>
        <p:spPr>
          <a:xfrm>
            <a:off x="3186387" y="2404136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g reflector + MLA film / Nanolaminate label"/>
          <p:cNvSpPr txBox="1"/>
          <p:nvPr/>
        </p:nvSpPr>
        <p:spPr>
          <a:xfrm>
            <a:off x="3744592" y="2239984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Nanolaminate</a:t>
            </a:r>
          </a:p>
        </p:txBody>
      </p:sp>
      <p:sp>
        <p:nvSpPr>
          <p:cNvPr id="38" name="Ag reflector + MLA film / Parylene-C [3000] right"/>
          <p:cNvSpPr/>
          <p:nvPr/>
        </p:nvSpPr>
        <p:spPr>
          <a:xfrm>
            <a:off x="2002921" y="1912114"/>
            <a:ext cx="1131215" cy="1001461"/>
          </a:xfrm>
          <a:custGeom>
            <a:avLst/>
            <a:gdLst/>
            <a:ahLst/>
            <a:cxnLst/>
            <a:rect l="l" t="t" r="r" b="b"/>
            <a:pathLst>
              <a:path w="1131215" h="1001461">
                <a:moveTo>
                  <a:pt x="1131215" y="34833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1001461"/>
                </a:lnTo>
                <a:close/>
              </a:path>
            </a:pathLst>
          </a:custGeom>
          <a:solidFill>
            <a:srgbClr val="C2BD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g reflector + MLA film / Parylene-C [3000] front"/>
          <p:cNvSpPr/>
          <p:nvPr/>
        </p:nvSpPr>
        <p:spPr>
          <a:xfrm>
            <a:off x="871706" y="1912114"/>
            <a:ext cx="1131215" cy="1001461"/>
          </a:xfrm>
          <a:custGeom>
            <a:avLst/>
            <a:gdLst/>
            <a:ahLst/>
            <a:cxnLst/>
            <a:rect l="l" t="t" r="r" b="b"/>
            <a:pathLst>
              <a:path w="1131215" h="1001461">
                <a:moveTo>
                  <a:pt x="1131215" y="100146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348334"/>
                </a:lnTo>
                <a:close/>
              </a:path>
            </a:pathLst>
          </a:custGeom>
          <a:solidFill>
            <a:srgbClr val="9E9AA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Ag reflector + MLA film / Parylene-C [3000] leader"/>
          <p:cNvCxnSpPr/>
          <p:nvPr/>
        </p:nvCxnSpPr>
        <p:spPr>
          <a:xfrm>
            <a:off x="3186387" y="2086281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g reflector + MLA film / Parylene-C [3000] label"/>
          <p:cNvSpPr txBox="1"/>
          <p:nvPr/>
        </p:nvSpPr>
        <p:spPr>
          <a:xfrm>
            <a:off x="3744592" y="1922129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D62828"/>
                </a:solidFill>
                <a:latin typeface="Arial"/>
              </a:rPr>
              <a:t>Parylene-C [3000]</a:t>
            </a:r>
          </a:p>
        </p:txBody>
      </p:sp>
      <p:sp>
        <p:nvSpPr>
          <p:cNvPr id="42" name="Ag reflector + MLA film / MoOx [5] + Ag reflector [100] top"/>
          <p:cNvSpPr/>
          <p:nvPr/>
        </p:nvSpPr>
        <p:spPr>
          <a:xfrm>
            <a:off x="871706" y="962904"/>
            <a:ext cx="2262430" cy="1306253"/>
          </a:xfrm>
          <a:custGeom>
            <a:avLst/>
            <a:gdLst/>
            <a:ahLst/>
            <a:cxnLst/>
            <a:rect l="l" t="t" r="r" b="b"/>
            <a:pathLst>
              <a:path w="2262430" h="1306253">
                <a:moveTo>
                  <a:pt x="1131215" y="0"/>
                </a:moveTo>
                <a:lnTo>
                  <a:pt x="2262430" y="653126"/>
                </a:lnTo>
                <a:lnTo>
                  <a:pt x="1131215" y="1306253"/>
                </a:lnTo>
                <a:lnTo>
                  <a:pt x="0" y="653126"/>
                </a:lnTo>
                <a:close/>
              </a:path>
            </a:pathLst>
          </a:custGeom>
          <a:solidFill>
            <a:srgbClr val="9AA1A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g reflector + MLA film / MoOx [5] + Ag reflector [100] right"/>
          <p:cNvSpPr/>
          <p:nvPr/>
        </p:nvSpPr>
        <p:spPr>
          <a:xfrm>
            <a:off x="2002921" y="1616030"/>
            <a:ext cx="1131215" cy="949211"/>
          </a:xfrm>
          <a:custGeom>
            <a:avLst/>
            <a:gdLst/>
            <a:ahLst/>
            <a:cxnLst/>
            <a:rect l="l" t="t" r="r" b="b"/>
            <a:pathLst>
              <a:path w="1131215" h="949211">
                <a:moveTo>
                  <a:pt x="1131215" y="29608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49211"/>
                </a:lnTo>
                <a:close/>
              </a:path>
            </a:pathLst>
          </a:custGeom>
          <a:solidFill>
            <a:srgbClr val="848A90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g reflector + MLA film / MoOx [5] + Ag reflector [100] front"/>
          <p:cNvSpPr/>
          <p:nvPr/>
        </p:nvSpPr>
        <p:spPr>
          <a:xfrm>
            <a:off x="871706" y="1616030"/>
            <a:ext cx="1131215" cy="949211"/>
          </a:xfrm>
          <a:custGeom>
            <a:avLst/>
            <a:gdLst/>
            <a:ahLst/>
            <a:cxnLst/>
            <a:rect l="l" t="t" r="r" b="b"/>
            <a:pathLst>
              <a:path w="1131215" h="949211">
                <a:moveTo>
                  <a:pt x="1131215" y="94921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96084"/>
                </a:lnTo>
                <a:close/>
              </a:path>
            </a:pathLst>
          </a:custGeom>
          <a:solidFill>
            <a:srgbClr val="6C7176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Ag reflector + MLA film / MoOx [5] + Ag reflector [100] leader"/>
          <p:cNvCxnSpPr/>
          <p:nvPr/>
        </p:nvCxnSpPr>
        <p:spPr>
          <a:xfrm>
            <a:off x="3186387" y="1764072"/>
            <a:ext cx="488538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Ag reflector + MLA film / MoOx [5] + Ag reflector [100] label"/>
          <p:cNvSpPr txBox="1"/>
          <p:nvPr/>
        </p:nvSpPr>
        <p:spPr>
          <a:xfrm>
            <a:off x="3744592" y="1599920"/>
            <a:ext cx="2960840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D62828"/>
                </a:solidFill>
                <a:latin typeface="Arial"/>
              </a:rPr>
              <a:t>MoOx [5] + Ag reflector [100]</a:t>
            </a:r>
          </a:p>
        </p:txBody>
      </p:sp>
      <p:sp>
        <p:nvSpPr>
          <p:cNvPr id="47" name="Ag reflector + MLA film title"/>
          <p:cNvSpPr txBox="1"/>
          <p:nvPr/>
        </p:nvSpPr>
        <p:spPr>
          <a:xfrm>
            <a:off x="-261251" y="207890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Ag reflector + MLA film</a:t>
            </a:r>
          </a:p>
        </p:txBody>
      </p:sp>
      <p:cxnSp>
        <p:nvCxnSpPr>
          <p:cNvPr id="48" name="bottom emission"/>
          <p:cNvCxnSpPr/>
          <p:nvPr/>
        </p:nvCxnSpPr>
        <p:spPr>
          <a:xfrm flipH="1">
            <a:off x="1045351" y="5355180"/>
            <a:ext cx="505084" cy="374459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bottom emission"/>
          <p:cNvCxnSpPr/>
          <p:nvPr/>
        </p:nvCxnSpPr>
        <p:spPr>
          <a:xfrm>
            <a:off x="2002921" y="5616430"/>
            <a:ext cx="0" cy="566043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bottom emission"/>
          <p:cNvCxnSpPr/>
          <p:nvPr/>
        </p:nvCxnSpPr>
        <p:spPr>
          <a:xfrm>
            <a:off x="2455407" y="5355180"/>
            <a:ext cx="505085" cy="374459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mission label"/>
          <p:cNvSpPr txBox="1"/>
          <p:nvPr/>
        </p:nvSpPr>
        <p:spPr>
          <a:xfrm>
            <a:off x="696668" y="6285667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  <p:sp>
        <p:nvSpPr>
          <p:cNvPr id="52" name="DBR + MLA substrate / MLA substrate (n = 1.77) right"/>
          <p:cNvSpPr/>
          <p:nvPr/>
        </p:nvSpPr>
        <p:spPr>
          <a:xfrm>
            <a:off x="7489184" y="4454954"/>
            <a:ext cx="1131215" cy="1103468"/>
          </a:xfrm>
          <a:custGeom>
            <a:avLst/>
            <a:gdLst/>
            <a:ahLst/>
            <a:cxnLst/>
            <a:rect l="l" t="t" r="r" b="b"/>
            <a:pathLst>
              <a:path w="1131215" h="1103468">
                <a:moveTo>
                  <a:pt x="1131215" y="0"/>
                </a:moveTo>
                <a:lnTo>
                  <a:pt x="0" y="653126"/>
                </a:lnTo>
                <a:lnTo>
                  <a:pt x="0" y="1053710"/>
                </a:lnTo>
                <a:lnTo>
                  <a:pt x="15711" y="1095954"/>
                </a:lnTo>
                <a:lnTo>
                  <a:pt x="31423" y="1103451"/>
                </a:lnTo>
                <a:lnTo>
                  <a:pt x="47134" y="1103468"/>
                </a:lnTo>
                <a:lnTo>
                  <a:pt x="62845" y="1098561"/>
                </a:lnTo>
                <a:lnTo>
                  <a:pt x="78557" y="1089490"/>
                </a:lnTo>
                <a:lnTo>
                  <a:pt x="94268" y="1076255"/>
                </a:lnTo>
                <a:lnTo>
                  <a:pt x="109979" y="1058095"/>
                </a:lnTo>
                <a:lnTo>
                  <a:pt x="125691" y="1032455"/>
                </a:lnTo>
                <a:lnTo>
                  <a:pt x="141402" y="972070"/>
                </a:lnTo>
                <a:lnTo>
                  <a:pt x="141402" y="972070"/>
                </a:lnTo>
                <a:lnTo>
                  <a:pt x="157113" y="1014313"/>
                </a:lnTo>
                <a:lnTo>
                  <a:pt x="172825" y="1021810"/>
                </a:lnTo>
                <a:lnTo>
                  <a:pt x="188536" y="1021828"/>
                </a:lnTo>
                <a:lnTo>
                  <a:pt x="204247" y="1016920"/>
                </a:lnTo>
                <a:lnTo>
                  <a:pt x="219959" y="1007849"/>
                </a:lnTo>
                <a:lnTo>
                  <a:pt x="235670" y="994614"/>
                </a:lnTo>
                <a:lnTo>
                  <a:pt x="251381" y="976454"/>
                </a:lnTo>
                <a:lnTo>
                  <a:pt x="267093" y="950814"/>
                </a:lnTo>
                <a:lnTo>
                  <a:pt x="282804" y="890429"/>
                </a:lnTo>
                <a:lnTo>
                  <a:pt x="282804" y="890429"/>
                </a:lnTo>
                <a:lnTo>
                  <a:pt x="298515" y="932672"/>
                </a:lnTo>
                <a:lnTo>
                  <a:pt x="314226" y="940169"/>
                </a:lnTo>
                <a:lnTo>
                  <a:pt x="329938" y="940187"/>
                </a:lnTo>
                <a:lnTo>
                  <a:pt x="345649" y="935279"/>
                </a:lnTo>
                <a:lnTo>
                  <a:pt x="361360" y="926208"/>
                </a:lnTo>
                <a:lnTo>
                  <a:pt x="377072" y="912973"/>
                </a:lnTo>
                <a:lnTo>
                  <a:pt x="392783" y="894813"/>
                </a:lnTo>
                <a:lnTo>
                  <a:pt x="408494" y="869174"/>
                </a:lnTo>
                <a:lnTo>
                  <a:pt x="424206" y="808788"/>
                </a:lnTo>
                <a:lnTo>
                  <a:pt x="424206" y="808788"/>
                </a:lnTo>
                <a:lnTo>
                  <a:pt x="439917" y="851031"/>
                </a:lnTo>
                <a:lnTo>
                  <a:pt x="455628" y="858528"/>
                </a:lnTo>
                <a:lnTo>
                  <a:pt x="471340" y="858546"/>
                </a:lnTo>
                <a:lnTo>
                  <a:pt x="487051" y="853638"/>
                </a:lnTo>
                <a:lnTo>
                  <a:pt x="502762" y="844567"/>
                </a:lnTo>
                <a:lnTo>
                  <a:pt x="518474" y="831332"/>
                </a:lnTo>
                <a:lnTo>
                  <a:pt x="534185" y="813172"/>
                </a:lnTo>
                <a:lnTo>
                  <a:pt x="549896" y="787533"/>
                </a:lnTo>
                <a:lnTo>
                  <a:pt x="565608" y="727147"/>
                </a:lnTo>
                <a:lnTo>
                  <a:pt x="565608" y="727147"/>
                </a:lnTo>
                <a:lnTo>
                  <a:pt x="581319" y="769390"/>
                </a:lnTo>
                <a:lnTo>
                  <a:pt x="597030" y="776887"/>
                </a:lnTo>
                <a:lnTo>
                  <a:pt x="612742" y="776905"/>
                </a:lnTo>
                <a:lnTo>
                  <a:pt x="628453" y="771998"/>
                </a:lnTo>
                <a:lnTo>
                  <a:pt x="644164" y="762926"/>
                </a:lnTo>
                <a:lnTo>
                  <a:pt x="659876" y="749692"/>
                </a:lnTo>
                <a:lnTo>
                  <a:pt x="675587" y="731531"/>
                </a:lnTo>
                <a:lnTo>
                  <a:pt x="691298" y="705892"/>
                </a:lnTo>
                <a:lnTo>
                  <a:pt x="707010" y="645506"/>
                </a:lnTo>
                <a:lnTo>
                  <a:pt x="707010" y="645506"/>
                </a:lnTo>
                <a:lnTo>
                  <a:pt x="722721" y="687750"/>
                </a:lnTo>
                <a:lnTo>
                  <a:pt x="738432" y="695247"/>
                </a:lnTo>
                <a:lnTo>
                  <a:pt x="754143" y="695264"/>
                </a:lnTo>
                <a:lnTo>
                  <a:pt x="769855" y="690357"/>
                </a:lnTo>
                <a:lnTo>
                  <a:pt x="785566" y="681286"/>
                </a:lnTo>
                <a:lnTo>
                  <a:pt x="801277" y="668051"/>
                </a:lnTo>
                <a:lnTo>
                  <a:pt x="816989" y="649891"/>
                </a:lnTo>
                <a:lnTo>
                  <a:pt x="832700" y="624251"/>
                </a:lnTo>
                <a:lnTo>
                  <a:pt x="848411" y="563865"/>
                </a:lnTo>
                <a:lnTo>
                  <a:pt x="848411" y="563865"/>
                </a:lnTo>
                <a:lnTo>
                  <a:pt x="864123" y="606109"/>
                </a:lnTo>
                <a:lnTo>
                  <a:pt x="879834" y="613606"/>
                </a:lnTo>
                <a:lnTo>
                  <a:pt x="895545" y="613624"/>
                </a:lnTo>
                <a:lnTo>
                  <a:pt x="911257" y="608716"/>
                </a:lnTo>
                <a:lnTo>
                  <a:pt x="926968" y="599645"/>
                </a:lnTo>
                <a:lnTo>
                  <a:pt x="942679" y="586410"/>
                </a:lnTo>
                <a:lnTo>
                  <a:pt x="958391" y="568250"/>
                </a:lnTo>
                <a:lnTo>
                  <a:pt x="974102" y="542610"/>
                </a:lnTo>
                <a:lnTo>
                  <a:pt x="989813" y="482225"/>
                </a:lnTo>
                <a:lnTo>
                  <a:pt x="989813" y="482225"/>
                </a:lnTo>
                <a:lnTo>
                  <a:pt x="1005525" y="524468"/>
                </a:lnTo>
                <a:lnTo>
                  <a:pt x="1021236" y="531965"/>
                </a:lnTo>
                <a:lnTo>
                  <a:pt x="1036947" y="531983"/>
                </a:lnTo>
                <a:lnTo>
                  <a:pt x="1052659" y="527075"/>
                </a:lnTo>
                <a:lnTo>
                  <a:pt x="1068370" y="518004"/>
                </a:lnTo>
                <a:lnTo>
                  <a:pt x="1084081" y="504769"/>
                </a:lnTo>
                <a:lnTo>
                  <a:pt x="1099793" y="486609"/>
                </a:lnTo>
                <a:lnTo>
                  <a:pt x="1115504" y="460969"/>
                </a:lnTo>
                <a:lnTo>
                  <a:pt x="1131215" y="400584"/>
                </a:lnTo>
                <a:close/>
              </a:path>
            </a:pathLst>
          </a:custGeom>
          <a:solidFill>
            <a:srgbClr val="B2C4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BR + MLA substrate / MLA substrate (n = 1.77) front"/>
          <p:cNvSpPr/>
          <p:nvPr/>
        </p:nvSpPr>
        <p:spPr>
          <a:xfrm>
            <a:off x="6357969" y="4454954"/>
            <a:ext cx="1131215" cy="1103468"/>
          </a:xfrm>
          <a:custGeom>
            <a:avLst/>
            <a:gdLst/>
            <a:ahLst/>
            <a:cxnLst/>
            <a:rect l="l" t="t" r="r" b="b"/>
            <a:pathLst>
              <a:path w="1131215" h="1103468">
                <a:moveTo>
                  <a:pt x="1131215" y="653126"/>
                </a:moveTo>
                <a:lnTo>
                  <a:pt x="0" y="0"/>
                </a:lnTo>
                <a:lnTo>
                  <a:pt x="0" y="400584"/>
                </a:lnTo>
                <a:lnTo>
                  <a:pt x="15711" y="460969"/>
                </a:lnTo>
                <a:lnTo>
                  <a:pt x="31423" y="486609"/>
                </a:lnTo>
                <a:lnTo>
                  <a:pt x="47134" y="504769"/>
                </a:lnTo>
                <a:lnTo>
                  <a:pt x="62845" y="518004"/>
                </a:lnTo>
                <a:lnTo>
                  <a:pt x="78557" y="527075"/>
                </a:lnTo>
                <a:lnTo>
                  <a:pt x="94268" y="531983"/>
                </a:lnTo>
                <a:lnTo>
                  <a:pt x="109979" y="531965"/>
                </a:lnTo>
                <a:lnTo>
                  <a:pt x="125691" y="524468"/>
                </a:lnTo>
                <a:lnTo>
                  <a:pt x="141402" y="482225"/>
                </a:lnTo>
                <a:lnTo>
                  <a:pt x="141402" y="482225"/>
                </a:lnTo>
                <a:lnTo>
                  <a:pt x="157113" y="542610"/>
                </a:lnTo>
                <a:lnTo>
                  <a:pt x="172824" y="568250"/>
                </a:lnTo>
                <a:lnTo>
                  <a:pt x="188536" y="586410"/>
                </a:lnTo>
                <a:lnTo>
                  <a:pt x="204247" y="599645"/>
                </a:lnTo>
                <a:lnTo>
                  <a:pt x="219958" y="608716"/>
                </a:lnTo>
                <a:lnTo>
                  <a:pt x="235670" y="613624"/>
                </a:lnTo>
                <a:lnTo>
                  <a:pt x="251381" y="613606"/>
                </a:lnTo>
                <a:lnTo>
                  <a:pt x="267092" y="606109"/>
                </a:lnTo>
                <a:lnTo>
                  <a:pt x="282804" y="563865"/>
                </a:lnTo>
                <a:lnTo>
                  <a:pt x="282804" y="563865"/>
                </a:lnTo>
                <a:lnTo>
                  <a:pt x="298515" y="624251"/>
                </a:lnTo>
                <a:lnTo>
                  <a:pt x="314226" y="649891"/>
                </a:lnTo>
                <a:lnTo>
                  <a:pt x="329938" y="668051"/>
                </a:lnTo>
                <a:lnTo>
                  <a:pt x="345649" y="681286"/>
                </a:lnTo>
                <a:lnTo>
                  <a:pt x="361360" y="690357"/>
                </a:lnTo>
                <a:lnTo>
                  <a:pt x="377072" y="695264"/>
                </a:lnTo>
                <a:lnTo>
                  <a:pt x="392783" y="695247"/>
                </a:lnTo>
                <a:lnTo>
                  <a:pt x="408494" y="687750"/>
                </a:lnTo>
                <a:lnTo>
                  <a:pt x="424206" y="645506"/>
                </a:lnTo>
                <a:lnTo>
                  <a:pt x="424206" y="645506"/>
                </a:lnTo>
                <a:lnTo>
                  <a:pt x="439917" y="705892"/>
                </a:lnTo>
                <a:lnTo>
                  <a:pt x="455628" y="731531"/>
                </a:lnTo>
                <a:lnTo>
                  <a:pt x="471340" y="749692"/>
                </a:lnTo>
                <a:lnTo>
                  <a:pt x="487051" y="762926"/>
                </a:lnTo>
                <a:lnTo>
                  <a:pt x="502762" y="771998"/>
                </a:lnTo>
                <a:lnTo>
                  <a:pt x="518474" y="776905"/>
                </a:lnTo>
                <a:lnTo>
                  <a:pt x="534185" y="776887"/>
                </a:lnTo>
                <a:lnTo>
                  <a:pt x="549896" y="769390"/>
                </a:lnTo>
                <a:lnTo>
                  <a:pt x="565608" y="727147"/>
                </a:lnTo>
                <a:lnTo>
                  <a:pt x="565608" y="727147"/>
                </a:lnTo>
                <a:lnTo>
                  <a:pt x="581319" y="787533"/>
                </a:lnTo>
                <a:lnTo>
                  <a:pt x="597030" y="813172"/>
                </a:lnTo>
                <a:lnTo>
                  <a:pt x="612741" y="831332"/>
                </a:lnTo>
                <a:lnTo>
                  <a:pt x="628453" y="844567"/>
                </a:lnTo>
                <a:lnTo>
                  <a:pt x="644164" y="853638"/>
                </a:lnTo>
                <a:lnTo>
                  <a:pt x="659875" y="858546"/>
                </a:lnTo>
                <a:lnTo>
                  <a:pt x="675587" y="858528"/>
                </a:lnTo>
                <a:lnTo>
                  <a:pt x="691298" y="851031"/>
                </a:lnTo>
                <a:lnTo>
                  <a:pt x="707009" y="808788"/>
                </a:lnTo>
                <a:lnTo>
                  <a:pt x="707009" y="808788"/>
                </a:lnTo>
                <a:lnTo>
                  <a:pt x="722721" y="869174"/>
                </a:lnTo>
                <a:lnTo>
                  <a:pt x="738432" y="894813"/>
                </a:lnTo>
                <a:lnTo>
                  <a:pt x="754143" y="912973"/>
                </a:lnTo>
                <a:lnTo>
                  <a:pt x="769855" y="926208"/>
                </a:lnTo>
                <a:lnTo>
                  <a:pt x="785566" y="935279"/>
                </a:lnTo>
                <a:lnTo>
                  <a:pt x="801277" y="940187"/>
                </a:lnTo>
                <a:lnTo>
                  <a:pt x="816989" y="940169"/>
                </a:lnTo>
                <a:lnTo>
                  <a:pt x="832700" y="932672"/>
                </a:lnTo>
                <a:lnTo>
                  <a:pt x="848411" y="890429"/>
                </a:lnTo>
                <a:lnTo>
                  <a:pt x="848411" y="890429"/>
                </a:lnTo>
                <a:lnTo>
                  <a:pt x="864123" y="950814"/>
                </a:lnTo>
                <a:lnTo>
                  <a:pt x="879834" y="976454"/>
                </a:lnTo>
                <a:lnTo>
                  <a:pt x="895545" y="994614"/>
                </a:lnTo>
                <a:lnTo>
                  <a:pt x="911257" y="1007849"/>
                </a:lnTo>
                <a:lnTo>
                  <a:pt x="926968" y="1016920"/>
                </a:lnTo>
                <a:lnTo>
                  <a:pt x="942679" y="1021828"/>
                </a:lnTo>
                <a:lnTo>
                  <a:pt x="958391" y="1021810"/>
                </a:lnTo>
                <a:lnTo>
                  <a:pt x="974102" y="1014313"/>
                </a:lnTo>
                <a:lnTo>
                  <a:pt x="989813" y="972070"/>
                </a:lnTo>
                <a:lnTo>
                  <a:pt x="989813" y="972070"/>
                </a:lnTo>
                <a:lnTo>
                  <a:pt x="1005525" y="1032455"/>
                </a:lnTo>
                <a:lnTo>
                  <a:pt x="1021236" y="1058095"/>
                </a:lnTo>
                <a:lnTo>
                  <a:pt x="1036947" y="1076255"/>
                </a:lnTo>
                <a:lnTo>
                  <a:pt x="1052658" y="1089490"/>
                </a:lnTo>
                <a:lnTo>
                  <a:pt x="1068370" y="1098561"/>
                </a:lnTo>
                <a:lnTo>
                  <a:pt x="1084081" y="1103468"/>
                </a:lnTo>
                <a:lnTo>
                  <a:pt x="1099792" y="1103451"/>
                </a:lnTo>
                <a:lnTo>
                  <a:pt x="1115504" y="1095954"/>
                </a:lnTo>
                <a:lnTo>
                  <a:pt x="1131215" y="1053710"/>
                </a:lnTo>
                <a:close/>
              </a:path>
            </a:pathLst>
          </a:custGeom>
          <a:solidFill>
            <a:srgbClr val="91A0A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DBR + MLA substrate / MLA substrate (n = 1.77) leader"/>
          <p:cNvCxnSpPr/>
          <p:nvPr/>
        </p:nvCxnSpPr>
        <p:spPr>
          <a:xfrm>
            <a:off x="8672649" y="4655246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DBR + MLA substrate / MLA substrate (n = 1.77) label"/>
          <p:cNvSpPr txBox="1"/>
          <p:nvPr/>
        </p:nvSpPr>
        <p:spPr>
          <a:xfrm>
            <a:off x="9230855" y="4491093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MLA substrate (n = 1.77)</a:t>
            </a:r>
          </a:p>
        </p:txBody>
      </p:sp>
      <p:sp>
        <p:nvSpPr>
          <p:cNvPr id="56" name="DBR + MLA substrate / IZO right"/>
          <p:cNvSpPr/>
          <p:nvPr/>
        </p:nvSpPr>
        <p:spPr>
          <a:xfrm>
            <a:off x="7489184" y="4167578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287376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40502"/>
                </a:lnTo>
                <a:close/>
              </a:path>
            </a:pathLst>
          </a:custGeom>
          <a:solidFill>
            <a:srgbClr val="6DB5C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BR + MLA substrate / IZO front"/>
          <p:cNvSpPr/>
          <p:nvPr/>
        </p:nvSpPr>
        <p:spPr>
          <a:xfrm>
            <a:off x="6357969" y="4167578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940502"/>
                </a:moveTo>
                <a:lnTo>
                  <a:pt x="1131215" y="653126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5994A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DBR + MLA substrate / IZO leader"/>
          <p:cNvCxnSpPr/>
          <p:nvPr/>
        </p:nvCxnSpPr>
        <p:spPr>
          <a:xfrm>
            <a:off x="8672649" y="4311266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DBR + MLA substrate / IZO label"/>
          <p:cNvSpPr txBox="1"/>
          <p:nvPr/>
        </p:nvSpPr>
        <p:spPr>
          <a:xfrm>
            <a:off x="9230855" y="4147113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IZO</a:t>
            </a:r>
          </a:p>
        </p:txBody>
      </p:sp>
      <p:sp>
        <p:nvSpPr>
          <p:cNvPr id="60" name="DBR + MLA substrate / TAPC/HAT-CN/TAPC/HAT-CN right"/>
          <p:cNvSpPr/>
          <p:nvPr/>
        </p:nvSpPr>
        <p:spPr>
          <a:xfrm>
            <a:off x="7489184" y="388020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287376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40502"/>
                </a:lnTo>
                <a:close/>
              </a:path>
            </a:pathLst>
          </a:custGeom>
          <a:solidFill>
            <a:srgbClr val="D4C096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BR + MLA substrate / TAPC/HAT-CN/TAPC/HAT-CN front"/>
          <p:cNvSpPr/>
          <p:nvPr/>
        </p:nvSpPr>
        <p:spPr>
          <a:xfrm>
            <a:off x="6357969" y="388020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940502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AC9C7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DBR + MLA substrate / TAPC/HAT-CN/TAPC/HAT-CN leader"/>
          <p:cNvCxnSpPr/>
          <p:nvPr/>
        </p:nvCxnSpPr>
        <p:spPr>
          <a:xfrm>
            <a:off x="8672649" y="4023890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DBR + MLA substrate / TAPC/HAT-CN/TAPC/HAT-CN label"/>
          <p:cNvSpPr txBox="1"/>
          <p:nvPr/>
        </p:nvSpPr>
        <p:spPr>
          <a:xfrm>
            <a:off x="9230855" y="3859738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TAPC/HAT-CN/TAPC/HAT-CN</a:t>
            </a:r>
          </a:p>
        </p:txBody>
      </p:sp>
      <p:sp>
        <p:nvSpPr>
          <p:cNvPr id="64" name="DBR + MLA substrate / TCTA right"/>
          <p:cNvSpPr/>
          <p:nvPr/>
        </p:nvSpPr>
        <p:spPr>
          <a:xfrm>
            <a:off x="7489184" y="3636368"/>
            <a:ext cx="1131215" cy="896961"/>
          </a:xfrm>
          <a:custGeom>
            <a:avLst/>
            <a:gdLst/>
            <a:ahLst/>
            <a:cxnLst/>
            <a:rect l="l" t="t" r="r" b="b"/>
            <a:pathLst>
              <a:path w="1131215" h="896961">
                <a:moveTo>
                  <a:pt x="1131215" y="24383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896961"/>
                </a:lnTo>
                <a:close/>
              </a:path>
            </a:pathLst>
          </a:custGeom>
          <a:solidFill>
            <a:srgbClr val="CE9E5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BR + MLA substrate / TCTA front"/>
          <p:cNvSpPr/>
          <p:nvPr/>
        </p:nvSpPr>
        <p:spPr>
          <a:xfrm>
            <a:off x="6357969" y="3636368"/>
            <a:ext cx="1131215" cy="896961"/>
          </a:xfrm>
          <a:custGeom>
            <a:avLst/>
            <a:gdLst/>
            <a:ahLst/>
            <a:cxnLst/>
            <a:rect l="l" t="t" r="r" b="b"/>
            <a:pathLst>
              <a:path w="1131215" h="896961">
                <a:moveTo>
                  <a:pt x="1131215" y="89696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43834"/>
                </a:lnTo>
                <a:close/>
              </a:path>
            </a:pathLst>
          </a:custGeom>
          <a:solidFill>
            <a:srgbClr val="A8814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DBR + MLA substrate / TCTA leader"/>
          <p:cNvCxnSpPr/>
          <p:nvPr/>
        </p:nvCxnSpPr>
        <p:spPr>
          <a:xfrm>
            <a:off x="8672649" y="3758285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DBR + MLA substrate / TCTA label"/>
          <p:cNvSpPr txBox="1"/>
          <p:nvPr/>
        </p:nvSpPr>
        <p:spPr>
          <a:xfrm>
            <a:off x="9230855" y="3594133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TCTA</a:t>
            </a:r>
          </a:p>
        </p:txBody>
      </p:sp>
      <p:sp>
        <p:nvSpPr>
          <p:cNvPr id="68" name="DBR + MLA substrate / TCTA:B3PyMPM:Ir(dmppy-ph)₂tmd right"/>
          <p:cNvSpPr/>
          <p:nvPr/>
        </p:nvSpPr>
        <p:spPr>
          <a:xfrm>
            <a:off x="7489184" y="3322868"/>
            <a:ext cx="1131215" cy="966627"/>
          </a:xfrm>
          <a:custGeom>
            <a:avLst/>
            <a:gdLst/>
            <a:ahLst/>
            <a:cxnLst/>
            <a:rect l="l" t="t" r="r" b="b"/>
            <a:pathLst>
              <a:path w="1131215" h="966627">
                <a:moveTo>
                  <a:pt x="1131215" y="313500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66627"/>
                </a:lnTo>
                <a:close/>
              </a:path>
            </a:pathLst>
          </a:custGeom>
          <a:solidFill>
            <a:srgbClr val="99323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BR + MLA substrate / TCTA:B3PyMPM:Ir(dmppy-ph)₂tmd front"/>
          <p:cNvSpPr/>
          <p:nvPr/>
        </p:nvSpPr>
        <p:spPr>
          <a:xfrm>
            <a:off x="6357969" y="3322868"/>
            <a:ext cx="1131215" cy="966627"/>
          </a:xfrm>
          <a:custGeom>
            <a:avLst/>
            <a:gdLst/>
            <a:ahLst/>
            <a:cxnLst/>
            <a:rect l="l" t="t" r="r" b="b"/>
            <a:pathLst>
              <a:path w="1131215" h="966627">
                <a:moveTo>
                  <a:pt x="1131215" y="966627"/>
                </a:moveTo>
                <a:lnTo>
                  <a:pt x="1131215" y="653126"/>
                </a:lnTo>
                <a:lnTo>
                  <a:pt x="0" y="0"/>
                </a:lnTo>
                <a:lnTo>
                  <a:pt x="0" y="313500"/>
                </a:lnTo>
                <a:close/>
              </a:path>
            </a:pathLst>
          </a:custGeom>
          <a:solidFill>
            <a:srgbClr val="7D292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DBR + MLA substrate / TCTA:B3PyMPM:Ir(dmppy-ph)₂tmd leader"/>
          <p:cNvCxnSpPr/>
          <p:nvPr/>
        </p:nvCxnSpPr>
        <p:spPr>
          <a:xfrm>
            <a:off x="8672649" y="3479618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BR + MLA substrate / TCTA:B3PyMPM:Ir(dmppy-ph)₂tmd label"/>
          <p:cNvSpPr txBox="1"/>
          <p:nvPr/>
        </p:nvSpPr>
        <p:spPr>
          <a:xfrm>
            <a:off x="9230855" y="3315466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TCTA:B3PyMPM:Ir(dmppy-ph)</a:t>
            </a:r>
            <a:r>
              <a:rPr sz="994" b="0" baseline="-25000">
                <a:solidFill>
                  <a:srgbClr val="1B2026"/>
                </a:solidFill>
                <a:latin typeface="Arial"/>
              </a:rPr>
              <a:t>2</a:t>
            </a:r>
            <a:r>
              <a:rPr sz="994" b="0">
                <a:solidFill>
                  <a:srgbClr val="1B2026"/>
                </a:solidFill>
                <a:latin typeface="Arial"/>
              </a:rPr>
              <a:t>tmd</a:t>
            </a:r>
          </a:p>
        </p:txBody>
      </p:sp>
      <p:sp>
        <p:nvSpPr>
          <p:cNvPr id="72" name="DBR + MLA substrate / B3PyMPM right"/>
          <p:cNvSpPr/>
          <p:nvPr/>
        </p:nvSpPr>
        <p:spPr>
          <a:xfrm>
            <a:off x="7489184" y="303549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287376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40502"/>
                </a:lnTo>
                <a:close/>
              </a:path>
            </a:pathLst>
          </a:custGeom>
          <a:solidFill>
            <a:srgbClr val="6D84B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BR + MLA substrate / B3PyMPM front"/>
          <p:cNvSpPr/>
          <p:nvPr/>
        </p:nvSpPr>
        <p:spPr>
          <a:xfrm>
            <a:off x="6357969" y="3035492"/>
            <a:ext cx="1131215" cy="940502"/>
          </a:xfrm>
          <a:custGeom>
            <a:avLst/>
            <a:gdLst/>
            <a:ahLst/>
            <a:cxnLst/>
            <a:rect l="l" t="t" r="r" b="b"/>
            <a:pathLst>
              <a:path w="1131215" h="940502">
                <a:moveTo>
                  <a:pt x="1131215" y="940502"/>
                </a:moveTo>
                <a:lnTo>
                  <a:pt x="1131215" y="653126"/>
                </a:lnTo>
                <a:lnTo>
                  <a:pt x="0" y="0"/>
                </a:lnTo>
                <a:lnTo>
                  <a:pt x="0" y="287376"/>
                </a:lnTo>
                <a:close/>
              </a:path>
            </a:pathLst>
          </a:custGeom>
          <a:solidFill>
            <a:srgbClr val="596C9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DBR + MLA substrate / B3PyMPM leader"/>
          <p:cNvCxnSpPr/>
          <p:nvPr/>
        </p:nvCxnSpPr>
        <p:spPr>
          <a:xfrm>
            <a:off x="8672649" y="3179180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DBR + MLA substrate / B3PyMPM label"/>
          <p:cNvSpPr txBox="1"/>
          <p:nvPr/>
        </p:nvSpPr>
        <p:spPr>
          <a:xfrm>
            <a:off x="9230855" y="3015027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B3PyMPM</a:t>
            </a:r>
          </a:p>
        </p:txBody>
      </p:sp>
      <p:sp>
        <p:nvSpPr>
          <p:cNvPr id="76" name="DBR + MLA substrate / Al/Liq right"/>
          <p:cNvSpPr/>
          <p:nvPr/>
        </p:nvSpPr>
        <p:spPr>
          <a:xfrm>
            <a:off x="7489184" y="2774241"/>
            <a:ext cx="1131215" cy="914377"/>
          </a:xfrm>
          <a:custGeom>
            <a:avLst/>
            <a:gdLst/>
            <a:ahLst/>
            <a:cxnLst/>
            <a:rect l="l" t="t" r="r" b="b"/>
            <a:pathLst>
              <a:path w="1131215" h="914377">
                <a:moveTo>
                  <a:pt x="1131215" y="261251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14377"/>
                </a:lnTo>
                <a:close/>
              </a:path>
            </a:pathLst>
          </a:custGeom>
          <a:solidFill>
            <a:srgbClr val="9FA4A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BR + MLA substrate / Al/Liq front"/>
          <p:cNvSpPr/>
          <p:nvPr/>
        </p:nvSpPr>
        <p:spPr>
          <a:xfrm>
            <a:off x="6357969" y="2774241"/>
            <a:ext cx="1131215" cy="914377"/>
          </a:xfrm>
          <a:custGeom>
            <a:avLst/>
            <a:gdLst/>
            <a:ahLst/>
            <a:cxnLst/>
            <a:rect l="l" t="t" r="r" b="b"/>
            <a:pathLst>
              <a:path w="1131215" h="914377">
                <a:moveTo>
                  <a:pt x="1131215" y="914377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61251"/>
                </a:lnTo>
                <a:close/>
              </a:path>
            </a:pathLst>
          </a:custGeom>
          <a:solidFill>
            <a:srgbClr val="82868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DBR + MLA substrate / Al/Liq leader"/>
          <p:cNvCxnSpPr/>
          <p:nvPr/>
        </p:nvCxnSpPr>
        <p:spPr>
          <a:xfrm>
            <a:off x="8672649" y="2904867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DBR + MLA substrate / Al/Liq label"/>
          <p:cNvSpPr txBox="1"/>
          <p:nvPr/>
        </p:nvSpPr>
        <p:spPr>
          <a:xfrm>
            <a:off x="9230855" y="2740714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Al/Liq</a:t>
            </a:r>
          </a:p>
        </p:txBody>
      </p:sp>
      <p:sp>
        <p:nvSpPr>
          <p:cNvPr id="80" name="DBR + MLA substrate / DBR pair 1 right"/>
          <p:cNvSpPr/>
          <p:nvPr/>
        </p:nvSpPr>
        <p:spPr>
          <a:xfrm>
            <a:off x="7489184" y="2715460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1"/>
                </a:moveTo>
                <a:lnTo>
                  <a:pt x="1131215" y="0"/>
                </a:lnTo>
                <a:lnTo>
                  <a:pt x="0" y="653126"/>
                </a:lnTo>
                <a:lnTo>
                  <a:pt x="0" y="711908"/>
                </a:lnTo>
                <a:close/>
              </a:path>
            </a:pathLst>
          </a:custGeom>
          <a:solidFill>
            <a:srgbClr val="8A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BR + MLA substrate / DBR pair 1 front"/>
          <p:cNvSpPr/>
          <p:nvPr/>
        </p:nvSpPr>
        <p:spPr>
          <a:xfrm>
            <a:off x="6357969" y="2715460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6"/>
                </a:lnTo>
                <a:lnTo>
                  <a:pt x="0" y="0"/>
                </a:lnTo>
                <a:lnTo>
                  <a:pt x="0" y="58781"/>
                </a:lnTo>
                <a:close/>
              </a:path>
            </a:pathLst>
          </a:custGeom>
          <a:solidFill>
            <a:srgbClr val="701C1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BR + MLA substrate / DBR pair 1 right"/>
          <p:cNvSpPr/>
          <p:nvPr/>
        </p:nvSpPr>
        <p:spPr>
          <a:xfrm>
            <a:off x="7489184" y="2656679"/>
            <a:ext cx="1131215" cy="711907"/>
          </a:xfrm>
          <a:custGeom>
            <a:avLst/>
            <a:gdLst/>
            <a:ahLst/>
            <a:cxnLst/>
            <a:rect l="l" t="t" r="r" b="b"/>
            <a:pathLst>
              <a:path w="1131215" h="711907">
                <a:moveTo>
                  <a:pt x="1131215" y="58781"/>
                </a:moveTo>
                <a:lnTo>
                  <a:pt x="1131215" y="0"/>
                </a:lnTo>
                <a:lnTo>
                  <a:pt x="0" y="653126"/>
                </a:lnTo>
                <a:lnTo>
                  <a:pt x="0" y="711907"/>
                </a:lnTo>
                <a:close/>
              </a:path>
            </a:pathLst>
          </a:custGeom>
          <a:solidFill>
            <a:srgbClr val="25282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BR + MLA substrate / DBR pair 1 front"/>
          <p:cNvSpPr/>
          <p:nvPr/>
        </p:nvSpPr>
        <p:spPr>
          <a:xfrm>
            <a:off x="6357969" y="2656679"/>
            <a:ext cx="1131215" cy="711907"/>
          </a:xfrm>
          <a:custGeom>
            <a:avLst/>
            <a:gdLst/>
            <a:ahLst/>
            <a:cxnLst/>
            <a:rect l="l" t="t" r="r" b="b"/>
            <a:pathLst>
              <a:path w="1131215" h="711907">
                <a:moveTo>
                  <a:pt x="1131215" y="711907"/>
                </a:moveTo>
                <a:lnTo>
                  <a:pt x="1131215" y="653126"/>
                </a:lnTo>
                <a:lnTo>
                  <a:pt x="0" y="0"/>
                </a:lnTo>
                <a:lnTo>
                  <a:pt x="0" y="58781"/>
                </a:lnTo>
                <a:close/>
              </a:path>
            </a:pathLst>
          </a:custGeom>
          <a:solidFill>
            <a:srgbClr val="1E212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BR + MLA substrate / DBR pair 2 right"/>
          <p:cNvSpPr/>
          <p:nvPr/>
        </p:nvSpPr>
        <p:spPr>
          <a:xfrm>
            <a:off x="7489184" y="2597897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2"/>
                </a:moveTo>
                <a:lnTo>
                  <a:pt x="1131215" y="0"/>
                </a:lnTo>
                <a:lnTo>
                  <a:pt x="0" y="653127"/>
                </a:lnTo>
                <a:lnTo>
                  <a:pt x="0" y="711908"/>
                </a:lnTo>
                <a:close/>
              </a:path>
            </a:pathLst>
          </a:custGeom>
          <a:solidFill>
            <a:srgbClr val="8A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BR + MLA substrate / DBR pair 2 front"/>
          <p:cNvSpPr/>
          <p:nvPr/>
        </p:nvSpPr>
        <p:spPr>
          <a:xfrm>
            <a:off x="6357969" y="2597897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7"/>
                </a:lnTo>
                <a:lnTo>
                  <a:pt x="0" y="0"/>
                </a:lnTo>
                <a:lnTo>
                  <a:pt x="0" y="58782"/>
                </a:lnTo>
                <a:close/>
              </a:path>
            </a:pathLst>
          </a:custGeom>
          <a:solidFill>
            <a:srgbClr val="701C1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BR + MLA substrate / DBR pair 2 right"/>
          <p:cNvSpPr/>
          <p:nvPr/>
        </p:nvSpPr>
        <p:spPr>
          <a:xfrm>
            <a:off x="7489184" y="2539116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1"/>
                </a:moveTo>
                <a:lnTo>
                  <a:pt x="1131215" y="0"/>
                </a:lnTo>
                <a:lnTo>
                  <a:pt x="0" y="653126"/>
                </a:lnTo>
                <a:lnTo>
                  <a:pt x="0" y="711908"/>
                </a:lnTo>
                <a:close/>
              </a:path>
            </a:pathLst>
          </a:custGeom>
          <a:solidFill>
            <a:srgbClr val="25282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BR + MLA substrate / DBR pair 2 front"/>
          <p:cNvSpPr/>
          <p:nvPr/>
        </p:nvSpPr>
        <p:spPr>
          <a:xfrm>
            <a:off x="6357969" y="2539116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6"/>
                </a:lnTo>
                <a:lnTo>
                  <a:pt x="0" y="0"/>
                </a:lnTo>
                <a:lnTo>
                  <a:pt x="0" y="58781"/>
                </a:lnTo>
                <a:close/>
              </a:path>
            </a:pathLst>
          </a:custGeom>
          <a:solidFill>
            <a:srgbClr val="1E212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BR + MLA substrate / DBR pair 3 right"/>
          <p:cNvSpPr/>
          <p:nvPr/>
        </p:nvSpPr>
        <p:spPr>
          <a:xfrm>
            <a:off x="7489184" y="2480334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2"/>
                </a:moveTo>
                <a:lnTo>
                  <a:pt x="1131215" y="0"/>
                </a:lnTo>
                <a:lnTo>
                  <a:pt x="0" y="653127"/>
                </a:lnTo>
                <a:lnTo>
                  <a:pt x="0" y="711908"/>
                </a:lnTo>
                <a:close/>
              </a:path>
            </a:pathLst>
          </a:custGeom>
          <a:solidFill>
            <a:srgbClr val="8A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BR + MLA substrate / DBR pair 3 front"/>
          <p:cNvSpPr/>
          <p:nvPr/>
        </p:nvSpPr>
        <p:spPr>
          <a:xfrm>
            <a:off x="6357969" y="2480334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7"/>
                </a:lnTo>
                <a:lnTo>
                  <a:pt x="0" y="0"/>
                </a:lnTo>
                <a:lnTo>
                  <a:pt x="0" y="58782"/>
                </a:lnTo>
                <a:close/>
              </a:path>
            </a:pathLst>
          </a:custGeom>
          <a:solidFill>
            <a:srgbClr val="701C1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BR + MLA substrate / DBR pair 3 right"/>
          <p:cNvSpPr/>
          <p:nvPr/>
        </p:nvSpPr>
        <p:spPr>
          <a:xfrm>
            <a:off x="7489184" y="2421553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1"/>
                </a:moveTo>
                <a:lnTo>
                  <a:pt x="1131215" y="0"/>
                </a:lnTo>
                <a:lnTo>
                  <a:pt x="0" y="653127"/>
                </a:lnTo>
                <a:lnTo>
                  <a:pt x="0" y="711908"/>
                </a:lnTo>
                <a:close/>
              </a:path>
            </a:pathLst>
          </a:custGeom>
          <a:solidFill>
            <a:srgbClr val="25282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BR + MLA substrate / DBR pair 3 front"/>
          <p:cNvSpPr/>
          <p:nvPr/>
        </p:nvSpPr>
        <p:spPr>
          <a:xfrm>
            <a:off x="6357969" y="2421553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7"/>
                </a:lnTo>
                <a:lnTo>
                  <a:pt x="0" y="0"/>
                </a:lnTo>
                <a:lnTo>
                  <a:pt x="0" y="58781"/>
                </a:lnTo>
                <a:close/>
              </a:path>
            </a:pathLst>
          </a:custGeom>
          <a:solidFill>
            <a:srgbClr val="1E212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BR + MLA substrate / DBR pair 4 right"/>
          <p:cNvSpPr/>
          <p:nvPr/>
        </p:nvSpPr>
        <p:spPr>
          <a:xfrm>
            <a:off x="7489184" y="2362772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1"/>
                </a:moveTo>
                <a:lnTo>
                  <a:pt x="1131215" y="0"/>
                </a:lnTo>
                <a:lnTo>
                  <a:pt x="0" y="653126"/>
                </a:lnTo>
                <a:lnTo>
                  <a:pt x="0" y="711908"/>
                </a:lnTo>
                <a:close/>
              </a:path>
            </a:pathLst>
          </a:custGeom>
          <a:solidFill>
            <a:srgbClr val="8A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BR + MLA substrate / DBR pair 4 front"/>
          <p:cNvSpPr/>
          <p:nvPr/>
        </p:nvSpPr>
        <p:spPr>
          <a:xfrm>
            <a:off x="6357969" y="2362772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6"/>
                </a:lnTo>
                <a:lnTo>
                  <a:pt x="0" y="0"/>
                </a:lnTo>
                <a:lnTo>
                  <a:pt x="0" y="58781"/>
                </a:lnTo>
                <a:close/>
              </a:path>
            </a:pathLst>
          </a:custGeom>
          <a:solidFill>
            <a:srgbClr val="701C1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BR + MLA substrate / DBR pair 4 top"/>
          <p:cNvSpPr/>
          <p:nvPr/>
        </p:nvSpPr>
        <p:spPr>
          <a:xfrm>
            <a:off x="6357969" y="1650864"/>
            <a:ext cx="2262430" cy="1306253"/>
          </a:xfrm>
          <a:custGeom>
            <a:avLst/>
            <a:gdLst/>
            <a:ahLst/>
            <a:cxnLst/>
            <a:rect l="l" t="t" r="r" b="b"/>
            <a:pathLst>
              <a:path w="2262430" h="1306253">
                <a:moveTo>
                  <a:pt x="1131215" y="0"/>
                </a:moveTo>
                <a:lnTo>
                  <a:pt x="2262430" y="653126"/>
                </a:lnTo>
                <a:lnTo>
                  <a:pt x="1131215" y="1306253"/>
                </a:lnTo>
                <a:lnTo>
                  <a:pt x="0" y="653126"/>
                </a:lnTo>
                <a:close/>
              </a:path>
            </a:pathLst>
          </a:custGeom>
          <a:solidFill>
            <a:srgbClr val="2B2F3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BR + MLA substrate / DBR pair 4 right"/>
          <p:cNvSpPr/>
          <p:nvPr/>
        </p:nvSpPr>
        <p:spPr>
          <a:xfrm>
            <a:off x="7489184" y="2303990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58782"/>
                </a:moveTo>
                <a:lnTo>
                  <a:pt x="1131215" y="0"/>
                </a:lnTo>
                <a:lnTo>
                  <a:pt x="0" y="653127"/>
                </a:lnTo>
                <a:lnTo>
                  <a:pt x="0" y="711908"/>
                </a:lnTo>
                <a:close/>
              </a:path>
            </a:pathLst>
          </a:custGeom>
          <a:solidFill>
            <a:srgbClr val="25282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BR + MLA substrate / DBR pair 4 front"/>
          <p:cNvSpPr/>
          <p:nvPr/>
        </p:nvSpPr>
        <p:spPr>
          <a:xfrm>
            <a:off x="6357969" y="2303990"/>
            <a:ext cx="1131215" cy="711908"/>
          </a:xfrm>
          <a:custGeom>
            <a:avLst/>
            <a:gdLst/>
            <a:ahLst/>
            <a:cxnLst/>
            <a:rect l="l" t="t" r="r" b="b"/>
            <a:pathLst>
              <a:path w="1131215" h="711908">
                <a:moveTo>
                  <a:pt x="1131215" y="711908"/>
                </a:moveTo>
                <a:lnTo>
                  <a:pt x="1131215" y="653127"/>
                </a:lnTo>
                <a:lnTo>
                  <a:pt x="0" y="0"/>
                </a:lnTo>
                <a:lnTo>
                  <a:pt x="0" y="58782"/>
                </a:lnTo>
                <a:close/>
              </a:path>
            </a:pathLst>
          </a:custGeom>
          <a:solidFill>
            <a:srgbClr val="1E212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DBR + MLA substrate / DBR leader"/>
          <p:cNvCxnSpPr/>
          <p:nvPr/>
        </p:nvCxnSpPr>
        <p:spPr>
          <a:xfrm>
            <a:off x="8672649" y="2539116"/>
            <a:ext cx="488539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DBR + MLA substrate / DBR label"/>
          <p:cNvSpPr txBox="1"/>
          <p:nvPr/>
        </p:nvSpPr>
        <p:spPr>
          <a:xfrm>
            <a:off x="9230855" y="2374963"/>
            <a:ext cx="2873757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DBR</a:t>
            </a:r>
          </a:p>
        </p:txBody>
      </p:sp>
      <p:sp>
        <p:nvSpPr>
          <p:cNvPr id="99" name="DBR + MLA substrate title"/>
          <p:cNvSpPr txBox="1"/>
          <p:nvPr/>
        </p:nvSpPr>
        <p:spPr>
          <a:xfrm>
            <a:off x="5225012" y="207890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DBR + MLA substrate</a:t>
            </a:r>
          </a:p>
        </p:txBody>
      </p:sp>
      <p:cxnSp>
        <p:nvCxnSpPr>
          <p:cNvPr id="100" name="bottom emission"/>
          <p:cNvCxnSpPr/>
          <p:nvPr/>
        </p:nvCxnSpPr>
        <p:spPr>
          <a:xfrm flipH="1">
            <a:off x="6531614" y="5355180"/>
            <a:ext cx="505084" cy="374459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bottom emission"/>
          <p:cNvCxnSpPr/>
          <p:nvPr/>
        </p:nvCxnSpPr>
        <p:spPr>
          <a:xfrm>
            <a:off x="7489184" y="5616430"/>
            <a:ext cx="0" cy="566043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bottom emission"/>
          <p:cNvCxnSpPr/>
          <p:nvPr/>
        </p:nvCxnSpPr>
        <p:spPr>
          <a:xfrm>
            <a:off x="7941670" y="5355180"/>
            <a:ext cx="505085" cy="374459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emission label"/>
          <p:cNvSpPr txBox="1"/>
          <p:nvPr/>
        </p:nvSpPr>
        <p:spPr>
          <a:xfrm>
            <a:off x="6182931" y="6285667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