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nventional render" descr="emitting_area_render_conven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7" y="320040"/>
            <a:ext cx="6217920" cy="6217920"/>
          </a:xfrm>
          <a:prstGeom prst="rect">
            <a:avLst/>
          </a:prstGeom>
        </p:spPr>
      </p:pic>
      <p:sp>
        <p:nvSpPr>
          <p:cNvPr id="3" name="Conventional / Conventional metal electrode"/>
          <p:cNvSpPr txBox="1"/>
          <p:nvPr/>
        </p:nvSpPr>
        <p:spPr>
          <a:xfrm>
            <a:off x="3695568" y="4942532"/>
            <a:ext cx="3855110" cy="3802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60">
                <a:solidFill>
                  <a:srgbClr val="F2F5F8"/>
                </a:solidFill>
                <a:latin typeface="Arial"/>
              </a:rPr>
              <a:t>Conventional metal electrode</a:t>
            </a:r>
          </a:p>
        </p:txBody>
      </p:sp>
      <p:sp>
        <p:nvSpPr>
          <p:cNvPr id="4" name="Conventional / Organic layer"/>
          <p:cNvSpPr txBox="1"/>
          <p:nvPr/>
        </p:nvSpPr>
        <p:spPr>
          <a:xfrm>
            <a:off x="3684096" y="4552882"/>
            <a:ext cx="3855110" cy="38387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73">
                <a:solidFill>
                  <a:srgbClr val="1B2026"/>
                </a:solidFill>
                <a:latin typeface="Arial"/>
              </a:rPr>
              <a:t>Organic layer</a:t>
            </a:r>
          </a:p>
        </p:txBody>
      </p:sp>
      <p:sp>
        <p:nvSpPr>
          <p:cNvPr id="5" name="Conventional / Transparent conductive oxide (TCO)"/>
          <p:cNvSpPr txBox="1"/>
          <p:nvPr/>
        </p:nvSpPr>
        <p:spPr>
          <a:xfrm>
            <a:off x="3673003" y="4176301"/>
            <a:ext cx="3855110" cy="3874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86">
                <a:solidFill>
                  <a:srgbClr val="1B2026"/>
                </a:solidFill>
                <a:latin typeface="Arial"/>
              </a:rPr>
              <a:t>Transparent conductive oxide (TCO)</a:t>
            </a:r>
          </a:p>
        </p:txBody>
      </p:sp>
      <p:sp>
        <p:nvSpPr>
          <p:cNvPr id="6" name="Conventional / Glass"/>
          <p:cNvSpPr txBox="1"/>
          <p:nvPr/>
        </p:nvSpPr>
        <p:spPr>
          <a:xfrm>
            <a:off x="3662557" y="3821684"/>
            <a:ext cx="3855110" cy="3907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98">
                <a:solidFill>
                  <a:srgbClr val="1B2026"/>
                </a:solidFill>
                <a:latin typeface="Arial"/>
              </a:rPr>
              <a:t>Glass</a:t>
            </a:r>
          </a:p>
        </p:txBody>
      </p:sp>
      <p:sp>
        <p:nvSpPr>
          <p:cNvPr id="7" name="Conventional / Outcoupling structure"/>
          <p:cNvSpPr txBox="1"/>
          <p:nvPr/>
        </p:nvSpPr>
        <p:spPr>
          <a:xfrm>
            <a:off x="3652024" y="3463973"/>
            <a:ext cx="3855110" cy="39415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10">
                <a:solidFill>
                  <a:srgbClr val="1B2026"/>
                </a:solidFill>
                <a:latin typeface="Arial"/>
              </a:rPr>
              <a:t>Outcoupling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ign rule render" descr="emitting_area_render_design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7" y="320040"/>
            <a:ext cx="6217920" cy="6217920"/>
          </a:xfrm>
          <a:prstGeom prst="rect">
            <a:avLst/>
          </a:prstGeom>
        </p:spPr>
      </p:pic>
      <p:sp>
        <p:nvSpPr>
          <p:cNvPr id="3" name="Design rule / Low loss metal electrode"/>
          <p:cNvSpPr txBox="1"/>
          <p:nvPr/>
        </p:nvSpPr>
        <p:spPr>
          <a:xfrm>
            <a:off x="3695568" y="4942532"/>
            <a:ext cx="3855110" cy="3802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60">
                <a:solidFill>
                  <a:srgbClr val="1B2026"/>
                </a:solidFill>
                <a:latin typeface="Arial"/>
              </a:rPr>
              <a:t>Low loss metal electrode</a:t>
            </a:r>
          </a:p>
        </p:txBody>
      </p:sp>
      <p:sp>
        <p:nvSpPr>
          <p:cNvPr id="4" name="Design rule / Organic layer"/>
          <p:cNvSpPr txBox="1"/>
          <p:nvPr/>
        </p:nvSpPr>
        <p:spPr>
          <a:xfrm>
            <a:off x="3684096" y="4552882"/>
            <a:ext cx="3855110" cy="38387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73">
                <a:solidFill>
                  <a:srgbClr val="1B2026"/>
                </a:solidFill>
                <a:latin typeface="Arial"/>
              </a:rPr>
              <a:t>Organic layer</a:t>
            </a:r>
          </a:p>
        </p:txBody>
      </p:sp>
      <p:sp>
        <p:nvSpPr>
          <p:cNvPr id="5" name="Design rule / Low loss TCO"/>
          <p:cNvSpPr txBox="1"/>
          <p:nvPr/>
        </p:nvSpPr>
        <p:spPr>
          <a:xfrm>
            <a:off x="3673003" y="4176301"/>
            <a:ext cx="3855110" cy="3874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86">
                <a:solidFill>
                  <a:srgbClr val="1B2026"/>
                </a:solidFill>
                <a:latin typeface="Arial"/>
              </a:rPr>
              <a:t>Low loss TCO</a:t>
            </a:r>
          </a:p>
        </p:txBody>
      </p:sp>
      <p:sp>
        <p:nvSpPr>
          <p:cNvPr id="6" name="Design rule / Glass"/>
          <p:cNvSpPr txBox="1"/>
          <p:nvPr/>
        </p:nvSpPr>
        <p:spPr>
          <a:xfrm>
            <a:off x="3662557" y="3821684"/>
            <a:ext cx="3855110" cy="3907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98">
                <a:solidFill>
                  <a:srgbClr val="1B2026"/>
                </a:solidFill>
                <a:latin typeface="Arial"/>
              </a:rPr>
              <a:t>Glass</a:t>
            </a:r>
          </a:p>
        </p:txBody>
      </p:sp>
      <p:sp>
        <p:nvSpPr>
          <p:cNvPr id="7" name="Design rule / Outcoupling structure"/>
          <p:cNvSpPr txBox="1"/>
          <p:nvPr/>
        </p:nvSpPr>
        <p:spPr>
          <a:xfrm>
            <a:off x="3652024" y="3463973"/>
            <a:ext cx="3855110" cy="39415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10">
                <a:solidFill>
                  <a:srgbClr val="1B2026"/>
                </a:solidFill>
                <a:latin typeface="Arial"/>
              </a:rPr>
              <a:t>Outcoupling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