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ottom-emitting OLED / Glass (n = 1.77) front"/>
          <p:cNvSpPr/>
          <p:nvPr/>
        </p:nvSpPr>
        <p:spPr>
          <a:xfrm>
            <a:off x="4267093" y="3955856"/>
            <a:ext cx="3657509" cy="400584"/>
          </a:xfrm>
          <a:custGeom>
            <a:avLst/>
            <a:gdLst/>
            <a:ahLst/>
            <a:cxnLst/>
            <a:rect l="l" t="t" r="r" b="b"/>
            <a:pathLst>
              <a:path w="3657509" h="400584">
                <a:moveTo>
                  <a:pt x="0" y="0"/>
                </a:moveTo>
                <a:lnTo>
                  <a:pt x="3657509" y="0"/>
                </a:lnTo>
                <a:lnTo>
                  <a:pt x="3657509" y="400584"/>
                </a:lnTo>
                <a:lnTo>
                  <a:pt x="0" y="400584"/>
                </a:lnTo>
                <a:close/>
              </a:path>
            </a:pathLst>
          </a:custGeom>
          <a:solidFill>
            <a:srgbClr val="CFE4F5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Bottom-emitting OLED / Glass (n = 1.77) side"/>
          <p:cNvSpPr/>
          <p:nvPr/>
        </p:nvSpPr>
        <p:spPr>
          <a:xfrm>
            <a:off x="7924602" y="3781689"/>
            <a:ext cx="278667" cy="574751"/>
          </a:xfrm>
          <a:custGeom>
            <a:avLst/>
            <a:gdLst/>
            <a:ahLst/>
            <a:cxnLst/>
            <a:rect l="l" t="t" r="r" b="b"/>
            <a:pathLst>
              <a:path w="278667" h="574751">
                <a:moveTo>
                  <a:pt x="0" y="574751"/>
                </a:moveTo>
                <a:lnTo>
                  <a:pt x="278667" y="400584"/>
                </a:lnTo>
                <a:lnTo>
                  <a:pt x="278667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A1B2BF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Bottom-emitting OLED / Glass (n = 1.77) label"/>
          <p:cNvSpPr txBox="1"/>
          <p:nvPr/>
        </p:nvSpPr>
        <p:spPr>
          <a:xfrm>
            <a:off x="4336760" y="3991996"/>
            <a:ext cx="3518175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94" b="0">
                <a:solidFill>
                  <a:srgbClr val="1B2026"/>
                </a:solidFill>
                <a:latin typeface="Arial"/>
              </a:rPr>
              <a:t>Glass (n = 1.77)</a:t>
            </a:r>
          </a:p>
        </p:txBody>
      </p:sp>
      <p:sp>
        <p:nvSpPr>
          <p:cNvPr id="5" name="Bottom-emitting OLED / Transparent electrode front"/>
          <p:cNvSpPr/>
          <p:nvPr/>
        </p:nvSpPr>
        <p:spPr>
          <a:xfrm>
            <a:off x="4267093" y="3520438"/>
            <a:ext cx="3657509" cy="435418"/>
          </a:xfrm>
          <a:custGeom>
            <a:avLst/>
            <a:gdLst/>
            <a:ahLst/>
            <a:cxnLst/>
            <a:rect l="l" t="t" r="r" b="b"/>
            <a:pathLst>
              <a:path w="3657509" h="435418">
                <a:moveTo>
                  <a:pt x="0" y="0"/>
                </a:moveTo>
                <a:lnTo>
                  <a:pt x="3657509" y="0"/>
                </a:lnTo>
                <a:lnTo>
                  <a:pt x="3657509" y="435418"/>
                </a:lnTo>
                <a:lnTo>
                  <a:pt x="0" y="435418"/>
                </a:lnTo>
                <a:close/>
              </a:path>
            </a:pathLst>
          </a:custGeom>
          <a:solidFill>
            <a:srgbClr val="7FD3E8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ottom-emitting OLED / Transparent electrode side"/>
          <p:cNvSpPr/>
          <p:nvPr/>
        </p:nvSpPr>
        <p:spPr>
          <a:xfrm>
            <a:off x="7924602" y="3346271"/>
            <a:ext cx="278667" cy="609585"/>
          </a:xfrm>
          <a:custGeom>
            <a:avLst/>
            <a:gdLst/>
            <a:ahLst/>
            <a:cxnLst/>
            <a:rect l="l" t="t" r="r" b="b"/>
            <a:pathLst>
              <a:path w="278667" h="609585">
                <a:moveTo>
                  <a:pt x="0" y="609585"/>
                </a:moveTo>
                <a:lnTo>
                  <a:pt x="278667" y="435418"/>
                </a:lnTo>
                <a:lnTo>
                  <a:pt x="278667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63A5B5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ottom-emitting OLED / Transparent electrode label"/>
          <p:cNvSpPr txBox="1"/>
          <p:nvPr/>
        </p:nvSpPr>
        <p:spPr>
          <a:xfrm>
            <a:off x="4336760" y="3478203"/>
            <a:ext cx="3518175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94" b="0">
                <a:solidFill>
                  <a:srgbClr val="1B2026"/>
                </a:solidFill>
                <a:latin typeface="Arial"/>
              </a:rPr>
              <a:t>Transparent electrode</a:t>
            </a:r>
          </a:p>
        </p:txBody>
      </p:sp>
      <p:sp>
        <p:nvSpPr>
          <p:cNvPr id="8" name="Bottom-emitting OLED / Transparent electrode label note"/>
          <p:cNvSpPr txBox="1"/>
          <p:nvPr/>
        </p:nvSpPr>
        <p:spPr>
          <a:xfrm>
            <a:off x="4336760" y="3703749"/>
            <a:ext cx="3518175" cy="2603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788" b="0">
                <a:solidFill>
                  <a:srgbClr val="D62828"/>
                </a:solidFill>
                <a:latin typeface="Arial"/>
              </a:rPr>
              <a:t>ITO 50 nm   or   Ag 10 nm</a:t>
            </a:r>
          </a:p>
        </p:txBody>
      </p:sp>
      <p:sp>
        <p:nvSpPr>
          <p:cNvPr id="9" name="Bottom-emitting OLED / HTL (200 nm) front"/>
          <p:cNvSpPr/>
          <p:nvPr/>
        </p:nvSpPr>
        <p:spPr>
          <a:xfrm>
            <a:off x="4267093" y="3172104"/>
            <a:ext cx="3657509" cy="348334"/>
          </a:xfrm>
          <a:custGeom>
            <a:avLst/>
            <a:gdLst/>
            <a:ahLst/>
            <a:cxnLst/>
            <a:rect l="l" t="t" r="r" b="b"/>
            <a:pathLst>
              <a:path w="3657509" h="348334">
                <a:moveTo>
                  <a:pt x="0" y="0"/>
                </a:moveTo>
                <a:lnTo>
                  <a:pt x="3657509" y="0"/>
                </a:lnTo>
                <a:lnTo>
                  <a:pt x="3657509" y="348334"/>
                </a:lnTo>
                <a:lnTo>
                  <a:pt x="0" y="348334"/>
                </a:lnTo>
                <a:close/>
              </a:path>
            </a:pathLst>
          </a:custGeom>
          <a:solidFill>
            <a:srgbClr val="F0B860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ottom-emitting OLED / HTL (200 nm) side"/>
          <p:cNvSpPr/>
          <p:nvPr/>
        </p:nvSpPr>
        <p:spPr>
          <a:xfrm>
            <a:off x="7924602" y="2997937"/>
            <a:ext cx="278667" cy="522501"/>
          </a:xfrm>
          <a:custGeom>
            <a:avLst/>
            <a:gdLst/>
            <a:ahLst/>
            <a:cxnLst/>
            <a:rect l="l" t="t" r="r" b="b"/>
            <a:pathLst>
              <a:path w="278667" h="522501">
                <a:moveTo>
                  <a:pt x="0" y="522501"/>
                </a:moveTo>
                <a:lnTo>
                  <a:pt x="278667" y="348334"/>
                </a:lnTo>
                <a:lnTo>
                  <a:pt x="278667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BB904B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Bottom-emitting OLED / HTL (200 nm) label"/>
          <p:cNvSpPr txBox="1"/>
          <p:nvPr/>
        </p:nvSpPr>
        <p:spPr>
          <a:xfrm>
            <a:off x="4336760" y="3182119"/>
            <a:ext cx="3518175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94" b="0">
                <a:solidFill>
                  <a:srgbClr val="1B2026"/>
                </a:solidFill>
                <a:latin typeface="Arial"/>
              </a:rPr>
              <a:t>HTL (200 nm)</a:t>
            </a:r>
          </a:p>
        </p:txBody>
      </p:sp>
      <p:sp>
        <p:nvSpPr>
          <p:cNvPr id="12" name="Bottom-emitting OLED / EML (20 nm) front"/>
          <p:cNvSpPr/>
          <p:nvPr/>
        </p:nvSpPr>
        <p:spPr>
          <a:xfrm>
            <a:off x="4267093" y="2893437"/>
            <a:ext cx="3657509" cy="278667"/>
          </a:xfrm>
          <a:custGeom>
            <a:avLst/>
            <a:gdLst/>
            <a:ahLst/>
            <a:cxnLst/>
            <a:rect l="l" t="t" r="r" b="b"/>
            <a:pathLst>
              <a:path w="3657509" h="278667">
                <a:moveTo>
                  <a:pt x="0" y="0"/>
                </a:moveTo>
                <a:lnTo>
                  <a:pt x="3657509" y="0"/>
                </a:lnTo>
                <a:lnTo>
                  <a:pt x="3657509" y="278667"/>
                </a:lnTo>
                <a:lnTo>
                  <a:pt x="0" y="278667"/>
                </a:lnTo>
                <a:close/>
              </a:path>
            </a:pathLst>
          </a:custGeom>
          <a:solidFill>
            <a:srgbClr val="B23A3A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Bottom-emitting OLED / EML (20 nm) side"/>
          <p:cNvSpPr/>
          <p:nvPr/>
        </p:nvSpPr>
        <p:spPr>
          <a:xfrm>
            <a:off x="7924602" y="2719270"/>
            <a:ext cx="278667" cy="452834"/>
          </a:xfrm>
          <a:custGeom>
            <a:avLst/>
            <a:gdLst/>
            <a:ahLst/>
            <a:cxnLst/>
            <a:rect l="l" t="t" r="r" b="b"/>
            <a:pathLst>
              <a:path w="278667" h="452834">
                <a:moveTo>
                  <a:pt x="0" y="452834"/>
                </a:moveTo>
                <a:lnTo>
                  <a:pt x="278667" y="278667"/>
                </a:lnTo>
                <a:lnTo>
                  <a:pt x="278667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8B2D2D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Bottom-emitting OLED / EML (20 nm) label"/>
          <p:cNvSpPr txBox="1"/>
          <p:nvPr/>
        </p:nvSpPr>
        <p:spPr>
          <a:xfrm>
            <a:off x="4336760" y="2868618"/>
            <a:ext cx="3518175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94" b="0">
                <a:solidFill>
                  <a:srgbClr val="F2F5F8"/>
                </a:solidFill>
                <a:latin typeface="Arial"/>
              </a:rPr>
              <a:t>EML (20 nm)</a:t>
            </a:r>
          </a:p>
        </p:txBody>
      </p:sp>
      <p:sp>
        <p:nvSpPr>
          <p:cNvPr id="15" name="Bottom-emitting OLED / ETL (200 nm) front"/>
          <p:cNvSpPr/>
          <p:nvPr/>
        </p:nvSpPr>
        <p:spPr>
          <a:xfrm>
            <a:off x="4267093" y="2545103"/>
            <a:ext cx="3657509" cy="348334"/>
          </a:xfrm>
          <a:custGeom>
            <a:avLst/>
            <a:gdLst/>
            <a:ahLst/>
            <a:cxnLst/>
            <a:rect l="l" t="t" r="r" b="b"/>
            <a:pathLst>
              <a:path w="3657509" h="348334">
                <a:moveTo>
                  <a:pt x="0" y="0"/>
                </a:moveTo>
                <a:lnTo>
                  <a:pt x="3657509" y="0"/>
                </a:lnTo>
                <a:lnTo>
                  <a:pt x="3657509" y="348334"/>
                </a:lnTo>
                <a:lnTo>
                  <a:pt x="0" y="348334"/>
                </a:lnTo>
                <a:close/>
              </a:path>
            </a:pathLst>
          </a:custGeom>
          <a:solidFill>
            <a:srgbClr val="7F9ADA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Bottom-emitting OLED / ETL (200 nm) side"/>
          <p:cNvSpPr/>
          <p:nvPr/>
        </p:nvSpPr>
        <p:spPr>
          <a:xfrm>
            <a:off x="7924602" y="2370936"/>
            <a:ext cx="278667" cy="522501"/>
          </a:xfrm>
          <a:custGeom>
            <a:avLst/>
            <a:gdLst/>
            <a:ahLst/>
            <a:cxnLst/>
            <a:rect l="l" t="t" r="r" b="b"/>
            <a:pathLst>
              <a:path w="278667" h="522501">
                <a:moveTo>
                  <a:pt x="0" y="522501"/>
                </a:moveTo>
                <a:lnTo>
                  <a:pt x="278667" y="348334"/>
                </a:lnTo>
                <a:lnTo>
                  <a:pt x="278667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6378AA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Bottom-emitting OLED / ETL (200 nm) label"/>
          <p:cNvSpPr txBox="1"/>
          <p:nvPr/>
        </p:nvSpPr>
        <p:spPr>
          <a:xfrm>
            <a:off x="4336760" y="2555117"/>
            <a:ext cx="3518175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94" b="0">
                <a:solidFill>
                  <a:srgbClr val="1B2026"/>
                </a:solidFill>
                <a:latin typeface="Arial"/>
              </a:rPr>
              <a:t>ETL (200 nm)</a:t>
            </a:r>
          </a:p>
        </p:txBody>
      </p:sp>
      <p:sp>
        <p:nvSpPr>
          <p:cNvPr id="18" name="Bottom-emitting OLED / Ag (100 nm) front"/>
          <p:cNvSpPr/>
          <p:nvPr/>
        </p:nvSpPr>
        <p:spPr>
          <a:xfrm>
            <a:off x="4267093" y="2266435"/>
            <a:ext cx="3657509" cy="278668"/>
          </a:xfrm>
          <a:custGeom>
            <a:avLst/>
            <a:gdLst/>
            <a:ahLst/>
            <a:cxnLst/>
            <a:rect l="l" t="t" r="r" b="b"/>
            <a:pathLst>
              <a:path w="3657509" h="278668">
                <a:moveTo>
                  <a:pt x="0" y="0"/>
                </a:moveTo>
                <a:lnTo>
                  <a:pt x="3657509" y="0"/>
                </a:lnTo>
                <a:lnTo>
                  <a:pt x="3657509" y="278668"/>
                </a:lnTo>
                <a:lnTo>
                  <a:pt x="0" y="278668"/>
                </a:lnTo>
                <a:close/>
              </a:path>
            </a:pathLst>
          </a:custGeom>
          <a:solidFill>
            <a:srgbClr val="C9CED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Bottom-emitting OLED / Ag (100 nm) side"/>
          <p:cNvSpPr/>
          <p:nvPr/>
        </p:nvSpPr>
        <p:spPr>
          <a:xfrm>
            <a:off x="7924602" y="2092268"/>
            <a:ext cx="278667" cy="452835"/>
          </a:xfrm>
          <a:custGeom>
            <a:avLst/>
            <a:gdLst/>
            <a:ahLst/>
            <a:cxnLst/>
            <a:rect l="l" t="t" r="r" b="b"/>
            <a:pathLst>
              <a:path w="278667" h="452835">
                <a:moveTo>
                  <a:pt x="0" y="452835"/>
                </a:moveTo>
                <a:lnTo>
                  <a:pt x="278667" y="278668"/>
                </a:lnTo>
                <a:lnTo>
                  <a:pt x="278667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9DA1A5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Bottom-emitting OLED / Ag (100 nm) top"/>
          <p:cNvSpPr/>
          <p:nvPr/>
        </p:nvSpPr>
        <p:spPr>
          <a:xfrm>
            <a:off x="4267093" y="2092268"/>
            <a:ext cx="3936176" cy="174167"/>
          </a:xfrm>
          <a:custGeom>
            <a:avLst/>
            <a:gdLst/>
            <a:ahLst/>
            <a:cxnLst/>
            <a:rect l="l" t="t" r="r" b="b"/>
            <a:pathLst>
              <a:path w="3936176" h="174167">
                <a:moveTo>
                  <a:pt x="0" y="174167"/>
                </a:moveTo>
                <a:lnTo>
                  <a:pt x="3657509" y="174167"/>
                </a:lnTo>
                <a:lnTo>
                  <a:pt x="3936176" y="0"/>
                </a:lnTo>
                <a:lnTo>
                  <a:pt x="278668" y="0"/>
                </a:lnTo>
                <a:close/>
              </a:path>
            </a:pathLst>
          </a:custGeom>
          <a:solidFill>
            <a:srgbClr val="DDE3E8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Bottom-emitting OLED / Ag (100 nm) label"/>
          <p:cNvSpPr txBox="1"/>
          <p:nvPr/>
        </p:nvSpPr>
        <p:spPr>
          <a:xfrm>
            <a:off x="4336760" y="2241617"/>
            <a:ext cx="3518175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94" b="0">
                <a:solidFill>
                  <a:srgbClr val="1B2026"/>
                </a:solidFill>
                <a:latin typeface="Arial"/>
              </a:rPr>
              <a:t>Ag (100 nm)</a:t>
            </a:r>
          </a:p>
        </p:txBody>
      </p:sp>
      <p:sp>
        <p:nvSpPr>
          <p:cNvPr id="22" name="Bottom-emitting OLED title"/>
          <p:cNvSpPr txBox="1"/>
          <p:nvPr/>
        </p:nvSpPr>
        <p:spPr>
          <a:xfrm>
            <a:off x="3971009" y="1337254"/>
            <a:ext cx="4528344" cy="43019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302" b="1">
                <a:solidFill>
                  <a:srgbClr val="1B2026"/>
                </a:solidFill>
                <a:latin typeface="Arial"/>
              </a:rPr>
              <a:t>Bottom-emitting OLED</a:t>
            </a:r>
          </a:p>
        </p:txBody>
      </p:sp>
      <p:cxnSp>
        <p:nvCxnSpPr>
          <p:cNvPr id="23" name="bottom emission"/>
          <p:cNvCxnSpPr/>
          <p:nvPr/>
        </p:nvCxnSpPr>
        <p:spPr>
          <a:xfrm flipH="1">
            <a:off x="5346929" y="4391274"/>
            <a:ext cx="494286" cy="505084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bottom emission"/>
          <p:cNvCxnSpPr/>
          <p:nvPr/>
        </p:nvCxnSpPr>
        <p:spPr>
          <a:xfrm>
            <a:off x="6095848" y="4391274"/>
            <a:ext cx="0" cy="644418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bottom emission"/>
          <p:cNvCxnSpPr/>
          <p:nvPr/>
        </p:nvCxnSpPr>
        <p:spPr>
          <a:xfrm>
            <a:off x="6350480" y="4391274"/>
            <a:ext cx="494286" cy="505084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emission label"/>
          <p:cNvSpPr txBox="1"/>
          <p:nvPr/>
        </p:nvSpPr>
        <p:spPr>
          <a:xfrm>
            <a:off x="4789594" y="5156303"/>
            <a:ext cx="2612506" cy="350947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62" b="0">
                <a:solidFill>
                  <a:srgbClr val="2E9E4F"/>
                </a:solidFill>
                <a:latin typeface="Arial"/>
              </a:rPr>
              <a:t>Bottom emission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