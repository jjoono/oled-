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ttom-emitting OLED / Glass (n = 1.77) left"/>
          <p:cNvSpPr/>
          <p:nvPr/>
        </p:nvSpPr>
        <p:spPr>
          <a:xfrm>
            <a:off x="3992780" y="3781689"/>
            <a:ext cx="274313" cy="574751"/>
          </a:xfrm>
          <a:custGeom>
            <a:avLst/>
            <a:gdLst/>
            <a:ahLst/>
            <a:cxnLst/>
            <a:rect l="l" t="t" r="r" b="b"/>
            <a:pathLst>
              <a:path w="274313" h="574751">
                <a:moveTo>
                  <a:pt x="274313" y="574751"/>
                </a:moveTo>
                <a:lnTo>
                  <a:pt x="0" y="400584"/>
                </a:lnTo>
                <a:lnTo>
                  <a:pt x="0" y="0"/>
                </a:lnTo>
                <a:lnTo>
                  <a:pt x="274313" y="174167"/>
                </a:lnTo>
                <a:close/>
              </a:path>
            </a:pathLst>
          </a:custGeom>
          <a:solidFill>
            <a:srgbClr val="AEC0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ottom-emitting OLED / Glass (n = 1.77) right"/>
          <p:cNvSpPr/>
          <p:nvPr/>
        </p:nvSpPr>
        <p:spPr>
          <a:xfrm>
            <a:off x="7924602" y="3781689"/>
            <a:ext cx="274313" cy="574751"/>
          </a:xfrm>
          <a:custGeom>
            <a:avLst/>
            <a:gdLst/>
            <a:ahLst/>
            <a:cxnLst/>
            <a:rect l="l" t="t" r="r" b="b"/>
            <a:pathLst>
              <a:path w="274313" h="574751">
                <a:moveTo>
                  <a:pt x="0" y="574751"/>
                </a:moveTo>
                <a:lnTo>
                  <a:pt x="274313" y="400584"/>
                </a:lnTo>
                <a:lnTo>
                  <a:pt x="274313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AEC0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-emitting OLED / Glass (n = 1.77) front"/>
          <p:cNvSpPr/>
          <p:nvPr/>
        </p:nvSpPr>
        <p:spPr>
          <a:xfrm>
            <a:off x="4267093" y="3955856"/>
            <a:ext cx="3657509" cy="400584"/>
          </a:xfrm>
          <a:custGeom>
            <a:avLst/>
            <a:gdLst/>
            <a:ahLst/>
            <a:cxnLst/>
            <a:rect l="l" t="t" r="r" b="b"/>
            <a:pathLst>
              <a:path w="3657509" h="400584">
                <a:moveTo>
                  <a:pt x="0" y="0"/>
                </a:moveTo>
                <a:lnTo>
                  <a:pt x="3657509" y="0"/>
                </a:lnTo>
                <a:lnTo>
                  <a:pt x="3657509" y="400584"/>
                </a:lnTo>
                <a:lnTo>
                  <a:pt x="0" y="400584"/>
                </a:lnTo>
                <a:close/>
              </a:path>
            </a:pathLst>
          </a:custGeom>
          <a:solidFill>
            <a:srgbClr val="CFE4F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ttom-emitting OLED / Glass (n = 1.77) label"/>
          <p:cNvSpPr txBox="1"/>
          <p:nvPr/>
        </p:nvSpPr>
        <p:spPr>
          <a:xfrm>
            <a:off x="4336760" y="3991996"/>
            <a:ext cx="3518175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Glass (n = 1.77)</a:t>
            </a:r>
          </a:p>
        </p:txBody>
      </p:sp>
      <p:sp>
        <p:nvSpPr>
          <p:cNvPr id="6" name="Bottom-emitting OLED / Transparent electrode left"/>
          <p:cNvSpPr/>
          <p:nvPr/>
        </p:nvSpPr>
        <p:spPr>
          <a:xfrm>
            <a:off x="3992780" y="3346271"/>
            <a:ext cx="274313" cy="609585"/>
          </a:xfrm>
          <a:custGeom>
            <a:avLst/>
            <a:gdLst/>
            <a:ahLst/>
            <a:cxnLst/>
            <a:rect l="l" t="t" r="r" b="b"/>
            <a:pathLst>
              <a:path w="274313" h="609585">
                <a:moveTo>
                  <a:pt x="274313" y="609585"/>
                </a:moveTo>
                <a:lnTo>
                  <a:pt x="0" y="435418"/>
                </a:lnTo>
                <a:lnTo>
                  <a:pt x="0" y="0"/>
                </a:lnTo>
                <a:lnTo>
                  <a:pt x="274313" y="174167"/>
                </a:lnTo>
                <a:close/>
              </a:path>
            </a:pathLst>
          </a:custGeom>
          <a:solidFill>
            <a:srgbClr val="6BB1C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ttom-emitting OLED / Transparent electrode right"/>
          <p:cNvSpPr/>
          <p:nvPr/>
        </p:nvSpPr>
        <p:spPr>
          <a:xfrm>
            <a:off x="7924602" y="3346271"/>
            <a:ext cx="274313" cy="609585"/>
          </a:xfrm>
          <a:custGeom>
            <a:avLst/>
            <a:gdLst/>
            <a:ahLst/>
            <a:cxnLst/>
            <a:rect l="l" t="t" r="r" b="b"/>
            <a:pathLst>
              <a:path w="274313" h="609585">
                <a:moveTo>
                  <a:pt x="0" y="609585"/>
                </a:moveTo>
                <a:lnTo>
                  <a:pt x="274313" y="435418"/>
                </a:lnTo>
                <a:lnTo>
                  <a:pt x="274313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6BB1C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ttom-emitting OLED / Transparent electrode front"/>
          <p:cNvSpPr/>
          <p:nvPr/>
        </p:nvSpPr>
        <p:spPr>
          <a:xfrm>
            <a:off x="4267093" y="3520438"/>
            <a:ext cx="3657509" cy="435418"/>
          </a:xfrm>
          <a:custGeom>
            <a:avLst/>
            <a:gdLst/>
            <a:ahLst/>
            <a:cxnLst/>
            <a:rect l="l" t="t" r="r" b="b"/>
            <a:pathLst>
              <a:path w="3657509" h="435418">
                <a:moveTo>
                  <a:pt x="0" y="0"/>
                </a:moveTo>
                <a:lnTo>
                  <a:pt x="3657509" y="0"/>
                </a:lnTo>
                <a:lnTo>
                  <a:pt x="3657509" y="435418"/>
                </a:lnTo>
                <a:lnTo>
                  <a:pt x="0" y="435418"/>
                </a:lnTo>
                <a:close/>
              </a:path>
            </a:pathLst>
          </a:custGeom>
          <a:solidFill>
            <a:srgbClr val="7FD3E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ttom-emitting OLED / Transparent electrode label"/>
          <p:cNvSpPr txBox="1"/>
          <p:nvPr/>
        </p:nvSpPr>
        <p:spPr>
          <a:xfrm>
            <a:off x="4336760" y="3478203"/>
            <a:ext cx="3518175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Transparent electrode</a:t>
            </a:r>
          </a:p>
        </p:txBody>
      </p:sp>
      <p:sp>
        <p:nvSpPr>
          <p:cNvPr id="10" name="Bottom-emitting OLED / Transparent electrode label note"/>
          <p:cNvSpPr txBox="1"/>
          <p:nvPr/>
        </p:nvSpPr>
        <p:spPr>
          <a:xfrm>
            <a:off x="4336760" y="3703749"/>
            <a:ext cx="3518175" cy="2603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88" b="0">
                <a:solidFill>
                  <a:srgbClr val="D62828"/>
                </a:solidFill>
                <a:latin typeface="Arial"/>
              </a:rPr>
              <a:t>ITO 50 nm   or   Ag 10 nm</a:t>
            </a:r>
          </a:p>
        </p:txBody>
      </p:sp>
      <p:sp>
        <p:nvSpPr>
          <p:cNvPr id="11" name="Bottom-emitting OLED / HTL (200 nm) left"/>
          <p:cNvSpPr/>
          <p:nvPr/>
        </p:nvSpPr>
        <p:spPr>
          <a:xfrm>
            <a:off x="3992780" y="2997937"/>
            <a:ext cx="274313" cy="522501"/>
          </a:xfrm>
          <a:custGeom>
            <a:avLst/>
            <a:gdLst/>
            <a:ahLst/>
            <a:cxnLst/>
            <a:rect l="l" t="t" r="r" b="b"/>
            <a:pathLst>
              <a:path w="274313" h="522501">
                <a:moveTo>
                  <a:pt x="274313" y="522501"/>
                </a:moveTo>
                <a:lnTo>
                  <a:pt x="0" y="348334"/>
                </a:lnTo>
                <a:lnTo>
                  <a:pt x="0" y="0"/>
                </a:lnTo>
                <a:lnTo>
                  <a:pt x="274313" y="174167"/>
                </a:lnTo>
                <a:close/>
              </a:path>
            </a:pathLst>
          </a:custGeom>
          <a:solidFill>
            <a:srgbClr val="CA9B5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ttom-emitting OLED / HTL (200 nm) right"/>
          <p:cNvSpPr/>
          <p:nvPr/>
        </p:nvSpPr>
        <p:spPr>
          <a:xfrm>
            <a:off x="7924602" y="2997937"/>
            <a:ext cx="274313" cy="522501"/>
          </a:xfrm>
          <a:custGeom>
            <a:avLst/>
            <a:gdLst/>
            <a:ahLst/>
            <a:cxnLst/>
            <a:rect l="l" t="t" r="r" b="b"/>
            <a:pathLst>
              <a:path w="274313" h="522501">
                <a:moveTo>
                  <a:pt x="0" y="522501"/>
                </a:moveTo>
                <a:lnTo>
                  <a:pt x="274313" y="348334"/>
                </a:lnTo>
                <a:lnTo>
                  <a:pt x="274313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CA9B5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ttom-emitting OLED / HTL (200 nm) front"/>
          <p:cNvSpPr/>
          <p:nvPr/>
        </p:nvSpPr>
        <p:spPr>
          <a:xfrm>
            <a:off x="4267093" y="3172104"/>
            <a:ext cx="3657509" cy="348334"/>
          </a:xfrm>
          <a:custGeom>
            <a:avLst/>
            <a:gdLst/>
            <a:ahLst/>
            <a:cxnLst/>
            <a:rect l="l" t="t" r="r" b="b"/>
            <a:pathLst>
              <a:path w="3657509" h="348334">
                <a:moveTo>
                  <a:pt x="0" y="0"/>
                </a:moveTo>
                <a:lnTo>
                  <a:pt x="3657509" y="0"/>
                </a:lnTo>
                <a:lnTo>
                  <a:pt x="3657509" y="348334"/>
                </a:lnTo>
                <a:lnTo>
                  <a:pt x="0" y="348334"/>
                </a:lnTo>
                <a:close/>
              </a:path>
            </a:pathLst>
          </a:custGeom>
          <a:solidFill>
            <a:srgbClr val="F0B860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ttom-emitting OLED / HTL (200 nm) label"/>
          <p:cNvSpPr txBox="1"/>
          <p:nvPr/>
        </p:nvSpPr>
        <p:spPr>
          <a:xfrm>
            <a:off x="4336760" y="3182119"/>
            <a:ext cx="3518175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HTL (200 nm)</a:t>
            </a:r>
          </a:p>
        </p:txBody>
      </p:sp>
      <p:sp>
        <p:nvSpPr>
          <p:cNvPr id="15" name="Bottom-emitting OLED / EML (20 nm) left"/>
          <p:cNvSpPr/>
          <p:nvPr/>
        </p:nvSpPr>
        <p:spPr>
          <a:xfrm>
            <a:off x="3992780" y="2719270"/>
            <a:ext cx="274313" cy="452834"/>
          </a:xfrm>
          <a:custGeom>
            <a:avLst/>
            <a:gdLst/>
            <a:ahLst/>
            <a:cxnLst/>
            <a:rect l="l" t="t" r="r" b="b"/>
            <a:pathLst>
              <a:path w="274313" h="452834">
                <a:moveTo>
                  <a:pt x="274313" y="452834"/>
                </a:moveTo>
                <a:lnTo>
                  <a:pt x="0" y="278667"/>
                </a:lnTo>
                <a:lnTo>
                  <a:pt x="0" y="0"/>
                </a:lnTo>
                <a:lnTo>
                  <a:pt x="274313" y="174167"/>
                </a:lnTo>
                <a:close/>
              </a:path>
            </a:pathLst>
          </a:custGeom>
          <a:solidFill>
            <a:srgbClr val="96313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ttom-emitting OLED / EML (20 nm) right"/>
          <p:cNvSpPr/>
          <p:nvPr/>
        </p:nvSpPr>
        <p:spPr>
          <a:xfrm>
            <a:off x="7924602" y="2719270"/>
            <a:ext cx="274313" cy="452834"/>
          </a:xfrm>
          <a:custGeom>
            <a:avLst/>
            <a:gdLst/>
            <a:ahLst/>
            <a:cxnLst/>
            <a:rect l="l" t="t" r="r" b="b"/>
            <a:pathLst>
              <a:path w="274313" h="452834">
                <a:moveTo>
                  <a:pt x="0" y="452834"/>
                </a:moveTo>
                <a:lnTo>
                  <a:pt x="274313" y="278667"/>
                </a:lnTo>
                <a:lnTo>
                  <a:pt x="274313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96313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ttom-emitting OLED / EML (20 nm) front"/>
          <p:cNvSpPr/>
          <p:nvPr/>
        </p:nvSpPr>
        <p:spPr>
          <a:xfrm>
            <a:off x="4267093" y="2893437"/>
            <a:ext cx="3657509" cy="278667"/>
          </a:xfrm>
          <a:custGeom>
            <a:avLst/>
            <a:gdLst/>
            <a:ahLst/>
            <a:cxnLst/>
            <a:rect l="l" t="t" r="r" b="b"/>
            <a:pathLst>
              <a:path w="3657509" h="278667">
                <a:moveTo>
                  <a:pt x="0" y="0"/>
                </a:moveTo>
                <a:lnTo>
                  <a:pt x="3657509" y="0"/>
                </a:lnTo>
                <a:lnTo>
                  <a:pt x="3657509" y="278667"/>
                </a:lnTo>
                <a:lnTo>
                  <a:pt x="0" y="278667"/>
                </a:lnTo>
                <a:close/>
              </a:path>
            </a:pathLst>
          </a:custGeom>
          <a:solidFill>
            <a:srgbClr val="B23A3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-emitting OLED / EML (20 nm) label"/>
          <p:cNvSpPr txBox="1"/>
          <p:nvPr/>
        </p:nvSpPr>
        <p:spPr>
          <a:xfrm>
            <a:off x="4336760" y="2868618"/>
            <a:ext cx="3518175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F2F5F8"/>
                </a:solidFill>
                <a:latin typeface="Arial"/>
              </a:rPr>
              <a:t>EML (20 nm)</a:t>
            </a:r>
          </a:p>
        </p:txBody>
      </p:sp>
      <p:sp>
        <p:nvSpPr>
          <p:cNvPr id="19" name="Bottom-emitting OLED / ETL (200 nm) left"/>
          <p:cNvSpPr/>
          <p:nvPr/>
        </p:nvSpPr>
        <p:spPr>
          <a:xfrm>
            <a:off x="3992780" y="2370936"/>
            <a:ext cx="274313" cy="522501"/>
          </a:xfrm>
          <a:custGeom>
            <a:avLst/>
            <a:gdLst/>
            <a:ahLst/>
            <a:cxnLst/>
            <a:rect l="l" t="t" r="r" b="b"/>
            <a:pathLst>
              <a:path w="274313" h="522501">
                <a:moveTo>
                  <a:pt x="274313" y="522501"/>
                </a:moveTo>
                <a:lnTo>
                  <a:pt x="0" y="348334"/>
                </a:lnTo>
                <a:lnTo>
                  <a:pt x="0" y="0"/>
                </a:lnTo>
                <a:lnTo>
                  <a:pt x="274313" y="174167"/>
                </a:lnTo>
                <a:close/>
              </a:path>
            </a:pathLst>
          </a:custGeom>
          <a:solidFill>
            <a:srgbClr val="6B81B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ttom-emitting OLED / ETL (200 nm) right"/>
          <p:cNvSpPr/>
          <p:nvPr/>
        </p:nvSpPr>
        <p:spPr>
          <a:xfrm>
            <a:off x="7924602" y="2370936"/>
            <a:ext cx="274313" cy="522501"/>
          </a:xfrm>
          <a:custGeom>
            <a:avLst/>
            <a:gdLst/>
            <a:ahLst/>
            <a:cxnLst/>
            <a:rect l="l" t="t" r="r" b="b"/>
            <a:pathLst>
              <a:path w="274313" h="522501">
                <a:moveTo>
                  <a:pt x="0" y="522501"/>
                </a:moveTo>
                <a:lnTo>
                  <a:pt x="274313" y="348334"/>
                </a:lnTo>
                <a:lnTo>
                  <a:pt x="274313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6B81B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ttom-emitting OLED / ETL (200 nm) front"/>
          <p:cNvSpPr/>
          <p:nvPr/>
        </p:nvSpPr>
        <p:spPr>
          <a:xfrm>
            <a:off x="4267093" y="2545103"/>
            <a:ext cx="3657509" cy="348334"/>
          </a:xfrm>
          <a:custGeom>
            <a:avLst/>
            <a:gdLst/>
            <a:ahLst/>
            <a:cxnLst/>
            <a:rect l="l" t="t" r="r" b="b"/>
            <a:pathLst>
              <a:path w="3657509" h="348334">
                <a:moveTo>
                  <a:pt x="0" y="0"/>
                </a:moveTo>
                <a:lnTo>
                  <a:pt x="3657509" y="0"/>
                </a:lnTo>
                <a:lnTo>
                  <a:pt x="3657509" y="348334"/>
                </a:lnTo>
                <a:lnTo>
                  <a:pt x="0" y="348334"/>
                </a:lnTo>
                <a:close/>
              </a:path>
            </a:pathLst>
          </a:custGeom>
          <a:solidFill>
            <a:srgbClr val="7F9AD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ttom-emitting OLED / ETL (200 nm) label"/>
          <p:cNvSpPr txBox="1"/>
          <p:nvPr/>
        </p:nvSpPr>
        <p:spPr>
          <a:xfrm>
            <a:off x="4336760" y="2555117"/>
            <a:ext cx="3518175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ETL (200 nm)</a:t>
            </a:r>
          </a:p>
        </p:txBody>
      </p:sp>
      <p:sp>
        <p:nvSpPr>
          <p:cNvPr id="23" name="Bottom-emitting OLED / Ag (100 nm) left"/>
          <p:cNvSpPr/>
          <p:nvPr/>
        </p:nvSpPr>
        <p:spPr>
          <a:xfrm>
            <a:off x="3992780" y="2092268"/>
            <a:ext cx="274313" cy="452835"/>
          </a:xfrm>
          <a:custGeom>
            <a:avLst/>
            <a:gdLst/>
            <a:ahLst/>
            <a:cxnLst/>
            <a:rect l="l" t="t" r="r" b="b"/>
            <a:pathLst>
              <a:path w="274313" h="452835">
                <a:moveTo>
                  <a:pt x="274313" y="452835"/>
                </a:moveTo>
                <a:lnTo>
                  <a:pt x="0" y="278668"/>
                </a:lnTo>
                <a:lnTo>
                  <a:pt x="0" y="0"/>
                </a:lnTo>
                <a:lnTo>
                  <a:pt x="274313" y="174167"/>
                </a:lnTo>
                <a:close/>
              </a:path>
            </a:pathLst>
          </a:custGeom>
          <a:solidFill>
            <a:srgbClr val="A9ADB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ttom-emitting OLED / Ag (100 nm) right"/>
          <p:cNvSpPr/>
          <p:nvPr/>
        </p:nvSpPr>
        <p:spPr>
          <a:xfrm>
            <a:off x="7924602" y="2092268"/>
            <a:ext cx="274313" cy="452835"/>
          </a:xfrm>
          <a:custGeom>
            <a:avLst/>
            <a:gdLst/>
            <a:ahLst/>
            <a:cxnLst/>
            <a:rect l="l" t="t" r="r" b="b"/>
            <a:pathLst>
              <a:path w="274313" h="452835">
                <a:moveTo>
                  <a:pt x="0" y="452835"/>
                </a:moveTo>
                <a:lnTo>
                  <a:pt x="274313" y="278668"/>
                </a:lnTo>
                <a:lnTo>
                  <a:pt x="274313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A9ADB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ttom-emitting OLED / Ag (100 nm) top"/>
          <p:cNvSpPr/>
          <p:nvPr/>
        </p:nvSpPr>
        <p:spPr>
          <a:xfrm>
            <a:off x="3992780" y="2092268"/>
            <a:ext cx="4206135" cy="174167"/>
          </a:xfrm>
          <a:custGeom>
            <a:avLst/>
            <a:gdLst/>
            <a:ahLst/>
            <a:cxnLst/>
            <a:rect l="l" t="t" r="r" b="b"/>
            <a:pathLst>
              <a:path w="4206135" h="174167">
                <a:moveTo>
                  <a:pt x="274313" y="174167"/>
                </a:moveTo>
                <a:lnTo>
                  <a:pt x="3931822" y="174167"/>
                </a:lnTo>
                <a:lnTo>
                  <a:pt x="420613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3E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ttom-emitting OLED / Ag (100 nm) front"/>
          <p:cNvSpPr/>
          <p:nvPr/>
        </p:nvSpPr>
        <p:spPr>
          <a:xfrm>
            <a:off x="4267093" y="2266435"/>
            <a:ext cx="3657509" cy="278668"/>
          </a:xfrm>
          <a:custGeom>
            <a:avLst/>
            <a:gdLst/>
            <a:ahLst/>
            <a:cxnLst/>
            <a:rect l="l" t="t" r="r" b="b"/>
            <a:pathLst>
              <a:path w="3657509" h="278668">
                <a:moveTo>
                  <a:pt x="0" y="0"/>
                </a:moveTo>
                <a:lnTo>
                  <a:pt x="3657509" y="0"/>
                </a:lnTo>
                <a:lnTo>
                  <a:pt x="3657509" y="278668"/>
                </a:lnTo>
                <a:lnTo>
                  <a:pt x="0" y="278668"/>
                </a:lnTo>
                <a:close/>
              </a:path>
            </a:pathLst>
          </a:custGeom>
          <a:solidFill>
            <a:srgbClr val="C9CE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ttom-emitting OLED / Ag (100 nm) label"/>
          <p:cNvSpPr txBox="1"/>
          <p:nvPr/>
        </p:nvSpPr>
        <p:spPr>
          <a:xfrm>
            <a:off x="4336760" y="2241617"/>
            <a:ext cx="3518175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Ag (100 nm)</a:t>
            </a:r>
          </a:p>
        </p:txBody>
      </p:sp>
      <p:sp>
        <p:nvSpPr>
          <p:cNvPr id="28" name="Bottom-emitting OLED title"/>
          <p:cNvSpPr txBox="1"/>
          <p:nvPr/>
        </p:nvSpPr>
        <p:spPr>
          <a:xfrm>
            <a:off x="3831676" y="1337254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Bottom-emitting OLED</a:t>
            </a:r>
          </a:p>
        </p:txBody>
      </p:sp>
      <p:cxnSp>
        <p:nvCxnSpPr>
          <p:cNvPr id="29" name="bottom emission"/>
          <p:cNvCxnSpPr/>
          <p:nvPr/>
        </p:nvCxnSpPr>
        <p:spPr>
          <a:xfrm flipH="1">
            <a:off x="5346929" y="4391274"/>
            <a:ext cx="494286" cy="505084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bottom emission"/>
          <p:cNvCxnSpPr/>
          <p:nvPr/>
        </p:nvCxnSpPr>
        <p:spPr>
          <a:xfrm>
            <a:off x="6095848" y="4391274"/>
            <a:ext cx="0" cy="644418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ottom emission"/>
          <p:cNvCxnSpPr/>
          <p:nvPr/>
        </p:nvCxnSpPr>
        <p:spPr>
          <a:xfrm>
            <a:off x="6350480" y="4391274"/>
            <a:ext cx="494286" cy="505084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mission label"/>
          <p:cNvSpPr txBox="1"/>
          <p:nvPr/>
        </p:nvSpPr>
        <p:spPr>
          <a:xfrm>
            <a:off x="4789594" y="5156303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