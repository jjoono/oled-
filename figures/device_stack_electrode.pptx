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ttom-emitting OLED / Glass (n = 1.77) right"/>
          <p:cNvSpPr/>
          <p:nvPr/>
        </p:nvSpPr>
        <p:spPr>
          <a:xfrm>
            <a:off x="4920220" y="3807814"/>
            <a:ext cx="1131215" cy="1053711"/>
          </a:xfrm>
          <a:custGeom>
            <a:avLst/>
            <a:gdLst/>
            <a:ahLst/>
            <a:cxnLst/>
            <a:rect l="l" t="t" r="r" b="b"/>
            <a:pathLst>
              <a:path w="1131215" h="1053711">
                <a:moveTo>
                  <a:pt x="1131215" y="400584"/>
                </a:moveTo>
                <a:lnTo>
                  <a:pt x="1131215" y="0"/>
                </a:lnTo>
                <a:lnTo>
                  <a:pt x="0" y="653127"/>
                </a:lnTo>
                <a:lnTo>
                  <a:pt x="0" y="1053711"/>
                </a:lnTo>
                <a:close/>
              </a:path>
            </a:pathLst>
          </a:custGeom>
          <a:solidFill>
            <a:srgbClr val="B2C4D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ottom-emitting OLED / Glass (n = 1.77) front"/>
          <p:cNvSpPr/>
          <p:nvPr/>
        </p:nvSpPr>
        <p:spPr>
          <a:xfrm>
            <a:off x="3789005" y="3807814"/>
            <a:ext cx="1131215" cy="1053711"/>
          </a:xfrm>
          <a:custGeom>
            <a:avLst/>
            <a:gdLst/>
            <a:ahLst/>
            <a:cxnLst/>
            <a:rect l="l" t="t" r="r" b="b"/>
            <a:pathLst>
              <a:path w="1131215" h="1053711">
                <a:moveTo>
                  <a:pt x="1131215" y="1053711"/>
                </a:moveTo>
                <a:lnTo>
                  <a:pt x="1131215" y="653127"/>
                </a:lnTo>
                <a:lnTo>
                  <a:pt x="0" y="0"/>
                </a:lnTo>
                <a:lnTo>
                  <a:pt x="0" y="400584"/>
                </a:lnTo>
                <a:close/>
              </a:path>
            </a:pathLst>
          </a:custGeom>
          <a:solidFill>
            <a:srgbClr val="91A0AC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Bottom-emitting OLED / Glass (n = 1.77) leader"/>
          <p:cNvCxnSpPr/>
          <p:nvPr/>
        </p:nvCxnSpPr>
        <p:spPr>
          <a:xfrm>
            <a:off x="6103685" y="4008106"/>
            <a:ext cx="401455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ottom-emitting OLED / Glass (n = 1.77) label"/>
          <p:cNvSpPr txBox="1"/>
          <p:nvPr/>
        </p:nvSpPr>
        <p:spPr>
          <a:xfrm>
            <a:off x="6574807" y="3843954"/>
            <a:ext cx="3483341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Glass (n = 1.77)</a:t>
            </a:r>
          </a:p>
        </p:txBody>
      </p:sp>
      <p:sp>
        <p:nvSpPr>
          <p:cNvPr id="6" name="Bottom-emitting OLED / Transparent electrode / ITO 50 nm   or   Ag 10 nm right"/>
          <p:cNvSpPr/>
          <p:nvPr/>
        </p:nvSpPr>
        <p:spPr>
          <a:xfrm>
            <a:off x="4920220" y="3511730"/>
            <a:ext cx="1131215" cy="949211"/>
          </a:xfrm>
          <a:custGeom>
            <a:avLst/>
            <a:gdLst/>
            <a:ahLst/>
            <a:cxnLst/>
            <a:rect l="l" t="t" r="r" b="b"/>
            <a:pathLst>
              <a:path w="1131215" h="949211">
                <a:moveTo>
                  <a:pt x="1131215" y="296084"/>
                </a:moveTo>
                <a:lnTo>
                  <a:pt x="1131215" y="0"/>
                </a:lnTo>
                <a:lnTo>
                  <a:pt x="0" y="653127"/>
                </a:lnTo>
                <a:lnTo>
                  <a:pt x="0" y="949211"/>
                </a:lnTo>
                <a:close/>
              </a:path>
            </a:pathLst>
          </a:custGeom>
          <a:solidFill>
            <a:srgbClr val="6DB5C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ttom-emitting OLED / Transparent electrode / ITO 50 nm   or   Ag 10 nm front"/>
          <p:cNvSpPr/>
          <p:nvPr/>
        </p:nvSpPr>
        <p:spPr>
          <a:xfrm>
            <a:off x="3789005" y="3511730"/>
            <a:ext cx="1131215" cy="949211"/>
          </a:xfrm>
          <a:custGeom>
            <a:avLst/>
            <a:gdLst/>
            <a:ahLst/>
            <a:cxnLst/>
            <a:rect l="l" t="t" r="r" b="b"/>
            <a:pathLst>
              <a:path w="1131215" h="949211">
                <a:moveTo>
                  <a:pt x="1131215" y="949211"/>
                </a:moveTo>
                <a:lnTo>
                  <a:pt x="1131215" y="653127"/>
                </a:lnTo>
                <a:lnTo>
                  <a:pt x="0" y="0"/>
                </a:lnTo>
                <a:lnTo>
                  <a:pt x="0" y="296084"/>
                </a:lnTo>
                <a:close/>
              </a:path>
            </a:pathLst>
          </a:custGeom>
          <a:solidFill>
            <a:srgbClr val="5994A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Bottom-emitting OLED / Transparent electrode / ITO 50 nm   or   Ag 10 nm leader"/>
          <p:cNvCxnSpPr/>
          <p:nvPr/>
        </p:nvCxnSpPr>
        <p:spPr>
          <a:xfrm>
            <a:off x="6103685" y="3659772"/>
            <a:ext cx="401455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ottom-emitting OLED / Transparent electrode / ITO 50 nm   or   Ag 10 nm label"/>
          <p:cNvSpPr txBox="1"/>
          <p:nvPr/>
        </p:nvSpPr>
        <p:spPr>
          <a:xfrm>
            <a:off x="6574807" y="3391119"/>
            <a:ext cx="3483341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Transparent electrode</a:t>
            </a:r>
          </a:p>
        </p:txBody>
      </p:sp>
      <p:sp>
        <p:nvSpPr>
          <p:cNvPr id="10" name="Bottom-emitting OLED / Transparent electrode / ITO 50 nm   or   Ag 10 nm label note"/>
          <p:cNvSpPr txBox="1"/>
          <p:nvPr/>
        </p:nvSpPr>
        <p:spPr>
          <a:xfrm>
            <a:off x="6574807" y="3628422"/>
            <a:ext cx="3483341" cy="27170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22" b="0">
                <a:solidFill>
                  <a:srgbClr val="D62828"/>
                </a:solidFill>
                <a:latin typeface="Arial"/>
              </a:rPr>
              <a:t>ITO 50 nm   or   Ag 10 nm</a:t>
            </a:r>
          </a:p>
        </p:txBody>
      </p:sp>
      <p:sp>
        <p:nvSpPr>
          <p:cNvPr id="11" name="Bottom-emitting OLED / HTL (200 nm) right"/>
          <p:cNvSpPr/>
          <p:nvPr/>
        </p:nvSpPr>
        <p:spPr>
          <a:xfrm>
            <a:off x="4920220" y="3163396"/>
            <a:ext cx="1131215" cy="1001461"/>
          </a:xfrm>
          <a:custGeom>
            <a:avLst/>
            <a:gdLst/>
            <a:ahLst/>
            <a:cxnLst/>
            <a:rect l="l" t="t" r="r" b="b"/>
            <a:pathLst>
              <a:path w="1131215" h="1001461">
                <a:moveTo>
                  <a:pt x="1131215" y="348334"/>
                </a:moveTo>
                <a:lnTo>
                  <a:pt x="1131215" y="0"/>
                </a:lnTo>
                <a:lnTo>
                  <a:pt x="0" y="653126"/>
                </a:lnTo>
                <a:lnTo>
                  <a:pt x="0" y="1001461"/>
                </a:lnTo>
                <a:close/>
              </a:path>
            </a:pathLst>
          </a:custGeom>
          <a:solidFill>
            <a:srgbClr val="CE9E5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ttom-emitting OLED / HTL (200 nm) front"/>
          <p:cNvSpPr/>
          <p:nvPr/>
        </p:nvSpPr>
        <p:spPr>
          <a:xfrm>
            <a:off x="3789005" y="3163396"/>
            <a:ext cx="1131215" cy="1001461"/>
          </a:xfrm>
          <a:custGeom>
            <a:avLst/>
            <a:gdLst/>
            <a:ahLst/>
            <a:cxnLst/>
            <a:rect l="l" t="t" r="r" b="b"/>
            <a:pathLst>
              <a:path w="1131215" h="1001461">
                <a:moveTo>
                  <a:pt x="1131215" y="1001461"/>
                </a:moveTo>
                <a:lnTo>
                  <a:pt x="1131215" y="653126"/>
                </a:lnTo>
                <a:lnTo>
                  <a:pt x="0" y="0"/>
                </a:lnTo>
                <a:lnTo>
                  <a:pt x="0" y="348334"/>
                </a:lnTo>
                <a:close/>
              </a:path>
            </a:pathLst>
          </a:custGeom>
          <a:solidFill>
            <a:srgbClr val="A8814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Bottom-emitting OLED / HTL (200 nm) leader"/>
          <p:cNvCxnSpPr/>
          <p:nvPr/>
        </p:nvCxnSpPr>
        <p:spPr>
          <a:xfrm>
            <a:off x="6103685" y="3337563"/>
            <a:ext cx="401455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Bottom-emitting OLED / HTL (200 nm) label"/>
          <p:cNvSpPr txBox="1"/>
          <p:nvPr/>
        </p:nvSpPr>
        <p:spPr>
          <a:xfrm>
            <a:off x="6574807" y="3173410"/>
            <a:ext cx="3483341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HTL (200 nm)</a:t>
            </a:r>
          </a:p>
        </p:txBody>
      </p:sp>
      <p:sp>
        <p:nvSpPr>
          <p:cNvPr id="15" name="Bottom-emitting OLED / EML (20 nm) right"/>
          <p:cNvSpPr/>
          <p:nvPr/>
        </p:nvSpPr>
        <p:spPr>
          <a:xfrm>
            <a:off x="4920220" y="2954395"/>
            <a:ext cx="1131215" cy="862127"/>
          </a:xfrm>
          <a:custGeom>
            <a:avLst/>
            <a:gdLst/>
            <a:ahLst/>
            <a:cxnLst/>
            <a:rect l="l" t="t" r="r" b="b"/>
            <a:pathLst>
              <a:path w="1131215" h="862127">
                <a:moveTo>
                  <a:pt x="1131215" y="209001"/>
                </a:moveTo>
                <a:lnTo>
                  <a:pt x="1131215" y="0"/>
                </a:lnTo>
                <a:lnTo>
                  <a:pt x="0" y="653127"/>
                </a:lnTo>
                <a:lnTo>
                  <a:pt x="0" y="862127"/>
                </a:lnTo>
                <a:close/>
              </a:path>
            </a:pathLst>
          </a:custGeom>
          <a:solidFill>
            <a:srgbClr val="99323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ttom-emitting OLED / EML (20 nm) front"/>
          <p:cNvSpPr/>
          <p:nvPr/>
        </p:nvSpPr>
        <p:spPr>
          <a:xfrm>
            <a:off x="3789005" y="2954395"/>
            <a:ext cx="1131215" cy="862127"/>
          </a:xfrm>
          <a:custGeom>
            <a:avLst/>
            <a:gdLst/>
            <a:ahLst/>
            <a:cxnLst/>
            <a:rect l="l" t="t" r="r" b="b"/>
            <a:pathLst>
              <a:path w="1131215" h="862127">
                <a:moveTo>
                  <a:pt x="1131215" y="862127"/>
                </a:moveTo>
                <a:lnTo>
                  <a:pt x="1131215" y="653127"/>
                </a:lnTo>
                <a:lnTo>
                  <a:pt x="0" y="0"/>
                </a:lnTo>
                <a:lnTo>
                  <a:pt x="0" y="209001"/>
                </a:lnTo>
                <a:close/>
              </a:path>
            </a:pathLst>
          </a:custGeom>
          <a:solidFill>
            <a:srgbClr val="7D2929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Bottom-emitting OLED / EML (20 nm) leader"/>
          <p:cNvCxnSpPr/>
          <p:nvPr/>
        </p:nvCxnSpPr>
        <p:spPr>
          <a:xfrm>
            <a:off x="6103685" y="3058896"/>
            <a:ext cx="401455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Bottom-emitting OLED / EML (20 nm) label"/>
          <p:cNvSpPr txBox="1"/>
          <p:nvPr/>
        </p:nvSpPr>
        <p:spPr>
          <a:xfrm>
            <a:off x="6574807" y="2894743"/>
            <a:ext cx="3483341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EML (20 nm)</a:t>
            </a:r>
          </a:p>
        </p:txBody>
      </p:sp>
      <p:sp>
        <p:nvSpPr>
          <p:cNvPr id="19" name="Bottom-emitting OLED / ETL (200 nm) right"/>
          <p:cNvSpPr/>
          <p:nvPr/>
        </p:nvSpPr>
        <p:spPr>
          <a:xfrm>
            <a:off x="4920220" y="2606061"/>
            <a:ext cx="1131215" cy="1001461"/>
          </a:xfrm>
          <a:custGeom>
            <a:avLst/>
            <a:gdLst/>
            <a:ahLst/>
            <a:cxnLst/>
            <a:rect l="l" t="t" r="r" b="b"/>
            <a:pathLst>
              <a:path w="1131215" h="1001461">
                <a:moveTo>
                  <a:pt x="1131215" y="348334"/>
                </a:moveTo>
                <a:lnTo>
                  <a:pt x="1131215" y="0"/>
                </a:lnTo>
                <a:lnTo>
                  <a:pt x="0" y="653127"/>
                </a:lnTo>
                <a:lnTo>
                  <a:pt x="0" y="1001461"/>
                </a:lnTo>
                <a:close/>
              </a:path>
            </a:pathLst>
          </a:custGeom>
          <a:solidFill>
            <a:srgbClr val="6D84BB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ttom-emitting OLED / ETL (200 nm) front"/>
          <p:cNvSpPr/>
          <p:nvPr/>
        </p:nvSpPr>
        <p:spPr>
          <a:xfrm>
            <a:off x="3789005" y="2606061"/>
            <a:ext cx="1131215" cy="1001461"/>
          </a:xfrm>
          <a:custGeom>
            <a:avLst/>
            <a:gdLst/>
            <a:ahLst/>
            <a:cxnLst/>
            <a:rect l="l" t="t" r="r" b="b"/>
            <a:pathLst>
              <a:path w="1131215" h="1001461">
                <a:moveTo>
                  <a:pt x="1131215" y="1001461"/>
                </a:moveTo>
                <a:lnTo>
                  <a:pt x="1131215" y="653127"/>
                </a:lnTo>
                <a:lnTo>
                  <a:pt x="0" y="0"/>
                </a:lnTo>
                <a:lnTo>
                  <a:pt x="0" y="348334"/>
                </a:lnTo>
                <a:close/>
              </a:path>
            </a:pathLst>
          </a:custGeom>
          <a:solidFill>
            <a:srgbClr val="596C99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Bottom-emitting OLED / ETL (200 nm) leader"/>
          <p:cNvCxnSpPr/>
          <p:nvPr/>
        </p:nvCxnSpPr>
        <p:spPr>
          <a:xfrm>
            <a:off x="6103685" y="2780228"/>
            <a:ext cx="401455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Bottom-emitting OLED / ETL (200 nm) label"/>
          <p:cNvSpPr txBox="1"/>
          <p:nvPr/>
        </p:nvSpPr>
        <p:spPr>
          <a:xfrm>
            <a:off x="6574807" y="2616076"/>
            <a:ext cx="3483341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ETL (200 nm)</a:t>
            </a:r>
          </a:p>
        </p:txBody>
      </p:sp>
      <p:sp>
        <p:nvSpPr>
          <p:cNvPr id="23" name="Bottom-emitting OLED / Ag (100 nm) top"/>
          <p:cNvSpPr/>
          <p:nvPr/>
        </p:nvSpPr>
        <p:spPr>
          <a:xfrm>
            <a:off x="3789005" y="1691684"/>
            <a:ext cx="2262430" cy="1306253"/>
          </a:xfrm>
          <a:custGeom>
            <a:avLst/>
            <a:gdLst/>
            <a:ahLst/>
            <a:cxnLst/>
            <a:rect l="l" t="t" r="r" b="b"/>
            <a:pathLst>
              <a:path w="2262430" h="1306253">
                <a:moveTo>
                  <a:pt x="1131215" y="0"/>
                </a:moveTo>
                <a:lnTo>
                  <a:pt x="2262430" y="653127"/>
                </a:lnTo>
                <a:lnTo>
                  <a:pt x="1131215" y="1306253"/>
                </a:lnTo>
                <a:lnTo>
                  <a:pt x="0" y="653127"/>
                </a:lnTo>
                <a:close/>
              </a:path>
            </a:pathLst>
          </a:custGeom>
          <a:solidFill>
            <a:srgbClr val="C9CED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ttom-emitting OLED / Ag (100 nm) right"/>
          <p:cNvSpPr/>
          <p:nvPr/>
        </p:nvSpPr>
        <p:spPr>
          <a:xfrm>
            <a:off x="4920220" y="2344811"/>
            <a:ext cx="1131215" cy="914377"/>
          </a:xfrm>
          <a:custGeom>
            <a:avLst/>
            <a:gdLst/>
            <a:ahLst/>
            <a:cxnLst/>
            <a:rect l="l" t="t" r="r" b="b"/>
            <a:pathLst>
              <a:path w="1131215" h="914377">
                <a:moveTo>
                  <a:pt x="1131215" y="261250"/>
                </a:moveTo>
                <a:lnTo>
                  <a:pt x="1131215" y="0"/>
                </a:lnTo>
                <a:lnTo>
                  <a:pt x="0" y="653126"/>
                </a:lnTo>
                <a:lnTo>
                  <a:pt x="0" y="914377"/>
                </a:lnTo>
                <a:close/>
              </a:path>
            </a:pathLst>
          </a:custGeom>
          <a:solidFill>
            <a:srgbClr val="ADB1B5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ottom-emitting OLED / Ag (100 nm) front"/>
          <p:cNvSpPr/>
          <p:nvPr/>
        </p:nvSpPr>
        <p:spPr>
          <a:xfrm>
            <a:off x="3789005" y="2344811"/>
            <a:ext cx="1131215" cy="914377"/>
          </a:xfrm>
          <a:custGeom>
            <a:avLst/>
            <a:gdLst/>
            <a:ahLst/>
            <a:cxnLst/>
            <a:rect l="l" t="t" r="r" b="b"/>
            <a:pathLst>
              <a:path w="1131215" h="914377">
                <a:moveTo>
                  <a:pt x="1131215" y="914377"/>
                </a:moveTo>
                <a:lnTo>
                  <a:pt x="1131215" y="653126"/>
                </a:lnTo>
                <a:lnTo>
                  <a:pt x="0" y="0"/>
                </a:lnTo>
                <a:lnTo>
                  <a:pt x="0" y="261250"/>
                </a:lnTo>
                <a:close/>
              </a:path>
            </a:pathLst>
          </a:custGeom>
          <a:solidFill>
            <a:srgbClr val="8D9094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Bottom-emitting OLED / Ag (100 nm) leader"/>
          <p:cNvCxnSpPr/>
          <p:nvPr/>
        </p:nvCxnSpPr>
        <p:spPr>
          <a:xfrm>
            <a:off x="6103685" y="2475436"/>
            <a:ext cx="401455" cy="0"/>
          </a:xfrm>
          <a:prstGeom prst="line">
            <a:avLst/>
          </a:prstGeom>
          <a:ln w="9579">
            <a:solidFill>
              <a:srgbClr val="98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Bottom-emitting OLED / Ag (100 nm) label"/>
          <p:cNvSpPr txBox="1"/>
          <p:nvPr/>
        </p:nvSpPr>
        <p:spPr>
          <a:xfrm>
            <a:off x="6574807" y="2311283"/>
            <a:ext cx="3483341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94" b="0">
                <a:solidFill>
                  <a:srgbClr val="1B2026"/>
                </a:solidFill>
                <a:latin typeface="Arial"/>
              </a:rPr>
              <a:t>Ag (100 nm)</a:t>
            </a:r>
          </a:p>
        </p:txBody>
      </p:sp>
      <p:sp>
        <p:nvSpPr>
          <p:cNvPr id="28" name="Bottom-emitting OLED title"/>
          <p:cNvSpPr txBox="1"/>
          <p:nvPr/>
        </p:nvSpPr>
        <p:spPr>
          <a:xfrm>
            <a:off x="2656048" y="936670"/>
            <a:ext cx="4528344" cy="43019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2" b="1">
                <a:solidFill>
                  <a:srgbClr val="1B2026"/>
                </a:solidFill>
                <a:latin typeface="Arial"/>
              </a:rPr>
              <a:t>Bottom-emitting OLED</a:t>
            </a:r>
          </a:p>
        </p:txBody>
      </p:sp>
      <p:cxnSp>
        <p:nvCxnSpPr>
          <p:cNvPr id="29" name="bottom emission"/>
          <p:cNvCxnSpPr/>
          <p:nvPr/>
        </p:nvCxnSpPr>
        <p:spPr>
          <a:xfrm flipH="1">
            <a:off x="3962649" y="4626399"/>
            <a:ext cx="505085" cy="374459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bottom emission"/>
          <p:cNvCxnSpPr/>
          <p:nvPr/>
        </p:nvCxnSpPr>
        <p:spPr>
          <a:xfrm>
            <a:off x="4920220" y="4887650"/>
            <a:ext cx="0" cy="566043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bottom emission"/>
          <p:cNvCxnSpPr/>
          <p:nvPr/>
        </p:nvCxnSpPr>
        <p:spPr>
          <a:xfrm>
            <a:off x="5372706" y="4626399"/>
            <a:ext cx="505084" cy="374459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mission label"/>
          <p:cNvSpPr txBox="1"/>
          <p:nvPr/>
        </p:nvSpPr>
        <p:spPr>
          <a:xfrm>
            <a:off x="3613967" y="5556887"/>
            <a:ext cx="2612506" cy="3509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62" b="0">
                <a:solidFill>
                  <a:srgbClr val="2E9E4F"/>
                </a:solidFill>
                <a:latin typeface="Arial"/>
              </a:rPr>
              <a:t>Bottom emission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