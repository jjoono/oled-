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 lens 01"/>
          <p:cNvSpPr/>
          <p:nvPr/>
        </p:nvSpPr>
        <p:spPr>
          <a:xfrm>
            <a:off x="3559912" y="1447800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 lens 02"/>
          <p:cNvSpPr/>
          <p:nvPr/>
        </p:nvSpPr>
        <p:spPr>
          <a:xfrm>
            <a:off x="4035400" y="1447800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 lens 03"/>
          <p:cNvSpPr/>
          <p:nvPr/>
        </p:nvSpPr>
        <p:spPr>
          <a:xfrm>
            <a:off x="4510888" y="1447800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 lens 04"/>
          <p:cNvSpPr/>
          <p:nvPr/>
        </p:nvSpPr>
        <p:spPr>
          <a:xfrm>
            <a:off x="4986376" y="1447800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 lens 05"/>
          <p:cNvSpPr/>
          <p:nvPr/>
        </p:nvSpPr>
        <p:spPr>
          <a:xfrm>
            <a:off x="5461864" y="1447800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 lens 06"/>
          <p:cNvSpPr/>
          <p:nvPr/>
        </p:nvSpPr>
        <p:spPr>
          <a:xfrm>
            <a:off x="5937352" y="1447800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 lens 07"/>
          <p:cNvSpPr/>
          <p:nvPr/>
        </p:nvSpPr>
        <p:spPr>
          <a:xfrm>
            <a:off x="6412840" y="1447800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 lens 08"/>
          <p:cNvSpPr/>
          <p:nvPr/>
        </p:nvSpPr>
        <p:spPr>
          <a:xfrm>
            <a:off x="6888328" y="1447800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 lens 09"/>
          <p:cNvSpPr/>
          <p:nvPr/>
        </p:nvSpPr>
        <p:spPr>
          <a:xfrm>
            <a:off x="7363816" y="1447800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 lens 10"/>
          <p:cNvSpPr/>
          <p:nvPr/>
        </p:nvSpPr>
        <p:spPr>
          <a:xfrm>
            <a:off x="7839304" y="1447800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 lens 11"/>
          <p:cNvSpPr/>
          <p:nvPr/>
        </p:nvSpPr>
        <p:spPr>
          <a:xfrm>
            <a:off x="8314792" y="1447800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 lens 12"/>
          <p:cNvSpPr/>
          <p:nvPr/>
        </p:nvSpPr>
        <p:spPr>
          <a:xfrm>
            <a:off x="8790280" y="1447800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 lens 13"/>
          <p:cNvSpPr/>
          <p:nvPr/>
        </p:nvSpPr>
        <p:spPr>
          <a:xfrm>
            <a:off x="9265768" y="1447800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 lens 14"/>
          <p:cNvSpPr/>
          <p:nvPr/>
        </p:nvSpPr>
        <p:spPr>
          <a:xfrm>
            <a:off x="9741256" y="1447800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 lens 15"/>
          <p:cNvSpPr/>
          <p:nvPr/>
        </p:nvSpPr>
        <p:spPr>
          <a:xfrm>
            <a:off x="10216744" y="1447800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 glass substrate"/>
          <p:cNvSpPr/>
          <p:nvPr/>
        </p:nvSpPr>
        <p:spPr>
          <a:xfrm>
            <a:off x="3559912" y="1685544"/>
            <a:ext cx="7132320" cy="681533"/>
          </a:xfrm>
          <a:prstGeom prst="rect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 TCO anode"/>
          <p:cNvSpPr/>
          <p:nvPr/>
        </p:nvSpPr>
        <p:spPr>
          <a:xfrm>
            <a:off x="3559912" y="2367077"/>
            <a:ext cx="7132320" cy="126797"/>
          </a:xfrm>
          <a:prstGeom prst="rect">
            <a:avLst/>
          </a:prstGeom>
          <a:solidFill>
            <a:srgbClr val="CBE1EE"/>
          </a:solidFill>
          <a:ln w="8321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 organic layers"/>
          <p:cNvSpPr/>
          <p:nvPr/>
        </p:nvSpPr>
        <p:spPr>
          <a:xfrm>
            <a:off x="3559912" y="2493874"/>
            <a:ext cx="7132320" cy="142646"/>
          </a:xfrm>
          <a:prstGeom prst="rect">
            <a:avLst/>
          </a:prstGeom>
          <a:solidFill>
            <a:srgbClr val="FDF2E2"/>
          </a:solidFill>
          <a:ln w="8321">
            <a:solidFill>
              <a:srgbClr val="C99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 metal cathode"/>
          <p:cNvSpPr/>
          <p:nvPr/>
        </p:nvSpPr>
        <p:spPr>
          <a:xfrm>
            <a:off x="3559912" y="2636520"/>
            <a:ext cx="7132320" cy="316992"/>
          </a:xfrm>
          <a:prstGeom prst="rect">
            <a:avLst/>
          </a:prstGeom>
          <a:solidFill>
            <a:srgbClr val="C3C7CB"/>
          </a:solidFill>
          <a:ln w="8321">
            <a:solidFill>
              <a:srgbClr val="868C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 TCO absorption 1L"/>
          <p:cNvSpPr/>
          <p:nvPr/>
        </p:nvSpPr>
        <p:spPr>
          <a:xfrm>
            <a:off x="5398465" y="2405116"/>
            <a:ext cx="221895" cy="50719"/>
          </a:xfrm>
          <a:custGeom>
            <a:avLst/>
            <a:gdLst/>
            <a:ahLst/>
            <a:cxnLst/>
            <a:rect l="l" t="t" r="r" b="b"/>
            <a:pathLst>
              <a:path w="221895" h="50719">
                <a:moveTo>
                  <a:pt x="0" y="25359"/>
                </a:moveTo>
                <a:lnTo>
                  <a:pt x="4623" y="31923"/>
                </a:lnTo>
                <a:lnTo>
                  <a:pt x="9246" y="38039"/>
                </a:lnTo>
                <a:lnTo>
                  <a:pt x="13869" y="43291"/>
                </a:lnTo>
                <a:lnTo>
                  <a:pt x="18491" y="47321"/>
                </a:lnTo>
                <a:lnTo>
                  <a:pt x="23114" y="49854"/>
                </a:lnTo>
                <a:lnTo>
                  <a:pt x="27737" y="50719"/>
                </a:lnTo>
                <a:lnTo>
                  <a:pt x="32360" y="49854"/>
                </a:lnTo>
                <a:lnTo>
                  <a:pt x="36983" y="47321"/>
                </a:lnTo>
                <a:lnTo>
                  <a:pt x="41605" y="43291"/>
                </a:lnTo>
                <a:lnTo>
                  <a:pt x="46228" y="38039"/>
                </a:lnTo>
                <a:lnTo>
                  <a:pt x="50851" y="31923"/>
                </a:lnTo>
                <a:lnTo>
                  <a:pt x="55474" y="25359"/>
                </a:lnTo>
                <a:lnTo>
                  <a:pt x="60097" y="18796"/>
                </a:lnTo>
                <a:lnTo>
                  <a:pt x="64719" y="12680"/>
                </a:lnTo>
                <a:lnTo>
                  <a:pt x="69342" y="7427"/>
                </a:lnTo>
                <a:lnTo>
                  <a:pt x="73965" y="3397"/>
                </a:lnTo>
                <a:lnTo>
                  <a:pt x="78588" y="864"/>
                </a:lnTo>
                <a:lnTo>
                  <a:pt x="83211" y="0"/>
                </a:lnTo>
                <a:lnTo>
                  <a:pt x="87833" y="864"/>
                </a:lnTo>
                <a:lnTo>
                  <a:pt x="92456" y="3397"/>
                </a:lnTo>
                <a:lnTo>
                  <a:pt x="97079" y="7427"/>
                </a:lnTo>
                <a:lnTo>
                  <a:pt x="101702" y="12680"/>
                </a:lnTo>
                <a:lnTo>
                  <a:pt x="106325" y="18796"/>
                </a:lnTo>
                <a:lnTo>
                  <a:pt x="110947" y="25359"/>
                </a:lnTo>
                <a:lnTo>
                  <a:pt x="115570" y="31923"/>
                </a:lnTo>
                <a:lnTo>
                  <a:pt x="120193" y="38039"/>
                </a:lnTo>
                <a:lnTo>
                  <a:pt x="124816" y="43291"/>
                </a:lnTo>
                <a:lnTo>
                  <a:pt x="129439" y="47321"/>
                </a:lnTo>
                <a:lnTo>
                  <a:pt x="134061" y="49854"/>
                </a:lnTo>
                <a:lnTo>
                  <a:pt x="138684" y="50719"/>
                </a:lnTo>
                <a:lnTo>
                  <a:pt x="143307" y="49854"/>
                </a:lnTo>
                <a:lnTo>
                  <a:pt x="147930" y="47321"/>
                </a:lnTo>
                <a:lnTo>
                  <a:pt x="152553" y="43291"/>
                </a:lnTo>
                <a:lnTo>
                  <a:pt x="157175" y="38039"/>
                </a:lnTo>
                <a:lnTo>
                  <a:pt x="161798" y="31923"/>
                </a:lnTo>
                <a:lnTo>
                  <a:pt x="166421" y="25359"/>
                </a:lnTo>
                <a:lnTo>
                  <a:pt x="171044" y="18796"/>
                </a:lnTo>
                <a:lnTo>
                  <a:pt x="175667" y="12680"/>
                </a:lnTo>
                <a:lnTo>
                  <a:pt x="180289" y="7427"/>
                </a:lnTo>
                <a:lnTo>
                  <a:pt x="184912" y="3397"/>
                </a:lnTo>
                <a:lnTo>
                  <a:pt x="189535" y="864"/>
                </a:lnTo>
                <a:lnTo>
                  <a:pt x="194158" y="0"/>
                </a:lnTo>
                <a:lnTo>
                  <a:pt x="198781" y="864"/>
                </a:lnTo>
                <a:lnTo>
                  <a:pt x="203403" y="3397"/>
                </a:lnTo>
                <a:lnTo>
                  <a:pt x="208026" y="7427"/>
                </a:lnTo>
                <a:lnTo>
                  <a:pt x="212649" y="12680"/>
                </a:lnTo>
                <a:lnTo>
                  <a:pt x="217272" y="18796"/>
                </a:lnTo>
                <a:lnTo>
                  <a:pt x="221895" y="25359"/>
                </a:lnTo>
              </a:path>
            </a:pathLst>
          </a:custGeom>
          <a:noFill/>
          <a:ln w="14265">
            <a:solidFill>
              <a:srgbClr val="E64B35">
                <a:alpha val="89999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 TCO absorption 1R"/>
          <p:cNvSpPr/>
          <p:nvPr/>
        </p:nvSpPr>
        <p:spPr>
          <a:xfrm>
            <a:off x="5778856" y="2405116"/>
            <a:ext cx="221894" cy="50719"/>
          </a:xfrm>
          <a:custGeom>
            <a:avLst/>
            <a:gdLst/>
            <a:ahLst/>
            <a:cxnLst/>
            <a:rect l="l" t="t" r="r" b="b"/>
            <a:pathLst>
              <a:path w="221894" h="50719">
                <a:moveTo>
                  <a:pt x="0" y="25359"/>
                </a:moveTo>
                <a:lnTo>
                  <a:pt x="4622" y="31923"/>
                </a:lnTo>
                <a:lnTo>
                  <a:pt x="9245" y="38039"/>
                </a:lnTo>
                <a:lnTo>
                  <a:pt x="13868" y="43291"/>
                </a:lnTo>
                <a:lnTo>
                  <a:pt x="18491" y="47321"/>
                </a:lnTo>
                <a:lnTo>
                  <a:pt x="23114" y="49854"/>
                </a:lnTo>
                <a:lnTo>
                  <a:pt x="27736" y="50719"/>
                </a:lnTo>
                <a:lnTo>
                  <a:pt x="32359" y="49854"/>
                </a:lnTo>
                <a:lnTo>
                  <a:pt x="36982" y="47321"/>
                </a:lnTo>
                <a:lnTo>
                  <a:pt x="41605" y="43291"/>
                </a:lnTo>
                <a:lnTo>
                  <a:pt x="46228" y="38039"/>
                </a:lnTo>
                <a:lnTo>
                  <a:pt x="50850" y="31923"/>
                </a:lnTo>
                <a:lnTo>
                  <a:pt x="55473" y="25359"/>
                </a:lnTo>
                <a:lnTo>
                  <a:pt x="60096" y="18796"/>
                </a:lnTo>
                <a:lnTo>
                  <a:pt x="64719" y="12680"/>
                </a:lnTo>
                <a:lnTo>
                  <a:pt x="69342" y="7427"/>
                </a:lnTo>
                <a:lnTo>
                  <a:pt x="73964" y="3397"/>
                </a:lnTo>
                <a:lnTo>
                  <a:pt x="78587" y="864"/>
                </a:lnTo>
                <a:lnTo>
                  <a:pt x="83210" y="0"/>
                </a:lnTo>
                <a:lnTo>
                  <a:pt x="87833" y="864"/>
                </a:lnTo>
                <a:lnTo>
                  <a:pt x="92456" y="3397"/>
                </a:lnTo>
                <a:lnTo>
                  <a:pt x="97078" y="7427"/>
                </a:lnTo>
                <a:lnTo>
                  <a:pt x="101701" y="12680"/>
                </a:lnTo>
                <a:lnTo>
                  <a:pt x="106324" y="18796"/>
                </a:lnTo>
                <a:lnTo>
                  <a:pt x="110947" y="25359"/>
                </a:lnTo>
                <a:lnTo>
                  <a:pt x="115570" y="31923"/>
                </a:lnTo>
                <a:lnTo>
                  <a:pt x="120192" y="38039"/>
                </a:lnTo>
                <a:lnTo>
                  <a:pt x="124815" y="43291"/>
                </a:lnTo>
                <a:lnTo>
                  <a:pt x="129438" y="47321"/>
                </a:lnTo>
                <a:lnTo>
                  <a:pt x="134061" y="49854"/>
                </a:lnTo>
                <a:lnTo>
                  <a:pt x="138684" y="50719"/>
                </a:lnTo>
                <a:lnTo>
                  <a:pt x="143306" y="49854"/>
                </a:lnTo>
                <a:lnTo>
                  <a:pt x="147929" y="47321"/>
                </a:lnTo>
                <a:lnTo>
                  <a:pt x="152552" y="43291"/>
                </a:lnTo>
                <a:lnTo>
                  <a:pt x="157175" y="38039"/>
                </a:lnTo>
                <a:lnTo>
                  <a:pt x="161798" y="31923"/>
                </a:lnTo>
                <a:lnTo>
                  <a:pt x="166420" y="25359"/>
                </a:lnTo>
                <a:lnTo>
                  <a:pt x="171043" y="18796"/>
                </a:lnTo>
                <a:lnTo>
                  <a:pt x="175666" y="12680"/>
                </a:lnTo>
                <a:lnTo>
                  <a:pt x="180289" y="7427"/>
                </a:lnTo>
                <a:lnTo>
                  <a:pt x="184912" y="3397"/>
                </a:lnTo>
                <a:lnTo>
                  <a:pt x="189534" y="864"/>
                </a:lnTo>
                <a:lnTo>
                  <a:pt x="194157" y="0"/>
                </a:lnTo>
                <a:lnTo>
                  <a:pt x="198780" y="864"/>
                </a:lnTo>
                <a:lnTo>
                  <a:pt x="203403" y="3397"/>
                </a:lnTo>
                <a:lnTo>
                  <a:pt x="208026" y="7427"/>
                </a:lnTo>
                <a:lnTo>
                  <a:pt x="212648" y="12680"/>
                </a:lnTo>
                <a:lnTo>
                  <a:pt x="217271" y="18796"/>
                </a:lnTo>
                <a:lnTo>
                  <a:pt x="221894" y="25359"/>
                </a:lnTo>
              </a:path>
            </a:pathLst>
          </a:custGeom>
          <a:noFill/>
          <a:ln w="14265">
            <a:solidFill>
              <a:srgbClr val="E64B35">
                <a:alpha val="89999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 TCO absorption 2L"/>
          <p:cNvSpPr/>
          <p:nvPr/>
        </p:nvSpPr>
        <p:spPr>
          <a:xfrm>
            <a:off x="7300417" y="2405116"/>
            <a:ext cx="221895" cy="50719"/>
          </a:xfrm>
          <a:custGeom>
            <a:avLst/>
            <a:gdLst/>
            <a:ahLst/>
            <a:cxnLst/>
            <a:rect l="l" t="t" r="r" b="b"/>
            <a:pathLst>
              <a:path w="221895" h="50719">
                <a:moveTo>
                  <a:pt x="0" y="25359"/>
                </a:moveTo>
                <a:lnTo>
                  <a:pt x="4623" y="31923"/>
                </a:lnTo>
                <a:lnTo>
                  <a:pt x="9246" y="38039"/>
                </a:lnTo>
                <a:lnTo>
                  <a:pt x="13869" y="43291"/>
                </a:lnTo>
                <a:lnTo>
                  <a:pt x="18491" y="47321"/>
                </a:lnTo>
                <a:lnTo>
                  <a:pt x="23114" y="49854"/>
                </a:lnTo>
                <a:lnTo>
                  <a:pt x="27737" y="50719"/>
                </a:lnTo>
                <a:lnTo>
                  <a:pt x="32360" y="49854"/>
                </a:lnTo>
                <a:lnTo>
                  <a:pt x="36983" y="47321"/>
                </a:lnTo>
                <a:lnTo>
                  <a:pt x="41605" y="43291"/>
                </a:lnTo>
                <a:lnTo>
                  <a:pt x="46228" y="38039"/>
                </a:lnTo>
                <a:lnTo>
                  <a:pt x="50851" y="31923"/>
                </a:lnTo>
                <a:lnTo>
                  <a:pt x="55474" y="25359"/>
                </a:lnTo>
                <a:lnTo>
                  <a:pt x="60097" y="18796"/>
                </a:lnTo>
                <a:lnTo>
                  <a:pt x="64719" y="12680"/>
                </a:lnTo>
                <a:lnTo>
                  <a:pt x="69342" y="7427"/>
                </a:lnTo>
                <a:lnTo>
                  <a:pt x="73965" y="3397"/>
                </a:lnTo>
                <a:lnTo>
                  <a:pt x="78588" y="864"/>
                </a:lnTo>
                <a:lnTo>
                  <a:pt x="83211" y="0"/>
                </a:lnTo>
                <a:lnTo>
                  <a:pt x="87833" y="864"/>
                </a:lnTo>
                <a:lnTo>
                  <a:pt x="92456" y="3397"/>
                </a:lnTo>
                <a:lnTo>
                  <a:pt x="97079" y="7427"/>
                </a:lnTo>
                <a:lnTo>
                  <a:pt x="101702" y="12680"/>
                </a:lnTo>
                <a:lnTo>
                  <a:pt x="106325" y="18796"/>
                </a:lnTo>
                <a:lnTo>
                  <a:pt x="110947" y="25359"/>
                </a:lnTo>
                <a:lnTo>
                  <a:pt x="115570" y="31923"/>
                </a:lnTo>
                <a:lnTo>
                  <a:pt x="120193" y="38039"/>
                </a:lnTo>
                <a:lnTo>
                  <a:pt x="124816" y="43291"/>
                </a:lnTo>
                <a:lnTo>
                  <a:pt x="129439" y="47321"/>
                </a:lnTo>
                <a:lnTo>
                  <a:pt x="134061" y="49854"/>
                </a:lnTo>
                <a:lnTo>
                  <a:pt x="138684" y="50719"/>
                </a:lnTo>
                <a:lnTo>
                  <a:pt x="143307" y="49854"/>
                </a:lnTo>
                <a:lnTo>
                  <a:pt x="147930" y="47321"/>
                </a:lnTo>
                <a:lnTo>
                  <a:pt x="152553" y="43291"/>
                </a:lnTo>
                <a:lnTo>
                  <a:pt x="157175" y="38039"/>
                </a:lnTo>
                <a:lnTo>
                  <a:pt x="161798" y="31923"/>
                </a:lnTo>
                <a:lnTo>
                  <a:pt x="166421" y="25359"/>
                </a:lnTo>
                <a:lnTo>
                  <a:pt x="171044" y="18796"/>
                </a:lnTo>
                <a:lnTo>
                  <a:pt x="175667" y="12680"/>
                </a:lnTo>
                <a:lnTo>
                  <a:pt x="180289" y="7427"/>
                </a:lnTo>
                <a:lnTo>
                  <a:pt x="184912" y="3397"/>
                </a:lnTo>
                <a:lnTo>
                  <a:pt x="189535" y="864"/>
                </a:lnTo>
                <a:lnTo>
                  <a:pt x="194158" y="0"/>
                </a:lnTo>
                <a:lnTo>
                  <a:pt x="198781" y="864"/>
                </a:lnTo>
                <a:lnTo>
                  <a:pt x="203403" y="3397"/>
                </a:lnTo>
                <a:lnTo>
                  <a:pt x="208026" y="7427"/>
                </a:lnTo>
                <a:lnTo>
                  <a:pt x="212649" y="12680"/>
                </a:lnTo>
                <a:lnTo>
                  <a:pt x="217272" y="18796"/>
                </a:lnTo>
                <a:lnTo>
                  <a:pt x="221895" y="25359"/>
                </a:lnTo>
              </a:path>
            </a:pathLst>
          </a:custGeom>
          <a:noFill/>
          <a:ln w="14265">
            <a:solidFill>
              <a:srgbClr val="E64B35">
                <a:alpha val="89999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 TCO absorption 2R"/>
          <p:cNvSpPr/>
          <p:nvPr/>
        </p:nvSpPr>
        <p:spPr>
          <a:xfrm>
            <a:off x="7680808" y="2405116"/>
            <a:ext cx="221894" cy="50719"/>
          </a:xfrm>
          <a:custGeom>
            <a:avLst/>
            <a:gdLst/>
            <a:ahLst/>
            <a:cxnLst/>
            <a:rect l="l" t="t" r="r" b="b"/>
            <a:pathLst>
              <a:path w="221894" h="50719">
                <a:moveTo>
                  <a:pt x="0" y="25359"/>
                </a:moveTo>
                <a:lnTo>
                  <a:pt x="4622" y="31923"/>
                </a:lnTo>
                <a:lnTo>
                  <a:pt x="9245" y="38039"/>
                </a:lnTo>
                <a:lnTo>
                  <a:pt x="13868" y="43291"/>
                </a:lnTo>
                <a:lnTo>
                  <a:pt x="18491" y="47321"/>
                </a:lnTo>
                <a:lnTo>
                  <a:pt x="23114" y="49854"/>
                </a:lnTo>
                <a:lnTo>
                  <a:pt x="27736" y="50719"/>
                </a:lnTo>
                <a:lnTo>
                  <a:pt x="32359" y="49854"/>
                </a:lnTo>
                <a:lnTo>
                  <a:pt x="36982" y="47321"/>
                </a:lnTo>
                <a:lnTo>
                  <a:pt x="41605" y="43291"/>
                </a:lnTo>
                <a:lnTo>
                  <a:pt x="46228" y="38039"/>
                </a:lnTo>
                <a:lnTo>
                  <a:pt x="50850" y="31923"/>
                </a:lnTo>
                <a:lnTo>
                  <a:pt x="55473" y="25359"/>
                </a:lnTo>
                <a:lnTo>
                  <a:pt x="60096" y="18796"/>
                </a:lnTo>
                <a:lnTo>
                  <a:pt x="64719" y="12680"/>
                </a:lnTo>
                <a:lnTo>
                  <a:pt x="69342" y="7427"/>
                </a:lnTo>
                <a:lnTo>
                  <a:pt x="73964" y="3397"/>
                </a:lnTo>
                <a:lnTo>
                  <a:pt x="78587" y="864"/>
                </a:lnTo>
                <a:lnTo>
                  <a:pt x="83210" y="0"/>
                </a:lnTo>
                <a:lnTo>
                  <a:pt x="87833" y="864"/>
                </a:lnTo>
                <a:lnTo>
                  <a:pt x="92456" y="3397"/>
                </a:lnTo>
                <a:lnTo>
                  <a:pt x="97078" y="7427"/>
                </a:lnTo>
                <a:lnTo>
                  <a:pt x="101701" y="12680"/>
                </a:lnTo>
                <a:lnTo>
                  <a:pt x="106324" y="18796"/>
                </a:lnTo>
                <a:lnTo>
                  <a:pt x="110947" y="25359"/>
                </a:lnTo>
                <a:lnTo>
                  <a:pt x="115570" y="31923"/>
                </a:lnTo>
                <a:lnTo>
                  <a:pt x="120192" y="38039"/>
                </a:lnTo>
                <a:lnTo>
                  <a:pt x="124815" y="43291"/>
                </a:lnTo>
                <a:lnTo>
                  <a:pt x="129438" y="47321"/>
                </a:lnTo>
                <a:lnTo>
                  <a:pt x="134061" y="49854"/>
                </a:lnTo>
                <a:lnTo>
                  <a:pt x="138684" y="50719"/>
                </a:lnTo>
                <a:lnTo>
                  <a:pt x="143306" y="49854"/>
                </a:lnTo>
                <a:lnTo>
                  <a:pt x="147929" y="47321"/>
                </a:lnTo>
                <a:lnTo>
                  <a:pt x="152552" y="43291"/>
                </a:lnTo>
                <a:lnTo>
                  <a:pt x="157175" y="38039"/>
                </a:lnTo>
                <a:lnTo>
                  <a:pt x="161798" y="31923"/>
                </a:lnTo>
                <a:lnTo>
                  <a:pt x="166420" y="25359"/>
                </a:lnTo>
                <a:lnTo>
                  <a:pt x="171043" y="18796"/>
                </a:lnTo>
                <a:lnTo>
                  <a:pt x="175666" y="12680"/>
                </a:lnTo>
                <a:lnTo>
                  <a:pt x="180289" y="7427"/>
                </a:lnTo>
                <a:lnTo>
                  <a:pt x="184912" y="3397"/>
                </a:lnTo>
                <a:lnTo>
                  <a:pt x="189534" y="864"/>
                </a:lnTo>
                <a:lnTo>
                  <a:pt x="194157" y="0"/>
                </a:lnTo>
                <a:lnTo>
                  <a:pt x="198780" y="864"/>
                </a:lnTo>
                <a:lnTo>
                  <a:pt x="203403" y="3397"/>
                </a:lnTo>
                <a:lnTo>
                  <a:pt x="208026" y="7427"/>
                </a:lnTo>
                <a:lnTo>
                  <a:pt x="212648" y="12680"/>
                </a:lnTo>
                <a:lnTo>
                  <a:pt x="217271" y="18796"/>
                </a:lnTo>
                <a:lnTo>
                  <a:pt x="221894" y="25359"/>
                </a:lnTo>
              </a:path>
            </a:pathLst>
          </a:custGeom>
          <a:noFill/>
          <a:ln w="14265">
            <a:solidFill>
              <a:srgbClr val="E64B35">
                <a:alpha val="89999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 TCO absorption 3L"/>
          <p:cNvSpPr/>
          <p:nvPr/>
        </p:nvSpPr>
        <p:spPr>
          <a:xfrm>
            <a:off x="9202369" y="2405116"/>
            <a:ext cx="221895" cy="50719"/>
          </a:xfrm>
          <a:custGeom>
            <a:avLst/>
            <a:gdLst/>
            <a:ahLst/>
            <a:cxnLst/>
            <a:rect l="l" t="t" r="r" b="b"/>
            <a:pathLst>
              <a:path w="221895" h="50719">
                <a:moveTo>
                  <a:pt x="0" y="25359"/>
                </a:moveTo>
                <a:lnTo>
                  <a:pt x="4623" y="31923"/>
                </a:lnTo>
                <a:lnTo>
                  <a:pt x="9246" y="38039"/>
                </a:lnTo>
                <a:lnTo>
                  <a:pt x="13869" y="43291"/>
                </a:lnTo>
                <a:lnTo>
                  <a:pt x="18491" y="47321"/>
                </a:lnTo>
                <a:lnTo>
                  <a:pt x="23114" y="49854"/>
                </a:lnTo>
                <a:lnTo>
                  <a:pt x="27737" y="50719"/>
                </a:lnTo>
                <a:lnTo>
                  <a:pt x="32360" y="49854"/>
                </a:lnTo>
                <a:lnTo>
                  <a:pt x="36983" y="47321"/>
                </a:lnTo>
                <a:lnTo>
                  <a:pt x="41605" y="43291"/>
                </a:lnTo>
                <a:lnTo>
                  <a:pt x="46228" y="38039"/>
                </a:lnTo>
                <a:lnTo>
                  <a:pt x="50851" y="31923"/>
                </a:lnTo>
                <a:lnTo>
                  <a:pt x="55474" y="25359"/>
                </a:lnTo>
                <a:lnTo>
                  <a:pt x="60097" y="18796"/>
                </a:lnTo>
                <a:lnTo>
                  <a:pt x="64719" y="12680"/>
                </a:lnTo>
                <a:lnTo>
                  <a:pt x="69342" y="7427"/>
                </a:lnTo>
                <a:lnTo>
                  <a:pt x="73965" y="3397"/>
                </a:lnTo>
                <a:lnTo>
                  <a:pt x="78588" y="864"/>
                </a:lnTo>
                <a:lnTo>
                  <a:pt x="83211" y="0"/>
                </a:lnTo>
                <a:lnTo>
                  <a:pt x="87833" y="864"/>
                </a:lnTo>
                <a:lnTo>
                  <a:pt x="92456" y="3397"/>
                </a:lnTo>
                <a:lnTo>
                  <a:pt x="97079" y="7427"/>
                </a:lnTo>
                <a:lnTo>
                  <a:pt x="101702" y="12680"/>
                </a:lnTo>
                <a:lnTo>
                  <a:pt x="106325" y="18796"/>
                </a:lnTo>
                <a:lnTo>
                  <a:pt x="110947" y="25359"/>
                </a:lnTo>
                <a:lnTo>
                  <a:pt x="115570" y="31923"/>
                </a:lnTo>
                <a:lnTo>
                  <a:pt x="120193" y="38039"/>
                </a:lnTo>
                <a:lnTo>
                  <a:pt x="124816" y="43291"/>
                </a:lnTo>
                <a:lnTo>
                  <a:pt x="129439" y="47321"/>
                </a:lnTo>
                <a:lnTo>
                  <a:pt x="134061" y="49854"/>
                </a:lnTo>
                <a:lnTo>
                  <a:pt x="138684" y="50719"/>
                </a:lnTo>
                <a:lnTo>
                  <a:pt x="143307" y="49854"/>
                </a:lnTo>
                <a:lnTo>
                  <a:pt x="147930" y="47321"/>
                </a:lnTo>
                <a:lnTo>
                  <a:pt x="152553" y="43291"/>
                </a:lnTo>
                <a:lnTo>
                  <a:pt x="157175" y="38039"/>
                </a:lnTo>
                <a:lnTo>
                  <a:pt x="161798" y="31923"/>
                </a:lnTo>
                <a:lnTo>
                  <a:pt x="166421" y="25359"/>
                </a:lnTo>
                <a:lnTo>
                  <a:pt x="171044" y="18796"/>
                </a:lnTo>
                <a:lnTo>
                  <a:pt x="175667" y="12680"/>
                </a:lnTo>
                <a:lnTo>
                  <a:pt x="180289" y="7427"/>
                </a:lnTo>
                <a:lnTo>
                  <a:pt x="184912" y="3397"/>
                </a:lnTo>
                <a:lnTo>
                  <a:pt x="189535" y="864"/>
                </a:lnTo>
                <a:lnTo>
                  <a:pt x="194158" y="0"/>
                </a:lnTo>
                <a:lnTo>
                  <a:pt x="198781" y="864"/>
                </a:lnTo>
                <a:lnTo>
                  <a:pt x="203403" y="3397"/>
                </a:lnTo>
                <a:lnTo>
                  <a:pt x="208026" y="7427"/>
                </a:lnTo>
                <a:lnTo>
                  <a:pt x="212649" y="12680"/>
                </a:lnTo>
                <a:lnTo>
                  <a:pt x="217272" y="18796"/>
                </a:lnTo>
                <a:lnTo>
                  <a:pt x="221895" y="25359"/>
                </a:lnTo>
              </a:path>
            </a:pathLst>
          </a:custGeom>
          <a:noFill/>
          <a:ln w="14265">
            <a:solidFill>
              <a:srgbClr val="E64B35">
                <a:alpha val="89999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 TCO absorption 3R"/>
          <p:cNvSpPr/>
          <p:nvPr/>
        </p:nvSpPr>
        <p:spPr>
          <a:xfrm>
            <a:off x="9582760" y="2405116"/>
            <a:ext cx="221894" cy="50719"/>
          </a:xfrm>
          <a:custGeom>
            <a:avLst/>
            <a:gdLst/>
            <a:ahLst/>
            <a:cxnLst/>
            <a:rect l="l" t="t" r="r" b="b"/>
            <a:pathLst>
              <a:path w="221894" h="50719">
                <a:moveTo>
                  <a:pt x="0" y="25359"/>
                </a:moveTo>
                <a:lnTo>
                  <a:pt x="4622" y="31923"/>
                </a:lnTo>
                <a:lnTo>
                  <a:pt x="9245" y="38039"/>
                </a:lnTo>
                <a:lnTo>
                  <a:pt x="13868" y="43291"/>
                </a:lnTo>
                <a:lnTo>
                  <a:pt x="18491" y="47321"/>
                </a:lnTo>
                <a:lnTo>
                  <a:pt x="23114" y="49854"/>
                </a:lnTo>
                <a:lnTo>
                  <a:pt x="27736" y="50719"/>
                </a:lnTo>
                <a:lnTo>
                  <a:pt x="32359" y="49854"/>
                </a:lnTo>
                <a:lnTo>
                  <a:pt x="36982" y="47321"/>
                </a:lnTo>
                <a:lnTo>
                  <a:pt x="41605" y="43291"/>
                </a:lnTo>
                <a:lnTo>
                  <a:pt x="46228" y="38039"/>
                </a:lnTo>
                <a:lnTo>
                  <a:pt x="50850" y="31923"/>
                </a:lnTo>
                <a:lnTo>
                  <a:pt x="55473" y="25359"/>
                </a:lnTo>
                <a:lnTo>
                  <a:pt x="60096" y="18796"/>
                </a:lnTo>
                <a:lnTo>
                  <a:pt x="64719" y="12680"/>
                </a:lnTo>
                <a:lnTo>
                  <a:pt x="69342" y="7427"/>
                </a:lnTo>
                <a:lnTo>
                  <a:pt x="73964" y="3397"/>
                </a:lnTo>
                <a:lnTo>
                  <a:pt x="78587" y="864"/>
                </a:lnTo>
                <a:lnTo>
                  <a:pt x="83210" y="0"/>
                </a:lnTo>
                <a:lnTo>
                  <a:pt x="87833" y="864"/>
                </a:lnTo>
                <a:lnTo>
                  <a:pt x="92456" y="3397"/>
                </a:lnTo>
                <a:lnTo>
                  <a:pt x="97078" y="7427"/>
                </a:lnTo>
                <a:lnTo>
                  <a:pt x="101701" y="12680"/>
                </a:lnTo>
                <a:lnTo>
                  <a:pt x="106324" y="18796"/>
                </a:lnTo>
                <a:lnTo>
                  <a:pt x="110947" y="25359"/>
                </a:lnTo>
                <a:lnTo>
                  <a:pt x="115570" y="31923"/>
                </a:lnTo>
                <a:lnTo>
                  <a:pt x="120192" y="38039"/>
                </a:lnTo>
                <a:lnTo>
                  <a:pt x="124815" y="43291"/>
                </a:lnTo>
                <a:lnTo>
                  <a:pt x="129438" y="47321"/>
                </a:lnTo>
                <a:lnTo>
                  <a:pt x="134061" y="49854"/>
                </a:lnTo>
                <a:lnTo>
                  <a:pt x="138684" y="50719"/>
                </a:lnTo>
                <a:lnTo>
                  <a:pt x="143306" y="49854"/>
                </a:lnTo>
                <a:lnTo>
                  <a:pt x="147929" y="47321"/>
                </a:lnTo>
                <a:lnTo>
                  <a:pt x="152552" y="43291"/>
                </a:lnTo>
                <a:lnTo>
                  <a:pt x="157175" y="38039"/>
                </a:lnTo>
                <a:lnTo>
                  <a:pt x="161798" y="31923"/>
                </a:lnTo>
                <a:lnTo>
                  <a:pt x="166420" y="25359"/>
                </a:lnTo>
                <a:lnTo>
                  <a:pt x="171043" y="18796"/>
                </a:lnTo>
                <a:lnTo>
                  <a:pt x="175666" y="12680"/>
                </a:lnTo>
                <a:lnTo>
                  <a:pt x="180289" y="7427"/>
                </a:lnTo>
                <a:lnTo>
                  <a:pt x="184912" y="3397"/>
                </a:lnTo>
                <a:lnTo>
                  <a:pt x="189534" y="864"/>
                </a:lnTo>
                <a:lnTo>
                  <a:pt x="194157" y="0"/>
                </a:lnTo>
                <a:lnTo>
                  <a:pt x="198780" y="864"/>
                </a:lnTo>
                <a:lnTo>
                  <a:pt x="203403" y="3397"/>
                </a:lnTo>
                <a:lnTo>
                  <a:pt x="208026" y="7427"/>
                </a:lnTo>
                <a:lnTo>
                  <a:pt x="212648" y="12680"/>
                </a:lnTo>
                <a:lnTo>
                  <a:pt x="217271" y="18796"/>
                </a:lnTo>
                <a:lnTo>
                  <a:pt x="221894" y="25359"/>
                </a:lnTo>
              </a:path>
            </a:pathLst>
          </a:custGeom>
          <a:noFill/>
          <a:ln w="14265">
            <a:solidFill>
              <a:srgbClr val="E64B35">
                <a:alpha val="89999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L ray emit"/>
          <p:cNvCxnSpPr/>
          <p:nvPr/>
        </p:nvCxnSpPr>
        <p:spPr>
          <a:xfrm flipV="1">
            <a:off x="3925245" y="1685544"/>
            <a:ext cx="823387" cy="823387"/>
          </a:xfrm>
          <a:prstGeom prst="line">
            <a:avLst/>
          </a:prstGeom>
          <a:ln w="75286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 ray down 1"/>
          <p:cNvCxnSpPr/>
          <p:nvPr/>
        </p:nvCxnSpPr>
        <p:spPr>
          <a:xfrm>
            <a:off x="4821540" y="1758452"/>
            <a:ext cx="827349" cy="827349"/>
          </a:xfrm>
          <a:prstGeom prst="line">
            <a:avLst/>
          </a:prstGeom>
          <a:ln w="57615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L ray up 1"/>
          <p:cNvCxnSpPr/>
          <p:nvPr/>
        </p:nvCxnSpPr>
        <p:spPr>
          <a:xfrm flipV="1">
            <a:off x="5750326" y="1685544"/>
            <a:ext cx="900258" cy="900257"/>
          </a:xfrm>
          <a:prstGeom prst="line">
            <a:avLst/>
          </a:prstGeom>
          <a:ln w="38450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 ray down 2"/>
          <p:cNvCxnSpPr/>
          <p:nvPr/>
        </p:nvCxnSpPr>
        <p:spPr>
          <a:xfrm>
            <a:off x="6723492" y="1758452"/>
            <a:ext cx="827349" cy="827349"/>
          </a:xfrm>
          <a:prstGeom prst="line">
            <a:avLst/>
          </a:prstGeom>
          <a:ln w="29425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 ray up 2"/>
          <p:cNvCxnSpPr/>
          <p:nvPr/>
        </p:nvCxnSpPr>
        <p:spPr>
          <a:xfrm flipV="1">
            <a:off x="7652278" y="1685544"/>
            <a:ext cx="900258" cy="900257"/>
          </a:xfrm>
          <a:prstGeom prst="line">
            <a:avLst/>
          </a:prstGeom>
          <a:ln w="19637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L ray down 3"/>
          <p:cNvCxnSpPr/>
          <p:nvPr/>
        </p:nvCxnSpPr>
        <p:spPr>
          <a:xfrm>
            <a:off x="8625444" y="1758452"/>
            <a:ext cx="827349" cy="827349"/>
          </a:xfrm>
          <a:prstGeom prst="line">
            <a:avLst/>
          </a:prstGeom>
          <a:ln w="15028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 ray up 3"/>
          <p:cNvCxnSpPr/>
          <p:nvPr/>
        </p:nvCxnSpPr>
        <p:spPr>
          <a:xfrm flipV="1">
            <a:off x="9554230" y="1685544"/>
            <a:ext cx="900258" cy="900257"/>
          </a:xfrm>
          <a:prstGeom prst="line">
            <a:avLst/>
          </a:prstGeom>
          <a:ln w="10029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 ray continues"/>
          <p:cNvCxnSpPr/>
          <p:nvPr/>
        </p:nvCxnSpPr>
        <p:spPr>
          <a:xfrm>
            <a:off x="10525811" y="1756867"/>
            <a:ext cx="166421" cy="166421"/>
          </a:xfrm>
          <a:prstGeom prst="line">
            <a:avLst/>
          </a:prstGeom>
          <a:ln w="7675">
            <a:solidFill>
              <a:srgbClr val="00A087">
                <a:alpha val="4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L outcoupled 1-1"/>
          <p:cNvCxnSpPr/>
          <p:nvPr/>
        </p:nvCxnSpPr>
        <p:spPr>
          <a:xfrm flipH="1" flipV="1">
            <a:off x="4258815" y="1088757"/>
            <a:ext cx="370945" cy="390895"/>
          </a:xfrm>
          <a:prstGeom prst="line">
            <a:avLst/>
          </a:prstGeom>
          <a:ln w="41407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L outcoupled 1-2"/>
          <p:cNvCxnSpPr/>
          <p:nvPr/>
        </p:nvCxnSpPr>
        <p:spPr>
          <a:xfrm flipH="1" flipV="1">
            <a:off x="4648903" y="827651"/>
            <a:ext cx="79008" cy="621054"/>
          </a:xfrm>
          <a:prstGeom prst="line">
            <a:avLst/>
          </a:prstGeom>
          <a:ln w="41407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L outcoupled 1-3"/>
          <p:cNvCxnSpPr/>
          <p:nvPr/>
        </p:nvCxnSpPr>
        <p:spPr>
          <a:xfrm flipV="1">
            <a:off x="4837692" y="994156"/>
            <a:ext cx="293144" cy="470956"/>
          </a:xfrm>
          <a:prstGeom prst="line">
            <a:avLst/>
          </a:prstGeom>
          <a:ln w="41407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L outcoupled 2-1"/>
          <p:cNvCxnSpPr/>
          <p:nvPr/>
        </p:nvCxnSpPr>
        <p:spPr>
          <a:xfrm flipH="1" flipV="1">
            <a:off x="6160767" y="1088757"/>
            <a:ext cx="370945" cy="390895"/>
          </a:xfrm>
          <a:prstGeom prst="line">
            <a:avLst/>
          </a:prstGeom>
          <a:ln w="21148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L outcoupled 2-2"/>
          <p:cNvCxnSpPr/>
          <p:nvPr/>
        </p:nvCxnSpPr>
        <p:spPr>
          <a:xfrm flipH="1" flipV="1">
            <a:off x="6550855" y="827651"/>
            <a:ext cx="79008" cy="621054"/>
          </a:xfrm>
          <a:prstGeom prst="line">
            <a:avLst/>
          </a:prstGeom>
          <a:ln w="21148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L outcoupled 2-3"/>
          <p:cNvCxnSpPr/>
          <p:nvPr/>
        </p:nvCxnSpPr>
        <p:spPr>
          <a:xfrm flipV="1">
            <a:off x="6739644" y="994156"/>
            <a:ext cx="293144" cy="470956"/>
          </a:xfrm>
          <a:prstGeom prst="line">
            <a:avLst/>
          </a:prstGeom>
          <a:ln w="21148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 outcoupled 3-1"/>
          <p:cNvCxnSpPr/>
          <p:nvPr/>
        </p:nvCxnSpPr>
        <p:spPr>
          <a:xfrm flipH="1" flipV="1">
            <a:off x="8062719" y="1088757"/>
            <a:ext cx="370945" cy="390895"/>
          </a:xfrm>
          <a:prstGeom prst="line">
            <a:avLst/>
          </a:prstGeom>
          <a:ln w="10801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L outcoupled 3-2"/>
          <p:cNvCxnSpPr/>
          <p:nvPr/>
        </p:nvCxnSpPr>
        <p:spPr>
          <a:xfrm flipH="1" flipV="1">
            <a:off x="8452807" y="827651"/>
            <a:ext cx="79008" cy="621054"/>
          </a:xfrm>
          <a:prstGeom prst="line">
            <a:avLst/>
          </a:prstGeom>
          <a:ln w="10801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L outcoupled 3-3"/>
          <p:cNvCxnSpPr/>
          <p:nvPr/>
        </p:nvCxnSpPr>
        <p:spPr>
          <a:xfrm flipV="1">
            <a:off x="8641596" y="994156"/>
            <a:ext cx="293144" cy="470956"/>
          </a:xfrm>
          <a:prstGeom prst="line">
            <a:avLst/>
          </a:prstGeom>
          <a:ln w="10801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 outcoupled 4-1"/>
          <p:cNvCxnSpPr/>
          <p:nvPr/>
        </p:nvCxnSpPr>
        <p:spPr>
          <a:xfrm flipH="1" flipV="1">
            <a:off x="9964671" y="1088757"/>
            <a:ext cx="370945" cy="390895"/>
          </a:xfrm>
          <a:prstGeom prst="line">
            <a:avLst/>
          </a:prstGeom>
          <a:ln w="7925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L outcoupled 4-2"/>
          <p:cNvCxnSpPr/>
          <p:nvPr/>
        </p:nvCxnSpPr>
        <p:spPr>
          <a:xfrm flipH="1" flipV="1">
            <a:off x="10354759" y="827651"/>
            <a:ext cx="79008" cy="621054"/>
          </a:xfrm>
          <a:prstGeom prst="line">
            <a:avLst/>
          </a:prstGeom>
          <a:ln w="7925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L outcoupled 4-3"/>
          <p:cNvCxnSpPr/>
          <p:nvPr/>
        </p:nvCxnSpPr>
        <p:spPr>
          <a:xfrm flipV="1">
            <a:off x="10543548" y="994156"/>
            <a:ext cx="293144" cy="470956"/>
          </a:xfrm>
          <a:prstGeom prst="line">
            <a:avLst/>
          </a:prstGeom>
          <a:ln w="7925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L ohmic loss 1L"/>
          <p:cNvSpPr/>
          <p:nvPr/>
        </p:nvSpPr>
        <p:spPr>
          <a:xfrm>
            <a:off x="5240975" y="2553854"/>
            <a:ext cx="358835" cy="70538"/>
          </a:xfrm>
          <a:custGeom>
            <a:avLst/>
            <a:gdLst/>
            <a:ahLst/>
            <a:cxnLst/>
            <a:rect l="l" t="t" r="r" b="b"/>
            <a:pathLst>
              <a:path w="358835" h="70538">
                <a:moveTo>
                  <a:pt x="358835" y="35117"/>
                </a:moveTo>
                <a:lnTo>
                  <a:pt x="351359" y="46503"/>
                </a:lnTo>
                <a:lnTo>
                  <a:pt x="343884" y="56680"/>
                </a:lnTo>
                <a:lnTo>
                  <a:pt x="336408" y="64568"/>
                </a:lnTo>
                <a:lnTo>
                  <a:pt x="328932" y="69331"/>
                </a:lnTo>
                <a:lnTo>
                  <a:pt x="321457" y="70462"/>
                </a:lnTo>
                <a:lnTo>
                  <a:pt x="313981" y="67842"/>
                </a:lnTo>
                <a:lnTo>
                  <a:pt x="306505" y="61748"/>
                </a:lnTo>
                <a:lnTo>
                  <a:pt x="299029" y="52828"/>
                </a:lnTo>
                <a:lnTo>
                  <a:pt x="291554" y="42027"/>
                </a:lnTo>
                <a:lnTo>
                  <a:pt x="284078" y="30494"/>
                </a:lnTo>
                <a:lnTo>
                  <a:pt x="276602" y="19451"/>
                </a:lnTo>
                <a:lnTo>
                  <a:pt x="269126" y="10071"/>
                </a:lnTo>
                <a:lnTo>
                  <a:pt x="261651" y="3349"/>
                </a:lnTo>
                <a:lnTo>
                  <a:pt x="254175" y="0"/>
                </a:lnTo>
                <a:lnTo>
                  <a:pt x="246699" y="377"/>
                </a:lnTo>
                <a:lnTo>
                  <a:pt x="239224" y="4442"/>
                </a:lnTo>
                <a:lnTo>
                  <a:pt x="231748" y="11763"/>
                </a:lnTo>
                <a:lnTo>
                  <a:pt x="224272" y="21562"/>
                </a:lnTo>
                <a:lnTo>
                  <a:pt x="216796" y="32801"/>
                </a:lnTo>
                <a:lnTo>
                  <a:pt x="209321" y="44285"/>
                </a:lnTo>
                <a:lnTo>
                  <a:pt x="201845" y="54796"/>
                </a:lnTo>
                <a:lnTo>
                  <a:pt x="194369" y="63218"/>
                </a:lnTo>
                <a:lnTo>
                  <a:pt x="186893" y="68658"/>
                </a:lnTo>
                <a:lnTo>
                  <a:pt x="179418" y="70538"/>
                </a:lnTo>
                <a:lnTo>
                  <a:pt x="171942" y="68658"/>
                </a:lnTo>
                <a:lnTo>
                  <a:pt x="164466" y="63218"/>
                </a:lnTo>
                <a:lnTo>
                  <a:pt x="156991" y="54796"/>
                </a:lnTo>
                <a:lnTo>
                  <a:pt x="149515" y="44285"/>
                </a:lnTo>
                <a:lnTo>
                  <a:pt x="142039" y="32801"/>
                </a:lnTo>
                <a:lnTo>
                  <a:pt x="134563" y="21562"/>
                </a:lnTo>
                <a:lnTo>
                  <a:pt x="127088" y="11763"/>
                </a:lnTo>
                <a:lnTo>
                  <a:pt x="119612" y="4442"/>
                </a:lnTo>
                <a:lnTo>
                  <a:pt x="112136" y="377"/>
                </a:lnTo>
                <a:lnTo>
                  <a:pt x="104660" y="0"/>
                </a:lnTo>
                <a:lnTo>
                  <a:pt x="97185" y="3349"/>
                </a:lnTo>
                <a:lnTo>
                  <a:pt x="89709" y="10071"/>
                </a:lnTo>
                <a:lnTo>
                  <a:pt x="82233" y="19451"/>
                </a:lnTo>
                <a:lnTo>
                  <a:pt x="74758" y="30494"/>
                </a:lnTo>
                <a:lnTo>
                  <a:pt x="67282" y="42027"/>
                </a:lnTo>
                <a:lnTo>
                  <a:pt x="59806" y="52828"/>
                </a:lnTo>
                <a:lnTo>
                  <a:pt x="52330" y="61748"/>
                </a:lnTo>
                <a:lnTo>
                  <a:pt x="44855" y="67842"/>
                </a:lnTo>
                <a:lnTo>
                  <a:pt x="37379" y="70462"/>
                </a:lnTo>
                <a:lnTo>
                  <a:pt x="29903" y="69331"/>
                </a:lnTo>
                <a:lnTo>
                  <a:pt x="22427" y="64568"/>
                </a:lnTo>
                <a:lnTo>
                  <a:pt x="14952" y="56680"/>
                </a:lnTo>
                <a:lnTo>
                  <a:pt x="7476" y="46503"/>
                </a:lnTo>
                <a:lnTo>
                  <a:pt x="0" y="35117"/>
                </a:lnTo>
              </a:path>
            </a:pathLst>
          </a:custGeom>
          <a:noFill/>
          <a:ln w="26299">
            <a:solidFill>
              <a:srgbClr val="E64B35">
                <a:alpha val="99000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L ohmic loss 1R"/>
          <p:cNvSpPr/>
          <p:nvPr/>
        </p:nvSpPr>
        <p:spPr>
          <a:xfrm>
            <a:off x="5799405" y="2553854"/>
            <a:ext cx="358835" cy="70538"/>
          </a:xfrm>
          <a:custGeom>
            <a:avLst/>
            <a:gdLst/>
            <a:ahLst/>
            <a:cxnLst/>
            <a:rect l="l" t="t" r="r" b="b"/>
            <a:pathLst>
              <a:path w="358835" h="70538">
                <a:moveTo>
                  <a:pt x="0" y="35117"/>
                </a:moveTo>
                <a:lnTo>
                  <a:pt x="7476" y="46503"/>
                </a:lnTo>
                <a:lnTo>
                  <a:pt x="14951" y="56680"/>
                </a:lnTo>
                <a:lnTo>
                  <a:pt x="22427" y="64568"/>
                </a:lnTo>
                <a:lnTo>
                  <a:pt x="29903" y="69331"/>
                </a:lnTo>
                <a:lnTo>
                  <a:pt x="37378" y="70462"/>
                </a:lnTo>
                <a:lnTo>
                  <a:pt x="44854" y="67842"/>
                </a:lnTo>
                <a:lnTo>
                  <a:pt x="52330" y="61748"/>
                </a:lnTo>
                <a:lnTo>
                  <a:pt x="59806" y="52828"/>
                </a:lnTo>
                <a:lnTo>
                  <a:pt x="67281" y="42027"/>
                </a:lnTo>
                <a:lnTo>
                  <a:pt x="74757" y="30494"/>
                </a:lnTo>
                <a:lnTo>
                  <a:pt x="82233" y="19451"/>
                </a:lnTo>
                <a:lnTo>
                  <a:pt x="89709" y="10071"/>
                </a:lnTo>
                <a:lnTo>
                  <a:pt x="97184" y="3349"/>
                </a:lnTo>
                <a:lnTo>
                  <a:pt x="104660" y="0"/>
                </a:lnTo>
                <a:lnTo>
                  <a:pt x="112136" y="377"/>
                </a:lnTo>
                <a:lnTo>
                  <a:pt x="119611" y="4442"/>
                </a:lnTo>
                <a:lnTo>
                  <a:pt x="127087" y="11763"/>
                </a:lnTo>
                <a:lnTo>
                  <a:pt x="134563" y="21562"/>
                </a:lnTo>
                <a:lnTo>
                  <a:pt x="142039" y="32801"/>
                </a:lnTo>
                <a:lnTo>
                  <a:pt x="149514" y="44285"/>
                </a:lnTo>
                <a:lnTo>
                  <a:pt x="156990" y="54796"/>
                </a:lnTo>
                <a:lnTo>
                  <a:pt x="164466" y="63218"/>
                </a:lnTo>
                <a:lnTo>
                  <a:pt x="171942" y="68658"/>
                </a:lnTo>
                <a:lnTo>
                  <a:pt x="179417" y="70538"/>
                </a:lnTo>
                <a:lnTo>
                  <a:pt x="186893" y="68658"/>
                </a:lnTo>
                <a:lnTo>
                  <a:pt x="194369" y="63218"/>
                </a:lnTo>
                <a:lnTo>
                  <a:pt x="201844" y="54796"/>
                </a:lnTo>
                <a:lnTo>
                  <a:pt x="209320" y="44285"/>
                </a:lnTo>
                <a:lnTo>
                  <a:pt x="216796" y="32801"/>
                </a:lnTo>
                <a:lnTo>
                  <a:pt x="224272" y="21562"/>
                </a:lnTo>
                <a:lnTo>
                  <a:pt x="231747" y="11763"/>
                </a:lnTo>
                <a:lnTo>
                  <a:pt x="239223" y="4442"/>
                </a:lnTo>
                <a:lnTo>
                  <a:pt x="246699" y="377"/>
                </a:lnTo>
                <a:lnTo>
                  <a:pt x="254175" y="0"/>
                </a:lnTo>
                <a:lnTo>
                  <a:pt x="261650" y="3349"/>
                </a:lnTo>
                <a:lnTo>
                  <a:pt x="269126" y="10071"/>
                </a:lnTo>
                <a:lnTo>
                  <a:pt x="276602" y="19451"/>
                </a:lnTo>
                <a:lnTo>
                  <a:pt x="284077" y="30494"/>
                </a:lnTo>
                <a:lnTo>
                  <a:pt x="291553" y="42027"/>
                </a:lnTo>
                <a:lnTo>
                  <a:pt x="299029" y="52828"/>
                </a:lnTo>
                <a:lnTo>
                  <a:pt x="306505" y="61748"/>
                </a:lnTo>
                <a:lnTo>
                  <a:pt x="313980" y="67842"/>
                </a:lnTo>
                <a:lnTo>
                  <a:pt x="321456" y="70462"/>
                </a:lnTo>
                <a:lnTo>
                  <a:pt x="328932" y="69331"/>
                </a:lnTo>
                <a:lnTo>
                  <a:pt x="336408" y="64568"/>
                </a:lnTo>
                <a:lnTo>
                  <a:pt x="343883" y="56680"/>
                </a:lnTo>
                <a:lnTo>
                  <a:pt x="351359" y="46503"/>
                </a:lnTo>
                <a:lnTo>
                  <a:pt x="358835" y="35117"/>
                </a:lnTo>
              </a:path>
            </a:pathLst>
          </a:custGeom>
          <a:noFill/>
          <a:ln w="26299">
            <a:solidFill>
              <a:srgbClr val="E64B35">
                <a:alpha val="99000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L absorption burst 1"/>
          <p:cNvSpPr/>
          <p:nvPr/>
        </p:nvSpPr>
        <p:spPr>
          <a:xfrm>
            <a:off x="5591885" y="2528798"/>
            <a:ext cx="215444" cy="215444"/>
          </a:xfrm>
          <a:prstGeom prst="star10">
            <a:avLst>
              <a:gd name="adj" fmla="val 40000"/>
              <a:gd name="hf" fmla="val 105146"/>
            </a:avLst>
          </a:prstGeom>
          <a:solidFill>
            <a:srgbClr val="FBDCD6">
              <a:alpha val="99000"/>
            </a:srgbClr>
          </a:solidFill>
          <a:ln w="7925">
            <a:solidFill>
              <a:srgbClr val="E64B35">
                <a:alpha val="9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L ohmic loss 2L"/>
          <p:cNvSpPr/>
          <p:nvPr/>
        </p:nvSpPr>
        <p:spPr>
          <a:xfrm>
            <a:off x="7343282" y="2565336"/>
            <a:ext cx="193387" cy="47475"/>
          </a:xfrm>
          <a:custGeom>
            <a:avLst/>
            <a:gdLst/>
            <a:ahLst/>
            <a:cxnLst/>
            <a:rect l="l" t="t" r="r" b="b"/>
            <a:pathLst>
              <a:path w="193387" h="47475">
                <a:moveTo>
                  <a:pt x="193387" y="23635"/>
                </a:moveTo>
                <a:lnTo>
                  <a:pt x="189358" y="31298"/>
                </a:lnTo>
                <a:lnTo>
                  <a:pt x="185329" y="38148"/>
                </a:lnTo>
                <a:lnTo>
                  <a:pt x="181300" y="43457"/>
                </a:lnTo>
                <a:lnTo>
                  <a:pt x="177271" y="46662"/>
                </a:lnTo>
                <a:lnTo>
                  <a:pt x="173243" y="47423"/>
                </a:lnTo>
                <a:lnTo>
                  <a:pt x="169214" y="45660"/>
                </a:lnTo>
                <a:lnTo>
                  <a:pt x="165185" y="41559"/>
                </a:lnTo>
                <a:lnTo>
                  <a:pt x="161156" y="35555"/>
                </a:lnTo>
                <a:lnTo>
                  <a:pt x="157127" y="28286"/>
                </a:lnTo>
                <a:lnTo>
                  <a:pt x="153098" y="20524"/>
                </a:lnTo>
                <a:lnTo>
                  <a:pt x="149069" y="13091"/>
                </a:lnTo>
                <a:lnTo>
                  <a:pt x="145040" y="6778"/>
                </a:lnTo>
                <a:lnTo>
                  <a:pt x="141012" y="2254"/>
                </a:lnTo>
                <a:lnTo>
                  <a:pt x="136983" y="0"/>
                </a:lnTo>
                <a:lnTo>
                  <a:pt x="132954" y="254"/>
                </a:lnTo>
                <a:lnTo>
                  <a:pt x="128925" y="2990"/>
                </a:lnTo>
                <a:lnTo>
                  <a:pt x="124896" y="7917"/>
                </a:lnTo>
                <a:lnTo>
                  <a:pt x="120867" y="14512"/>
                </a:lnTo>
                <a:lnTo>
                  <a:pt x="116838" y="22076"/>
                </a:lnTo>
                <a:lnTo>
                  <a:pt x="112809" y="29805"/>
                </a:lnTo>
                <a:lnTo>
                  <a:pt x="108780" y="36880"/>
                </a:lnTo>
                <a:lnTo>
                  <a:pt x="104752" y="42548"/>
                </a:lnTo>
                <a:lnTo>
                  <a:pt x="100723" y="46209"/>
                </a:lnTo>
                <a:lnTo>
                  <a:pt x="96694" y="47475"/>
                </a:lnTo>
                <a:lnTo>
                  <a:pt x="92665" y="46209"/>
                </a:lnTo>
                <a:lnTo>
                  <a:pt x="88636" y="42548"/>
                </a:lnTo>
                <a:lnTo>
                  <a:pt x="84607" y="36880"/>
                </a:lnTo>
                <a:lnTo>
                  <a:pt x="80578" y="29805"/>
                </a:lnTo>
                <a:lnTo>
                  <a:pt x="76549" y="22076"/>
                </a:lnTo>
                <a:lnTo>
                  <a:pt x="72520" y="14512"/>
                </a:lnTo>
                <a:lnTo>
                  <a:pt x="68492" y="7917"/>
                </a:lnTo>
                <a:lnTo>
                  <a:pt x="64463" y="2990"/>
                </a:lnTo>
                <a:lnTo>
                  <a:pt x="60434" y="254"/>
                </a:lnTo>
                <a:lnTo>
                  <a:pt x="56405" y="0"/>
                </a:lnTo>
                <a:lnTo>
                  <a:pt x="52376" y="2254"/>
                </a:lnTo>
                <a:lnTo>
                  <a:pt x="48347" y="6778"/>
                </a:lnTo>
                <a:lnTo>
                  <a:pt x="44318" y="13091"/>
                </a:lnTo>
                <a:lnTo>
                  <a:pt x="40289" y="20524"/>
                </a:lnTo>
                <a:lnTo>
                  <a:pt x="36260" y="28286"/>
                </a:lnTo>
                <a:lnTo>
                  <a:pt x="32232" y="35555"/>
                </a:lnTo>
                <a:lnTo>
                  <a:pt x="28203" y="41559"/>
                </a:lnTo>
                <a:lnTo>
                  <a:pt x="24174" y="45660"/>
                </a:lnTo>
                <a:lnTo>
                  <a:pt x="20145" y="47423"/>
                </a:lnTo>
                <a:lnTo>
                  <a:pt x="16116" y="46662"/>
                </a:lnTo>
                <a:lnTo>
                  <a:pt x="12087" y="43457"/>
                </a:lnTo>
                <a:lnTo>
                  <a:pt x="8058" y="38148"/>
                </a:lnTo>
                <a:lnTo>
                  <a:pt x="4029" y="31298"/>
                </a:lnTo>
                <a:lnTo>
                  <a:pt x="0" y="23635"/>
                </a:lnTo>
              </a:path>
            </a:pathLst>
          </a:custGeom>
          <a:noFill/>
          <a:ln w="19318">
            <a:solidFill>
              <a:srgbClr val="E64B35">
                <a:alpha val="70003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L ohmic loss 2R"/>
          <p:cNvSpPr/>
          <p:nvPr/>
        </p:nvSpPr>
        <p:spPr>
          <a:xfrm>
            <a:off x="7666450" y="2565336"/>
            <a:ext cx="193387" cy="47475"/>
          </a:xfrm>
          <a:custGeom>
            <a:avLst/>
            <a:gdLst/>
            <a:ahLst/>
            <a:cxnLst/>
            <a:rect l="l" t="t" r="r" b="b"/>
            <a:pathLst>
              <a:path w="193387" h="47475">
                <a:moveTo>
                  <a:pt x="0" y="23635"/>
                </a:moveTo>
                <a:lnTo>
                  <a:pt x="4029" y="31298"/>
                </a:lnTo>
                <a:lnTo>
                  <a:pt x="8058" y="38148"/>
                </a:lnTo>
                <a:lnTo>
                  <a:pt x="12087" y="43457"/>
                </a:lnTo>
                <a:lnTo>
                  <a:pt x="16116" y="46662"/>
                </a:lnTo>
                <a:lnTo>
                  <a:pt x="20144" y="47423"/>
                </a:lnTo>
                <a:lnTo>
                  <a:pt x="24173" y="45660"/>
                </a:lnTo>
                <a:lnTo>
                  <a:pt x="28202" y="41559"/>
                </a:lnTo>
                <a:lnTo>
                  <a:pt x="32231" y="35555"/>
                </a:lnTo>
                <a:lnTo>
                  <a:pt x="36260" y="28286"/>
                </a:lnTo>
                <a:lnTo>
                  <a:pt x="40289" y="20524"/>
                </a:lnTo>
                <a:lnTo>
                  <a:pt x="44318" y="13091"/>
                </a:lnTo>
                <a:lnTo>
                  <a:pt x="48347" y="6778"/>
                </a:lnTo>
                <a:lnTo>
                  <a:pt x="52375" y="2254"/>
                </a:lnTo>
                <a:lnTo>
                  <a:pt x="56404" y="0"/>
                </a:lnTo>
                <a:lnTo>
                  <a:pt x="60433" y="254"/>
                </a:lnTo>
                <a:lnTo>
                  <a:pt x="64462" y="2990"/>
                </a:lnTo>
                <a:lnTo>
                  <a:pt x="68491" y="7917"/>
                </a:lnTo>
                <a:lnTo>
                  <a:pt x="72520" y="14512"/>
                </a:lnTo>
                <a:lnTo>
                  <a:pt x="76549" y="22076"/>
                </a:lnTo>
                <a:lnTo>
                  <a:pt x="80578" y="29805"/>
                </a:lnTo>
                <a:lnTo>
                  <a:pt x="84607" y="36880"/>
                </a:lnTo>
                <a:lnTo>
                  <a:pt x="88635" y="42548"/>
                </a:lnTo>
                <a:lnTo>
                  <a:pt x="92664" y="46209"/>
                </a:lnTo>
                <a:lnTo>
                  <a:pt x="96693" y="47475"/>
                </a:lnTo>
                <a:lnTo>
                  <a:pt x="100722" y="46209"/>
                </a:lnTo>
                <a:lnTo>
                  <a:pt x="104751" y="42548"/>
                </a:lnTo>
                <a:lnTo>
                  <a:pt x="108780" y="36880"/>
                </a:lnTo>
                <a:lnTo>
                  <a:pt x="112809" y="29805"/>
                </a:lnTo>
                <a:lnTo>
                  <a:pt x="116838" y="22076"/>
                </a:lnTo>
                <a:lnTo>
                  <a:pt x="120867" y="14512"/>
                </a:lnTo>
                <a:lnTo>
                  <a:pt x="124895" y="7917"/>
                </a:lnTo>
                <a:lnTo>
                  <a:pt x="128924" y="2990"/>
                </a:lnTo>
                <a:lnTo>
                  <a:pt x="132953" y="254"/>
                </a:lnTo>
                <a:lnTo>
                  <a:pt x="136982" y="0"/>
                </a:lnTo>
                <a:lnTo>
                  <a:pt x="141011" y="2254"/>
                </a:lnTo>
                <a:lnTo>
                  <a:pt x="145040" y="6778"/>
                </a:lnTo>
                <a:lnTo>
                  <a:pt x="149069" y="13091"/>
                </a:lnTo>
                <a:lnTo>
                  <a:pt x="153098" y="20524"/>
                </a:lnTo>
                <a:lnTo>
                  <a:pt x="157127" y="28286"/>
                </a:lnTo>
                <a:lnTo>
                  <a:pt x="161155" y="35555"/>
                </a:lnTo>
                <a:lnTo>
                  <a:pt x="165184" y="41559"/>
                </a:lnTo>
                <a:lnTo>
                  <a:pt x="169213" y="45660"/>
                </a:lnTo>
                <a:lnTo>
                  <a:pt x="173242" y="47423"/>
                </a:lnTo>
                <a:lnTo>
                  <a:pt x="177271" y="46662"/>
                </a:lnTo>
                <a:lnTo>
                  <a:pt x="181300" y="43457"/>
                </a:lnTo>
                <a:lnTo>
                  <a:pt x="185329" y="38148"/>
                </a:lnTo>
                <a:lnTo>
                  <a:pt x="189358" y="31298"/>
                </a:lnTo>
                <a:lnTo>
                  <a:pt x="193387" y="23635"/>
                </a:lnTo>
              </a:path>
            </a:pathLst>
          </a:custGeom>
          <a:noFill/>
          <a:ln w="19318">
            <a:solidFill>
              <a:srgbClr val="E64B35">
                <a:alpha val="70003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L absorption burst 2"/>
          <p:cNvSpPr/>
          <p:nvPr/>
        </p:nvSpPr>
        <p:spPr>
          <a:xfrm>
            <a:off x="7528744" y="2563705"/>
            <a:ext cx="145631" cy="145631"/>
          </a:xfrm>
          <a:prstGeom prst="star10">
            <a:avLst>
              <a:gd name="adj" fmla="val 40000"/>
              <a:gd name="hf" fmla="val 105146"/>
            </a:avLst>
          </a:prstGeom>
          <a:solidFill>
            <a:srgbClr val="FBDCD6">
              <a:alpha val="70003"/>
            </a:srgbClr>
          </a:solidFill>
          <a:ln w="7925">
            <a:solidFill>
              <a:srgbClr val="E64B35">
                <a:alpha val="70003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 ohmic loss 3L"/>
          <p:cNvSpPr/>
          <p:nvPr/>
        </p:nvSpPr>
        <p:spPr>
          <a:xfrm>
            <a:off x="9333169" y="2570023"/>
            <a:ext cx="125844" cy="38060"/>
          </a:xfrm>
          <a:custGeom>
            <a:avLst/>
            <a:gdLst/>
            <a:ahLst/>
            <a:cxnLst/>
            <a:rect l="l" t="t" r="r" b="b"/>
            <a:pathLst>
              <a:path w="125844" h="38060">
                <a:moveTo>
                  <a:pt x="125844" y="18948"/>
                </a:moveTo>
                <a:lnTo>
                  <a:pt x="123222" y="25091"/>
                </a:lnTo>
                <a:lnTo>
                  <a:pt x="120601" y="30582"/>
                </a:lnTo>
                <a:lnTo>
                  <a:pt x="117979" y="34839"/>
                </a:lnTo>
                <a:lnTo>
                  <a:pt x="115357" y="37408"/>
                </a:lnTo>
                <a:lnTo>
                  <a:pt x="112735" y="38019"/>
                </a:lnTo>
                <a:lnTo>
                  <a:pt x="110114" y="36605"/>
                </a:lnTo>
                <a:lnTo>
                  <a:pt x="107492" y="33317"/>
                </a:lnTo>
                <a:lnTo>
                  <a:pt x="104870" y="28504"/>
                </a:lnTo>
                <a:lnTo>
                  <a:pt x="102248" y="22677"/>
                </a:lnTo>
                <a:lnTo>
                  <a:pt x="99627" y="16454"/>
                </a:lnTo>
                <a:lnTo>
                  <a:pt x="97005" y="10495"/>
                </a:lnTo>
                <a:lnTo>
                  <a:pt x="94383" y="5434"/>
                </a:lnTo>
                <a:lnTo>
                  <a:pt x="91761" y="1808"/>
                </a:lnTo>
                <a:lnTo>
                  <a:pt x="89140" y="0"/>
                </a:lnTo>
                <a:lnTo>
                  <a:pt x="86518" y="204"/>
                </a:lnTo>
                <a:lnTo>
                  <a:pt x="83896" y="2397"/>
                </a:lnTo>
                <a:lnTo>
                  <a:pt x="81274" y="6347"/>
                </a:lnTo>
                <a:lnTo>
                  <a:pt x="78653" y="11635"/>
                </a:lnTo>
                <a:lnTo>
                  <a:pt x="76031" y="17698"/>
                </a:lnTo>
                <a:lnTo>
                  <a:pt x="73409" y="23895"/>
                </a:lnTo>
                <a:lnTo>
                  <a:pt x="70787" y="29566"/>
                </a:lnTo>
                <a:lnTo>
                  <a:pt x="68166" y="34110"/>
                </a:lnTo>
                <a:lnTo>
                  <a:pt x="65544" y="37045"/>
                </a:lnTo>
                <a:lnTo>
                  <a:pt x="62922" y="38060"/>
                </a:lnTo>
                <a:lnTo>
                  <a:pt x="60300" y="37045"/>
                </a:lnTo>
                <a:lnTo>
                  <a:pt x="57679" y="34110"/>
                </a:lnTo>
                <a:lnTo>
                  <a:pt x="55057" y="29566"/>
                </a:lnTo>
                <a:lnTo>
                  <a:pt x="52435" y="23895"/>
                </a:lnTo>
                <a:lnTo>
                  <a:pt x="49813" y="17698"/>
                </a:lnTo>
                <a:lnTo>
                  <a:pt x="47192" y="11635"/>
                </a:lnTo>
                <a:lnTo>
                  <a:pt x="44570" y="6347"/>
                </a:lnTo>
                <a:lnTo>
                  <a:pt x="41948" y="2397"/>
                </a:lnTo>
                <a:lnTo>
                  <a:pt x="39326" y="204"/>
                </a:lnTo>
                <a:lnTo>
                  <a:pt x="36705" y="0"/>
                </a:lnTo>
                <a:lnTo>
                  <a:pt x="34083" y="1808"/>
                </a:lnTo>
                <a:lnTo>
                  <a:pt x="31461" y="5434"/>
                </a:lnTo>
                <a:lnTo>
                  <a:pt x="28839" y="10495"/>
                </a:lnTo>
                <a:lnTo>
                  <a:pt x="26218" y="16454"/>
                </a:lnTo>
                <a:lnTo>
                  <a:pt x="23596" y="22677"/>
                </a:lnTo>
                <a:lnTo>
                  <a:pt x="20974" y="28504"/>
                </a:lnTo>
                <a:lnTo>
                  <a:pt x="18352" y="33317"/>
                </a:lnTo>
                <a:lnTo>
                  <a:pt x="15731" y="36605"/>
                </a:lnTo>
                <a:lnTo>
                  <a:pt x="13109" y="38019"/>
                </a:lnTo>
                <a:lnTo>
                  <a:pt x="10487" y="37408"/>
                </a:lnTo>
                <a:lnTo>
                  <a:pt x="7865" y="34839"/>
                </a:lnTo>
                <a:lnTo>
                  <a:pt x="5244" y="30582"/>
                </a:lnTo>
                <a:lnTo>
                  <a:pt x="2622" y="25091"/>
                </a:lnTo>
                <a:lnTo>
                  <a:pt x="0" y="18948"/>
                </a:lnTo>
              </a:path>
            </a:pathLst>
          </a:custGeom>
          <a:noFill/>
          <a:ln w="15240">
            <a:solidFill>
              <a:srgbClr val="E64B35">
                <a:alpha val="58166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 ohmic loss 3R"/>
          <p:cNvSpPr/>
          <p:nvPr/>
        </p:nvSpPr>
        <p:spPr>
          <a:xfrm>
            <a:off x="9548010" y="2570023"/>
            <a:ext cx="125844" cy="38060"/>
          </a:xfrm>
          <a:custGeom>
            <a:avLst/>
            <a:gdLst/>
            <a:ahLst/>
            <a:cxnLst/>
            <a:rect l="l" t="t" r="r" b="b"/>
            <a:pathLst>
              <a:path w="125844" h="38060">
                <a:moveTo>
                  <a:pt x="0" y="18948"/>
                </a:moveTo>
                <a:lnTo>
                  <a:pt x="2622" y="25091"/>
                </a:lnTo>
                <a:lnTo>
                  <a:pt x="5243" y="30582"/>
                </a:lnTo>
                <a:lnTo>
                  <a:pt x="7865" y="34839"/>
                </a:lnTo>
                <a:lnTo>
                  <a:pt x="10487" y="37408"/>
                </a:lnTo>
                <a:lnTo>
                  <a:pt x="13109" y="38019"/>
                </a:lnTo>
                <a:lnTo>
                  <a:pt x="15730" y="36605"/>
                </a:lnTo>
                <a:lnTo>
                  <a:pt x="18352" y="33317"/>
                </a:lnTo>
                <a:lnTo>
                  <a:pt x="20974" y="28504"/>
                </a:lnTo>
                <a:lnTo>
                  <a:pt x="23596" y="22677"/>
                </a:lnTo>
                <a:lnTo>
                  <a:pt x="26217" y="16454"/>
                </a:lnTo>
                <a:lnTo>
                  <a:pt x="28839" y="10495"/>
                </a:lnTo>
                <a:lnTo>
                  <a:pt x="31461" y="5434"/>
                </a:lnTo>
                <a:lnTo>
                  <a:pt x="34083" y="1808"/>
                </a:lnTo>
                <a:lnTo>
                  <a:pt x="36704" y="0"/>
                </a:lnTo>
                <a:lnTo>
                  <a:pt x="39326" y="204"/>
                </a:lnTo>
                <a:lnTo>
                  <a:pt x="41948" y="2397"/>
                </a:lnTo>
                <a:lnTo>
                  <a:pt x="44570" y="6347"/>
                </a:lnTo>
                <a:lnTo>
                  <a:pt x="47191" y="11635"/>
                </a:lnTo>
                <a:lnTo>
                  <a:pt x="49813" y="17698"/>
                </a:lnTo>
                <a:lnTo>
                  <a:pt x="52435" y="23895"/>
                </a:lnTo>
                <a:lnTo>
                  <a:pt x="55057" y="29566"/>
                </a:lnTo>
                <a:lnTo>
                  <a:pt x="57678" y="34110"/>
                </a:lnTo>
                <a:lnTo>
                  <a:pt x="60300" y="37045"/>
                </a:lnTo>
                <a:lnTo>
                  <a:pt x="62922" y="38060"/>
                </a:lnTo>
                <a:lnTo>
                  <a:pt x="65544" y="37045"/>
                </a:lnTo>
                <a:lnTo>
                  <a:pt x="68165" y="34110"/>
                </a:lnTo>
                <a:lnTo>
                  <a:pt x="70787" y="29566"/>
                </a:lnTo>
                <a:lnTo>
                  <a:pt x="73409" y="23895"/>
                </a:lnTo>
                <a:lnTo>
                  <a:pt x="76031" y="17698"/>
                </a:lnTo>
                <a:lnTo>
                  <a:pt x="78652" y="11635"/>
                </a:lnTo>
                <a:lnTo>
                  <a:pt x="81274" y="6347"/>
                </a:lnTo>
                <a:lnTo>
                  <a:pt x="83896" y="2397"/>
                </a:lnTo>
                <a:lnTo>
                  <a:pt x="86518" y="204"/>
                </a:lnTo>
                <a:lnTo>
                  <a:pt x="89139" y="0"/>
                </a:lnTo>
                <a:lnTo>
                  <a:pt x="91761" y="1808"/>
                </a:lnTo>
                <a:lnTo>
                  <a:pt x="94383" y="5434"/>
                </a:lnTo>
                <a:lnTo>
                  <a:pt x="97005" y="10495"/>
                </a:lnTo>
                <a:lnTo>
                  <a:pt x="99626" y="16454"/>
                </a:lnTo>
                <a:lnTo>
                  <a:pt x="102248" y="22677"/>
                </a:lnTo>
                <a:lnTo>
                  <a:pt x="104870" y="28504"/>
                </a:lnTo>
                <a:lnTo>
                  <a:pt x="107492" y="33317"/>
                </a:lnTo>
                <a:lnTo>
                  <a:pt x="110113" y="36605"/>
                </a:lnTo>
                <a:lnTo>
                  <a:pt x="112735" y="38019"/>
                </a:lnTo>
                <a:lnTo>
                  <a:pt x="115357" y="37408"/>
                </a:lnTo>
                <a:lnTo>
                  <a:pt x="117979" y="34839"/>
                </a:lnTo>
                <a:lnTo>
                  <a:pt x="120600" y="30582"/>
                </a:lnTo>
                <a:lnTo>
                  <a:pt x="123222" y="25091"/>
                </a:lnTo>
                <a:lnTo>
                  <a:pt x="125844" y="18948"/>
                </a:lnTo>
              </a:path>
            </a:pathLst>
          </a:custGeom>
          <a:noFill/>
          <a:ln w="15240">
            <a:solidFill>
              <a:srgbClr val="E64B35">
                <a:alpha val="58166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L absorption burst 3"/>
          <p:cNvSpPr/>
          <p:nvPr/>
        </p:nvSpPr>
        <p:spPr>
          <a:xfrm>
            <a:off x="9451088" y="2584097"/>
            <a:ext cx="104847" cy="104847"/>
          </a:xfrm>
          <a:prstGeom prst="star10">
            <a:avLst>
              <a:gd name="adj" fmla="val 40000"/>
              <a:gd name="hf" fmla="val 105146"/>
            </a:avLst>
          </a:prstGeom>
          <a:solidFill>
            <a:srgbClr val="FBDCD6">
              <a:alpha val="58166"/>
            </a:srgbClr>
          </a:solidFill>
          <a:ln w="7925">
            <a:solidFill>
              <a:srgbClr val="E64B35">
                <a:alpha val="58166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L emitter"/>
          <p:cNvSpPr/>
          <p:nvPr/>
        </p:nvSpPr>
        <p:spPr>
          <a:xfrm>
            <a:off x="3801618" y="2497836"/>
            <a:ext cx="134722" cy="134722"/>
          </a:xfrm>
          <a:prstGeom prst="star8">
            <a:avLst>
              <a:gd name="adj" fmla="val 40000"/>
            </a:avLst>
          </a:prstGeom>
          <a:solidFill>
            <a:srgbClr val="E8901F"/>
          </a:solidFill>
          <a:ln w="7925">
            <a:solidFill>
              <a:srgbClr val="6F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L emitter core"/>
          <p:cNvSpPr/>
          <p:nvPr/>
        </p:nvSpPr>
        <p:spPr>
          <a:xfrm>
            <a:off x="3849959" y="2546177"/>
            <a:ext cx="38039" cy="38039"/>
          </a:xfrm>
          <a:prstGeom prst="ellipse">
            <a:avLst/>
          </a:prstGeom>
          <a:solidFill>
            <a:srgbClr val="FFF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itle 1"/>
          <p:cNvSpPr txBox="1"/>
          <p:nvPr/>
        </p:nvSpPr>
        <p:spPr>
          <a:xfrm>
            <a:off x="4352392" y="264310"/>
            <a:ext cx="5547360" cy="3994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10" b="1">
                <a:solidFill>
                  <a:srgbClr val="1A1A1A"/>
                </a:solidFill>
                <a:latin typeface="Arial"/>
              </a:rPr>
              <a:t>Conventional metal reflector</a:t>
            </a:r>
          </a:p>
        </p:txBody>
      </p:sp>
      <p:sp>
        <p:nvSpPr>
          <p:cNvPr id="59" name="subtitle 1"/>
          <p:cNvSpPr txBox="1"/>
          <p:nvPr/>
        </p:nvSpPr>
        <p:spPr>
          <a:xfrm>
            <a:off x="4748632" y="515527"/>
            <a:ext cx="4754880" cy="3043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8" b="0">
                <a:solidFill>
                  <a:srgbClr val="55585C"/>
                </a:solidFill>
                <a:latin typeface="Arial"/>
              </a:rPr>
              <a:t>large absorption per round trip — the beam dies out within a few passes</a:t>
            </a:r>
          </a:p>
        </p:txBody>
      </p:sp>
      <p:sp>
        <p:nvSpPr>
          <p:cNvPr id="60" name="key 1: Outcoupling structure"/>
          <p:cNvSpPr txBox="1"/>
          <p:nvPr/>
        </p:nvSpPr>
        <p:spPr>
          <a:xfrm>
            <a:off x="1348892" y="1356189"/>
            <a:ext cx="2060448" cy="26627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73" b="0">
                <a:solidFill>
                  <a:srgbClr val="55585C"/>
                </a:solidFill>
                <a:latin typeface="Arial"/>
              </a:rPr>
              <a:t>Outcoupling structure</a:t>
            </a:r>
          </a:p>
        </p:txBody>
      </p:sp>
      <p:cxnSp>
        <p:nvCxnSpPr>
          <p:cNvPr id="61" name="key leader 1: Outcoupling structure"/>
          <p:cNvCxnSpPr/>
          <p:nvPr/>
        </p:nvCxnSpPr>
        <p:spPr>
          <a:xfrm>
            <a:off x="3456889" y="1487424"/>
            <a:ext cx="63399" cy="15850"/>
          </a:xfrm>
          <a:prstGeom prst="line">
            <a:avLst/>
          </a:prstGeom>
          <a:ln w="7132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key 1: Glass substrate"/>
          <p:cNvSpPr txBox="1"/>
          <p:nvPr/>
        </p:nvSpPr>
        <p:spPr>
          <a:xfrm>
            <a:off x="1348892" y="1926775"/>
            <a:ext cx="2060448" cy="26627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73" b="0">
                <a:solidFill>
                  <a:srgbClr val="55585C"/>
                </a:solidFill>
                <a:latin typeface="Arial"/>
              </a:rPr>
              <a:t>Glass substrate</a:t>
            </a:r>
          </a:p>
        </p:txBody>
      </p:sp>
      <p:cxnSp>
        <p:nvCxnSpPr>
          <p:cNvPr id="63" name="key leader 1: Glass substrate"/>
          <p:cNvCxnSpPr/>
          <p:nvPr/>
        </p:nvCxnSpPr>
        <p:spPr>
          <a:xfrm flipV="1">
            <a:off x="3456889" y="2026310"/>
            <a:ext cx="63399" cy="31700"/>
          </a:xfrm>
          <a:prstGeom prst="line">
            <a:avLst/>
          </a:prstGeom>
          <a:ln w="7132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key 1: Transparent conductive oxide (TCO)"/>
          <p:cNvSpPr txBox="1"/>
          <p:nvPr/>
        </p:nvSpPr>
        <p:spPr>
          <a:xfrm>
            <a:off x="1348892" y="2251692"/>
            <a:ext cx="2060448" cy="26627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73" b="0">
                <a:solidFill>
                  <a:srgbClr val="55585C"/>
                </a:solidFill>
                <a:latin typeface="Arial"/>
              </a:rPr>
              <a:t>Transparent conductive oxide (TCO)</a:t>
            </a:r>
          </a:p>
        </p:txBody>
      </p:sp>
      <p:cxnSp>
        <p:nvCxnSpPr>
          <p:cNvPr id="65" name="key leader 1: Transparent conductive oxide (TCO)"/>
          <p:cNvCxnSpPr/>
          <p:nvPr/>
        </p:nvCxnSpPr>
        <p:spPr>
          <a:xfrm>
            <a:off x="3456889" y="2382926"/>
            <a:ext cx="63399" cy="47549"/>
          </a:xfrm>
          <a:prstGeom prst="line">
            <a:avLst/>
          </a:prstGeom>
          <a:ln w="7132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key 1: Organic layers"/>
          <p:cNvSpPr txBox="1"/>
          <p:nvPr/>
        </p:nvSpPr>
        <p:spPr>
          <a:xfrm>
            <a:off x="1348892" y="2481511"/>
            <a:ext cx="2060448" cy="26627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73" b="0">
                <a:solidFill>
                  <a:srgbClr val="55585C"/>
                </a:solidFill>
                <a:latin typeface="Arial"/>
              </a:rPr>
              <a:t>Organic layers</a:t>
            </a:r>
          </a:p>
        </p:txBody>
      </p:sp>
      <p:cxnSp>
        <p:nvCxnSpPr>
          <p:cNvPr id="67" name="key leader 1: Organic layers"/>
          <p:cNvCxnSpPr/>
          <p:nvPr/>
        </p:nvCxnSpPr>
        <p:spPr>
          <a:xfrm flipV="1">
            <a:off x="3456889" y="2565197"/>
            <a:ext cx="63399" cy="47549"/>
          </a:xfrm>
          <a:prstGeom prst="line">
            <a:avLst/>
          </a:prstGeom>
          <a:ln w="7132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key 1: Conventional metal electrode"/>
          <p:cNvSpPr txBox="1"/>
          <p:nvPr/>
        </p:nvSpPr>
        <p:spPr>
          <a:xfrm>
            <a:off x="1348892" y="2687556"/>
            <a:ext cx="2060448" cy="26627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73" b="0">
                <a:solidFill>
                  <a:srgbClr val="55585C"/>
                </a:solidFill>
                <a:latin typeface="Arial"/>
              </a:rPr>
              <a:t>Conventional metal electrode</a:t>
            </a:r>
          </a:p>
        </p:txBody>
      </p:sp>
      <p:cxnSp>
        <p:nvCxnSpPr>
          <p:cNvPr id="69" name="key leader 1: Conventional metal electrode"/>
          <p:cNvCxnSpPr/>
          <p:nvPr/>
        </p:nvCxnSpPr>
        <p:spPr>
          <a:xfrm flipV="1">
            <a:off x="3456889" y="2795016"/>
            <a:ext cx="63399" cy="23774"/>
          </a:xfrm>
          <a:prstGeom prst="line">
            <a:avLst/>
          </a:prstGeom>
          <a:ln w="7132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 lens 01"/>
          <p:cNvSpPr/>
          <p:nvPr/>
        </p:nvSpPr>
        <p:spPr>
          <a:xfrm>
            <a:off x="3559912" y="4340352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 lens 02"/>
          <p:cNvSpPr/>
          <p:nvPr/>
        </p:nvSpPr>
        <p:spPr>
          <a:xfrm>
            <a:off x="4035400" y="4340352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 lens 03"/>
          <p:cNvSpPr/>
          <p:nvPr/>
        </p:nvSpPr>
        <p:spPr>
          <a:xfrm>
            <a:off x="4510888" y="4340352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 lens 04"/>
          <p:cNvSpPr/>
          <p:nvPr/>
        </p:nvSpPr>
        <p:spPr>
          <a:xfrm>
            <a:off x="4986376" y="4340352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 lens 05"/>
          <p:cNvSpPr/>
          <p:nvPr/>
        </p:nvSpPr>
        <p:spPr>
          <a:xfrm>
            <a:off x="5461864" y="4340352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 lens 06"/>
          <p:cNvSpPr/>
          <p:nvPr/>
        </p:nvSpPr>
        <p:spPr>
          <a:xfrm>
            <a:off x="5937352" y="4340352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 lens 07"/>
          <p:cNvSpPr/>
          <p:nvPr/>
        </p:nvSpPr>
        <p:spPr>
          <a:xfrm>
            <a:off x="6412840" y="4340352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 lens 08"/>
          <p:cNvSpPr/>
          <p:nvPr/>
        </p:nvSpPr>
        <p:spPr>
          <a:xfrm>
            <a:off x="6888328" y="4340352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 lens 09"/>
          <p:cNvSpPr/>
          <p:nvPr/>
        </p:nvSpPr>
        <p:spPr>
          <a:xfrm>
            <a:off x="7363816" y="4340352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 lens 10"/>
          <p:cNvSpPr/>
          <p:nvPr/>
        </p:nvSpPr>
        <p:spPr>
          <a:xfrm>
            <a:off x="7839304" y="4340352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 lens 11"/>
          <p:cNvSpPr/>
          <p:nvPr/>
        </p:nvSpPr>
        <p:spPr>
          <a:xfrm>
            <a:off x="8314792" y="4340352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 lens 12"/>
          <p:cNvSpPr/>
          <p:nvPr/>
        </p:nvSpPr>
        <p:spPr>
          <a:xfrm>
            <a:off x="8790280" y="4340352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 lens 13"/>
          <p:cNvSpPr/>
          <p:nvPr/>
        </p:nvSpPr>
        <p:spPr>
          <a:xfrm>
            <a:off x="9265768" y="4340352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 lens 14"/>
          <p:cNvSpPr/>
          <p:nvPr/>
        </p:nvSpPr>
        <p:spPr>
          <a:xfrm>
            <a:off x="9741256" y="4340352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 lens 15"/>
          <p:cNvSpPr/>
          <p:nvPr/>
        </p:nvSpPr>
        <p:spPr>
          <a:xfrm>
            <a:off x="10216744" y="4340352"/>
            <a:ext cx="475488" cy="475488"/>
          </a:xfrm>
          <a:prstGeom prst="ellipse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 glass substrate"/>
          <p:cNvSpPr/>
          <p:nvPr/>
        </p:nvSpPr>
        <p:spPr>
          <a:xfrm>
            <a:off x="3559912" y="4578096"/>
            <a:ext cx="7132320" cy="681533"/>
          </a:xfrm>
          <a:prstGeom prst="rect">
            <a:avLst/>
          </a:prstGeom>
          <a:solidFill>
            <a:srgbClr val="EAF1F6"/>
          </a:solidFill>
          <a:ln w="10302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 TCO anode"/>
          <p:cNvSpPr/>
          <p:nvPr/>
        </p:nvSpPr>
        <p:spPr>
          <a:xfrm>
            <a:off x="3559912" y="5259629"/>
            <a:ext cx="7132320" cy="126797"/>
          </a:xfrm>
          <a:prstGeom prst="rect">
            <a:avLst/>
          </a:prstGeom>
          <a:solidFill>
            <a:srgbClr val="CBE1EE"/>
          </a:solidFill>
          <a:ln w="8321">
            <a:solidFill>
              <a:srgbClr val="6E9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 organic layers"/>
          <p:cNvSpPr/>
          <p:nvPr/>
        </p:nvSpPr>
        <p:spPr>
          <a:xfrm>
            <a:off x="3559912" y="5386426"/>
            <a:ext cx="7132320" cy="142646"/>
          </a:xfrm>
          <a:prstGeom prst="rect">
            <a:avLst/>
          </a:prstGeom>
          <a:solidFill>
            <a:srgbClr val="FDF2E2"/>
          </a:solidFill>
          <a:ln w="8321">
            <a:solidFill>
              <a:srgbClr val="C99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 metal cathode"/>
          <p:cNvSpPr/>
          <p:nvPr/>
        </p:nvSpPr>
        <p:spPr>
          <a:xfrm>
            <a:off x="3559912" y="5529072"/>
            <a:ext cx="7132320" cy="316992"/>
          </a:xfrm>
          <a:prstGeom prst="rect">
            <a:avLst/>
          </a:prstGeom>
          <a:solidFill>
            <a:srgbClr val="C3C7CB"/>
          </a:solidFill>
          <a:ln w="8321">
            <a:solidFill>
              <a:srgbClr val="868C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 TCO absorption 1L"/>
          <p:cNvSpPr/>
          <p:nvPr/>
        </p:nvSpPr>
        <p:spPr>
          <a:xfrm>
            <a:off x="5466222" y="5314231"/>
            <a:ext cx="86380" cy="17593"/>
          </a:xfrm>
          <a:custGeom>
            <a:avLst/>
            <a:gdLst/>
            <a:ahLst/>
            <a:cxnLst/>
            <a:rect l="l" t="t" r="r" b="b"/>
            <a:pathLst>
              <a:path w="86380" h="17593">
                <a:moveTo>
                  <a:pt x="0" y="8796"/>
                </a:moveTo>
                <a:lnTo>
                  <a:pt x="1800" y="11073"/>
                </a:lnTo>
                <a:lnTo>
                  <a:pt x="3599" y="13194"/>
                </a:lnTo>
                <a:lnTo>
                  <a:pt x="5399" y="15016"/>
                </a:lnTo>
                <a:lnTo>
                  <a:pt x="7198" y="16414"/>
                </a:lnTo>
                <a:lnTo>
                  <a:pt x="8998" y="17293"/>
                </a:lnTo>
                <a:lnTo>
                  <a:pt x="10798" y="17593"/>
                </a:lnTo>
                <a:lnTo>
                  <a:pt x="12597" y="17293"/>
                </a:lnTo>
                <a:lnTo>
                  <a:pt x="14397" y="16414"/>
                </a:lnTo>
                <a:lnTo>
                  <a:pt x="16196" y="15016"/>
                </a:lnTo>
                <a:lnTo>
                  <a:pt x="17996" y="13194"/>
                </a:lnTo>
                <a:lnTo>
                  <a:pt x="19796" y="11073"/>
                </a:lnTo>
                <a:lnTo>
                  <a:pt x="21595" y="8796"/>
                </a:lnTo>
                <a:lnTo>
                  <a:pt x="23395" y="6519"/>
                </a:lnTo>
                <a:lnTo>
                  <a:pt x="25194" y="4398"/>
                </a:lnTo>
                <a:lnTo>
                  <a:pt x="26994" y="2576"/>
                </a:lnTo>
                <a:lnTo>
                  <a:pt x="28794" y="1178"/>
                </a:lnTo>
                <a:lnTo>
                  <a:pt x="30593" y="299"/>
                </a:lnTo>
                <a:lnTo>
                  <a:pt x="32393" y="0"/>
                </a:lnTo>
                <a:lnTo>
                  <a:pt x="34192" y="299"/>
                </a:lnTo>
                <a:lnTo>
                  <a:pt x="35992" y="1178"/>
                </a:lnTo>
                <a:lnTo>
                  <a:pt x="37792" y="2576"/>
                </a:lnTo>
                <a:lnTo>
                  <a:pt x="39591" y="4398"/>
                </a:lnTo>
                <a:lnTo>
                  <a:pt x="41391" y="6519"/>
                </a:lnTo>
                <a:lnTo>
                  <a:pt x="43190" y="8796"/>
                </a:lnTo>
                <a:lnTo>
                  <a:pt x="44990" y="11073"/>
                </a:lnTo>
                <a:lnTo>
                  <a:pt x="46789" y="13194"/>
                </a:lnTo>
                <a:lnTo>
                  <a:pt x="48589" y="15016"/>
                </a:lnTo>
                <a:lnTo>
                  <a:pt x="50389" y="16414"/>
                </a:lnTo>
                <a:lnTo>
                  <a:pt x="52188" y="17293"/>
                </a:lnTo>
                <a:lnTo>
                  <a:pt x="53988" y="17593"/>
                </a:lnTo>
                <a:lnTo>
                  <a:pt x="55787" y="17293"/>
                </a:lnTo>
                <a:lnTo>
                  <a:pt x="57587" y="16414"/>
                </a:lnTo>
                <a:lnTo>
                  <a:pt x="59387" y="15016"/>
                </a:lnTo>
                <a:lnTo>
                  <a:pt x="61186" y="13194"/>
                </a:lnTo>
                <a:lnTo>
                  <a:pt x="62986" y="11073"/>
                </a:lnTo>
                <a:lnTo>
                  <a:pt x="64785" y="8796"/>
                </a:lnTo>
                <a:lnTo>
                  <a:pt x="66585" y="6519"/>
                </a:lnTo>
                <a:lnTo>
                  <a:pt x="68385" y="4398"/>
                </a:lnTo>
                <a:lnTo>
                  <a:pt x="70184" y="2576"/>
                </a:lnTo>
                <a:lnTo>
                  <a:pt x="71984" y="1178"/>
                </a:lnTo>
                <a:lnTo>
                  <a:pt x="73783" y="299"/>
                </a:lnTo>
                <a:lnTo>
                  <a:pt x="75583" y="0"/>
                </a:lnTo>
                <a:lnTo>
                  <a:pt x="77383" y="299"/>
                </a:lnTo>
                <a:lnTo>
                  <a:pt x="79182" y="1178"/>
                </a:lnTo>
                <a:lnTo>
                  <a:pt x="80982" y="2576"/>
                </a:lnTo>
                <a:lnTo>
                  <a:pt x="82781" y="4398"/>
                </a:lnTo>
                <a:lnTo>
                  <a:pt x="84581" y="6519"/>
                </a:lnTo>
                <a:lnTo>
                  <a:pt x="86380" y="8796"/>
                </a:lnTo>
              </a:path>
            </a:pathLst>
          </a:custGeom>
          <a:noFill/>
          <a:ln w="7489">
            <a:solidFill>
              <a:srgbClr val="E64B35">
                <a:alpha val="2825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 TCO absorption 1R"/>
          <p:cNvSpPr/>
          <p:nvPr/>
        </p:nvSpPr>
        <p:spPr>
          <a:xfrm>
            <a:off x="5846613" y="5314231"/>
            <a:ext cx="86380" cy="17593"/>
          </a:xfrm>
          <a:custGeom>
            <a:avLst/>
            <a:gdLst/>
            <a:ahLst/>
            <a:cxnLst/>
            <a:rect l="l" t="t" r="r" b="b"/>
            <a:pathLst>
              <a:path w="86380" h="17593">
                <a:moveTo>
                  <a:pt x="0" y="8796"/>
                </a:moveTo>
                <a:lnTo>
                  <a:pt x="1799" y="11073"/>
                </a:lnTo>
                <a:lnTo>
                  <a:pt x="3599" y="13194"/>
                </a:lnTo>
                <a:lnTo>
                  <a:pt x="5398" y="15016"/>
                </a:lnTo>
                <a:lnTo>
                  <a:pt x="7198" y="16414"/>
                </a:lnTo>
                <a:lnTo>
                  <a:pt x="8997" y="17293"/>
                </a:lnTo>
                <a:lnTo>
                  <a:pt x="10797" y="17593"/>
                </a:lnTo>
                <a:lnTo>
                  <a:pt x="12597" y="17293"/>
                </a:lnTo>
                <a:lnTo>
                  <a:pt x="14396" y="16414"/>
                </a:lnTo>
                <a:lnTo>
                  <a:pt x="16196" y="15016"/>
                </a:lnTo>
                <a:lnTo>
                  <a:pt x="17995" y="13194"/>
                </a:lnTo>
                <a:lnTo>
                  <a:pt x="19795" y="11073"/>
                </a:lnTo>
                <a:lnTo>
                  <a:pt x="21595" y="8796"/>
                </a:lnTo>
                <a:lnTo>
                  <a:pt x="23394" y="6519"/>
                </a:lnTo>
                <a:lnTo>
                  <a:pt x="25194" y="4398"/>
                </a:lnTo>
                <a:lnTo>
                  <a:pt x="26993" y="2576"/>
                </a:lnTo>
                <a:lnTo>
                  <a:pt x="28793" y="1178"/>
                </a:lnTo>
                <a:lnTo>
                  <a:pt x="30593" y="299"/>
                </a:lnTo>
                <a:lnTo>
                  <a:pt x="32392" y="0"/>
                </a:lnTo>
                <a:lnTo>
                  <a:pt x="34192" y="299"/>
                </a:lnTo>
                <a:lnTo>
                  <a:pt x="35991" y="1178"/>
                </a:lnTo>
                <a:lnTo>
                  <a:pt x="37791" y="2576"/>
                </a:lnTo>
                <a:lnTo>
                  <a:pt x="39591" y="4398"/>
                </a:lnTo>
                <a:lnTo>
                  <a:pt x="41390" y="6519"/>
                </a:lnTo>
                <a:lnTo>
                  <a:pt x="43190" y="8796"/>
                </a:lnTo>
                <a:lnTo>
                  <a:pt x="44989" y="11073"/>
                </a:lnTo>
                <a:lnTo>
                  <a:pt x="46789" y="13194"/>
                </a:lnTo>
                <a:lnTo>
                  <a:pt x="48588" y="15016"/>
                </a:lnTo>
                <a:lnTo>
                  <a:pt x="50388" y="16414"/>
                </a:lnTo>
                <a:lnTo>
                  <a:pt x="52188" y="17293"/>
                </a:lnTo>
                <a:lnTo>
                  <a:pt x="53987" y="17593"/>
                </a:lnTo>
                <a:lnTo>
                  <a:pt x="55787" y="17293"/>
                </a:lnTo>
                <a:lnTo>
                  <a:pt x="57586" y="16414"/>
                </a:lnTo>
                <a:lnTo>
                  <a:pt x="59386" y="15016"/>
                </a:lnTo>
                <a:lnTo>
                  <a:pt x="61186" y="13194"/>
                </a:lnTo>
                <a:lnTo>
                  <a:pt x="62985" y="11073"/>
                </a:lnTo>
                <a:lnTo>
                  <a:pt x="64785" y="8796"/>
                </a:lnTo>
                <a:lnTo>
                  <a:pt x="66584" y="6519"/>
                </a:lnTo>
                <a:lnTo>
                  <a:pt x="68384" y="4398"/>
                </a:lnTo>
                <a:lnTo>
                  <a:pt x="70184" y="2576"/>
                </a:lnTo>
                <a:lnTo>
                  <a:pt x="71983" y="1178"/>
                </a:lnTo>
                <a:lnTo>
                  <a:pt x="73783" y="299"/>
                </a:lnTo>
                <a:lnTo>
                  <a:pt x="75582" y="0"/>
                </a:lnTo>
                <a:lnTo>
                  <a:pt x="77382" y="299"/>
                </a:lnTo>
                <a:lnTo>
                  <a:pt x="79181" y="1178"/>
                </a:lnTo>
                <a:lnTo>
                  <a:pt x="80981" y="2576"/>
                </a:lnTo>
                <a:lnTo>
                  <a:pt x="82781" y="4398"/>
                </a:lnTo>
                <a:lnTo>
                  <a:pt x="84580" y="6519"/>
                </a:lnTo>
                <a:lnTo>
                  <a:pt x="86380" y="8796"/>
                </a:lnTo>
              </a:path>
            </a:pathLst>
          </a:custGeom>
          <a:noFill/>
          <a:ln w="7489">
            <a:solidFill>
              <a:srgbClr val="E64B35">
                <a:alpha val="2825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 TCO absorption 2L"/>
          <p:cNvSpPr/>
          <p:nvPr/>
        </p:nvSpPr>
        <p:spPr>
          <a:xfrm>
            <a:off x="7368174" y="5314231"/>
            <a:ext cx="86380" cy="17593"/>
          </a:xfrm>
          <a:custGeom>
            <a:avLst/>
            <a:gdLst/>
            <a:ahLst/>
            <a:cxnLst/>
            <a:rect l="l" t="t" r="r" b="b"/>
            <a:pathLst>
              <a:path w="86380" h="17593">
                <a:moveTo>
                  <a:pt x="0" y="8796"/>
                </a:moveTo>
                <a:lnTo>
                  <a:pt x="1800" y="11073"/>
                </a:lnTo>
                <a:lnTo>
                  <a:pt x="3599" y="13194"/>
                </a:lnTo>
                <a:lnTo>
                  <a:pt x="5399" y="15016"/>
                </a:lnTo>
                <a:lnTo>
                  <a:pt x="7198" y="16414"/>
                </a:lnTo>
                <a:lnTo>
                  <a:pt x="8998" y="17293"/>
                </a:lnTo>
                <a:lnTo>
                  <a:pt x="10798" y="17593"/>
                </a:lnTo>
                <a:lnTo>
                  <a:pt x="12597" y="17293"/>
                </a:lnTo>
                <a:lnTo>
                  <a:pt x="14397" y="16414"/>
                </a:lnTo>
                <a:lnTo>
                  <a:pt x="16196" y="15016"/>
                </a:lnTo>
                <a:lnTo>
                  <a:pt x="17996" y="13194"/>
                </a:lnTo>
                <a:lnTo>
                  <a:pt x="19796" y="11073"/>
                </a:lnTo>
                <a:lnTo>
                  <a:pt x="21595" y="8796"/>
                </a:lnTo>
                <a:lnTo>
                  <a:pt x="23395" y="6519"/>
                </a:lnTo>
                <a:lnTo>
                  <a:pt x="25194" y="4398"/>
                </a:lnTo>
                <a:lnTo>
                  <a:pt x="26994" y="2576"/>
                </a:lnTo>
                <a:lnTo>
                  <a:pt x="28794" y="1178"/>
                </a:lnTo>
                <a:lnTo>
                  <a:pt x="30593" y="299"/>
                </a:lnTo>
                <a:lnTo>
                  <a:pt x="32393" y="0"/>
                </a:lnTo>
                <a:lnTo>
                  <a:pt x="34192" y="299"/>
                </a:lnTo>
                <a:lnTo>
                  <a:pt x="35992" y="1178"/>
                </a:lnTo>
                <a:lnTo>
                  <a:pt x="37792" y="2576"/>
                </a:lnTo>
                <a:lnTo>
                  <a:pt x="39591" y="4398"/>
                </a:lnTo>
                <a:lnTo>
                  <a:pt x="41391" y="6519"/>
                </a:lnTo>
                <a:lnTo>
                  <a:pt x="43190" y="8796"/>
                </a:lnTo>
                <a:lnTo>
                  <a:pt x="44990" y="11073"/>
                </a:lnTo>
                <a:lnTo>
                  <a:pt x="46789" y="13194"/>
                </a:lnTo>
                <a:lnTo>
                  <a:pt x="48589" y="15016"/>
                </a:lnTo>
                <a:lnTo>
                  <a:pt x="50389" y="16414"/>
                </a:lnTo>
                <a:lnTo>
                  <a:pt x="52188" y="17293"/>
                </a:lnTo>
                <a:lnTo>
                  <a:pt x="53988" y="17593"/>
                </a:lnTo>
                <a:lnTo>
                  <a:pt x="55787" y="17293"/>
                </a:lnTo>
                <a:lnTo>
                  <a:pt x="57587" y="16414"/>
                </a:lnTo>
                <a:lnTo>
                  <a:pt x="59387" y="15016"/>
                </a:lnTo>
                <a:lnTo>
                  <a:pt x="61186" y="13194"/>
                </a:lnTo>
                <a:lnTo>
                  <a:pt x="62986" y="11073"/>
                </a:lnTo>
                <a:lnTo>
                  <a:pt x="64785" y="8796"/>
                </a:lnTo>
                <a:lnTo>
                  <a:pt x="66585" y="6519"/>
                </a:lnTo>
                <a:lnTo>
                  <a:pt x="68385" y="4398"/>
                </a:lnTo>
                <a:lnTo>
                  <a:pt x="70184" y="2576"/>
                </a:lnTo>
                <a:lnTo>
                  <a:pt x="71984" y="1178"/>
                </a:lnTo>
                <a:lnTo>
                  <a:pt x="73783" y="299"/>
                </a:lnTo>
                <a:lnTo>
                  <a:pt x="75583" y="0"/>
                </a:lnTo>
                <a:lnTo>
                  <a:pt x="77383" y="299"/>
                </a:lnTo>
                <a:lnTo>
                  <a:pt x="79182" y="1178"/>
                </a:lnTo>
                <a:lnTo>
                  <a:pt x="80982" y="2576"/>
                </a:lnTo>
                <a:lnTo>
                  <a:pt x="82781" y="4398"/>
                </a:lnTo>
                <a:lnTo>
                  <a:pt x="84581" y="6519"/>
                </a:lnTo>
                <a:lnTo>
                  <a:pt x="86380" y="8796"/>
                </a:lnTo>
              </a:path>
            </a:pathLst>
          </a:custGeom>
          <a:noFill/>
          <a:ln w="7489">
            <a:solidFill>
              <a:srgbClr val="E64B35">
                <a:alpha val="2825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 TCO absorption 2R"/>
          <p:cNvSpPr/>
          <p:nvPr/>
        </p:nvSpPr>
        <p:spPr>
          <a:xfrm>
            <a:off x="7748565" y="5314231"/>
            <a:ext cx="86380" cy="17593"/>
          </a:xfrm>
          <a:custGeom>
            <a:avLst/>
            <a:gdLst/>
            <a:ahLst/>
            <a:cxnLst/>
            <a:rect l="l" t="t" r="r" b="b"/>
            <a:pathLst>
              <a:path w="86380" h="17593">
                <a:moveTo>
                  <a:pt x="0" y="8796"/>
                </a:moveTo>
                <a:lnTo>
                  <a:pt x="1799" y="11073"/>
                </a:lnTo>
                <a:lnTo>
                  <a:pt x="3599" y="13194"/>
                </a:lnTo>
                <a:lnTo>
                  <a:pt x="5398" y="15016"/>
                </a:lnTo>
                <a:lnTo>
                  <a:pt x="7198" y="16414"/>
                </a:lnTo>
                <a:lnTo>
                  <a:pt x="8997" y="17293"/>
                </a:lnTo>
                <a:lnTo>
                  <a:pt x="10797" y="17593"/>
                </a:lnTo>
                <a:lnTo>
                  <a:pt x="12597" y="17293"/>
                </a:lnTo>
                <a:lnTo>
                  <a:pt x="14396" y="16414"/>
                </a:lnTo>
                <a:lnTo>
                  <a:pt x="16196" y="15016"/>
                </a:lnTo>
                <a:lnTo>
                  <a:pt x="17995" y="13194"/>
                </a:lnTo>
                <a:lnTo>
                  <a:pt x="19795" y="11073"/>
                </a:lnTo>
                <a:lnTo>
                  <a:pt x="21595" y="8796"/>
                </a:lnTo>
                <a:lnTo>
                  <a:pt x="23394" y="6519"/>
                </a:lnTo>
                <a:lnTo>
                  <a:pt x="25194" y="4398"/>
                </a:lnTo>
                <a:lnTo>
                  <a:pt x="26993" y="2576"/>
                </a:lnTo>
                <a:lnTo>
                  <a:pt x="28793" y="1178"/>
                </a:lnTo>
                <a:lnTo>
                  <a:pt x="30593" y="299"/>
                </a:lnTo>
                <a:lnTo>
                  <a:pt x="32392" y="0"/>
                </a:lnTo>
                <a:lnTo>
                  <a:pt x="34192" y="299"/>
                </a:lnTo>
                <a:lnTo>
                  <a:pt x="35991" y="1178"/>
                </a:lnTo>
                <a:lnTo>
                  <a:pt x="37791" y="2576"/>
                </a:lnTo>
                <a:lnTo>
                  <a:pt x="39591" y="4398"/>
                </a:lnTo>
                <a:lnTo>
                  <a:pt x="41390" y="6519"/>
                </a:lnTo>
                <a:lnTo>
                  <a:pt x="43190" y="8796"/>
                </a:lnTo>
                <a:lnTo>
                  <a:pt x="44989" y="11073"/>
                </a:lnTo>
                <a:lnTo>
                  <a:pt x="46789" y="13194"/>
                </a:lnTo>
                <a:lnTo>
                  <a:pt x="48588" y="15016"/>
                </a:lnTo>
                <a:lnTo>
                  <a:pt x="50388" y="16414"/>
                </a:lnTo>
                <a:lnTo>
                  <a:pt x="52188" y="17293"/>
                </a:lnTo>
                <a:lnTo>
                  <a:pt x="53987" y="17593"/>
                </a:lnTo>
                <a:lnTo>
                  <a:pt x="55787" y="17293"/>
                </a:lnTo>
                <a:lnTo>
                  <a:pt x="57586" y="16414"/>
                </a:lnTo>
                <a:lnTo>
                  <a:pt x="59386" y="15016"/>
                </a:lnTo>
                <a:lnTo>
                  <a:pt x="61186" y="13194"/>
                </a:lnTo>
                <a:lnTo>
                  <a:pt x="62985" y="11073"/>
                </a:lnTo>
                <a:lnTo>
                  <a:pt x="64785" y="8796"/>
                </a:lnTo>
                <a:lnTo>
                  <a:pt x="66584" y="6519"/>
                </a:lnTo>
                <a:lnTo>
                  <a:pt x="68384" y="4398"/>
                </a:lnTo>
                <a:lnTo>
                  <a:pt x="70184" y="2576"/>
                </a:lnTo>
                <a:lnTo>
                  <a:pt x="71983" y="1178"/>
                </a:lnTo>
                <a:lnTo>
                  <a:pt x="73783" y="299"/>
                </a:lnTo>
                <a:lnTo>
                  <a:pt x="75582" y="0"/>
                </a:lnTo>
                <a:lnTo>
                  <a:pt x="77382" y="299"/>
                </a:lnTo>
                <a:lnTo>
                  <a:pt x="79181" y="1178"/>
                </a:lnTo>
                <a:lnTo>
                  <a:pt x="80981" y="2576"/>
                </a:lnTo>
                <a:lnTo>
                  <a:pt x="82781" y="4398"/>
                </a:lnTo>
                <a:lnTo>
                  <a:pt x="84580" y="6519"/>
                </a:lnTo>
                <a:lnTo>
                  <a:pt x="86380" y="8796"/>
                </a:lnTo>
              </a:path>
            </a:pathLst>
          </a:custGeom>
          <a:noFill/>
          <a:ln w="7489">
            <a:solidFill>
              <a:srgbClr val="E64B35">
                <a:alpha val="2825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 TCO absorption 3L"/>
          <p:cNvSpPr/>
          <p:nvPr/>
        </p:nvSpPr>
        <p:spPr>
          <a:xfrm>
            <a:off x="9270126" y="5314231"/>
            <a:ext cx="86380" cy="17593"/>
          </a:xfrm>
          <a:custGeom>
            <a:avLst/>
            <a:gdLst/>
            <a:ahLst/>
            <a:cxnLst/>
            <a:rect l="l" t="t" r="r" b="b"/>
            <a:pathLst>
              <a:path w="86380" h="17593">
                <a:moveTo>
                  <a:pt x="0" y="8796"/>
                </a:moveTo>
                <a:lnTo>
                  <a:pt x="1800" y="11073"/>
                </a:lnTo>
                <a:lnTo>
                  <a:pt x="3599" y="13194"/>
                </a:lnTo>
                <a:lnTo>
                  <a:pt x="5399" y="15016"/>
                </a:lnTo>
                <a:lnTo>
                  <a:pt x="7198" y="16414"/>
                </a:lnTo>
                <a:lnTo>
                  <a:pt x="8998" y="17293"/>
                </a:lnTo>
                <a:lnTo>
                  <a:pt x="10798" y="17593"/>
                </a:lnTo>
                <a:lnTo>
                  <a:pt x="12597" y="17293"/>
                </a:lnTo>
                <a:lnTo>
                  <a:pt x="14397" y="16414"/>
                </a:lnTo>
                <a:lnTo>
                  <a:pt x="16196" y="15016"/>
                </a:lnTo>
                <a:lnTo>
                  <a:pt x="17996" y="13194"/>
                </a:lnTo>
                <a:lnTo>
                  <a:pt x="19796" y="11073"/>
                </a:lnTo>
                <a:lnTo>
                  <a:pt x="21595" y="8796"/>
                </a:lnTo>
                <a:lnTo>
                  <a:pt x="23395" y="6519"/>
                </a:lnTo>
                <a:lnTo>
                  <a:pt x="25194" y="4398"/>
                </a:lnTo>
                <a:lnTo>
                  <a:pt x="26994" y="2576"/>
                </a:lnTo>
                <a:lnTo>
                  <a:pt x="28794" y="1178"/>
                </a:lnTo>
                <a:lnTo>
                  <a:pt x="30593" y="299"/>
                </a:lnTo>
                <a:lnTo>
                  <a:pt x="32393" y="0"/>
                </a:lnTo>
                <a:lnTo>
                  <a:pt x="34192" y="299"/>
                </a:lnTo>
                <a:lnTo>
                  <a:pt x="35992" y="1178"/>
                </a:lnTo>
                <a:lnTo>
                  <a:pt x="37792" y="2576"/>
                </a:lnTo>
                <a:lnTo>
                  <a:pt x="39591" y="4398"/>
                </a:lnTo>
                <a:lnTo>
                  <a:pt x="41391" y="6519"/>
                </a:lnTo>
                <a:lnTo>
                  <a:pt x="43190" y="8796"/>
                </a:lnTo>
                <a:lnTo>
                  <a:pt x="44990" y="11073"/>
                </a:lnTo>
                <a:lnTo>
                  <a:pt x="46789" y="13194"/>
                </a:lnTo>
                <a:lnTo>
                  <a:pt x="48589" y="15016"/>
                </a:lnTo>
                <a:lnTo>
                  <a:pt x="50389" y="16414"/>
                </a:lnTo>
                <a:lnTo>
                  <a:pt x="52188" y="17293"/>
                </a:lnTo>
                <a:lnTo>
                  <a:pt x="53988" y="17593"/>
                </a:lnTo>
                <a:lnTo>
                  <a:pt x="55787" y="17293"/>
                </a:lnTo>
                <a:lnTo>
                  <a:pt x="57587" y="16414"/>
                </a:lnTo>
                <a:lnTo>
                  <a:pt x="59387" y="15016"/>
                </a:lnTo>
                <a:lnTo>
                  <a:pt x="61186" y="13194"/>
                </a:lnTo>
                <a:lnTo>
                  <a:pt x="62986" y="11073"/>
                </a:lnTo>
                <a:lnTo>
                  <a:pt x="64785" y="8796"/>
                </a:lnTo>
                <a:lnTo>
                  <a:pt x="66585" y="6519"/>
                </a:lnTo>
                <a:lnTo>
                  <a:pt x="68385" y="4398"/>
                </a:lnTo>
                <a:lnTo>
                  <a:pt x="70184" y="2576"/>
                </a:lnTo>
                <a:lnTo>
                  <a:pt x="71984" y="1178"/>
                </a:lnTo>
                <a:lnTo>
                  <a:pt x="73783" y="299"/>
                </a:lnTo>
                <a:lnTo>
                  <a:pt x="75583" y="0"/>
                </a:lnTo>
                <a:lnTo>
                  <a:pt x="77383" y="299"/>
                </a:lnTo>
                <a:lnTo>
                  <a:pt x="79182" y="1178"/>
                </a:lnTo>
                <a:lnTo>
                  <a:pt x="80982" y="2576"/>
                </a:lnTo>
                <a:lnTo>
                  <a:pt x="82781" y="4398"/>
                </a:lnTo>
                <a:lnTo>
                  <a:pt x="84581" y="6519"/>
                </a:lnTo>
                <a:lnTo>
                  <a:pt x="86380" y="8796"/>
                </a:lnTo>
              </a:path>
            </a:pathLst>
          </a:custGeom>
          <a:noFill/>
          <a:ln w="7489">
            <a:solidFill>
              <a:srgbClr val="E64B35">
                <a:alpha val="2825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 TCO absorption 3R"/>
          <p:cNvSpPr/>
          <p:nvPr/>
        </p:nvSpPr>
        <p:spPr>
          <a:xfrm>
            <a:off x="9650517" y="5314231"/>
            <a:ext cx="86380" cy="17593"/>
          </a:xfrm>
          <a:custGeom>
            <a:avLst/>
            <a:gdLst/>
            <a:ahLst/>
            <a:cxnLst/>
            <a:rect l="l" t="t" r="r" b="b"/>
            <a:pathLst>
              <a:path w="86380" h="17593">
                <a:moveTo>
                  <a:pt x="0" y="8796"/>
                </a:moveTo>
                <a:lnTo>
                  <a:pt x="1799" y="11073"/>
                </a:lnTo>
                <a:lnTo>
                  <a:pt x="3599" y="13194"/>
                </a:lnTo>
                <a:lnTo>
                  <a:pt x="5398" y="15016"/>
                </a:lnTo>
                <a:lnTo>
                  <a:pt x="7198" y="16414"/>
                </a:lnTo>
                <a:lnTo>
                  <a:pt x="8997" y="17293"/>
                </a:lnTo>
                <a:lnTo>
                  <a:pt x="10797" y="17593"/>
                </a:lnTo>
                <a:lnTo>
                  <a:pt x="12597" y="17293"/>
                </a:lnTo>
                <a:lnTo>
                  <a:pt x="14396" y="16414"/>
                </a:lnTo>
                <a:lnTo>
                  <a:pt x="16196" y="15016"/>
                </a:lnTo>
                <a:lnTo>
                  <a:pt x="17995" y="13194"/>
                </a:lnTo>
                <a:lnTo>
                  <a:pt x="19795" y="11073"/>
                </a:lnTo>
                <a:lnTo>
                  <a:pt x="21595" y="8796"/>
                </a:lnTo>
                <a:lnTo>
                  <a:pt x="23394" y="6519"/>
                </a:lnTo>
                <a:lnTo>
                  <a:pt x="25194" y="4398"/>
                </a:lnTo>
                <a:lnTo>
                  <a:pt x="26993" y="2576"/>
                </a:lnTo>
                <a:lnTo>
                  <a:pt x="28793" y="1178"/>
                </a:lnTo>
                <a:lnTo>
                  <a:pt x="30593" y="299"/>
                </a:lnTo>
                <a:lnTo>
                  <a:pt x="32392" y="0"/>
                </a:lnTo>
                <a:lnTo>
                  <a:pt x="34192" y="299"/>
                </a:lnTo>
                <a:lnTo>
                  <a:pt x="35991" y="1178"/>
                </a:lnTo>
                <a:lnTo>
                  <a:pt x="37791" y="2576"/>
                </a:lnTo>
                <a:lnTo>
                  <a:pt x="39591" y="4398"/>
                </a:lnTo>
                <a:lnTo>
                  <a:pt x="41390" y="6519"/>
                </a:lnTo>
                <a:lnTo>
                  <a:pt x="43190" y="8796"/>
                </a:lnTo>
                <a:lnTo>
                  <a:pt x="44989" y="11073"/>
                </a:lnTo>
                <a:lnTo>
                  <a:pt x="46789" y="13194"/>
                </a:lnTo>
                <a:lnTo>
                  <a:pt x="48588" y="15016"/>
                </a:lnTo>
                <a:lnTo>
                  <a:pt x="50388" y="16414"/>
                </a:lnTo>
                <a:lnTo>
                  <a:pt x="52188" y="17293"/>
                </a:lnTo>
                <a:lnTo>
                  <a:pt x="53987" y="17593"/>
                </a:lnTo>
                <a:lnTo>
                  <a:pt x="55787" y="17293"/>
                </a:lnTo>
                <a:lnTo>
                  <a:pt x="57586" y="16414"/>
                </a:lnTo>
                <a:lnTo>
                  <a:pt x="59386" y="15016"/>
                </a:lnTo>
                <a:lnTo>
                  <a:pt x="61186" y="13194"/>
                </a:lnTo>
                <a:lnTo>
                  <a:pt x="62985" y="11073"/>
                </a:lnTo>
                <a:lnTo>
                  <a:pt x="64785" y="8796"/>
                </a:lnTo>
                <a:lnTo>
                  <a:pt x="66584" y="6519"/>
                </a:lnTo>
                <a:lnTo>
                  <a:pt x="68384" y="4398"/>
                </a:lnTo>
                <a:lnTo>
                  <a:pt x="70184" y="2576"/>
                </a:lnTo>
                <a:lnTo>
                  <a:pt x="71983" y="1178"/>
                </a:lnTo>
                <a:lnTo>
                  <a:pt x="73783" y="299"/>
                </a:lnTo>
                <a:lnTo>
                  <a:pt x="75582" y="0"/>
                </a:lnTo>
                <a:lnTo>
                  <a:pt x="77382" y="299"/>
                </a:lnTo>
                <a:lnTo>
                  <a:pt x="79181" y="1178"/>
                </a:lnTo>
                <a:lnTo>
                  <a:pt x="80981" y="2576"/>
                </a:lnTo>
                <a:lnTo>
                  <a:pt x="82781" y="4398"/>
                </a:lnTo>
                <a:lnTo>
                  <a:pt x="84580" y="6519"/>
                </a:lnTo>
                <a:lnTo>
                  <a:pt x="86380" y="8796"/>
                </a:lnTo>
              </a:path>
            </a:pathLst>
          </a:custGeom>
          <a:noFill/>
          <a:ln w="7489">
            <a:solidFill>
              <a:srgbClr val="E64B35">
                <a:alpha val="2825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R ray emit"/>
          <p:cNvCxnSpPr/>
          <p:nvPr/>
        </p:nvCxnSpPr>
        <p:spPr>
          <a:xfrm flipV="1">
            <a:off x="3925245" y="4578096"/>
            <a:ext cx="823387" cy="823387"/>
          </a:xfrm>
          <a:prstGeom prst="line">
            <a:avLst/>
          </a:prstGeom>
          <a:ln w="75286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R ray down 1"/>
          <p:cNvCxnSpPr/>
          <p:nvPr/>
        </p:nvCxnSpPr>
        <p:spPr>
          <a:xfrm>
            <a:off x="4821540" y="4651004"/>
            <a:ext cx="827349" cy="827349"/>
          </a:xfrm>
          <a:prstGeom prst="line">
            <a:avLst/>
          </a:prstGeom>
          <a:ln w="57615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R ray up 1"/>
          <p:cNvCxnSpPr/>
          <p:nvPr/>
        </p:nvCxnSpPr>
        <p:spPr>
          <a:xfrm flipV="1">
            <a:off x="5750326" y="4578096"/>
            <a:ext cx="900258" cy="900257"/>
          </a:xfrm>
          <a:prstGeom prst="line">
            <a:avLst/>
          </a:prstGeom>
          <a:ln w="56323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R ray down 2"/>
          <p:cNvCxnSpPr/>
          <p:nvPr/>
        </p:nvCxnSpPr>
        <p:spPr>
          <a:xfrm>
            <a:off x="6723492" y="4651004"/>
            <a:ext cx="827349" cy="827349"/>
          </a:xfrm>
          <a:prstGeom prst="line">
            <a:avLst/>
          </a:prstGeom>
          <a:ln w="43104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R ray up 2"/>
          <p:cNvCxnSpPr/>
          <p:nvPr/>
        </p:nvCxnSpPr>
        <p:spPr>
          <a:xfrm flipV="1">
            <a:off x="7652278" y="4578096"/>
            <a:ext cx="900258" cy="900257"/>
          </a:xfrm>
          <a:prstGeom prst="line">
            <a:avLst/>
          </a:prstGeom>
          <a:ln w="42137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R ray down 3"/>
          <p:cNvCxnSpPr/>
          <p:nvPr/>
        </p:nvCxnSpPr>
        <p:spPr>
          <a:xfrm>
            <a:off x="8625444" y="4651004"/>
            <a:ext cx="827349" cy="827349"/>
          </a:xfrm>
          <a:prstGeom prst="line">
            <a:avLst/>
          </a:prstGeom>
          <a:ln w="32247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R ray up 3"/>
          <p:cNvCxnSpPr/>
          <p:nvPr/>
        </p:nvCxnSpPr>
        <p:spPr>
          <a:xfrm flipV="1">
            <a:off x="9554230" y="4578096"/>
            <a:ext cx="900258" cy="900257"/>
          </a:xfrm>
          <a:prstGeom prst="line">
            <a:avLst/>
          </a:prstGeom>
          <a:ln w="31524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R ray continues"/>
          <p:cNvCxnSpPr/>
          <p:nvPr/>
        </p:nvCxnSpPr>
        <p:spPr>
          <a:xfrm>
            <a:off x="10525811" y="4649419"/>
            <a:ext cx="166421" cy="166421"/>
          </a:xfrm>
          <a:prstGeom prst="line">
            <a:avLst/>
          </a:prstGeom>
          <a:ln w="24125">
            <a:solidFill>
              <a:srgbClr val="00A087">
                <a:alpha val="4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R outcoupled 1-1"/>
          <p:cNvCxnSpPr/>
          <p:nvPr/>
        </p:nvCxnSpPr>
        <p:spPr>
          <a:xfrm flipH="1" flipV="1">
            <a:off x="4258815" y="3981309"/>
            <a:ext cx="370945" cy="390895"/>
          </a:xfrm>
          <a:prstGeom prst="line">
            <a:avLst/>
          </a:prstGeom>
          <a:ln w="41407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R outcoupled 1-2"/>
          <p:cNvCxnSpPr/>
          <p:nvPr/>
        </p:nvCxnSpPr>
        <p:spPr>
          <a:xfrm flipH="1" flipV="1">
            <a:off x="4648903" y="3720203"/>
            <a:ext cx="79008" cy="621054"/>
          </a:xfrm>
          <a:prstGeom prst="line">
            <a:avLst/>
          </a:prstGeom>
          <a:ln w="41407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R outcoupled 1-3"/>
          <p:cNvCxnSpPr/>
          <p:nvPr/>
        </p:nvCxnSpPr>
        <p:spPr>
          <a:xfrm flipV="1">
            <a:off x="4837692" y="3886708"/>
            <a:ext cx="293144" cy="470956"/>
          </a:xfrm>
          <a:prstGeom prst="line">
            <a:avLst/>
          </a:prstGeom>
          <a:ln w="41407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R outcoupled 2-1"/>
          <p:cNvCxnSpPr/>
          <p:nvPr/>
        </p:nvCxnSpPr>
        <p:spPr>
          <a:xfrm flipH="1" flipV="1">
            <a:off x="6160767" y="3981309"/>
            <a:ext cx="370945" cy="390895"/>
          </a:xfrm>
          <a:prstGeom prst="line">
            <a:avLst/>
          </a:prstGeom>
          <a:ln w="30978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R outcoupled 2-2"/>
          <p:cNvCxnSpPr/>
          <p:nvPr/>
        </p:nvCxnSpPr>
        <p:spPr>
          <a:xfrm flipH="1" flipV="1">
            <a:off x="6550855" y="3720203"/>
            <a:ext cx="79008" cy="621054"/>
          </a:xfrm>
          <a:prstGeom prst="line">
            <a:avLst/>
          </a:prstGeom>
          <a:ln w="30978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R outcoupled 2-3"/>
          <p:cNvCxnSpPr/>
          <p:nvPr/>
        </p:nvCxnSpPr>
        <p:spPr>
          <a:xfrm flipV="1">
            <a:off x="6739644" y="3886708"/>
            <a:ext cx="293144" cy="470956"/>
          </a:xfrm>
          <a:prstGeom prst="line">
            <a:avLst/>
          </a:prstGeom>
          <a:ln w="30978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R outcoupled 3-1"/>
          <p:cNvCxnSpPr/>
          <p:nvPr/>
        </p:nvCxnSpPr>
        <p:spPr>
          <a:xfrm flipH="1" flipV="1">
            <a:off x="8062719" y="3981309"/>
            <a:ext cx="370945" cy="390895"/>
          </a:xfrm>
          <a:prstGeom prst="line">
            <a:avLst/>
          </a:prstGeom>
          <a:ln w="23176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R outcoupled 3-2"/>
          <p:cNvCxnSpPr/>
          <p:nvPr/>
        </p:nvCxnSpPr>
        <p:spPr>
          <a:xfrm flipH="1" flipV="1">
            <a:off x="8452807" y="3720203"/>
            <a:ext cx="79008" cy="621054"/>
          </a:xfrm>
          <a:prstGeom prst="line">
            <a:avLst/>
          </a:prstGeom>
          <a:ln w="23176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R outcoupled 3-3"/>
          <p:cNvCxnSpPr/>
          <p:nvPr/>
        </p:nvCxnSpPr>
        <p:spPr>
          <a:xfrm flipV="1">
            <a:off x="8641596" y="3886708"/>
            <a:ext cx="293144" cy="470956"/>
          </a:xfrm>
          <a:prstGeom prst="line">
            <a:avLst/>
          </a:prstGeom>
          <a:ln w="23176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R outcoupled 4-1"/>
          <p:cNvCxnSpPr/>
          <p:nvPr/>
        </p:nvCxnSpPr>
        <p:spPr>
          <a:xfrm flipH="1" flipV="1">
            <a:off x="9964671" y="3981309"/>
            <a:ext cx="370945" cy="390895"/>
          </a:xfrm>
          <a:prstGeom prst="line">
            <a:avLst/>
          </a:prstGeom>
          <a:ln w="17338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R outcoupled 4-2"/>
          <p:cNvCxnSpPr/>
          <p:nvPr/>
        </p:nvCxnSpPr>
        <p:spPr>
          <a:xfrm flipH="1" flipV="1">
            <a:off x="10354759" y="3720203"/>
            <a:ext cx="79008" cy="621054"/>
          </a:xfrm>
          <a:prstGeom prst="line">
            <a:avLst/>
          </a:prstGeom>
          <a:ln w="17338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R outcoupled 4-3"/>
          <p:cNvCxnSpPr/>
          <p:nvPr/>
        </p:nvCxnSpPr>
        <p:spPr>
          <a:xfrm flipV="1">
            <a:off x="10543548" y="3886708"/>
            <a:ext cx="293144" cy="470956"/>
          </a:xfrm>
          <a:prstGeom prst="line">
            <a:avLst/>
          </a:prstGeom>
          <a:ln w="17338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 ohmic loss 1L"/>
          <p:cNvSpPr/>
          <p:nvPr/>
        </p:nvSpPr>
        <p:spPr>
          <a:xfrm>
            <a:off x="5564130" y="5464277"/>
            <a:ext cx="101327" cy="34641"/>
          </a:xfrm>
          <a:custGeom>
            <a:avLst/>
            <a:gdLst/>
            <a:ahLst/>
            <a:cxnLst/>
            <a:rect l="l" t="t" r="r" b="b"/>
            <a:pathLst>
              <a:path w="101327" h="34641">
                <a:moveTo>
                  <a:pt x="101327" y="17246"/>
                </a:moveTo>
                <a:lnTo>
                  <a:pt x="99216" y="22838"/>
                </a:lnTo>
                <a:lnTo>
                  <a:pt x="97105" y="27836"/>
                </a:lnTo>
                <a:lnTo>
                  <a:pt x="94994" y="31710"/>
                </a:lnTo>
                <a:lnTo>
                  <a:pt x="92883" y="34049"/>
                </a:lnTo>
                <a:lnTo>
                  <a:pt x="90772" y="34604"/>
                </a:lnTo>
                <a:lnTo>
                  <a:pt x="88661" y="33317"/>
                </a:lnTo>
                <a:lnTo>
                  <a:pt x="86550" y="30325"/>
                </a:lnTo>
                <a:lnTo>
                  <a:pt x="84439" y="25944"/>
                </a:lnTo>
                <a:lnTo>
                  <a:pt x="82328" y="20640"/>
                </a:lnTo>
                <a:lnTo>
                  <a:pt x="80217" y="14976"/>
                </a:lnTo>
                <a:lnTo>
                  <a:pt x="78106" y="9553"/>
                </a:lnTo>
                <a:lnTo>
                  <a:pt x="75995" y="4946"/>
                </a:lnTo>
                <a:lnTo>
                  <a:pt x="73884" y="1645"/>
                </a:lnTo>
                <a:lnTo>
                  <a:pt x="71773" y="0"/>
                </a:lnTo>
                <a:lnTo>
                  <a:pt x="69662" y="185"/>
                </a:lnTo>
                <a:lnTo>
                  <a:pt x="67551" y="2182"/>
                </a:lnTo>
                <a:lnTo>
                  <a:pt x="65440" y="5777"/>
                </a:lnTo>
                <a:lnTo>
                  <a:pt x="63329" y="10589"/>
                </a:lnTo>
                <a:lnTo>
                  <a:pt x="61218" y="16109"/>
                </a:lnTo>
                <a:lnTo>
                  <a:pt x="59107" y="21748"/>
                </a:lnTo>
                <a:lnTo>
                  <a:pt x="56996" y="26910"/>
                </a:lnTo>
                <a:lnTo>
                  <a:pt x="54885" y="31047"/>
                </a:lnTo>
                <a:lnTo>
                  <a:pt x="52774" y="33718"/>
                </a:lnTo>
                <a:lnTo>
                  <a:pt x="50663" y="34641"/>
                </a:lnTo>
                <a:lnTo>
                  <a:pt x="48552" y="33718"/>
                </a:lnTo>
                <a:lnTo>
                  <a:pt x="46441" y="31047"/>
                </a:lnTo>
                <a:lnTo>
                  <a:pt x="44331" y="26910"/>
                </a:lnTo>
                <a:lnTo>
                  <a:pt x="42220" y="21748"/>
                </a:lnTo>
                <a:lnTo>
                  <a:pt x="40109" y="16109"/>
                </a:lnTo>
                <a:lnTo>
                  <a:pt x="37998" y="10589"/>
                </a:lnTo>
                <a:lnTo>
                  <a:pt x="35887" y="5777"/>
                </a:lnTo>
                <a:lnTo>
                  <a:pt x="33776" y="2182"/>
                </a:lnTo>
                <a:lnTo>
                  <a:pt x="31665" y="185"/>
                </a:lnTo>
                <a:lnTo>
                  <a:pt x="29554" y="0"/>
                </a:lnTo>
                <a:lnTo>
                  <a:pt x="27443" y="1645"/>
                </a:lnTo>
                <a:lnTo>
                  <a:pt x="25332" y="4946"/>
                </a:lnTo>
                <a:lnTo>
                  <a:pt x="23221" y="9553"/>
                </a:lnTo>
                <a:lnTo>
                  <a:pt x="21110" y="14976"/>
                </a:lnTo>
                <a:lnTo>
                  <a:pt x="18999" y="20640"/>
                </a:lnTo>
                <a:lnTo>
                  <a:pt x="16888" y="25944"/>
                </a:lnTo>
                <a:lnTo>
                  <a:pt x="14777" y="30325"/>
                </a:lnTo>
                <a:lnTo>
                  <a:pt x="12666" y="33317"/>
                </a:lnTo>
                <a:lnTo>
                  <a:pt x="10555" y="34604"/>
                </a:lnTo>
                <a:lnTo>
                  <a:pt x="8444" y="34049"/>
                </a:lnTo>
                <a:lnTo>
                  <a:pt x="6333" y="31710"/>
                </a:lnTo>
                <a:lnTo>
                  <a:pt x="4222" y="27836"/>
                </a:lnTo>
                <a:lnTo>
                  <a:pt x="2111" y="22838"/>
                </a:lnTo>
                <a:lnTo>
                  <a:pt x="0" y="17246"/>
                </a:lnTo>
              </a:path>
            </a:pathLst>
          </a:custGeom>
          <a:noFill/>
          <a:ln w="13170">
            <a:solidFill>
              <a:srgbClr val="E64B35">
                <a:alpha val="53869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 ohmic loss 1R"/>
          <p:cNvSpPr/>
          <p:nvPr/>
        </p:nvSpPr>
        <p:spPr>
          <a:xfrm>
            <a:off x="5733758" y="5464277"/>
            <a:ext cx="101327" cy="34641"/>
          </a:xfrm>
          <a:custGeom>
            <a:avLst/>
            <a:gdLst/>
            <a:ahLst/>
            <a:cxnLst/>
            <a:rect l="l" t="t" r="r" b="b"/>
            <a:pathLst>
              <a:path w="101327" h="34641">
                <a:moveTo>
                  <a:pt x="0" y="17246"/>
                </a:moveTo>
                <a:lnTo>
                  <a:pt x="2111" y="22838"/>
                </a:lnTo>
                <a:lnTo>
                  <a:pt x="4222" y="27836"/>
                </a:lnTo>
                <a:lnTo>
                  <a:pt x="6333" y="31710"/>
                </a:lnTo>
                <a:lnTo>
                  <a:pt x="8444" y="34049"/>
                </a:lnTo>
                <a:lnTo>
                  <a:pt x="10555" y="34604"/>
                </a:lnTo>
                <a:lnTo>
                  <a:pt x="12666" y="33317"/>
                </a:lnTo>
                <a:lnTo>
                  <a:pt x="14777" y="30325"/>
                </a:lnTo>
                <a:lnTo>
                  <a:pt x="16888" y="25944"/>
                </a:lnTo>
                <a:lnTo>
                  <a:pt x="18999" y="20640"/>
                </a:lnTo>
                <a:lnTo>
                  <a:pt x="21110" y="14976"/>
                </a:lnTo>
                <a:lnTo>
                  <a:pt x="23221" y="9553"/>
                </a:lnTo>
                <a:lnTo>
                  <a:pt x="25332" y="4946"/>
                </a:lnTo>
                <a:lnTo>
                  <a:pt x="27443" y="1645"/>
                </a:lnTo>
                <a:lnTo>
                  <a:pt x="29554" y="0"/>
                </a:lnTo>
                <a:lnTo>
                  <a:pt x="31665" y="185"/>
                </a:lnTo>
                <a:lnTo>
                  <a:pt x="33776" y="2182"/>
                </a:lnTo>
                <a:lnTo>
                  <a:pt x="35887" y="5777"/>
                </a:lnTo>
                <a:lnTo>
                  <a:pt x="37998" y="10589"/>
                </a:lnTo>
                <a:lnTo>
                  <a:pt x="40109" y="16109"/>
                </a:lnTo>
                <a:lnTo>
                  <a:pt x="42220" y="21748"/>
                </a:lnTo>
                <a:lnTo>
                  <a:pt x="44331" y="26910"/>
                </a:lnTo>
                <a:lnTo>
                  <a:pt x="46442" y="31047"/>
                </a:lnTo>
                <a:lnTo>
                  <a:pt x="48553" y="33718"/>
                </a:lnTo>
                <a:lnTo>
                  <a:pt x="50664" y="34641"/>
                </a:lnTo>
                <a:lnTo>
                  <a:pt x="52775" y="33718"/>
                </a:lnTo>
                <a:lnTo>
                  <a:pt x="54886" y="31047"/>
                </a:lnTo>
                <a:lnTo>
                  <a:pt x="56996" y="26910"/>
                </a:lnTo>
                <a:lnTo>
                  <a:pt x="59107" y="21748"/>
                </a:lnTo>
                <a:lnTo>
                  <a:pt x="61218" y="16109"/>
                </a:lnTo>
                <a:lnTo>
                  <a:pt x="63329" y="10589"/>
                </a:lnTo>
                <a:lnTo>
                  <a:pt x="65440" y="5777"/>
                </a:lnTo>
                <a:lnTo>
                  <a:pt x="67551" y="2182"/>
                </a:lnTo>
                <a:lnTo>
                  <a:pt x="69662" y="185"/>
                </a:lnTo>
                <a:lnTo>
                  <a:pt x="71773" y="0"/>
                </a:lnTo>
                <a:lnTo>
                  <a:pt x="73884" y="1645"/>
                </a:lnTo>
                <a:lnTo>
                  <a:pt x="75995" y="4946"/>
                </a:lnTo>
                <a:lnTo>
                  <a:pt x="78106" y="9553"/>
                </a:lnTo>
                <a:lnTo>
                  <a:pt x="80217" y="14976"/>
                </a:lnTo>
                <a:lnTo>
                  <a:pt x="82328" y="20640"/>
                </a:lnTo>
                <a:lnTo>
                  <a:pt x="84439" y="25944"/>
                </a:lnTo>
                <a:lnTo>
                  <a:pt x="86550" y="30325"/>
                </a:lnTo>
                <a:lnTo>
                  <a:pt x="88661" y="33317"/>
                </a:lnTo>
                <a:lnTo>
                  <a:pt x="90772" y="34604"/>
                </a:lnTo>
                <a:lnTo>
                  <a:pt x="92883" y="34049"/>
                </a:lnTo>
                <a:lnTo>
                  <a:pt x="94994" y="31710"/>
                </a:lnTo>
                <a:lnTo>
                  <a:pt x="97105" y="27836"/>
                </a:lnTo>
                <a:lnTo>
                  <a:pt x="99216" y="22838"/>
                </a:lnTo>
                <a:lnTo>
                  <a:pt x="101327" y="17246"/>
                </a:lnTo>
              </a:path>
            </a:pathLst>
          </a:custGeom>
          <a:noFill/>
          <a:ln w="13170">
            <a:solidFill>
              <a:srgbClr val="E64B35">
                <a:alpha val="53869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 absorption burst 1"/>
          <p:cNvSpPr/>
          <p:nvPr/>
        </p:nvSpPr>
        <p:spPr>
          <a:xfrm>
            <a:off x="5657532" y="5486996"/>
            <a:ext cx="84151" cy="84151"/>
          </a:xfrm>
          <a:prstGeom prst="star10">
            <a:avLst>
              <a:gd name="adj" fmla="val 40000"/>
              <a:gd name="hf" fmla="val 105146"/>
            </a:avLst>
          </a:prstGeom>
          <a:solidFill>
            <a:srgbClr val="FBDCD6">
              <a:alpha val="53869"/>
            </a:srgbClr>
          </a:solidFill>
          <a:ln w="7925">
            <a:solidFill>
              <a:srgbClr val="E64B35">
                <a:alpha val="53869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 ohmic loss 2L"/>
          <p:cNvSpPr/>
          <p:nvPr/>
        </p:nvSpPr>
        <p:spPr>
          <a:xfrm>
            <a:off x="7476957" y="5464769"/>
            <a:ext cx="94243" cy="33653"/>
          </a:xfrm>
          <a:custGeom>
            <a:avLst/>
            <a:gdLst/>
            <a:ahLst/>
            <a:cxnLst/>
            <a:rect l="l" t="t" r="r" b="b"/>
            <a:pathLst>
              <a:path w="94243" h="33653">
                <a:moveTo>
                  <a:pt x="94243" y="16754"/>
                </a:moveTo>
                <a:lnTo>
                  <a:pt x="92280" y="22186"/>
                </a:lnTo>
                <a:lnTo>
                  <a:pt x="90316" y="27042"/>
                </a:lnTo>
                <a:lnTo>
                  <a:pt x="88353" y="30805"/>
                </a:lnTo>
                <a:lnTo>
                  <a:pt x="86390" y="33078"/>
                </a:lnTo>
                <a:lnTo>
                  <a:pt x="84426" y="33617"/>
                </a:lnTo>
                <a:lnTo>
                  <a:pt x="82463" y="32367"/>
                </a:lnTo>
                <a:lnTo>
                  <a:pt x="80499" y="29460"/>
                </a:lnTo>
                <a:lnTo>
                  <a:pt x="78536" y="25204"/>
                </a:lnTo>
                <a:lnTo>
                  <a:pt x="76573" y="20051"/>
                </a:lnTo>
                <a:lnTo>
                  <a:pt x="74609" y="14548"/>
                </a:lnTo>
                <a:lnTo>
                  <a:pt x="72646" y="9280"/>
                </a:lnTo>
                <a:lnTo>
                  <a:pt x="70682" y="4805"/>
                </a:lnTo>
                <a:lnTo>
                  <a:pt x="68719" y="1598"/>
                </a:lnTo>
                <a:lnTo>
                  <a:pt x="66756" y="0"/>
                </a:lnTo>
                <a:lnTo>
                  <a:pt x="64792" y="180"/>
                </a:lnTo>
                <a:lnTo>
                  <a:pt x="62829" y="2119"/>
                </a:lnTo>
                <a:lnTo>
                  <a:pt x="60865" y="5612"/>
                </a:lnTo>
                <a:lnTo>
                  <a:pt x="58902" y="10287"/>
                </a:lnTo>
                <a:lnTo>
                  <a:pt x="56939" y="15649"/>
                </a:lnTo>
                <a:lnTo>
                  <a:pt x="54975" y="21128"/>
                </a:lnTo>
                <a:lnTo>
                  <a:pt x="53012" y="26143"/>
                </a:lnTo>
                <a:lnTo>
                  <a:pt x="51048" y="30161"/>
                </a:lnTo>
                <a:lnTo>
                  <a:pt x="49085" y="32757"/>
                </a:lnTo>
                <a:lnTo>
                  <a:pt x="47122" y="33653"/>
                </a:lnTo>
                <a:lnTo>
                  <a:pt x="45158" y="32757"/>
                </a:lnTo>
                <a:lnTo>
                  <a:pt x="43195" y="30161"/>
                </a:lnTo>
                <a:lnTo>
                  <a:pt x="41232" y="26143"/>
                </a:lnTo>
                <a:lnTo>
                  <a:pt x="39268" y="21128"/>
                </a:lnTo>
                <a:lnTo>
                  <a:pt x="37305" y="15649"/>
                </a:lnTo>
                <a:lnTo>
                  <a:pt x="35341" y="10287"/>
                </a:lnTo>
                <a:lnTo>
                  <a:pt x="33378" y="5612"/>
                </a:lnTo>
                <a:lnTo>
                  <a:pt x="31415" y="2119"/>
                </a:lnTo>
                <a:lnTo>
                  <a:pt x="29451" y="180"/>
                </a:lnTo>
                <a:lnTo>
                  <a:pt x="27488" y="0"/>
                </a:lnTo>
                <a:lnTo>
                  <a:pt x="25524" y="1598"/>
                </a:lnTo>
                <a:lnTo>
                  <a:pt x="23561" y="4805"/>
                </a:lnTo>
                <a:lnTo>
                  <a:pt x="21598" y="9280"/>
                </a:lnTo>
                <a:lnTo>
                  <a:pt x="19634" y="14548"/>
                </a:lnTo>
                <a:lnTo>
                  <a:pt x="17671" y="20051"/>
                </a:lnTo>
                <a:lnTo>
                  <a:pt x="15707" y="25204"/>
                </a:lnTo>
                <a:lnTo>
                  <a:pt x="13744" y="29460"/>
                </a:lnTo>
                <a:lnTo>
                  <a:pt x="11781" y="32367"/>
                </a:lnTo>
                <a:lnTo>
                  <a:pt x="9817" y="33617"/>
                </a:lnTo>
                <a:lnTo>
                  <a:pt x="7854" y="33078"/>
                </a:lnTo>
                <a:lnTo>
                  <a:pt x="5890" y="30805"/>
                </a:lnTo>
                <a:lnTo>
                  <a:pt x="3927" y="27042"/>
                </a:lnTo>
                <a:lnTo>
                  <a:pt x="1964" y="22186"/>
                </a:lnTo>
                <a:lnTo>
                  <a:pt x="0" y="16754"/>
                </a:lnTo>
              </a:path>
            </a:pathLst>
          </a:custGeom>
          <a:noFill/>
          <a:ln w="12412">
            <a:solidFill>
              <a:srgbClr val="E64B35">
                <a:alpha val="52627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 ohmic loss 2R"/>
          <p:cNvSpPr/>
          <p:nvPr/>
        </p:nvSpPr>
        <p:spPr>
          <a:xfrm>
            <a:off x="7631919" y="5464769"/>
            <a:ext cx="94243" cy="33653"/>
          </a:xfrm>
          <a:custGeom>
            <a:avLst/>
            <a:gdLst/>
            <a:ahLst/>
            <a:cxnLst/>
            <a:rect l="l" t="t" r="r" b="b"/>
            <a:pathLst>
              <a:path w="94243" h="33653">
                <a:moveTo>
                  <a:pt x="0" y="16754"/>
                </a:moveTo>
                <a:lnTo>
                  <a:pt x="1963" y="22186"/>
                </a:lnTo>
                <a:lnTo>
                  <a:pt x="3927" y="27042"/>
                </a:lnTo>
                <a:lnTo>
                  <a:pt x="5890" y="30805"/>
                </a:lnTo>
                <a:lnTo>
                  <a:pt x="7853" y="33078"/>
                </a:lnTo>
                <a:lnTo>
                  <a:pt x="9817" y="33617"/>
                </a:lnTo>
                <a:lnTo>
                  <a:pt x="11780" y="32367"/>
                </a:lnTo>
                <a:lnTo>
                  <a:pt x="13744" y="29460"/>
                </a:lnTo>
                <a:lnTo>
                  <a:pt x="15707" y="25204"/>
                </a:lnTo>
                <a:lnTo>
                  <a:pt x="17670" y="20051"/>
                </a:lnTo>
                <a:lnTo>
                  <a:pt x="19634" y="14548"/>
                </a:lnTo>
                <a:lnTo>
                  <a:pt x="21597" y="9280"/>
                </a:lnTo>
                <a:lnTo>
                  <a:pt x="23561" y="4805"/>
                </a:lnTo>
                <a:lnTo>
                  <a:pt x="25524" y="1598"/>
                </a:lnTo>
                <a:lnTo>
                  <a:pt x="27487" y="0"/>
                </a:lnTo>
                <a:lnTo>
                  <a:pt x="29451" y="180"/>
                </a:lnTo>
                <a:lnTo>
                  <a:pt x="31414" y="2119"/>
                </a:lnTo>
                <a:lnTo>
                  <a:pt x="33378" y="5612"/>
                </a:lnTo>
                <a:lnTo>
                  <a:pt x="35341" y="10287"/>
                </a:lnTo>
                <a:lnTo>
                  <a:pt x="37304" y="15649"/>
                </a:lnTo>
                <a:lnTo>
                  <a:pt x="39268" y="21128"/>
                </a:lnTo>
                <a:lnTo>
                  <a:pt x="41231" y="26143"/>
                </a:lnTo>
                <a:lnTo>
                  <a:pt x="43195" y="30161"/>
                </a:lnTo>
                <a:lnTo>
                  <a:pt x="45158" y="32757"/>
                </a:lnTo>
                <a:lnTo>
                  <a:pt x="47121" y="33653"/>
                </a:lnTo>
                <a:lnTo>
                  <a:pt x="49085" y="32757"/>
                </a:lnTo>
                <a:lnTo>
                  <a:pt x="51048" y="30161"/>
                </a:lnTo>
                <a:lnTo>
                  <a:pt x="53011" y="26143"/>
                </a:lnTo>
                <a:lnTo>
                  <a:pt x="54975" y="21128"/>
                </a:lnTo>
                <a:lnTo>
                  <a:pt x="56938" y="15649"/>
                </a:lnTo>
                <a:lnTo>
                  <a:pt x="58902" y="10287"/>
                </a:lnTo>
                <a:lnTo>
                  <a:pt x="60865" y="5612"/>
                </a:lnTo>
                <a:lnTo>
                  <a:pt x="62828" y="2119"/>
                </a:lnTo>
                <a:lnTo>
                  <a:pt x="64792" y="180"/>
                </a:lnTo>
                <a:lnTo>
                  <a:pt x="66755" y="0"/>
                </a:lnTo>
                <a:lnTo>
                  <a:pt x="68719" y="1598"/>
                </a:lnTo>
                <a:lnTo>
                  <a:pt x="70682" y="4805"/>
                </a:lnTo>
                <a:lnTo>
                  <a:pt x="72645" y="9280"/>
                </a:lnTo>
                <a:lnTo>
                  <a:pt x="74609" y="14548"/>
                </a:lnTo>
                <a:lnTo>
                  <a:pt x="76572" y="20051"/>
                </a:lnTo>
                <a:lnTo>
                  <a:pt x="78536" y="25204"/>
                </a:lnTo>
                <a:lnTo>
                  <a:pt x="80499" y="29460"/>
                </a:lnTo>
                <a:lnTo>
                  <a:pt x="82462" y="32367"/>
                </a:lnTo>
                <a:lnTo>
                  <a:pt x="84426" y="33617"/>
                </a:lnTo>
                <a:lnTo>
                  <a:pt x="86389" y="33078"/>
                </a:lnTo>
                <a:lnTo>
                  <a:pt x="88353" y="30805"/>
                </a:lnTo>
                <a:lnTo>
                  <a:pt x="90316" y="27042"/>
                </a:lnTo>
                <a:lnTo>
                  <a:pt x="92279" y="22186"/>
                </a:lnTo>
                <a:lnTo>
                  <a:pt x="94243" y="16754"/>
                </a:lnTo>
              </a:path>
            </a:pathLst>
          </a:custGeom>
          <a:noFill/>
          <a:ln w="12412">
            <a:solidFill>
              <a:srgbClr val="E64B35">
                <a:alpha val="52627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 absorption burst 2"/>
          <p:cNvSpPr/>
          <p:nvPr/>
        </p:nvSpPr>
        <p:spPr>
          <a:xfrm>
            <a:off x="7563275" y="5490788"/>
            <a:ext cx="76568" cy="76568"/>
          </a:xfrm>
          <a:prstGeom prst="star10">
            <a:avLst>
              <a:gd name="adj" fmla="val 40000"/>
              <a:gd name="hf" fmla="val 105146"/>
            </a:avLst>
          </a:prstGeom>
          <a:solidFill>
            <a:srgbClr val="FBDCD6">
              <a:alpha val="52627"/>
            </a:srgbClr>
          </a:solidFill>
          <a:ln w="7925">
            <a:solidFill>
              <a:srgbClr val="E64B35">
                <a:alpha val="52627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 ohmic loss 3L"/>
          <p:cNvSpPr/>
          <p:nvPr/>
        </p:nvSpPr>
        <p:spPr>
          <a:xfrm>
            <a:off x="9386726" y="5465102"/>
            <a:ext cx="89432" cy="32984"/>
          </a:xfrm>
          <a:custGeom>
            <a:avLst/>
            <a:gdLst/>
            <a:ahLst/>
            <a:cxnLst/>
            <a:rect l="l" t="t" r="r" b="b"/>
            <a:pathLst>
              <a:path w="89432" h="32984">
                <a:moveTo>
                  <a:pt x="89432" y="16421"/>
                </a:moveTo>
                <a:lnTo>
                  <a:pt x="87569" y="21745"/>
                </a:lnTo>
                <a:lnTo>
                  <a:pt x="85706" y="26504"/>
                </a:lnTo>
                <a:lnTo>
                  <a:pt x="83843" y="30192"/>
                </a:lnTo>
                <a:lnTo>
                  <a:pt x="81979" y="32419"/>
                </a:lnTo>
                <a:lnTo>
                  <a:pt x="80116" y="32948"/>
                </a:lnTo>
                <a:lnTo>
                  <a:pt x="78253" y="31723"/>
                </a:lnTo>
                <a:lnTo>
                  <a:pt x="76390" y="28874"/>
                </a:lnTo>
                <a:lnTo>
                  <a:pt x="74527" y="24702"/>
                </a:lnTo>
                <a:lnTo>
                  <a:pt x="72664" y="19652"/>
                </a:lnTo>
                <a:lnTo>
                  <a:pt x="70800" y="14259"/>
                </a:lnTo>
                <a:lnTo>
                  <a:pt x="68937" y="9096"/>
                </a:lnTo>
                <a:lnTo>
                  <a:pt x="67074" y="4710"/>
                </a:lnTo>
                <a:lnTo>
                  <a:pt x="65211" y="1567"/>
                </a:lnTo>
                <a:lnTo>
                  <a:pt x="63348" y="0"/>
                </a:lnTo>
                <a:lnTo>
                  <a:pt x="61485" y="177"/>
                </a:lnTo>
                <a:lnTo>
                  <a:pt x="59621" y="2078"/>
                </a:lnTo>
                <a:lnTo>
                  <a:pt x="57758" y="5501"/>
                </a:lnTo>
                <a:lnTo>
                  <a:pt x="55895" y="10083"/>
                </a:lnTo>
                <a:lnTo>
                  <a:pt x="54032" y="15338"/>
                </a:lnTo>
                <a:lnTo>
                  <a:pt x="52169" y="20708"/>
                </a:lnTo>
                <a:lnTo>
                  <a:pt x="50306" y="25623"/>
                </a:lnTo>
                <a:lnTo>
                  <a:pt x="48442" y="29561"/>
                </a:lnTo>
                <a:lnTo>
                  <a:pt x="46579" y="32105"/>
                </a:lnTo>
                <a:lnTo>
                  <a:pt x="44716" y="32984"/>
                </a:lnTo>
                <a:lnTo>
                  <a:pt x="42853" y="32105"/>
                </a:lnTo>
                <a:lnTo>
                  <a:pt x="40990" y="29561"/>
                </a:lnTo>
                <a:lnTo>
                  <a:pt x="39127" y="25623"/>
                </a:lnTo>
                <a:lnTo>
                  <a:pt x="37263" y="20708"/>
                </a:lnTo>
                <a:lnTo>
                  <a:pt x="35400" y="15338"/>
                </a:lnTo>
                <a:lnTo>
                  <a:pt x="33537" y="10083"/>
                </a:lnTo>
                <a:lnTo>
                  <a:pt x="31674" y="5501"/>
                </a:lnTo>
                <a:lnTo>
                  <a:pt x="29811" y="2078"/>
                </a:lnTo>
                <a:lnTo>
                  <a:pt x="27948" y="177"/>
                </a:lnTo>
                <a:lnTo>
                  <a:pt x="26084" y="0"/>
                </a:lnTo>
                <a:lnTo>
                  <a:pt x="24221" y="1567"/>
                </a:lnTo>
                <a:lnTo>
                  <a:pt x="22358" y="4710"/>
                </a:lnTo>
                <a:lnTo>
                  <a:pt x="20495" y="9096"/>
                </a:lnTo>
                <a:lnTo>
                  <a:pt x="18632" y="14259"/>
                </a:lnTo>
                <a:lnTo>
                  <a:pt x="16769" y="19652"/>
                </a:lnTo>
                <a:lnTo>
                  <a:pt x="14906" y="24702"/>
                </a:lnTo>
                <a:lnTo>
                  <a:pt x="13042" y="28874"/>
                </a:lnTo>
                <a:lnTo>
                  <a:pt x="11179" y="31723"/>
                </a:lnTo>
                <a:lnTo>
                  <a:pt x="9316" y="32948"/>
                </a:lnTo>
                <a:lnTo>
                  <a:pt x="7453" y="32419"/>
                </a:lnTo>
                <a:lnTo>
                  <a:pt x="5590" y="30192"/>
                </a:lnTo>
                <a:lnTo>
                  <a:pt x="3727" y="26504"/>
                </a:lnTo>
                <a:lnTo>
                  <a:pt x="1863" y="21745"/>
                </a:lnTo>
                <a:lnTo>
                  <a:pt x="0" y="16421"/>
                </a:lnTo>
              </a:path>
            </a:pathLst>
          </a:custGeom>
          <a:noFill/>
          <a:ln w="11811">
            <a:solidFill>
              <a:srgbClr val="E64B35">
                <a:alpha val="51784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 ohmic loss 3R"/>
          <p:cNvSpPr/>
          <p:nvPr/>
        </p:nvSpPr>
        <p:spPr>
          <a:xfrm>
            <a:off x="9530865" y="5465102"/>
            <a:ext cx="89432" cy="32984"/>
          </a:xfrm>
          <a:custGeom>
            <a:avLst/>
            <a:gdLst/>
            <a:ahLst/>
            <a:cxnLst/>
            <a:rect l="l" t="t" r="r" b="b"/>
            <a:pathLst>
              <a:path w="89432" h="32984">
                <a:moveTo>
                  <a:pt x="0" y="16421"/>
                </a:moveTo>
                <a:lnTo>
                  <a:pt x="1863" y="21745"/>
                </a:lnTo>
                <a:lnTo>
                  <a:pt x="3726" y="26504"/>
                </a:lnTo>
                <a:lnTo>
                  <a:pt x="5589" y="30192"/>
                </a:lnTo>
                <a:lnTo>
                  <a:pt x="7453" y="32419"/>
                </a:lnTo>
                <a:lnTo>
                  <a:pt x="9316" y="32948"/>
                </a:lnTo>
                <a:lnTo>
                  <a:pt x="11179" y="31723"/>
                </a:lnTo>
                <a:lnTo>
                  <a:pt x="13042" y="28874"/>
                </a:lnTo>
                <a:lnTo>
                  <a:pt x="14905" y="24702"/>
                </a:lnTo>
                <a:lnTo>
                  <a:pt x="16768" y="19652"/>
                </a:lnTo>
                <a:lnTo>
                  <a:pt x="18632" y="14259"/>
                </a:lnTo>
                <a:lnTo>
                  <a:pt x="20495" y="9096"/>
                </a:lnTo>
                <a:lnTo>
                  <a:pt x="22358" y="4710"/>
                </a:lnTo>
                <a:lnTo>
                  <a:pt x="24221" y="1567"/>
                </a:lnTo>
                <a:lnTo>
                  <a:pt x="26084" y="0"/>
                </a:lnTo>
                <a:lnTo>
                  <a:pt x="27947" y="177"/>
                </a:lnTo>
                <a:lnTo>
                  <a:pt x="29811" y="2078"/>
                </a:lnTo>
                <a:lnTo>
                  <a:pt x="31674" y="5501"/>
                </a:lnTo>
                <a:lnTo>
                  <a:pt x="33537" y="10083"/>
                </a:lnTo>
                <a:lnTo>
                  <a:pt x="35400" y="15338"/>
                </a:lnTo>
                <a:lnTo>
                  <a:pt x="37263" y="20708"/>
                </a:lnTo>
                <a:lnTo>
                  <a:pt x="39126" y="25623"/>
                </a:lnTo>
                <a:lnTo>
                  <a:pt x="40990" y="29561"/>
                </a:lnTo>
                <a:lnTo>
                  <a:pt x="42853" y="32105"/>
                </a:lnTo>
                <a:lnTo>
                  <a:pt x="44716" y="32984"/>
                </a:lnTo>
                <a:lnTo>
                  <a:pt x="46579" y="32105"/>
                </a:lnTo>
                <a:lnTo>
                  <a:pt x="48442" y="29561"/>
                </a:lnTo>
                <a:lnTo>
                  <a:pt x="50305" y="25623"/>
                </a:lnTo>
                <a:lnTo>
                  <a:pt x="52169" y="20708"/>
                </a:lnTo>
                <a:lnTo>
                  <a:pt x="54032" y="15338"/>
                </a:lnTo>
                <a:lnTo>
                  <a:pt x="55895" y="10083"/>
                </a:lnTo>
                <a:lnTo>
                  <a:pt x="57758" y="5501"/>
                </a:lnTo>
                <a:lnTo>
                  <a:pt x="59621" y="2078"/>
                </a:lnTo>
                <a:lnTo>
                  <a:pt x="61484" y="177"/>
                </a:lnTo>
                <a:lnTo>
                  <a:pt x="63348" y="0"/>
                </a:lnTo>
                <a:lnTo>
                  <a:pt x="65211" y="1567"/>
                </a:lnTo>
                <a:lnTo>
                  <a:pt x="67074" y="4710"/>
                </a:lnTo>
                <a:lnTo>
                  <a:pt x="68937" y="9096"/>
                </a:lnTo>
                <a:lnTo>
                  <a:pt x="70800" y="14259"/>
                </a:lnTo>
                <a:lnTo>
                  <a:pt x="72663" y="19652"/>
                </a:lnTo>
                <a:lnTo>
                  <a:pt x="74526" y="24702"/>
                </a:lnTo>
                <a:lnTo>
                  <a:pt x="76390" y="28874"/>
                </a:lnTo>
                <a:lnTo>
                  <a:pt x="78253" y="31723"/>
                </a:lnTo>
                <a:lnTo>
                  <a:pt x="80116" y="32948"/>
                </a:lnTo>
                <a:lnTo>
                  <a:pt x="81979" y="32419"/>
                </a:lnTo>
                <a:lnTo>
                  <a:pt x="83842" y="30192"/>
                </a:lnTo>
                <a:lnTo>
                  <a:pt x="85705" y="26504"/>
                </a:lnTo>
                <a:lnTo>
                  <a:pt x="87569" y="21745"/>
                </a:lnTo>
                <a:lnTo>
                  <a:pt x="89432" y="16421"/>
                </a:lnTo>
              </a:path>
            </a:pathLst>
          </a:custGeom>
          <a:noFill/>
          <a:ln w="11811">
            <a:solidFill>
              <a:srgbClr val="E64B35">
                <a:alpha val="51784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 absorption burst 3"/>
          <p:cNvSpPr/>
          <p:nvPr/>
        </p:nvSpPr>
        <p:spPr>
          <a:xfrm>
            <a:off x="9468233" y="5493794"/>
            <a:ext cx="70557" cy="70557"/>
          </a:xfrm>
          <a:prstGeom prst="star10">
            <a:avLst>
              <a:gd name="adj" fmla="val 40000"/>
              <a:gd name="hf" fmla="val 105146"/>
            </a:avLst>
          </a:prstGeom>
          <a:solidFill>
            <a:srgbClr val="FBDCD6">
              <a:alpha val="51784"/>
            </a:srgbClr>
          </a:solidFill>
          <a:ln w="7925">
            <a:solidFill>
              <a:srgbClr val="E64B35">
                <a:alpha val="51784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 emitter"/>
          <p:cNvSpPr/>
          <p:nvPr/>
        </p:nvSpPr>
        <p:spPr>
          <a:xfrm>
            <a:off x="3801618" y="5390388"/>
            <a:ext cx="134722" cy="134722"/>
          </a:xfrm>
          <a:prstGeom prst="star8">
            <a:avLst>
              <a:gd name="adj" fmla="val 40000"/>
            </a:avLst>
          </a:prstGeom>
          <a:solidFill>
            <a:srgbClr val="E8901F"/>
          </a:solidFill>
          <a:ln w="7925">
            <a:solidFill>
              <a:srgbClr val="6F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 emitter core"/>
          <p:cNvSpPr/>
          <p:nvPr/>
        </p:nvSpPr>
        <p:spPr>
          <a:xfrm>
            <a:off x="3849959" y="5438729"/>
            <a:ext cx="38039" cy="38039"/>
          </a:xfrm>
          <a:prstGeom prst="ellipse">
            <a:avLst/>
          </a:prstGeom>
          <a:solidFill>
            <a:srgbClr val="FFF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itle 2"/>
          <p:cNvSpPr txBox="1"/>
          <p:nvPr/>
        </p:nvSpPr>
        <p:spPr>
          <a:xfrm>
            <a:off x="4352392" y="3156862"/>
            <a:ext cx="5547360" cy="3994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10" b="1">
                <a:solidFill>
                  <a:srgbClr val="1A1A1A"/>
                </a:solidFill>
                <a:latin typeface="Arial"/>
              </a:rPr>
              <a:t>Low loss reflector</a:t>
            </a:r>
          </a:p>
        </p:txBody>
      </p:sp>
      <p:sp>
        <p:nvSpPr>
          <p:cNvPr id="127" name="subtitle 2"/>
          <p:cNvSpPr txBox="1"/>
          <p:nvPr/>
        </p:nvSpPr>
        <p:spPr>
          <a:xfrm>
            <a:off x="4748632" y="3408079"/>
            <a:ext cx="4754880" cy="3043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8" b="0">
                <a:solidFill>
                  <a:srgbClr val="55585C"/>
                </a:solidFill>
                <a:latin typeface="Arial"/>
              </a:rPr>
              <a:t>absorption suppressed — intensity survives many round trips</a:t>
            </a:r>
          </a:p>
        </p:txBody>
      </p:sp>
      <p:sp>
        <p:nvSpPr>
          <p:cNvPr id="128" name="key 2: Outcoupling structure"/>
          <p:cNvSpPr txBox="1"/>
          <p:nvPr/>
        </p:nvSpPr>
        <p:spPr>
          <a:xfrm>
            <a:off x="1348892" y="4248741"/>
            <a:ext cx="2060448" cy="26627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73" b="0">
                <a:solidFill>
                  <a:srgbClr val="55585C"/>
                </a:solidFill>
                <a:latin typeface="Arial"/>
              </a:rPr>
              <a:t>Outcoupling structure</a:t>
            </a:r>
          </a:p>
        </p:txBody>
      </p:sp>
      <p:cxnSp>
        <p:nvCxnSpPr>
          <p:cNvPr id="129" name="key leader 2: Outcoupling structure"/>
          <p:cNvCxnSpPr/>
          <p:nvPr/>
        </p:nvCxnSpPr>
        <p:spPr>
          <a:xfrm>
            <a:off x="3456889" y="4379976"/>
            <a:ext cx="63399" cy="15850"/>
          </a:xfrm>
          <a:prstGeom prst="line">
            <a:avLst/>
          </a:prstGeom>
          <a:ln w="7132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key 2: Glass substrate"/>
          <p:cNvSpPr txBox="1"/>
          <p:nvPr/>
        </p:nvSpPr>
        <p:spPr>
          <a:xfrm>
            <a:off x="1348892" y="4819327"/>
            <a:ext cx="2060448" cy="26627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73" b="0">
                <a:solidFill>
                  <a:srgbClr val="55585C"/>
                </a:solidFill>
                <a:latin typeface="Arial"/>
              </a:rPr>
              <a:t>Glass substrate</a:t>
            </a:r>
          </a:p>
        </p:txBody>
      </p:sp>
      <p:cxnSp>
        <p:nvCxnSpPr>
          <p:cNvPr id="131" name="key leader 2: Glass substrate"/>
          <p:cNvCxnSpPr/>
          <p:nvPr/>
        </p:nvCxnSpPr>
        <p:spPr>
          <a:xfrm flipV="1">
            <a:off x="3456889" y="4918862"/>
            <a:ext cx="63399" cy="31700"/>
          </a:xfrm>
          <a:prstGeom prst="line">
            <a:avLst/>
          </a:prstGeom>
          <a:ln w="7132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key 2: Low loss TCO"/>
          <p:cNvSpPr txBox="1"/>
          <p:nvPr/>
        </p:nvSpPr>
        <p:spPr>
          <a:xfrm>
            <a:off x="1348892" y="5144244"/>
            <a:ext cx="2060448" cy="26627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73" b="0">
                <a:solidFill>
                  <a:srgbClr val="55585C"/>
                </a:solidFill>
                <a:latin typeface="Arial"/>
              </a:rPr>
              <a:t>Low loss TCO</a:t>
            </a:r>
          </a:p>
        </p:txBody>
      </p:sp>
      <p:cxnSp>
        <p:nvCxnSpPr>
          <p:cNvPr id="133" name="key leader 2: Low loss TCO"/>
          <p:cNvCxnSpPr/>
          <p:nvPr/>
        </p:nvCxnSpPr>
        <p:spPr>
          <a:xfrm>
            <a:off x="3456889" y="5275478"/>
            <a:ext cx="63399" cy="47549"/>
          </a:xfrm>
          <a:prstGeom prst="line">
            <a:avLst/>
          </a:prstGeom>
          <a:ln w="7132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key 2: Organic layers"/>
          <p:cNvSpPr txBox="1"/>
          <p:nvPr/>
        </p:nvSpPr>
        <p:spPr>
          <a:xfrm>
            <a:off x="1348892" y="5374063"/>
            <a:ext cx="2060448" cy="26627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73" b="0">
                <a:solidFill>
                  <a:srgbClr val="55585C"/>
                </a:solidFill>
                <a:latin typeface="Arial"/>
              </a:rPr>
              <a:t>Organic layers</a:t>
            </a:r>
          </a:p>
        </p:txBody>
      </p:sp>
      <p:cxnSp>
        <p:nvCxnSpPr>
          <p:cNvPr id="135" name="key leader 2: Organic layers"/>
          <p:cNvCxnSpPr/>
          <p:nvPr/>
        </p:nvCxnSpPr>
        <p:spPr>
          <a:xfrm flipV="1">
            <a:off x="3456889" y="5457749"/>
            <a:ext cx="63399" cy="47549"/>
          </a:xfrm>
          <a:prstGeom prst="line">
            <a:avLst/>
          </a:prstGeom>
          <a:ln w="7132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key 2: Low loss metal electrode"/>
          <p:cNvSpPr txBox="1"/>
          <p:nvPr/>
        </p:nvSpPr>
        <p:spPr>
          <a:xfrm>
            <a:off x="1348892" y="5580108"/>
            <a:ext cx="2060448" cy="26627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73" b="0">
                <a:solidFill>
                  <a:srgbClr val="55585C"/>
                </a:solidFill>
                <a:latin typeface="Arial"/>
              </a:rPr>
              <a:t>Low loss metal electrode</a:t>
            </a:r>
          </a:p>
        </p:txBody>
      </p:sp>
      <p:cxnSp>
        <p:nvCxnSpPr>
          <p:cNvPr id="137" name="key leader 2: Low loss metal electrode"/>
          <p:cNvCxnSpPr/>
          <p:nvPr/>
        </p:nvCxnSpPr>
        <p:spPr>
          <a:xfrm flipV="1">
            <a:off x="3456889" y="5687568"/>
            <a:ext cx="63399" cy="23774"/>
          </a:xfrm>
          <a:prstGeom prst="line">
            <a:avLst/>
          </a:prstGeom>
          <a:ln w="7132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legend ray"/>
          <p:cNvCxnSpPr/>
          <p:nvPr/>
        </p:nvCxnSpPr>
        <p:spPr>
          <a:xfrm>
            <a:off x="2371192" y="6202680"/>
            <a:ext cx="507187" cy="0"/>
          </a:xfrm>
          <a:prstGeom prst="line">
            <a:avLst/>
          </a:prstGeom>
          <a:ln w="49134">
            <a:solidFill>
              <a:srgbClr val="00A087"/>
            </a:solidFill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legend ray text"/>
          <p:cNvSpPr txBox="1"/>
          <p:nvPr/>
        </p:nvSpPr>
        <p:spPr>
          <a:xfrm>
            <a:off x="2989326" y="6059241"/>
            <a:ext cx="3169920" cy="28529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36" b="0">
                <a:solidFill>
                  <a:srgbClr val="55585C"/>
                </a:solidFill>
                <a:latin typeface="Arial"/>
              </a:rPr>
              <a:t>Light ray  (line width ∝ optical power)</a:t>
            </a:r>
          </a:p>
        </p:txBody>
      </p:sp>
      <p:sp>
        <p:nvSpPr>
          <p:cNvPr id="140" name="legend emitter"/>
          <p:cNvSpPr/>
          <p:nvPr/>
        </p:nvSpPr>
        <p:spPr>
          <a:xfrm>
            <a:off x="5790743" y="6119470"/>
            <a:ext cx="134722" cy="134722"/>
          </a:xfrm>
          <a:prstGeom prst="star8">
            <a:avLst>
              <a:gd name="adj" fmla="val 40000"/>
            </a:avLst>
          </a:prstGeom>
          <a:solidFill>
            <a:srgbClr val="E8901F"/>
          </a:solidFill>
          <a:ln w="7925">
            <a:solidFill>
              <a:srgbClr val="6F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legend emission text"/>
          <p:cNvSpPr txBox="1"/>
          <p:nvPr/>
        </p:nvSpPr>
        <p:spPr>
          <a:xfrm>
            <a:off x="6000750" y="6059241"/>
            <a:ext cx="2377440" cy="28529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36" b="0">
                <a:solidFill>
                  <a:srgbClr val="55585C"/>
                </a:solidFill>
                <a:latin typeface="Arial"/>
              </a:rPr>
              <a:t>Exciton emission</a:t>
            </a:r>
          </a:p>
        </p:txBody>
      </p:sp>
      <p:sp>
        <p:nvSpPr>
          <p:cNvPr id="142" name="legend loss"/>
          <p:cNvSpPr/>
          <p:nvPr/>
        </p:nvSpPr>
        <p:spPr>
          <a:xfrm>
            <a:off x="7443064" y="6160117"/>
            <a:ext cx="443788" cy="53658"/>
          </a:xfrm>
          <a:custGeom>
            <a:avLst/>
            <a:gdLst/>
            <a:ahLst/>
            <a:cxnLst/>
            <a:rect l="l" t="t" r="r" b="b"/>
            <a:pathLst>
              <a:path w="443788" h="53658">
                <a:moveTo>
                  <a:pt x="0" y="26713"/>
                </a:moveTo>
                <a:lnTo>
                  <a:pt x="9245" y="35374"/>
                </a:lnTo>
                <a:lnTo>
                  <a:pt x="18491" y="43116"/>
                </a:lnTo>
                <a:lnTo>
                  <a:pt x="27736" y="49117"/>
                </a:lnTo>
                <a:lnTo>
                  <a:pt x="36982" y="52740"/>
                </a:lnTo>
                <a:lnTo>
                  <a:pt x="46228" y="53600"/>
                </a:lnTo>
                <a:lnTo>
                  <a:pt x="55473" y="51607"/>
                </a:lnTo>
                <a:lnTo>
                  <a:pt x="64719" y="46971"/>
                </a:lnTo>
                <a:lnTo>
                  <a:pt x="73964" y="40186"/>
                </a:lnTo>
                <a:lnTo>
                  <a:pt x="83210" y="31970"/>
                </a:lnTo>
                <a:lnTo>
                  <a:pt x="92456" y="23196"/>
                </a:lnTo>
                <a:lnTo>
                  <a:pt x="101701" y="14796"/>
                </a:lnTo>
                <a:lnTo>
                  <a:pt x="110947" y="7661"/>
                </a:lnTo>
                <a:lnTo>
                  <a:pt x="120192" y="2548"/>
                </a:lnTo>
                <a:lnTo>
                  <a:pt x="129438" y="0"/>
                </a:lnTo>
                <a:lnTo>
                  <a:pt x="138684" y="287"/>
                </a:lnTo>
                <a:lnTo>
                  <a:pt x="147929" y="3379"/>
                </a:lnTo>
                <a:lnTo>
                  <a:pt x="157175" y="8948"/>
                </a:lnTo>
                <a:lnTo>
                  <a:pt x="166420" y="16402"/>
                </a:lnTo>
                <a:lnTo>
                  <a:pt x="175666" y="24951"/>
                </a:lnTo>
                <a:lnTo>
                  <a:pt x="184912" y="33687"/>
                </a:lnTo>
                <a:lnTo>
                  <a:pt x="194157" y="41683"/>
                </a:lnTo>
                <a:lnTo>
                  <a:pt x="203403" y="48090"/>
                </a:lnTo>
                <a:lnTo>
                  <a:pt x="212648" y="52228"/>
                </a:lnTo>
                <a:lnTo>
                  <a:pt x="221894" y="53658"/>
                </a:lnTo>
                <a:lnTo>
                  <a:pt x="231140" y="52228"/>
                </a:lnTo>
                <a:lnTo>
                  <a:pt x="240385" y="48090"/>
                </a:lnTo>
                <a:lnTo>
                  <a:pt x="249631" y="41683"/>
                </a:lnTo>
                <a:lnTo>
                  <a:pt x="258876" y="33687"/>
                </a:lnTo>
                <a:lnTo>
                  <a:pt x="268122" y="24951"/>
                </a:lnTo>
                <a:lnTo>
                  <a:pt x="277368" y="16402"/>
                </a:lnTo>
                <a:lnTo>
                  <a:pt x="286613" y="8948"/>
                </a:lnTo>
                <a:lnTo>
                  <a:pt x="295859" y="3379"/>
                </a:lnTo>
                <a:lnTo>
                  <a:pt x="305104" y="287"/>
                </a:lnTo>
                <a:lnTo>
                  <a:pt x="314350" y="0"/>
                </a:lnTo>
                <a:lnTo>
                  <a:pt x="323596" y="2548"/>
                </a:lnTo>
                <a:lnTo>
                  <a:pt x="332841" y="7661"/>
                </a:lnTo>
                <a:lnTo>
                  <a:pt x="342087" y="14796"/>
                </a:lnTo>
                <a:lnTo>
                  <a:pt x="351332" y="23196"/>
                </a:lnTo>
                <a:lnTo>
                  <a:pt x="360578" y="31970"/>
                </a:lnTo>
                <a:lnTo>
                  <a:pt x="369824" y="40186"/>
                </a:lnTo>
                <a:lnTo>
                  <a:pt x="379069" y="46971"/>
                </a:lnTo>
                <a:lnTo>
                  <a:pt x="388315" y="51607"/>
                </a:lnTo>
                <a:lnTo>
                  <a:pt x="397560" y="53600"/>
                </a:lnTo>
                <a:lnTo>
                  <a:pt x="406806" y="52740"/>
                </a:lnTo>
                <a:lnTo>
                  <a:pt x="416052" y="49117"/>
                </a:lnTo>
                <a:lnTo>
                  <a:pt x="425297" y="43116"/>
                </a:lnTo>
                <a:lnTo>
                  <a:pt x="434543" y="35374"/>
                </a:lnTo>
                <a:lnTo>
                  <a:pt x="443788" y="26713"/>
                </a:lnTo>
              </a:path>
            </a:pathLst>
          </a:custGeom>
          <a:noFill/>
          <a:ln w="17435">
            <a:solidFill>
              <a:srgbClr val="E64B35">
                <a:alpha val="95000"/>
              </a:srgbClr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legend loss text"/>
          <p:cNvSpPr txBox="1"/>
          <p:nvPr/>
        </p:nvSpPr>
        <p:spPr>
          <a:xfrm>
            <a:off x="8045348" y="6059241"/>
            <a:ext cx="3645408" cy="28529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36" b="0">
                <a:solidFill>
                  <a:srgbClr val="55585C"/>
                </a:solidFill>
                <a:latin typeface="Arial"/>
              </a:rPr>
              <a:t>Absorption loss  (ohmic at the metal, TCO)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