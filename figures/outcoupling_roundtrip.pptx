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ventional render" descr="emitting_area_render_conventiona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-124691"/>
            <a:ext cx="2826327" cy="2826327"/>
          </a:xfrm>
          <a:prstGeom prst="rect">
            <a:avLst/>
          </a:prstGeom>
        </p:spPr>
      </p:pic>
      <p:sp>
        <p:nvSpPr>
          <p:cNvPr id="3" name="L lens 01"/>
          <p:cNvSpPr/>
          <p:nvPr/>
        </p:nvSpPr>
        <p:spPr>
          <a:xfrm>
            <a:off x="3892975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 lens 02"/>
          <p:cNvSpPr/>
          <p:nvPr/>
        </p:nvSpPr>
        <p:spPr>
          <a:xfrm>
            <a:off x="4391738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 lens 03"/>
          <p:cNvSpPr/>
          <p:nvPr/>
        </p:nvSpPr>
        <p:spPr>
          <a:xfrm>
            <a:off x="4890502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 lens 04"/>
          <p:cNvSpPr/>
          <p:nvPr/>
        </p:nvSpPr>
        <p:spPr>
          <a:xfrm>
            <a:off x="5389266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 lens 05"/>
          <p:cNvSpPr/>
          <p:nvPr/>
        </p:nvSpPr>
        <p:spPr>
          <a:xfrm>
            <a:off x="5888029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 lens 06"/>
          <p:cNvSpPr/>
          <p:nvPr/>
        </p:nvSpPr>
        <p:spPr>
          <a:xfrm>
            <a:off x="6386793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 lens 07"/>
          <p:cNvSpPr/>
          <p:nvPr/>
        </p:nvSpPr>
        <p:spPr>
          <a:xfrm>
            <a:off x="6885557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 lens 08"/>
          <p:cNvSpPr/>
          <p:nvPr/>
        </p:nvSpPr>
        <p:spPr>
          <a:xfrm>
            <a:off x="7384320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 lens 09"/>
          <p:cNvSpPr/>
          <p:nvPr/>
        </p:nvSpPr>
        <p:spPr>
          <a:xfrm>
            <a:off x="7883084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 lens 10"/>
          <p:cNvSpPr/>
          <p:nvPr/>
        </p:nvSpPr>
        <p:spPr>
          <a:xfrm>
            <a:off x="8381847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 lens 11"/>
          <p:cNvSpPr/>
          <p:nvPr/>
        </p:nvSpPr>
        <p:spPr>
          <a:xfrm>
            <a:off x="8880611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 lens 12"/>
          <p:cNvSpPr/>
          <p:nvPr/>
        </p:nvSpPr>
        <p:spPr>
          <a:xfrm>
            <a:off x="9379375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 lens 13"/>
          <p:cNvSpPr/>
          <p:nvPr/>
        </p:nvSpPr>
        <p:spPr>
          <a:xfrm>
            <a:off x="9878138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 lens 14"/>
          <p:cNvSpPr/>
          <p:nvPr/>
        </p:nvSpPr>
        <p:spPr>
          <a:xfrm>
            <a:off x="10376902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 lens 15"/>
          <p:cNvSpPr/>
          <p:nvPr/>
        </p:nvSpPr>
        <p:spPr>
          <a:xfrm>
            <a:off x="10875666" y="1122218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 glass substrate"/>
          <p:cNvSpPr/>
          <p:nvPr/>
        </p:nvSpPr>
        <p:spPr>
          <a:xfrm>
            <a:off x="3892975" y="1371600"/>
            <a:ext cx="7481455" cy="714895"/>
          </a:xfrm>
          <a:prstGeom prst="rect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 TCO anode"/>
          <p:cNvSpPr/>
          <p:nvPr/>
        </p:nvSpPr>
        <p:spPr>
          <a:xfrm>
            <a:off x="3892975" y="2086495"/>
            <a:ext cx="7481455" cy="133004"/>
          </a:xfrm>
          <a:prstGeom prst="rect">
            <a:avLst/>
          </a:prstGeom>
          <a:solidFill>
            <a:srgbClr val="CBE1EE"/>
          </a:solidFill>
          <a:ln w="8728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 organic layers"/>
          <p:cNvSpPr/>
          <p:nvPr/>
        </p:nvSpPr>
        <p:spPr>
          <a:xfrm>
            <a:off x="3892975" y="2219498"/>
            <a:ext cx="7481455" cy="149629"/>
          </a:xfrm>
          <a:prstGeom prst="rect">
            <a:avLst/>
          </a:prstGeom>
          <a:solidFill>
            <a:srgbClr val="FDF2E2"/>
          </a:solidFill>
          <a:ln w="8728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 metal cathode"/>
          <p:cNvSpPr/>
          <p:nvPr/>
        </p:nvSpPr>
        <p:spPr>
          <a:xfrm>
            <a:off x="3892975" y="2369127"/>
            <a:ext cx="7481455" cy="332509"/>
          </a:xfrm>
          <a:prstGeom prst="rect">
            <a:avLst/>
          </a:prstGeom>
          <a:solidFill>
            <a:srgbClr val="C3C7CB"/>
          </a:solidFill>
          <a:ln w="8728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 TCO absorption 1L"/>
          <p:cNvSpPr/>
          <p:nvPr/>
        </p:nvSpPr>
        <p:spPr>
          <a:xfrm>
            <a:off x="5821528" y="2126396"/>
            <a:ext cx="232756" cy="53201"/>
          </a:xfrm>
          <a:custGeom>
            <a:avLst/>
            <a:gdLst/>
            <a:ahLst/>
            <a:cxnLst/>
            <a:rect l="l" t="t" r="r" b="b"/>
            <a:pathLst>
              <a:path w="232756" h="53201">
                <a:moveTo>
                  <a:pt x="0" y="26600"/>
                </a:moveTo>
                <a:lnTo>
                  <a:pt x="4849" y="33485"/>
                </a:lnTo>
                <a:lnTo>
                  <a:pt x="9698" y="39901"/>
                </a:lnTo>
                <a:lnTo>
                  <a:pt x="14547" y="45410"/>
                </a:lnTo>
                <a:lnTo>
                  <a:pt x="19396" y="49637"/>
                </a:lnTo>
                <a:lnTo>
                  <a:pt x="24245" y="52295"/>
                </a:lnTo>
                <a:lnTo>
                  <a:pt x="29094" y="53201"/>
                </a:lnTo>
                <a:lnTo>
                  <a:pt x="33943" y="52295"/>
                </a:lnTo>
                <a:lnTo>
                  <a:pt x="38792" y="49637"/>
                </a:lnTo>
                <a:lnTo>
                  <a:pt x="43641" y="45410"/>
                </a:lnTo>
                <a:lnTo>
                  <a:pt x="48490" y="39901"/>
                </a:lnTo>
                <a:lnTo>
                  <a:pt x="53339" y="33485"/>
                </a:lnTo>
                <a:lnTo>
                  <a:pt x="58189" y="26600"/>
                </a:lnTo>
                <a:lnTo>
                  <a:pt x="63038" y="19716"/>
                </a:lnTo>
                <a:lnTo>
                  <a:pt x="67887" y="13300"/>
                </a:lnTo>
                <a:lnTo>
                  <a:pt x="72736" y="7791"/>
                </a:lnTo>
                <a:lnTo>
                  <a:pt x="77585" y="3563"/>
                </a:lnTo>
                <a:lnTo>
                  <a:pt x="82434" y="906"/>
                </a:lnTo>
                <a:lnTo>
                  <a:pt x="87283" y="0"/>
                </a:lnTo>
                <a:lnTo>
                  <a:pt x="92132" y="906"/>
                </a:lnTo>
                <a:lnTo>
                  <a:pt x="96981" y="3563"/>
                </a:lnTo>
                <a:lnTo>
                  <a:pt x="101830" y="7791"/>
                </a:lnTo>
                <a:lnTo>
                  <a:pt x="106680" y="13300"/>
                </a:lnTo>
                <a:lnTo>
                  <a:pt x="111529" y="19716"/>
                </a:lnTo>
                <a:lnTo>
                  <a:pt x="116378" y="26600"/>
                </a:lnTo>
                <a:lnTo>
                  <a:pt x="121227" y="33485"/>
                </a:lnTo>
                <a:lnTo>
                  <a:pt x="126076" y="39901"/>
                </a:lnTo>
                <a:lnTo>
                  <a:pt x="130925" y="45410"/>
                </a:lnTo>
                <a:lnTo>
                  <a:pt x="135774" y="49637"/>
                </a:lnTo>
                <a:lnTo>
                  <a:pt x="140623" y="52295"/>
                </a:lnTo>
                <a:lnTo>
                  <a:pt x="145472" y="53201"/>
                </a:lnTo>
                <a:lnTo>
                  <a:pt x="150321" y="52295"/>
                </a:lnTo>
                <a:lnTo>
                  <a:pt x="155170" y="49637"/>
                </a:lnTo>
                <a:lnTo>
                  <a:pt x="160020" y="45410"/>
                </a:lnTo>
                <a:lnTo>
                  <a:pt x="164869" y="39901"/>
                </a:lnTo>
                <a:lnTo>
                  <a:pt x="169718" y="33485"/>
                </a:lnTo>
                <a:lnTo>
                  <a:pt x="174567" y="26600"/>
                </a:lnTo>
                <a:lnTo>
                  <a:pt x="179416" y="19716"/>
                </a:lnTo>
                <a:lnTo>
                  <a:pt x="184265" y="13300"/>
                </a:lnTo>
                <a:lnTo>
                  <a:pt x="189114" y="7791"/>
                </a:lnTo>
                <a:lnTo>
                  <a:pt x="193963" y="3563"/>
                </a:lnTo>
                <a:lnTo>
                  <a:pt x="198812" y="906"/>
                </a:lnTo>
                <a:lnTo>
                  <a:pt x="203661" y="0"/>
                </a:lnTo>
                <a:lnTo>
                  <a:pt x="208510" y="906"/>
                </a:lnTo>
                <a:lnTo>
                  <a:pt x="213359" y="3563"/>
                </a:lnTo>
                <a:lnTo>
                  <a:pt x="218209" y="7791"/>
                </a:lnTo>
                <a:lnTo>
                  <a:pt x="223058" y="13300"/>
                </a:lnTo>
                <a:lnTo>
                  <a:pt x="227907" y="19716"/>
                </a:lnTo>
                <a:lnTo>
                  <a:pt x="232756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 TCO absorption 1R"/>
          <p:cNvSpPr/>
          <p:nvPr/>
        </p:nvSpPr>
        <p:spPr>
          <a:xfrm>
            <a:off x="6220538" y="2126396"/>
            <a:ext cx="232757" cy="53201"/>
          </a:xfrm>
          <a:custGeom>
            <a:avLst/>
            <a:gdLst/>
            <a:ahLst/>
            <a:cxnLst/>
            <a:rect l="l" t="t" r="r" b="b"/>
            <a:pathLst>
              <a:path w="232757" h="53201">
                <a:moveTo>
                  <a:pt x="0" y="26600"/>
                </a:moveTo>
                <a:lnTo>
                  <a:pt x="4850" y="33485"/>
                </a:lnTo>
                <a:lnTo>
                  <a:pt x="9699" y="39901"/>
                </a:lnTo>
                <a:lnTo>
                  <a:pt x="14548" y="45410"/>
                </a:lnTo>
                <a:lnTo>
                  <a:pt x="19397" y="49637"/>
                </a:lnTo>
                <a:lnTo>
                  <a:pt x="24246" y="52295"/>
                </a:lnTo>
                <a:lnTo>
                  <a:pt x="29095" y="53201"/>
                </a:lnTo>
                <a:lnTo>
                  <a:pt x="33944" y="52295"/>
                </a:lnTo>
                <a:lnTo>
                  <a:pt x="38793" y="49637"/>
                </a:lnTo>
                <a:lnTo>
                  <a:pt x="43642" y="45410"/>
                </a:lnTo>
                <a:lnTo>
                  <a:pt x="48491" y="39901"/>
                </a:lnTo>
                <a:lnTo>
                  <a:pt x="53340" y="33485"/>
                </a:lnTo>
                <a:lnTo>
                  <a:pt x="58189" y="26600"/>
                </a:lnTo>
                <a:lnTo>
                  <a:pt x="63039" y="19716"/>
                </a:lnTo>
                <a:lnTo>
                  <a:pt x="67888" y="13300"/>
                </a:lnTo>
                <a:lnTo>
                  <a:pt x="72737" y="7791"/>
                </a:lnTo>
                <a:lnTo>
                  <a:pt x="77586" y="3563"/>
                </a:lnTo>
                <a:lnTo>
                  <a:pt x="82435" y="906"/>
                </a:lnTo>
                <a:lnTo>
                  <a:pt x="87284" y="0"/>
                </a:lnTo>
                <a:lnTo>
                  <a:pt x="92133" y="906"/>
                </a:lnTo>
                <a:lnTo>
                  <a:pt x="96982" y="3563"/>
                </a:lnTo>
                <a:lnTo>
                  <a:pt x="101831" y="7791"/>
                </a:lnTo>
                <a:lnTo>
                  <a:pt x="106680" y="13300"/>
                </a:lnTo>
                <a:lnTo>
                  <a:pt x="111529" y="19716"/>
                </a:lnTo>
                <a:lnTo>
                  <a:pt x="116379" y="26600"/>
                </a:lnTo>
                <a:lnTo>
                  <a:pt x="121228" y="33485"/>
                </a:lnTo>
                <a:lnTo>
                  <a:pt x="126077" y="39901"/>
                </a:lnTo>
                <a:lnTo>
                  <a:pt x="130926" y="45410"/>
                </a:lnTo>
                <a:lnTo>
                  <a:pt x="135775" y="49637"/>
                </a:lnTo>
                <a:lnTo>
                  <a:pt x="140624" y="52295"/>
                </a:lnTo>
                <a:lnTo>
                  <a:pt x="145473" y="53201"/>
                </a:lnTo>
                <a:lnTo>
                  <a:pt x="150322" y="52295"/>
                </a:lnTo>
                <a:lnTo>
                  <a:pt x="155171" y="49637"/>
                </a:lnTo>
                <a:lnTo>
                  <a:pt x="160020" y="45410"/>
                </a:lnTo>
                <a:lnTo>
                  <a:pt x="164870" y="39901"/>
                </a:lnTo>
                <a:lnTo>
                  <a:pt x="169719" y="33485"/>
                </a:lnTo>
                <a:lnTo>
                  <a:pt x="174568" y="26600"/>
                </a:lnTo>
                <a:lnTo>
                  <a:pt x="179417" y="19716"/>
                </a:lnTo>
                <a:lnTo>
                  <a:pt x="184266" y="13300"/>
                </a:lnTo>
                <a:lnTo>
                  <a:pt x="189115" y="7791"/>
                </a:lnTo>
                <a:lnTo>
                  <a:pt x="193964" y="3563"/>
                </a:lnTo>
                <a:lnTo>
                  <a:pt x="198813" y="906"/>
                </a:lnTo>
                <a:lnTo>
                  <a:pt x="203662" y="0"/>
                </a:lnTo>
                <a:lnTo>
                  <a:pt x="208511" y="906"/>
                </a:lnTo>
                <a:lnTo>
                  <a:pt x="213360" y="3563"/>
                </a:lnTo>
                <a:lnTo>
                  <a:pt x="218209" y="7791"/>
                </a:lnTo>
                <a:lnTo>
                  <a:pt x="223059" y="13300"/>
                </a:lnTo>
                <a:lnTo>
                  <a:pt x="227908" y="19716"/>
                </a:lnTo>
                <a:lnTo>
                  <a:pt x="232757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 TCO absorption 2L"/>
          <p:cNvSpPr/>
          <p:nvPr/>
        </p:nvSpPr>
        <p:spPr>
          <a:xfrm>
            <a:off x="7816582" y="2126396"/>
            <a:ext cx="232756" cy="53201"/>
          </a:xfrm>
          <a:custGeom>
            <a:avLst/>
            <a:gdLst/>
            <a:ahLst/>
            <a:cxnLst/>
            <a:rect l="l" t="t" r="r" b="b"/>
            <a:pathLst>
              <a:path w="232756" h="53201">
                <a:moveTo>
                  <a:pt x="0" y="26600"/>
                </a:moveTo>
                <a:lnTo>
                  <a:pt x="4849" y="33485"/>
                </a:lnTo>
                <a:lnTo>
                  <a:pt x="9698" y="39901"/>
                </a:lnTo>
                <a:lnTo>
                  <a:pt x="14547" y="45410"/>
                </a:lnTo>
                <a:lnTo>
                  <a:pt x="19396" y="49637"/>
                </a:lnTo>
                <a:lnTo>
                  <a:pt x="24245" y="52295"/>
                </a:lnTo>
                <a:lnTo>
                  <a:pt x="29095" y="53201"/>
                </a:lnTo>
                <a:lnTo>
                  <a:pt x="33944" y="52295"/>
                </a:lnTo>
                <a:lnTo>
                  <a:pt x="38793" y="49637"/>
                </a:lnTo>
                <a:lnTo>
                  <a:pt x="43642" y="45410"/>
                </a:lnTo>
                <a:lnTo>
                  <a:pt x="48491" y="39901"/>
                </a:lnTo>
                <a:lnTo>
                  <a:pt x="53340" y="33485"/>
                </a:lnTo>
                <a:lnTo>
                  <a:pt x="58189" y="26600"/>
                </a:lnTo>
                <a:lnTo>
                  <a:pt x="63038" y="19716"/>
                </a:lnTo>
                <a:lnTo>
                  <a:pt x="67887" y="13300"/>
                </a:lnTo>
                <a:lnTo>
                  <a:pt x="72736" y="7791"/>
                </a:lnTo>
                <a:lnTo>
                  <a:pt x="77586" y="3563"/>
                </a:lnTo>
                <a:lnTo>
                  <a:pt x="82435" y="906"/>
                </a:lnTo>
                <a:lnTo>
                  <a:pt x="87284" y="0"/>
                </a:lnTo>
                <a:lnTo>
                  <a:pt x="92133" y="906"/>
                </a:lnTo>
                <a:lnTo>
                  <a:pt x="96982" y="3563"/>
                </a:lnTo>
                <a:lnTo>
                  <a:pt x="101831" y="7791"/>
                </a:lnTo>
                <a:lnTo>
                  <a:pt x="106680" y="13300"/>
                </a:lnTo>
                <a:lnTo>
                  <a:pt x="111529" y="19716"/>
                </a:lnTo>
                <a:lnTo>
                  <a:pt x="116378" y="26600"/>
                </a:lnTo>
                <a:lnTo>
                  <a:pt x="121227" y="33485"/>
                </a:lnTo>
                <a:lnTo>
                  <a:pt x="126076" y="39901"/>
                </a:lnTo>
                <a:lnTo>
                  <a:pt x="130925" y="45410"/>
                </a:lnTo>
                <a:lnTo>
                  <a:pt x="135775" y="49637"/>
                </a:lnTo>
                <a:lnTo>
                  <a:pt x="140624" y="52295"/>
                </a:lnTo>
                <a:lnTo>
                  <a:pt x="145473" y="53201"/>
                </a:lnTo>
                <a:lnTo>
                  <a:pt x="150322" y="52295"/>
                </a:lnTo>
                <a:lnTo>
                  <a:pt x="155171" y="49637"/>
                </a:lnTo>
                <a:lnTo>
                  <a:pt x="160020" y="45410"/>
                </a:lnTo>
                <a:lnTo>
                  <a:pt x="164869" y="39901"/>
                </a:lnTo>
                <a:lnTo>
                  <a:pt x="169718" y="33485"/>
                </a:lnTo>
                <a:lnTo>
                  <a:pt x="174567" y="26600"/>
                </a:lnTo>
                <a:lnTo>
                  <a:pt x="179416" y="19716"/>
                </a:lnTo>
                <a:lnTo>
                  <a:pt x="184265" y="13300"/>
                </a:lnTo>
                <a:lnTo>
                  <a:pt x="189115" y="7791"/>
                </a:lnTo>
                <a:lnTo>
                  <a:pt x="193964" y="3563"/>
                </a:lnTo>
                <a:lnTo>
                  <a:pt x="198813" y="906"/>
                </a:lnTo>
                <a:lnTo>
                  <a:pt x="203662" y="0"/>
                </a:lnTo>
                <a:lnTo>
                  <a:pt x="208511" y="906"/>
                </a:lnTo>
                <a:lnTo>
                  <a:pt x="213360" y="3563"/>
                </a:lnTo>
                <a:lnTo>
                  <a:pt x="218209" y="7791"/>
                </a:lnTo>
                <a:lnTo>
                  <a:pt x="223058" y="13300"/>
                </a:lnTo>
                <a:lnTo>
                  <a:pt x="227907" y="19716"/>
                </a:lnTo>
                <a:lnTo>
                  <a:pt x="232756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 TCO absorption 2R"/>
          <p:cNvSpPr/>
          <p:nvPr/>
        </p:nvSpPr>
        <p:spPr>
          <a:xfrm>
            <a:off x="8215593" y="2126396"/>
            <a:ext cx="232756" cy="53201"/>
          </a:xfrm>
          <a:custGeom>
            <a:avLst/>
            <a:gdLst/>
            <a:ahLst/>
            <a:cxnLst/>
            <a:rect l="l" t="t" r="r" b="b"/>
            <a:pathLst>
              <a:path w="232756" h="53201">
                <a:moveTo>
                  <a:pt x="0" y="26600"/>
                </a:moveTo>
                <a:lnTo>
                  <a:pt x="4849" y="33485"/>
                </a:lnTo>
                <a:lnTo>
                  <a:pt x="9698" y="39901"/>
                </a:lnTo>
                <a:lnTo>
                  <a:pt x="14547" y="45410"/>
                </a:lnTo>
                <a:lnTo>
                  <a:pt x="19396" y="49637"/>
                </a:lnTo>
                <a:lnTo>
                  <a:pt x="24245" y="52295"/>
                </a:lnTo>
                <a:lnTo>
                  <a:pt x="29094" y="53201"/>
                </a:lnTo>
                <a:lnTo>
                  <a:pt x="33944" y="52295"/>
                </a:lnTo>
                <a:lnTo>
                  <a:pt x="38793" y="49637"/>
                </a:lnTo>
                <a:lnTo>
                  <a:pt x="43642" y="45410"/>
                </a:lnTo>
                <a:lnTo>
                  <a:pt x="48491" y="39901"/>
                </a:lnTo>
                <a:lnTo>
                  <a:pt x="53340" y="33485"/>
                </a:lnTo>
                <a:lnTo>
                  <a:pt x="58189" y="26600"/>
                </a:lnTo>
                <a:lnTo>
                  <a:pt x="63038" y="19716"/>
                </a:lnTo>
                <a:lnTo>
                  <a:pt x="67887" y="13300"/>
                </a:lnTo>
                <a:lnTo>
                  <a:pt x="72736" y="7791"/>
                </a:lnTo>
                <a:lnTo>
                  <a:pt x="77585" y="3563"/>
                </a:lnTo>
                <a:lnTo>
                  <a:pt x="82434" y="906"/>
                </a:lnTo>
                <a:lnTo>
                  <a:pt x="87284" y="0"/>
                </a:lnTo>
                <a:lnTo>
                  <a:pt x="92133" y="906"/>
                </a:lnTo>
                <a:lnTo>
                  <a:pt x="96982" y="3563"/>
                </a:lnTo>
                <a:lnTo>
                  <a:pt x="101831" y="7791"/>
                </a:lnTo>
                <a:lnTo>
                  <a:pt x="106680" y="13300"/>
                </a:lnTo>
                <a:lnTo>
                  <a:pt x="111529" y="19716"/>
                </a:lnTo>
                <a:lnTo>
                  <a:pt x="116378" y="26600"/>
                </a:lnTo>
                <a:lnTo>
                  <a:pt x="121227" y="33485"/>
                </a:lnTo>
                <a:lnTo>
                  <a:pt x="126076" y="39901"/>
                </a:lnTo>
                <a:lnTo>
                  <a:pt x="130925" y="45410"/>
                </a:lnTo>
                <a:lnTo>
                  <a:pt x="135775" y="49637"/>
                </a:lnTo>
                <a:lnTo>
                  <a:pt x="140624" y="52295"/>
                </a:lnTo>
                <a:lnTo>
                  <a:pt x="145473" y="53201"/>
                </a:lnTo>
                <a:lnTo>
                  <a:pt x="150322" y="52295"/>
                </a:lnTo>
                <a:lnTo>
                  <a:pt x="155171" y="49637"/>
                </a:lnTo>
                <a:lnTo>
                  <a:pt x="160020" y="45410"/>
                </a:lnTo>
                <a:lnTo>
                  <a:pt x="164869" y="39901"/>
                </a:lnTo>
                <a:lnTo>
                  <a:pt x="169718" y="33485"/>
                </a:lnTo>
                <a:lnTo>
                  <a:pt x="174567" y="26600"/>
                </a:lnTo>
                <a:lnTo>
                  <a:pt x="179416" y="19716"/>
                </a:lnTo>
                <a:lnTo>
                  <a:pt x="184265" y="13300"/>
                </a:lnTo>
                <a:lnTo>
                  <a:pt x="189115" y="7791"/>
                </a:lnTo>
                <a:lnTo>
                  <a:pt x="193964" y="3563"/>
                </a:lnTo>
                <a:lnTo>
                  <a:pt x="198813" y="906"/>
                </a:lnTo>
                <a:lnTo>
                  <a:pt x="203662" y="0"/>
                </a:lnTo>
                <a:lnTo>
                  <a:pt x="208511" y="906"/>
                </a:lnTo>
                <a:lnTo>
                  <a:pt x="213360" y="3563"/>
                </a:lnTo>
                <a:lnTo>
                  <a:pt x="218209" y="7791"/>
                </a:lnTo>
                <a:lnTo>
                  <a:pt x="223058" y="13300"/>
                </a:lnTo>
                <a:lnTo>
                  <a:pt x="227907" y="19716"/>
                </a:lnTo>
                <a:lnTo>
                  <a:pt x="232756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 TCO absorption 3L"/>
          <p:cNvSpPr/>
          <p:nvPr/>
        </p:nvSpPr>
        <p:spPr>
          <a:xfrm>
            <a:off x="9811637" y="2126396"/>
            <a:ext cx="232756" cy="53201"/>
          </a:xfrm>
          <a:custGeom>
            <a:avLst/>
            <a:gdLst/>
            <a:ahLst/>
            <a:cxnLst/>
            <a:rect l="l" t="t" r="r" b="b"/>
            <a:pathLst>
              <a:path w="232756" h="53201">
                <a:moveTo>
                  <a:pt x="0" y="26600"/>
                </a:moveTo>
                <a:lnTo>
                  <a:pt x="4849" y="33485"/>
                </a:lnTo>
                <a:lnTo>
                  <a:pt x="9698" y="39901"/>
                </a:lnTo>
                <a:lnTo>
                  <a:pt x="14547" y="45410"/>
                </a:lnTo>
                <a:lnTo>
                  <a:pt x="19396" y="49637"/>
                </a:lnTo>
                <a:lnTo>
                  <a:pt x="24245" y="52295"/>
                </a:lnTo>
                <a:lnTo>
                  <a:pt x="29094" y="53201"/>
                </a:lnTo>
                <a:lnTo>
                  <a:pt x="33943" y="52295"/>
                </a:lnTo>
                <a:lnTo>
                  <a:pt x="38792" y="49637"/>
                </a:lnTo>
                <a:lnTo>
                  <a:pt x="43641" y="45410"/>
                </a:lnTo>
                <a:lnTo>
                  <a:pt x="48490" y="39901"/>
                </a:lnTo>
                <a:lnTo>
                  <a:pt x="53340" y="33485"/>
                </a:lnTo>
                <a:lnTo>
                  <a:pt x="58189" y="26600"/>
                </a:lnTo>
                <a:lnTo>
                  <a:pt x="63038" y="19716"/>
                </a:lnTo>
                <a:lnTo>
                  <a:pt x="67887" y="13300"/>
                </a:lnTo>
                <a:lnTo>
                  <a:pt x="72736" y="7791"/>
                </a:lnTo>
                <a:lnTo>
                  <a:pt x="77585" y="3563"/>
                </a:lnTo>
                <a:lnTo>
                  <a:pt x="82434" y="906"/>
                </a:lnTo>
                <a:lnTo>
                  <a:pt x="87283" y="0"/>
                </a:lnTo>
                <a:lnTo>
                  <a:pt x="92132" y="906"/>
                </a:lnTo>
                <a:lnTo>
                  <a:pt x="96981" y="3563"/>
                </a:lnTo>
                <a:lnTo>
                  <a:pt x="101831" y="7791"/>
                </a:lnTo>
                <a:lnTo>
                  <a:pt x="106680" y="13300"/>
                </a:lnTo>
                <a:lnTo>
                  <a:pt x="111529" y="19716"/>
                </a:lnTo>
                <a:lnTo>
                  <a:pt x="116378" y="26600"/>
                </a:lnTo>
                <a:lnTo>
                  <a:pt x="121227" y="33485"/>
                </a:lnTo>
                <a:lnTo>
                  <a:pt x="126076" y="39901"/>
                </a:lnTo>
                <a:lnTo>
                  <a:pt x="130925" y="45410"/>
                </a:lnTo>
                <a:lnTo>
                  <a:pt x="135774" y="49637"/>
                </a:lnTo>
                <a:lnTo>
                  <a:pt x="140623" y="52295"/>
                </a:lnTo>
                <a:lnTo>
                  <a:pt x="145472" y="53201"/>
                </a:lnTo>
                <a:lnTo>
                  <a:pt x="150321" y="52295"/>
                </a:lnTo>
                <a:lnTo>
                  <a:pt x="155171" y="49637"/>
                </a:lnTo>
                <a:lnTo>
                  <a:pt x="160020" y="45410"/>
                </a:lnTo>
                <a:lnTo>
                  <a:pt x="164869" y="39901"/>
                </a:lnTo>
                <a:lnTo>
                  <a:pt x="169718" y="33485"/>
                </a:lnTo>
                <a:lnTo>
                  <a:pt x="174567" y="26600"/>
                </a:lnTo>
                <a:lnTo>
                  <a:pt x="179416" y="19716"/>
                </a:lnTo>
                <a:lnTo>
                  <a:pt x="184265" y="13300"/>
                </a:lnTo>
                <a:lnTo>
                  <a:pt x="189114" y="7791"/>
                </a:lnTo>
                <a:lnTo>
                  <a:pt x="193963" y="3563"/>
                </a:lnTo>
                <a:lnTo>
                  <a:pt x="198812" y="906"/>
                </a:lnTo>
                <a:lnTo>
                  <a:pt x="203661" y="0"/>
                </a:lnTo>
                <a:lnTo>
                  <a:pt x="208510" y="906"/>
                </a:lnTo>
                <a:lnTo>
                  <a:pt x="213360" y="3563"/>
                </a:lnTo>
                <a:lnTo>
                  <a:pt x="218209" y="7791"/>
                </a:lnTo>
                <a:lnTo>
                  <a:pt x="223058" y="13300"/>
                </a:lnTo>
                <a:lnTo>
                  <a:pt x="227907" y="19716"/>
                </a:lnTo>
                <a:lnTo>
                  <a:pt x="232756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 TCO absorption 3R"/>
          <p:cNvSpPr/>
          <p:nvPr/>
        </p:nvSpPr>
        <p:spPr>
          <a:xfrm>
            <a:off x="10210648" y="2126396"/>
            <a:ext cx="232756" cy="53201"/>
          </a:xfrm>
          <a:custGeom>
            <a:avLst/>
            <a:gdLst/>
            <a:ahLst/>
            <a:cxnLst/>
            <a:rect l="l" t="t" r="r" b="b"/>
            <a:pathLst>
              <a:path w="232756" h="53201">
                <a:moveTo>
                  <a:pt x="0" y="26600"/>
                </a:moveTo>
                <a:lnTo>
                  <a:pt x="4849" y="33485"/>
                </a:lnTo>
                <a:lnTo>
                  <a:pt x="9698" y="39901"/>
                </a:lnTo>
                <a:lnTo>
                  <a:pt x="14547" y="45410"/>
                </a:lnTo>
                <a:lnTo>
                  <a:pt x="19396" y="49637"/>
                </a:lnTo>
                <a:lnTo>
                  <a:pt x="24245" y="52295"/>
                </a:lnTo>
                <a:lnTo>
                  <a:pt x="29094" y="53201"/>
                </a:lnTo>
                <a:lnTo>
                  <a:pt x="33943" y="52295"/>
                </a:lnTo>
                <a:lnTo>
                  <a:pt x="38792" y="49637"/>
                </a:lnTo>
                <a:lnTo>
                  <a:pt x="43641" y="45410"/>
                </a:lnTo>
                <a:lnTo>
                  <a:pt x="48490" y="39901"/>
                </a:lnTo>
                <a:lnTo>
                  <a:pt x="53340" y="33485"/>
                </a:lnTo>
                <a:lnTo>
                  <a:pt x="58189" y="26600"/>
                </a:lnTo>
                <a:lnTo>
                  <a:pt x="63038" y="19716"/>
                </a:lnTo>
                <a:lnTo>
                  <a:pt x="67887" y="13300"/>
                </a:lnTo>
                <a:lnTo>
                  <a:pt x="72736" y="7791"/>
                </a:lnTo>
                <a:lnTo>
                  <a:pt x="77585" y="3563"/>
                </a:lnTo>
                <a:lnTo>
                  <a:pt x="82434" y="906"/>
                </a:lnTo>
                <a:lnTo>
                  <a:pt x="87283" y="0"/>
                </a:lnTo>
                <a:lnTo>
                  <a:pt x="92132" y="906"/>
                </a:lnTo>
                <a:lnTo>
                  <a:pt x="96981" y="3563"/>
                </a:lnTo>
                <a:lnTo>
                  <a:pt x="101830" y="7791"/>
                </a:lnTo>
                <a:lnTo>
                  <a:pt x="106679" y="13300"/>
                </a:lnTo>
                <a:lnTo>
                  <a:pt x="111529" y="19716"/>
                </a:lnTo>
                <a:lnTo>
                  <a:pt x="116378" y="26600"/>
                </a:lnTo>
                <a:lnTo>
                  <a:pt x="121227" y="33485"/>
                </a:lnTo>
                <a:lnTo>
                  <a:pt x="126076" y="39901"/>
                </a:lnTo>
                <a:lnTo>
                  <a:pt x="130925" y="45410"/>
                </a:lnTo>
                <a:lnTo>
                  <a:pt x="135774" y="49637"/>
                </a:lnTo>
                <a:lnTo>
                  <a:pt x="140623" y="52295"/>
                </a:lnTo>
                <a:lnTo>
                  <a:pt x="145472" y="53201"/>
                </a:lnTo>
                <a:lnTo>
                  <a:pt x="150321" y="52295"/>
                </a:lnTo>
                <a:lnTo>
                  <a:pt x="155170" y="49637"/>
                </a:lnTo>
                <a:lnTo>
                  <a:pt x="160020" y="45410"/>
                </a:lnTo>
                <a:lnTo>
                  <a:pt x="164869" y="39901"/>
                </a:lnTo>
                <a:lnTo>
                  <a:pt x="169718" y="33485"/>
                </a:lnTo>
                <a:lnTo>
                  <a:pt x="174567" y="26600"/>
                </a:lnTo>
                <a:lnTo>
                  <a:pt x="179416" y="19716"/>
                </a:lnTo>
                <a:lnTo>
                  <a:pt x="184265" y="13300"/>
                </a:lnTo>
                <a:lnTo>
                  <a:pt x="189114" y="7791"/>
                </a:lnTo>
                <a:lnTo>
                  <a:pt x="193963" y="3563"/>
                </a:lnTo>
                <a:lnTo>
                  <a:pt x="198812" y="906"/>
                </a:lnTo>
                <a:lnTo>
                  <a:pt x="203661" y="0"/>
                </a:lnTo>
                <a:lnTo>
                  <a:pt x="208510" y="906"/>
                </a:lnTo>
                <a:lnTo>
                  <a:pt x="213360" y="3563"/>
                </a:lnTo>
                <a:lnTo>
                  <a:pt x="218209" y="7791"/>
                </a:lnTo>
                <a:lnTo>
                  <a:pt x="223058" y="13300"/>
                </a:lnTo>
                <a:lnTo>
                  <a:pt x="227907" y="19716"/>
                </a:lnTo>
                <a:lnTo>
                  <a:pt x="232756" y="26600"/>
                </a:lnTo>
              </a:path>
            </a:pathLst>
          </a:custGeom>
          <a:noFill/>
          <a:ln w="1496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L ray emit"/>
          <p:cNvCxnSpPr/>
          <p:nvPr/>
        </p:nvCxnSpPr>
        <p:spPr>
          <a:xfrm flipV="1">
            <a:off x="4276192" y="1371600"/>
            <a:ext cx="863692" cy="863692"/>
          </a:xfrm>
          <a:prstGeom prst="line">
            <a:avLst/>
          </a:prstGeom>
          <a:ln w="7897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 ray down 1"/>
          <p:cNvCxnSpPr/>
          <p:nvPr/>
        </p:nvCxnSpPr>
        <p:spPr>
          <a:xfrm>
            <a:off x="5216361" y="1448077"/>
            <a:ext cx="867849" cy="867849"/>
          </a:xfrm>
          <a:prstGeom prst="line">
            <a:avLst/>
          </a:prstGeom>
          <a:ln w="6043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L ray up 1"/>
          <p:cNvCxnSpPr/>
          <p:nvPr/>
        </p:nvCxnSpPr>
        <p:spPr>
          <a:xfrm flipV="1">
            <a:off x="6190613" y="1371600"/>
            <a:ext cx="944325" cy="944326"/>
          </a:xfrm>
          <a:prstGeom prst="line">
            <a:avLst/>
          </a:prstGeom>
          <a:ln w="4033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 ray down 2"/>
          <p:cNvCxnSpPr/>
          <p:nvPr/>
        </p:nvCxnSpPr>
        <p:spPr>
          <a:xfrm>
            <a:off x="7211416" y="1448077"/>
            <a:ext cx="867848" cy="867849"/>
          </a:xfrm>
          <a:prstGeom prst="line">
            <a:avLst/>
          </a:prstGeom>
          <a:ln w="3086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L ray up 2"/>
          <p:cNvCxnSpPr/>
          <p:nvPr/>
        </p:nvCxnSpPr>
        <p:spPr>
          <a:xfrm flipV="1">
            <a:off x="8185667" y="1371600"/>
            <a:ext cx="944326" cy="944326"/>
          </a:xfrm>
          <a:prstGeom prst="line">
            <a:avLst/>
          </a:prstGeom>
          <a:ln w="2059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L ray down 3"/>
          <p:cNvCxnSpPr/>
          <p:nvPr/>
        </p:nvCxnSpPr>
        <p:spPr>
          <a:xfrm>
            <a:off x="9206470" y="1448077"/>
            <a:ext cx="867849" cy="867849"/>
          </a:xfrm>
          <a:prstGeom prst="line">
            <a:avLst/>
          </a:prstGeom>
          <a:ln w="1576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L ray up 3"/>
          <p:cNvCxnSpPr/>
          <p:nvPr/>
        </p:nvCxnSpPr>
        <p:spPr>
          <a:xfrm flipV="1">
            <a:off x="10180722" y="1371600"/>
            <a:ext cx="944326" cy="944326"/>
          </a:xfrm>
          <a:prstGeom prst="line">
            <a:avLst/>
          </a:prstGeom>
          <a:ln w="1052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L ray continues"/>
          <p:cNvCxnSpPr/>
          <p:nvPr/>
        </p:nvCxnSpPr>
        <p:spPr>
          <a:xfrm>
            <a:off x="11199862" y="1446415"/>
            <a:ext cx="174567" cy="174567"/>
          </a:xfrm>
          <a:prstGeom prst="line">
            <a:avLst/>
          </a:prstGeom>
          <a:ln w="8051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L outcoupled 1-1"/>
          <p:cNvCxnSpPr/>
          <p:nvPr/>
        </p:nvCxnSpPr>
        <p:spPr>
          <a:xfrm flipH="1" flipV="1">
            <a:off x="4626090" y="745600"/>
            <a:ext cx="389103" cy="410029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L outcoupled 1-2"/>
          <p:cNvCxnSpPr/>
          <p:nvPr/>
        </p:nvCxnSpPr>
        <p:spPr>
          <a:xfrm flipH="1" flipV="1">
            <a:off x="5035273" y="471712"/>
            <a:ext cx="82876" cy="651455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L outcoupled 1-3"/>
          <p:cNvCxnSpPr/>
          <p:nvPr/>
        </p:nvCxnSpPr>
        <p:spPr>
          <a:xfrm flipV="1">
            <a:off x="5233304" y="646368"/>
            <a:ext cx="307493" cy="494009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L outcoupled 2-1"/>
          <p:cNvCxnSpPr/>
          <p:nvPr/>
        </p:nvCxnSpPr>
        <p:spPr>
          <a:xfrm flipH="1" flipV="1">
            <a:off x="6621144" y="745600"/>
            <a:ext cx="389103" cy="410029"/>
          </a:xfrm>
          <a:prstGeom prst="line">
            <a:avLst/>
          </a:prstGeom>
          <a:ln w="221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L outcoupled 2-2"/>
          <p:cNvCxnSpPr/>
          <p:nvPr/>
        </p:nvCxnSpPr>
        <p:spPr>
          <a:xfrm flipH="1" flipV="1">
            <a:off x="7030328" y="471712"/>
            <a:ext cx="82875" cy="651455"/>
          </a:xfrm>
          <a:prstGeom prst="line">
            <a:avLst/>
          </a:prstGeom>
          <a:ln w="221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L outcoupled 2-3"/>
          <p:cNvCxnSpPr/>
          <p:nvPr/>
        </p:nvCxnSpPr>
        <p:spPr>
          <a:xfrm flipV="1">
            <a:off x="7228358" y="646368"/>
            <a:ext cx="307494" cy="494009"/>
          </a:xfrm>
          <a:prstGeom prst="line">
            <a:avLst/>
          </a:prstGeom>
          <a:ln w="221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L outcoupled 3-1"/>
          <p:cNvCxnSpPr/>
          <p:nvPr/>
        </p:nvCxnSpPr>
        <p:spPr>
          <a:xfrm flipH="1" flipV="1">
            <a:off x="8616199" y="745600"/>
            <a:ext cx="389103" cy="410029"/>
          </a:xfrm>
          <a:prstGeom prst="line">
            <a:avLst/>
          </a:prstGeom>
          <a:ln w="1132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L outcoupled 3-2"/>
          <p:cNvCxnSpPr/>
          <p:nvPr/>
        </p:nvCxnSpPr>
        <p:spPr>
          <a:xfrm flipH="1" flipV="1">
            <a:off x="9025382" y="471712"/>
            <a:ext cx="82876" cy="651455"/>
          </a:xfrm>
          <a:prstGeom prst="line">
            <a:avLst/>
          </a:prstGeom>
          <a:ln w="1132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L outcoupled 3-3"/>
          <p:cNvCxnSpPr/>
          <p:nvPr/>
        </p:nvCxnSpPr>
        <p:spPr>
          <a:xfrm flipV="1">
            <a:off x="9223413" y="646368"/>
            <a:ext cx="307493" cy="494009"/>
          </a:xfrm>
          <a:prstGeom prst="line">
            <a:avLst/>
          </a:prstGeom>
          <a:ln w="1132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L outcoupled 4-1"/>
          <p:cNvCxnSpPr/>
          <p:nvPr/>
        </p:nvCxnSpPr>
        <p:spPr>
          <a:xfrm flipH="1" flipV="1">
            <a:off x="10611254" y="745600"/>
            <a:ext cx="389103" cy="410029"/>
          </a:xfrm>
          <a:prstGeom prst="line">
            <a:avLst/>
          </a:prstGeom>
          <a:ln w="8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L outcoupled 4-2"/>
          <p:cNvCxnSpPr/>
          <p:nvPr/>
        </p:nvCxnSpPr>
        <p:spPr>
          <a:xfrm flipH="1" flipV="1">
            <a:off x="11020437" y="471712"/>
            <a:ext cx="82875" cy="651455"/>
          </a:xfrm>
          <a:prstGeom prst="line">
            <a:avLst/>
          </a:prstGeom>
          <a:ln w="8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L outcoupled 4-3"/>
          <p:cNvCxnSpPr/>
          <p:nvPr/>
        </p:nvCxnSpPr>
        <p:spPr>
          <a:xfrm flipV="1">
            <a:off x="11218468" y="646368"/>
            <a:ext cx="307493" cy="494009"/>
          </a:xfrm>
          <a:prstGeom prst="line">
            <a:avLst/>
          </a:prstGeom>
          <a:ln w="831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L ohmic loss 1L"/>
          <p:cNvSpPr/>
          <p:nvPr/>
        </p:nvSpPr>
        <p:spPr>
          <a:xfrm>
            <a:off x="5656328" y="2282414"/>
            <a:ext cx="376401" cy="73991"/>
          </a:xfrm>
          <a:custGeom>
            <a:avLst/>
            <a:gdLst/>
            <a:ahLst/>
            <a:cxnLst/>
            <a:rect l="l" t="t" r="r" b="b"/>
            <a:pathLst>
              <a:path w="376401" h="73991">
                <a:moveTo>
                  <a:pt x="376401" y="36837"/>
                </a:moveTo>
                <a:lnTo>
                  <a:pt x="368559" y="48780"/>
                </a:lnTo>
                <a:lnTo>
                  <a:pt x="360717" y="59455"/>
                </a:lnTo>
                <a:lnTo>
                  <a:pt x="352876" y="67730"/>
                </a:lnTo>
                <a:lnTo>
                  <a:pt x="345034" y="72725"/>
                </a:lnTo>
                <a:lnTo>
                  <a:pt x="337192" y="73912"/>
                </a:lnTo>
                <a:lnTo>
                  <a:pt x="329351" y="71163"/>
                </a:lnTo>
                <a:lnTo>
                  <a:pt x="321509" y="64771"/>
                </a:lnTo>
                <a:lnTo>
                  <a:pt x="313667" y="55414"/>
                </a:lnTo>
                <a:lnTo>
                  <a:pt x="305826" y="44085"/>
                </a:lnTo>
                <a:lnTo>
                  <a:pt x="297984" y="31987"/>
                </a:lnTo>
                <a:lnTo>
                  <a:pt x="290142" y="20404"/>
                </a:lnTo>
                <a:lnTo>
                  <a:pt x="282301" y="10565"/>
                </a:lnTo>
                <a:lnTo>
                  <a:pt x="274459" y="3514"/>
                </a:lnTo>
                <a:lnTo>
                  <a:pt x="266617" y="0"/>
                </a:lnTo>
                <a:lnTo>
                  <a:pt x="258776" y="396"/>
                </a:lnTo>
                <a:lnTo>
                  <a:pt x="250934" y="4660"/>
                </a:lnTo>
                <a:lnTo>
                  <a:pt x="243092" y="12339"/>
                </a:lnTo>
                <a:lnTo>
                  <a:pt x="235251" y="22618"/>
                </a:lnTo>
                <a:lnTo>
                  <a:pt x="227409" y="34407"/>
                </a:lnTo>
                <a:lnTo>
                  <a:pt x="219567" y="46453"/>
                </a:lnTo>
                <a:lnTo>
                  <a:pt x="211726" y="57479"/>
                </a:lnTo>
                <a:lnTo>
                  <a:pt x="203884" y="66314"/>
                </a:lnTo>
                <a:lnTo>
                  <a:pt x="196042" y="72020"/>
                </a:lnTo>
                <a:lnTo>
                  <a:pt x="188201" y="73991"/>
                </a:lnTo>
                <a:lnTo>
                  <a:pt x="180359" y="72020"/>
                </a:lnTo>
                <a:lnTo>
                  <a:pt x="172517" y="66314"/>
                </a:lnTo>
                <a:lnTo>
                  <a:pt x="164676" y="57479"/>
                </a:lnTo>
                <a:lnTo>
                  <a:pt x="156834" y="46453"/>
                </a:lnTo>
                <a:lnTo>
                  <a:pt x="148992" y="34407"/>
                </a:lnTo>
                <a:lnTo>
                  <a:pt x="141150" y="22618"/>
                </a:lnTo>
                <a:lnTo>
                  <a:pt x="133309" y="12339"/>
                </a:lnTo>
                <a:lnTo>
                  <a:pt x="125467" y="4660"/>
                </a:lnTo>
                <a:lnTo>
                  <a:pt x="117625" y="396"/>
                </a:lnTo>
                <a:lnTo>
                  <a:pt x="109784" y="0"/>
                </a:lnTo>
                <a:lnTo>
                  <a:pt x="101942" y="3514"/>
                </a:lnTo>
                <a:lnTo>
                  <a:pt x="94100" y="10565"/>
                </a:lnTo>
                <a:lnTo>
                  <a:pt x="86259" y="20404"/>
                </a:lnTo>
                <a:lnTo>
                  <a:pt x="78417" y="31987"/>
                </a:lnTo>
                <a:lnTo>
                  <a:pt x="70575" y="44085"/>
                </a:lnTo>
                <a:lnTo>
                  <a:pt x="62734" y="55414"/>
                </a:lnTo>
                <a:lnTo>
                  <a:pt x="54892" y="64771"/>
                </a:lnTo>
                <a:lnTo>
                  <a:pt x="47050" y="71163"/>
                </a:lnTo>
                <a:lnTo>
                  <a:pt x="39209" y="73912"/>
                </a:lnTo>
                <a:lnTo>
                  <a:pt x="31367" y="72725"/>
                </a:lnTo>
                <a:lnTo>
                  <a:pt x="23525" y="67730"/>
                </a:lnTo>
                <a:lnTo>
                  <a:pt x="15684" y="59455"/>
                </a:lnTo>
                <a:lnTo>
                  <a:pt x="7842" y="48780"/>
                </a:lnTo>
                <a:lnTo>
                  <a:pt x="0" y="36837"/>
                </a:lnTo>
              </a:path>
            </a:pathLst>
          </a:custGeom>
          <a:noFill/>
          <a:ln w="27587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 ohmic loss 1R"/>
          <p:cNvSpPr/>
          <p:nvPr/>
        </p:nvSpPr>
        <p:spPr>
          <a:xfrm>
            <a:off x="6242094" y="2282414"/>
            <a:ext cx="376400" cy="73991"/>
          </a:xfrm>
          <a:custGeom>
            <a:avLst/>
            <a:gdLst/>
            <a:ahLst/>
            <a:cxnLst/>
            <a:rect l="l" t="t" r="r" b="b"/>
            <a:pathLst>
              <a:path w="376400" h="73991">
                <a:moveTo>
                  <a:pt x="0" y="36837"/>
                </a:moveTo>
                <a:lnTo>
                  <a:pt x="7841" y="48780"/>
                </a:lnTo>
                <a:lnTo>
                  <a:pt x="15683" y="59455"/>
                </a:lnTo>
                <a:lnTo>
                  <a:pt x="23525" y="67730"/>
                </a:lnTo>
                <a:lnTo>
                  <a:pt x="31366" y="72725"/>
                </a:lnTo>
                <a:lnTo>
                  <a:pt x="39208" y="73912"/>
                </a:lnTo>
                <a:lnTo>
                  <a:pt x="47050" y="71163"/>
                </a:lnTo>
                <a:lnTo>
                  <a:pt x="54891" y="64771"/>
                </a:lnTo>
                <a:lnTo>
                  <a:pt x="62733" y="55414"/>
                </a:lnTo>
                <a:lnTo>
                  <a:pt x="70575" y="44085"/>
                </a:lnTo>
                <a:lnTo>
                  <a:pt x="78416" y="31987"/>
                </a:lnTo>
                <a:lnTo>
                  <a:pt x="86258" y="20404"/>
                </a:lnTo>
                <a:lnTo>
                  <a:pt x="94100" y="10565"/>
                </a:lnTo>
                <a:lnTo>
                  <a:pt x="101941" y="3514"/>
                </a:lnTo>
                <a:lnTo>
                  <a:pt x="109783" y="0"/>
                </a:lnTo>
                <a:lnTo>
                  <a:pt x="117625" y="396"/>
                </a:lnTo>
                <a:lnTo>
                  <a:pt x="125466" y="4660"/>
                </a:lnTo>
                <a:lnTo>
                  <a:pt x="133308" y="12339"/>
                </a:lnTo>
                <a:lnTo>
                  <a:pt x="141150" y="22618"/>
                </a:lnTo>
                <a:lnTo>
                  <a:pt x="148991" y="34407"/>
                </a:lnTo>
                <a:lnTo>
                  <a:pt x="156833" y="46453"/>
                </a:lnTo>
                <a:lnTo>
                  <a:pt x="164675" y="57479"/>
                </a:lnTo>
                <a:lnTo>
                  <a:pt x="172516" y="66314"/>
                </a:lnTo>
                <a:lnTo>
                  <a:pt x="180358" y="72020"/>
                </a:lnTo>
                <a:lnTo>
                  <a:pt x="188200" y="73991"/>
                </a:lnTo>
                <a:lnTo>
                  <a:pt x="196041" y="72020"/>
                </a:lnTo>
                <a:lnTo>
                  <a:pt x="203883" y="66314"/>
                </a:lnTo>
                <a:lnTo>
                  <a:pt x="211725" y="57479"/>
                </a:lnTo>
                <a:lnTo>
                  <a:pt x="219566" y="46453"/>
                </a:lnTo>
                <a:lnTo>
                  <a:pt x="227408" y="34407"/>
                </a:lnTo>
                <a:lnTo>
                  <a:pt x="235250" y="22618"/>
                </a:lnTo>
                <a:lnTo>
                  <a:pt x="243091" y="12339"/>
                </a:lnTo>
                <a:lnTo>
                  <a:pt x="250933" y="4660"/>
                </a:lnTo>
                <a:lnTo>
                  <a:pt x="258775" y="396"/>
                </a:lnTo>
                <a:lnTo>
                  <a:pt x="266616" y="0"/>
                </a:lnTo>
                <a:lnTo>
                  <a:pt x="274458" y="3514"/>
                </a:lnTo>
                <a:lnTo>
                  <a:pt x="282300" y="10565"/>
                </a:lnTo>
                <a:lnTo>
                  <a:pt x="290141" y="20404"/>
                </a:lnTo>
                <a:lnTo>
                  <a:pt x="297983" y="31987"/>
                </a:lnTo>
                <a:lnTo>
                  <a:pt x="305825" y="44085"/>
                </a:lnTo>
                <a:lnTo>
                  <a:pt x="313667" y="55414"/>
                </a:lnTo>
                <a:lnTo>
                  <a:pt x="321508" y="64771"/>
                </a:lnTo>
                <a:lnTo>
                  <a:pt x="329350" y="71163"/>
                </a:lnTo>
                <a:lnTo>
                  <a:pt x="337192" y="73912"/>
                </a:lnTo>
                <a:lnTo>
                  <a:pt x="345033" y="72725"/>
                </a:lnTo>
                <a:lnTo>
                  <a:pt x="352875" y="67730"/>
                </a:lnTo>
                <a:lnTo>
                  <a:pt x="360717" y="59455"/>
                </a:lnTo>
                <a:lnTo>
                  <a:pt x="368558" y="48780"/>
                </a:lnTo>
                <a:lnTo>
                  <a:pt x="376400" y="36837"/>
                </a:lnTo>
              </a:path>
            </a:pathLst>
          </a:custGeom>
          <a:noFill/>
          <a:ln w="27587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 absorption burst 1"/>
          <p:cNvSpPr/>
          <p:nvPr/>
        </p:nvSpPr>
        <p:spPr>
          <a:xfrm>
            <a:off x="6024416" y="2256132"/>
            <a:ext cx="225990" cy="22599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99000"/>
            </a:srgbClr>
          </a:solidFill>
          <a:ln w="8313">
            <a:solidFill>
              <a:srgbClr val="E64B35">
                <a:alpha val="9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 ohmic loss 2L"/>
          <p:cNvSpPr/>
          <p:nvPr/>
        </p:nvSpPr>
        <p:spPr>
          <a:xfrm>
            <a:off x="7861546" y="2294459"/>
            <a:ext cx="202853" cy="49798"/>
          </a:xfrm>
          <a:custGeom>
            <a:avLst/>
            <a:gdLst/>
            <a:ahLst/>
            <a:cxnLst/>
            <a:rect l="l" t="t" r="r" b="b"/>
            <a:pathLst>
              <a:path w="202853" h="49798">
                <a:moveTo>
                  <a:pt x="202853" y="24792"/>
                </a:moveTo>
                <a:lnTo>
                  <a:pt x="198627" y="32830"/>
                </a:lnTo>
                <a:lnTo>
                  <a:pt x="194401" y="40015"/>
                </a:lnTo>
                <a:lnTo>
                  <a:pt x="190174" y="45584"/>
                </a:lnTo>
                <a:lnTo>
                  <a:pt x="185948" y="48946"/>
                </a:lnTo>
                <a:lnTo>
                  <a:pt x="181722" y="49745"/>
                </a:lnTo>
                <a:lnTo>
                  <a:pt x="177496" y="47895"/>
                </a:lnTo>
                <a:lnTo>
                  <a:pt x="173270" y="43593"/>
                </a:lnTo>
                <a:lnTo>
                  <a:pt x="169044" y="37295"/>
                </a:lnTo>
                <a:lnTo>
                  <a:pt x="164818" y="29670"/>
                </a:lnTo>
                <a:lnTo>
                  <a:pt x="160592" y="21528"/>
                </a:lnTo>
                <a:lnTo>
                  <a:pt x="156366" y="13732"/>
                </a:lnTo>
                <a:lnTo>
                  <a:pt x="152140" y="7110"/>
                </a:lnTo>
                <a:lnTo>
                  <a:pt x="147913" y="2364"/>
                </a:lnTo>
                <a:lnTo>
                  <a:pt x="143687" y="0"/>
                </a:lnTo>
                <a:lnTo>
                  <a:pt x="139461" y="266"/>
                </a:lnTo>
                <a:lnTo>
                  <a:pt x="135235" y="3136"/>
                </a:lnTo>
                <a:lnTo>
                  <a:pt x="131009" y="8304"/>
                </a:lnTo>
                <a:lnTo>
                  <a:pt x="126783" y="15222"/>
                </a:lnTo>
                <a:lnTo>
                  <a:pt x="122557" y="23156"/>
                </a:lnTo>
                <a:lnTo>
                  <a:pt x="118331" y="31264"/>
                </a:lnTo>
                <a:lnTo>
                  <a:pt x="114105" y="38685"/>
                </a:lnTo>
                <a:lnTo>
                  <a:pt x="109878" y="44631"/>
                </a:lnTo>
                <a:lnTo>
                  <a:pt x="105652" y="48471"/>
                </a:lnTo>
                <a:lnTo>
                  <a:pt x="101426" y="49798"/>
                </a:lnTo>
                <a:lnTo>
                  <a:pt x="97200" y="48471"/>
                </a:lnTo>
                <a:lnTo>
                  <a:pt x="92974" y="44631"/>
                </a:lnTo>
                <a:lnTo>
                  <a:pt x="88748" y="38685"/>
                </a:lnTo>
                <a:lnTo>
                  <a:pt x="84522" y="31264"/>
                </a:lnTo>
                <a:lnTo>
                  <a:pt x="80296" y="23156"/>
                </a:lnTo>
                <a:lnTo>
                  <a:pt x="76070" y="15222"/>
                </a:lnTo>
                <a:lnTo>
                  <a:pt x="71844" y="8304"/>
                </a:lnTo>
                <a:lnTo>
                  <a:pt x="67617" y="3136"/>
                </a:lnTo>
                <a:lnTo>
                  <a:pt x="63391" y="266"/>
                </a:lnTo>
                <a:lnTo>
                  <a:pt x="59165" y="0"/>
                </a:lnTo>
                <a:lnTo>
                  <a:pt x="54939" y="2364"/>
                </a:lnTo>
                <a:lnTo>
                  <a:pt x="50713" y="7110"/>
                </a:lnTo>
                <a:lnTo>
                  <a:pt x="46487" y="13732"/>
                </a:lnTo>
                <a:lnTo>
                  <a:pt x="42261" y="21528"/>
                </a:lnTo>
                <a:lnTo>
                  <a:pt x="38035" y="29670"/>
                </a:lnTo>
                <a:lnTo>
                  <a:pt x="33809" y="37295"/>
                </a:lnTo>
                <a:lnTo>
                  <a:pt x="29582" y="43593"/>
                </a:lnTo>
                <a:lnTo>
                  <a:pt x="25356" y="47895"/>
                </a:lnTo>
                <a:lnTo>
                  <a:pt x="21130" y="49745"/>
                </a:lnTo>
                <a:lnTo>
                  <a:pt x="16904" y="48946"/>
                </a:lnTo>
                <a:lnTo>
                  <a:pt x="12678" y="45584"/>
                </a:lnTo>
                <a:lnTo>
                  <a:pt x="8452" y="40015"/>
                </a:lnTo>
                <a:lnTo>
                  <a:pt x="4226" y="32830"/>
                </a:lnTo>
                <a:lnTo>
                  <a:pt x="0" y="24792"/>
                </a:lnTo>
              </a:path>
            </a:pathLst>
          </a:custGeom>
          <a:noFill/>
          <a:ln w="20264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 ohmic loss 2R"/>
          <p:cNvSpPr/>
          <p:nvPr/>
        </p:nvSpPr>
        <p:spPr>
          <a:xfrm>
            <a:off x="8200533" y="2294459"/>
            <a:ext cx="202853" cy="49798"/>
          </a:xfrm>
          <a:custGeom>
            <a:avLst/>
            <a:gdLst/>
            <a:ahLst/>
            <a:cxnLst/>
            <a:rect l="l" t="t" r="r" b="b"/>
            <a:pathLst>
              <a:path w="202853" h="49798">
                <a:moveTo>
                  <a:pt x="0" y="24792"/>
                </a:moveTo>
                <a:lnTo>
                  <a:pt x="4226" y="32830"/>
                </a:lnTo>
                <a:lnTo>
                  <a:pt x="8452" y="40015"/>
                </a:lnTo>
                <a:lnTo>
                  <a:pt x="12678" y="45584"/>
                </a:lnTo>
                <a:lnTo>
                  <a:pt x="16904" y="48946"/>
                </a:lnTo>
                <a:lnTo>
                  <a:pt x="21130" y="49745"/>
                </a:lnTo>
                <a:lnTo>
                  <a:pt x="25356" y="47895"/>
                </a:lnTo>
                <a:lnTo>
                  <a:pt x="29582" y="43593"/>
                </a:lnTo>
                <a:lnTo>
                  <a:pt x="33808" y="37295"/>
                </a:lnTo>
                <a:lnTo>
                  <a:pt x="38035" y="29670"/>
                </a:lnTo>
                <a:lnTo>
                  <a:pt x="42261" y="21528"/>
                </a:lnTo>
                <a:lnTo>
                  <a:pt x="46487" y="13732"/>
                </a:lnTo>
                <a:lnTo>
                  <a:pt x="50713" y="7110"/>
                </a:lnTo>
                <a:lnTo>
                  <a:pt x="54939" y="2364"/>
                </a:lnTo>
                <a:lnTo>
                  <a:pt x="59165" y="0"/>
                </a:lnTo>
                <a:lnTo>
                  <a:pt x="63391" y="266"/>
                </a:lnTo>
                <a:lnTo>
                  <a:pt x="67617" y="3136"/>
                </a:lnTo>
                <a:lnTo>
                  <a:pt x="71843" y="8304"/>
                </a:lnTo>
                <a:lnTo>
                  <a:pt x="76069" y="15222"/>
                </a:lnTo>
                <a:lnTo>
                  <a:pt x="80296" y="23156"/>
                </a:lnTo>
                <a:lnTo>
                  <a:pt x="84522" y="31264"/>
                </a:lnTo>
                <a:lnTo>
                  <a:pt x="88748" y="38685"/>
                </a:lnTo>
                <a:lnTo>
                  <a:pt x="92974" y="44631"/>
                </a:lnTo>
                <a:lnTo>
                  <a:pt x="97200" y="48471"/>
                </a:lnTo>
                <a:lnTo>
                  <a:pt x="101426" y="49798"/>
                </a:lnTo>
                <a:lnTo>
                  <a:pt x="105652" y="48471"/>
                </a:lnTo>
                <a:lnTo>
                  <a:pt x="109878" y="44631"/>
                </a:lnTo>
                <a:lnTo>
                  <a:pt x="114104" y="38685"/>
                </a:lnTo>
                <a:lnTo>
                  <a:pt x="118331" y="31264"/>
                </a:lnTo>
                <a:lnTo>
                  <a:pt x="122557" y="23156"/>
                </a:lnTo>
                <a:lnTo>
                  <a:pt x="126783" y="15222"/>
                </a:lnTo>
                <a:lnTo>
                  <a:pt x="131009" y="8304"/>
                </a:lnTo>
                <a:lnTo>
                  <a:pt x="135235" y="3136"/>
                </a:lnTo>
                <a:lnTo>
                  <a:pt x="139461" y="266"/>
                </a:lnTo>
                <a:lnTo>
                  <a:pt x="143687" y="0"/>
                </a:lnTo>
                <a:lnTo>
                  <a:pt x="147913" y="2364"/>
                </a:lnTo>
                <a:lnTo>
                  <a:pt x="152139" y="7110"/>
                </a:lnTo>
                <a:lnTo>
                  <a:pt x="156365" y="13732"/>
                </a:lnTo>
                <a:lnTo>
                  <a:pt x="160592" y="21528"/>
                </a:lnTo>
                <a:lnTo>
                  <a:pt x="164818" y="29670"/>
                </a:lnTo>
                <a:lnTo>
                  <a:pt x="169044" y="37295"/>
                </a:lnTo>
                <a:lnTo>
                  <a:pt x="173270" y="43593"/>
                </a:lnTo>
                <a:lnTo>
                  <a:pt x="177496" y="47895"/>
                </a:lnTo>
                <a:lnTo>
                  <a:pt x="181722" y="49745"/>
                </a:lnTo>
                <a:lnTo>
                  <a:pt x="185948" y="48946"/>
                </a:lnTo>
                <a:lnTo>
                  <a:pt x="190174" y="45584"/>
                </a:lnTo>
                <a:lnTo>
                  <a:pt x="194400" y="40015"/>
                </a:lnTo>
                <a:lnTo>
                  <a:pt x="198627" y="32830"/>
                </a:lnTo>
                <a:lnTo>
                  <a:pt x="202853" y="24792"/>
                </a:lnTo>
              </a:path>
            </a:pathLst>
          </a:custGeom>
          <a:noFill/>
          <a:ln w="20264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 absorption burst 2"/>
          <p:cNvSpPr/>
          <p:nvPr/>
        </p:nvSpPr>
        <p:spPr>
          <a:xfrm>
            <a:off x="8056086" y="2292748"/>
            <a:ext cx="152759" cy="152759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70003"/>
            </a:srgbClr>
          </a:solidFill>
          <a:ln w="8313">
            <a:solidFill>
              <a:srgbClr val="E64B35">
                <a:alpha val="70003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 ohmic loss 3L"/>
          <p:cNvSpPr/>
          <p:nvPr/>
        </p:nvSpPr>
        <p:spPr>
          <a:xfrm>
            <a:off x="9948839" y="2299376"/>
            <a:ext cx="132005" cy="39922"/>
          </a:xfrm>
          <a:custGeom>
            <a:avLst/>
            <a:gdLst/>
            <a:ahLst/>
            <a:cxnLst/>
            <a:rect l="l" t="t" r="r" b="b"/>
            <a:pathLst>
              <a:path w="132005" h="39922">
                <a:moveTo>
                  <a:pt x="132005" y="19875"/>
                </a:moveTo>
                <a:lnTo>
                  <a:pt x="129254" y="26319"/>
                </a:lnTo>
                <a:lnTo>
                  <a:pt x="126504" y="32079"/>
                </a:lnTo>
                <a:lnTo>
                  <a:pt x="123754" y="36543"/>
                </a:lnTo>
                <a:lnTo>
                  <a:pt x="121004" y="39239"/>
                </a:lnTo>
                <a:lnTo>
                  <a:pt x="118254" y="39879"/>
                </a:lnTo>
                <a:lnTo>
                  <a:pt x="115504" y="38396"/>
                </a:lnTo>
                <a:lnTo>
                  <a:pt x="112754" y="34947"/>
                </a:lnTo>
                <a:lnTo>
                  <a:pt x="110004" y="29898"/>
                </a:lnTo>
                <a:lnTo>
                  <a:pt x="107254" y="23786"/>
                </a:lnTo>
                <a:lnTo>
                  <a:pt x="104504" y="17258"/>
                </a:lnTo>
                <a:lnTo>
                  <a:pt x="101754" y="11008"/>
                </a:lnTo>
                <a:lnTo>
                  <a:pt x="99003" y="5700"/>
                </a:lnTo>
                <a:lnTo>
                  <a:pt x="96253" y="1895"/>
                </a:lnTo>
                <a:lnTo>
                  <a:pt x="93503" y="0"/>
                </a:lnTo>
                <a:lnTo>
                  <a:pt x="90753" y="213"/>
                </a:lnTo>
                <a:lnTo>
                  <a:pt x="88003" y="2514"/>
                </a:lnTo>
                <a:lnTo>
                  <a:pt x="85253" y="6657"/>
                </a:lnTo>
                <a:lnTo>
                  <a:pt x="82503" y="12203"/>
                </a:lnTo>
                <a:lnTo>
                  <a:pt x="79753" y="18564"/>
                </a:lnTo>
                <a:lnTo>
                  <a:pt x="77003" y="25063"/>
                </a:lnTo>
                <a:lnTo>
                  <a:pt x="74253" y="31012"/>
                </a:lnTo>
                <a:lnTo>
                  <a:pt x="71503" y="35779"/>
                </a:lnTo>
                <a:lnTo>
                  <a:pt x="68753" y="38858"/>
                </a:lnTo>
                <a:lnTo>
                  <a:pt x="66002" y="39922"/>
                </a:lnTo>
                <a:lnTo>
                  <a:pt x="63252" y="38858"/>
                </a:lnTo>
                <a:lnTo>
                  <a:pt x="60502" y="35779"/>
                </a:lnTo>
                <a:lnTo>
                  <a:pt x="57752" y="31012"/>
                </a:lnTo>
                <a:lnTo>
                  <a:pt x="55002" y="25063"/>
                </a:lnTo>
                <a:lnTo>
                  <a:pt x="52252" y="18564"/>
                </a:lnTo>
                <a:lnTo>
                  <a:pt x="49502" y="12203"/>
                </a:lnTo>
                <a:lnTo>
                  <a:pt x="46752" y="6657"/>
                </a:lnTo>
                <a:lnTo>
                  <a:pt x="44002" y="2514"/>
                </a:lnTo>
                <a:lnTo>
                  <a:pt x="41252" y="213"/>
                </a:lnTo>
                <a:lnTo>
                  <a:pt x="38502" y="0"/>
                </a:lnTo>
                <a:lnTo>
                  <a:pt x="35752" y="1895"/>
                </a:lnTo>
                <a:lnTo>
                  <a:pt x="33001" y="5700"/>
                </a:lnTo>
                <a:lnTo>
                  <a:pt x="30251" y="11008"/>
                </a:lnTo>
                <a:lnTo>
                  <a:pt x="27501" y="17258"/>
                </a:lnTo>
                <a:lnTo>
                  <a:pt x="24751" y="23786"/>
                </a:lnTo>
                <a:lnTo>
                  <a:pt x="22001" y="29898"/>
                </a:lnTo>
                <a:lnTo>
                  <a:pt x="19251" y="34947"/>
                </a:lnTo>
                <a:lnTo>
                  <a:pt x="16501" y="38396"/>
                </a:lnTo>
                <a:lnTo>
                  <a:pt x="13751" y="39879"/>
                </a:lnTo>
                <a:lnTo>
                  <a:pt x="11001" y="39239"/>
                </a:lnTo>
                <a:lnTo>
                  <a:pt x="8251" y="36543"/>
                </a:lnTo>
                <a:lnTo>
                  <a:pt x="5501" y="32079"/>
                </a:lnTo>
                <a:lnTo>
                  <a:pt x="2750" y="26319"/>
                </a:lnTo>
                <a:lnTo>
                  <a:pt x="0" y="19875"/>
                </a:lnTo>
              </a:path>
            </a:pathLst>
          </a:custGeom>
          <a:noFill/>
          <a:ln w="15986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 ohmic loss 3R"/>
          <p:cNvSpPr/>
          <p:nvPr/>
        </p:nvSpPr>
        <p:spPr>
          <a:xfrm>
            <a:off x="10174197" y="2299376"/>
            <a:ext cx="132004" cy="39922"/>
          </a:xfrm>
          <a:custGeom>
            <a:avLst/>
            <a:gdLst/>
            <a:ahLst/>
            <a:cxnLst/>
            <a:rect l="l" t="t" r="r" b="b"/>
            <a:pathLst>
              <a:path w="132004" h="39922">
                <a:moveTo>
                  <a:pt x="0" y="19875"/>
                </a:moveTo>
                <a:lnTo>
                  <a:pt x="2750" y="26319"/>
                </a:lnTo>
                <a:lnTo>
                  <a:pt x="5500" y="32079"/>
                </a:lnTo>
                <a:lnTo>
                  <a:pt x="8250" y="36543"/>
                </a:lnTo>
                <a:lnTo>
                  <a:pt x="11000" y="39239"/>
                </a:lnTo>
                <a:lnTo>
                  <a:pt x="13750" y="39879"/>
                </a:lnTo>
                <a:lnTo>
                  <a:pt x="16500" y="38396"/>
                </a:lnTo>
                <a:lnTo>
                  <a:pt x="19251" y="34947"/>
                </a:lnTo>
                <a:lnTo>
                  <a:pt x="22001" y="29898"/>
                </a:lnTo>
                <a:lnTo>
                  <a:pt x="24751" y="23786"/>
                </a:lnTo>
                <a:lnTo>
                  <a:pt x="27501" y="17258"/>
                </a:lnTo>
                <a:lnTo>
                  <a:pt x="30251" y="11008"/>
                </a:lnTo>
                <a:lnTo>
                  <a:pt x="33001" y="5700"/>
                </a:lnTo>
                <a:lnTo>
                  <a:pt x="35751" y="1895"/>
                </a:lnTo>
                <a:lnTo>
                  <a:pt x="38501" y="0"/>
                </a:lnTo>
                <a:lnTo>
                  <a:pt x="41251" y="213"/>
                </a:lnTo>
                <a:lnTo>
                  <a:pt x="44001" y="2514"/>
                </a:lnTo>
                <a:lnTo>
                  <a:pt x="46751" y="6657"/>
                </a:lnTo>
                <a:lnTo>
                  <a:pt x="49501" y="12203"/>
                </a:lnTo>
                <a:lnTo>
                  <a:pt x="52252" y="18564"/>
                </a:lnTo>
                <a:lnTo>
                  <a:pt x="55002" y="25063"/>
                </a:lnTo>
                <a:lnTo>
                  <a:pt x="57752" y="31012"/>
                </a:lnTo>
                <a:lnTo>
                  <a:pt x="60502" y="35779"/>
                </a:lnTo>
                <a:lnTo>
                  <a:pt x="63252" y="38858"/>
                </a:lnTo>
                <a:lnTo>
                  <a:pt x="66002" y="39922"/>
                </a:lnTo>
                <a:lnTo>
                  <a:pt x="68752" y="38858"/>
                </a:lnTo>
                <a:lnTo>
                  <a:pt x="71502" y="35779"/>
                </a:lnTo>
                <a:lnTo>
                  <a:pt x="74252" y="31012"/>
                </a:lnTo>
                <a:lnTo>
                  <a:pt x="77002" y="25063"/>
                </a:lnTo>
                <a:lnTo>
                  <a:pt x="79752" y="18564"/>
                </a:lnTo>
                <a:lnTo>
                  <a:pt x="82503" y="12203"/>
                </a:lnTo>
                <a:lnTo>
                  <a:pt x="85253" y="6657"/>
                </a:lnTo>
                <a:lnTo>
                  <a:pt x="88003" y="2514"/>
                </a:lnTo>
                <a:lnTo>
                  <a:pt x="90753" y="213"/>
                </a:lnTo>
                <a:lnTo>
                  <a:pt x="93503" y="0"/>
                </a:lnTo>
                <a:lnTo>
                  <a:pt x="96253" y="1895"/>
                </a:lnTo>
                <a:lnTo>
                  <a:pt x="99003" y="5700"/>
                </a:lnTo>
                <a:lnTo>
                  <a:pt x="101753" y="11008"/>
                </a:lnTo>
                <a:lnTo>
                  <a:pt x="104503" y="17258"/>
                </a:lnTo>
                <a:lnTo>
                  <a:pt x="107253" y="23786"/>
                </a:lnTo>
                <a:lnTo>
                  <a:pt x="110003" y="29898"/>
                </a:lnTo>
                <a:lnTo>
                  <a:pt x="112753" y="34947"/>
                </a:lnTo>
                <a:lnTo>
                  <a:pt x="115504" y="38396"/>
                </a:lnTo>
                <a:lnTo>
                  <a:pt x="118254" y="39879"/>
                </a:lnTo>
                <a:lnTo>
                  <a:pt x="121004" y="39239"/>
                </a:lnTo>
                <a:lnTo>
                  <a:pt x="123754" y="36543"/>
                </a:lnTo>
                <a:lnTo>
                  <a:pt x="126504" y="32079"/>
                </a:lnTo>
                <a:lnTo>
                  <a:pt x="129254" y="26319"/>
                </a:lnTo>
                <a:lnTo>
                  <a:pt x="132004" y="19875"/>
                </a:lnTo>
              </a:path>
            </a:pathLst>
          </a:custGeom>
          <a:noFill/>
          <a:ln w="15986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 absorption burst 3"/>
          <p:cNvSpPr/>
          <p:nvPr/>
        </p:nvSpPr>
        <p:spPr>
          <a:xfrm>
            <a:off x="10072531" y="2314138"/>
            <a:ext cx="109979" cy="109979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8166"/>
            </a:srgbClr>
          </a:solidFill>
          <a:ln w="8313">
            <a:solidFill>
              <a:srgbClr val="E64B35">
                <a:alpha val="58166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 emitter"/>
          <p:cNvSpPr/>
          <p:nvPr/>
        </p:nvSpPr>
        <p:spPr>
          <a:xfrm>
            <a:off x="4146513" y="2223655"/>
            <a:ext cx="141316" cy="141316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8313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L emitter core"/>
          <p:cNvSpPr/>
          <p:nvPr/>
        </p:nvSpPr>
        <p:spPr>
          <a:xfrm>
            <a:off x="4197221" y="2274362"/>
            <a:ext cx="39901" cy="39901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itle 1"/>
          <p:cNvSpPr txBox="1"/>
          <p:nvPr/>
        </p:nvSpPr>
        <p:spPr>
          <a:xfrm>
            <a:off x="4724248" y="-119205"/>
            <a:ext cx="5818909" cy="4189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74" b="1">
                <a:solidFill>
                  <a:srgbClr val="1A1A1A"/>
                </a:solidFill>
                <a:latin typeface="Arial"/>
              </a:rPr>
              <a:t>Conventional metal reflector</a:t>
            </a:r>
          </a:p>
        </p:txBody>
      </p:sp>
      <p:sp>
        <p:nvSpPr>
          <p:cNvPr id="60" name="subtitle 1"/>
          <p:cNvSpPr txBox="1"/>
          <p:nvPr/>
        </p:nvSpPr>
        <p:spPr>
          <a:xfrm>
            <a:off x="5139884" y="144309"/>
            <a:ext cx="4987636" cy="3192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47" b="0">
                <a:solidFill>
                  <a:srgbClr val="55585C"/>
                </a:solidFill>
                <a:latin typeface="Arial"/>
              </a:rPr>
              <a:t>large absorption per round trip — the beam dies out within a few passes</a:t>
            </a:r>
          </a:p>
        </p:txBody>
      </p:sp>
      <p:sp>
        <p:nvSpPr>
          <p:cNvPr id="61" name="conventional: Conventional metal electrode"/>
          <p:cNvSpPr txBox="1"/>
          <p:nvPr/>
        </p:nvSpPr>
        <p:spPr>
          <a:xfrm>
            <a:off x="826075" y="2224757"/>
            <a:ext cx="2685011" cy="20677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78" b="0">
                <a:solidFill>
                  <a:srgbClr val="F2F5F8"/>
                </a:solidFill>
                <a:latin typeface="Arial"/>
              </a:rPr>
              <a:t>Conventional metal electrode</a:t>
            </a:r>
          </a:p>
        </p:txBody>
      </p:sp>
      <p:sp>
        <p:nvSpPr>
          <p:cNvPr id="62" name="conventional: Organic layer"/>
          <p:cNvSpPr txBox="1"/>
          <p:nvPr/>
        </p:nvSpPr>
        <p:spPr>
          <a:xfrm>
            <a:off x="820356" y="2030434"/>
            <a:ext cx="2685011" cy="2087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84" b="0">
                <a:solidFill>
                  <a:srgbClr val="1B2026"/>
                </a:solidFill>
                <a:latin typeface="Arial"/>
              </a:rPr>
              <a:t>Organic layer</a:t>
            </a:r>
          </a:p>
        </p:txBody>
      </p:sp>
      <p:sp>
        <p:nvSpPr>
          <p:cNvPr id="63" name="conventional: Transparent conductive oxide (TCO)"/>
          <p:cNvSpPr txBox="1"/>
          <p:nvPr/>
        </p:nvSpPr>
        <p:spPr>
          <a:xfrm>
            <a:off x="814826" y="1842628"/>
            <a:ext cx="2685011" cy="21068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91" b="0">
                <a:solidFill>
                  <a:srgbClr val="1B2026"/>
                </a:solidFill>
                <a:latin typeface="Arial"/>
              </a:rPr>
              <a:t>Transparent conductive oxide (TCO)</a:t>
            </a:r>
          </a:p>
        </p:txBody>
      </p:sp>
      <p:sp>
        <p:nvSpPr>
          <p:cNvPr id="64" name="conventional: Glass"/>
          <p:cNvSpPr txBox="1"/>
          <p:nvPr/>
        </p:nvSpPr>
        <p:spPr>
          <a:xfrm>
            <a:off x="809619" y="1665776"/>
            <a:ext cx="2685011" cy="2124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97" b="0">
                <a:solidFill>
                  <a:srgbClr val="1B2026"/>
                </a:solidFill>
                <a:latin typeface="Arial"/>
              </a:rPr>
              <a:t>Glass</a:t>
            </a:r>
          </a:p>
        </p:txBody>
      </p:sp>
      <p:sp>
        <p:nvSpPr>
          <p:cNvPr id="65" name="conventional: Outcoupling structure"/>
          <p:cNvSpPr txBox="1"/>
          <p:nvPr/>
        </p:nvSpPr>
        <p:spPr>
          <a:xfrm>
            <a:off x="804368" y="1487381"/>
            <a:ext cx="2685011" cy="21435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3" b="0">
                <a:solidFill>
                  <a:srgbClr val="1B2026"/>
                </a:solidFill>
                <a:latin typeface="Arial"/>
              </a:rPr>
              <a:t>Outcoupling structure</a:t>
            </a:r>
          </a:p>
        </p:txBody>
      </p:sp>
      <p:pic>
        <p:nvPicPr>
          <p:cNvPr id="66" name="designrule render" descr="emitting_area_render_designru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8" y="2992582"/>
            <a:ext cx="2826327" cy="2826327"/>
          </a:xfrm>
          <a:prstGeom prst="rect">
            <a:avLst/>
          </a:prstGeom>
        </p:spPr>
      </p:pic>
      <p:sp>
        <p:nvSpPr>
          <p:cNvPr id="67" name="R lens 01"/>
          <p:cNvSpPr/>
          <p:nvPr/>
        </p:nvSpPr>
        <p:spPr>
          <a:xfrm>
            <a:off x="3892975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 lens 02"/>
          <p:cNvSpPr/>
          <p:nvPr/>
        </p:nvSpPr>
        <p:spPr>
          <a:xfrm>
            <a:off x="4391738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 lens 03"/>
          <p:cNvSpPr/>
          <p:nvPr/>
        </p:nvSpPr>
        <p:spPr>
          <a:xfrm>
            <a:off x="4890502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 lens 04"/>
          <p:cNvSpPr/>
          <p:nvPr/>
        </p:nvSpPr>
        <p:spPr>
          <a:xfrm>
            <a:off x="5389266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 lens 05"/>
          <p:cNvSpPr/>
          <p:nvPr/>
        </p:nvSpPr>
        <p:spPr>
          <a:xfrm>
            <a:off x="5888029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 lens 06"/>
          <p:cNvSpPr/>
          <p:nvPr/>
        </p:nvSpPr>
        <p:spPr>
          <a:xfrm>
            <a:off x="6386793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 lens 07"/>
          <p:cNvSpPr/>
          <p:nvPr/>
        </p:nvSpPr>
        <p:spPr>
          <a:xfrm>
            <a:off x="6885557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 lens 08"/>
          <p:cNvSpPr/>
          <p:nvPr/>
        </p:nvSpPr>
        <p:spPr>
          <a:xfrm>
            <a:off x="7384320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 lens 09"/>
          <p:cNvSpPr/>
          <p:nvPr/>
        </p:nvSpPr>
        <p:spPr>
          <a:xfrm>
            <a:off x="7883084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 lens 10"/>
          <p:cNvSpPr/>
          <p:nvPr/>
        </p:nvSpPr>
        <p:spPr>
          <a:xfrm>
            <a:off x="8381847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 lens 11"/>
          <p:cNvSpPr/>
          <p:nvPr/>
        </p:nvSpPr>
        <p:spPr>
          <a:xfrm>
            <a:off x="8880611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 lens 12"/>
          <p:cNvSpPr/>
          <p:nvPr/>
        </p:nvSpPr>
        <p:spPr>
          <a:xfrm>
            <a:off x="9379375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 lens 13"/>
          <p:cNvSpPr/>
          <p:nvPr/>
        </p:nvSpPr>
        <p:spPr>
          <a:xfrm>
            <a:off x="9878138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 lens 14"/>
          <p:cNvSpPr/>
          <p:nvPr/>
        </p:nvSpPr>
        <p:spPr>
          <a:xfrm>
            <a:off x="10376902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 lens 15"/>
          <p:cNvSpPr/>
          <p:nvPr/>
        </p:nvSpPr>
        <p:spPr>
          <a:xfrm>
            <a:off x="10875666" y="4239491"/>
            <a:ext cx="498764" cy="498764"/>
          </a:xfrm>
          <a:prstGeom prst="ellipse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 glass substrate"/>
          <p:cNvSpPr/>
          <p:nvPr/>
        </p:nvSpPr>
        <p:spPr>
          <a:xfrm>
            <a:off x="3892975" y="4488873"/>
            <a:ext cx="7481455" cy="714895"/>
          </a:xfrm>
          <a:prstGeom prst="rect">
            <a:avLst/>
          </a:prstGeom>
          <a:solidFill>
            <a:srgbClr val="EAF1F6"/>
          </a:solidFill>
          <a:ln w="10806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 TCO anode"/>
          <p:cNvSpPr/>
          <p:nvPr/>
        </p:nvSpPr>
        <p:spPr>
          <a:xfrm>
            <a:off x="3892975" y="5203767"/>
            <a:ext cx="7481455" cy="133004"/>
          </a:xfrm>
          <a:prstGeom prst="rect">
            <a:avLst/>
          </a:prstGeom>
          <a:solidFill>
            <a:srgbClr val="CBE1EE"/>
          </a:solidFill>
          <a:ln w="8728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 organic layers"/>
          <p:cNvSpPr/>
          <p:nvPr/>
        </p:nvSpPr>
        <p:spPr>
          <a:xfrm>
            <a:off x="3892975" y="5336771"/>
            <a:ext cx="7481455" cy="149629"/>
          </a:xfrm>
          <a:prstGeom prst="rect">
            <a:avLst/>
          </a:prstGeom>
          <a:solidFill>
            <a:srgbClr val="FDF2E2"/>
          </a:solidFill>
          <a:ln w="8728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 metal cathode"/>
          <p:cNvSpPr/>
          <p:nvPr/>
        </p:nvSpPr>
        <p:spPr>
          <a:xfrm>
            <a:off x="3892975" y="5486400"/>
            <a:ext cx="7481455" cy="332509"/>
          </a:xfrm>
          <a:prstGeom prst="rect">
            <a:avLst/>
          </a:prstGeom>
          <a:solidFill>
            <a:srgbClr val="C3C7CB"/>
          </a:solidFill>
          <a:ln w="8728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 TCO absorption 1L"/>
          <p:cNvSpPr/>
          <p:nvPr/>
        </p:nvSpPr>
        <p:spPr>
          <a:xfrm>
            <a:off x="5892601" y="5261042"/>
            <a:ext cx="90609" cy="18454"/>
          </a:xfrm>
          <a:custGeom>
            <a:avLst/>
            <a:gdLst/>
            <a:ahLst/>
            <a:cxnLst/>
            <a:rect l="l" t="t" r="r" b="b"/>
            <a:pathLst>
              <a:path w="90609" h="18454">
                <a:moveTo>
                  <a:pt x="0" y="9227"/>
                </a:moveTo>
                <a:lnTo>
                  <a:pt x="1888" y="11615"/>
                </a:lnTo>
                <a:lnTo>
                  <a:pt x="3776" y="13841"/>
                </a:lnTo>
                <a:lnTo>
                  <a:pt x="5663" y="15752"/>
                </a:lnTo>
                <a:lnTo>
                  <a:pt x="7551" y="17218"/>
                </a:lnTo>
                <a:lnTo>
                  <a:pt x="9439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2" y="17218"/>
                </a:lnTo>
                <a:lnTo>
                  <a:pt x="16989" y="15752"/>
                </a:lnTo>
                <a:lnTo>
                  <a:pt x="18877" y="13841"/>
                </a:lnTo>
                <a:lnTo>
                  <a:pt x="20765" y="11615"/>
                </a:lnTo>
                <a:lnTo>
                  <a:pt x="22652" y="9227"/>
                </a:lnTo>
                <a:lnTo>
                  <a:pt x="24540" y="6839"/>
                </a:lnTo>
                <a:lnTo>
                  <a:pt x="26428" y="4614"/>
                </a:lnTo>
                <a:lnTo>
                  <a:pt x="28316" y="2703"/>
                </a:lnTo>
                <a:lnTo>
                  <a:pt x="30203" y="1236"/>
                </a:lnTo>
                <a:lnTo>
                  <a:pt x="32091" y="314"/>
                </a:lnTo>
                <a:lnTo>
                  <a:pt x="33979" y="0"/>
                </a:lnTo>
                <a:lnTo>
                  <a:pt x="35866" y="314"/>
                </a:lnTo>
                <a:lnTo>
                  <a:pt x="37754" y="1236"/>
                </a:lnTo>
                <a:lnTo>
                  <a:pt x="39642" y="2703"/>
                </a:lnTo>
                <a:lnTo>
                  <a:pt x="41529" y="4614"/>
                </a:lnTo>
                <a:lnTo>
                  <a:pt x="43417" y="6839"/>
                </a:lnTo>
                <a:lnTo>
                  <a:pt x="45305" y="9227"/>
                </a:lnTo>
                <a:lnTo>
                  <a:pt x="47192" y="11615"/>
                </a:lnTo>
                <a:lnTo>
                  <a:pt x="49080" y="13841"/>
                </a:lnTo>
                <a:lnTo>
                  <a:pt x="50968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1" y="18454"/>
                </a:lnTo>
                <a:lnTo>
                  <a:pt x="58518" y="18140"/>
                </a:lnTo>
                <a:lnTo>
                  <a:pt x="60406" y="17218"/>
                </a:lnTo>
                <a:lnTo>
                  <a:pt x="62294" y="15752"/>
                </a:lnTo>
                <a:lnTo>
                  <a:pt x="64181" y="13841"/>
                </a:lnTo>
                <a:lnTo>
                  <a:pt x="66069" y="11615"/>
                </a:lnTo>
                <a:lnTo>
                  <a:pt x="67957" y="9227"/>
                </a:lnTo>
                <a:lnTo>
                  <a:pt x="69845" y="6839"/>
                </a:lnTo>
                <a:lnTo>
                  <a:pt x="71732" y="4614"/>
                </a:lnTo>
                <a:lnTo>
                  <a:pt x="73620" y="2703"/>
                </a:lnTo>
                <a:lnTo>
                  <a:pt x="75508" y="1236"/>
                </a:lnTo>
                <a:lnTo>
                  <a:pt x="77395" y="314"/>
                </a:lnTo>
                <a:lnTo>
                  <a:pt x="79283" y="0"/>
                </a:lnTo>
                <a:lnTo>
                  <a:pt x="81171" y="314"/>
                </a:lnTo>
                <a:lnTo>
                  <a:pt x="83058" y="1236"/>
                </a:lnTo>
                <a:lnTo>
                  <a:pt x="84946" y="2703"/>
                </a:lnTo>
                <a:lnTo>
                  <a:pt x="86834" y="4614"/>
                </a:lnTo>
                <a:lnTo>
                  <a:pt x="88721" y="6839"/>
                </a:lnTo>
                <a:lnTo>
                  <a:pt x="90609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 TCO absorption 1R"/>
          <p:cNvSpPr/>
          <p:nvPr/>
        </p:nvSpPr>
        <p:spPr>
          <a:xfrm>
            <a:off x="6291612" y="5261042"/>
            <a:ext cx="90609" cy="18454"/>
          </a:xfrm>
          <a:custGeom>
            <a:avLst/>
            <a:gdLst/>
            <a:ahLst/>
            <a:cxnLst/>
            <a:rect l="l" t="t" r="r" b="b"/>
            <a:pathLst>
              <a:path w="90609" h="18454">
                <a:moveTo>
                  <a:pt x="0" y="9227"/>
                </a:moveTo>
                <a:lnTo>
                  <a:pt x="1888" y="11615"/>
                </a:lnTo>
                <a:lnTo>
                  <a:pt x="3776" y="13841"/>
                </a:lnTo>
                <a:lnTo>
                  <a:pt x="5663" y="15752"/>
                </a:lnTo>
                <a:lnTo>
                  <a:pt x="7551" y="17218"/>
                </a:lnTo>
                <a:lnTo>
                  <a:pt x="9439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2" y="17218"/>
                </a:lnTo>
                <a:lnTo>
                  <a:pt x="16989" y="15752"/>
                </a:lnTo>
                <a:lnTo>
                  <a:pt x="18877" y="13841"/>
                </a:lnTo>
                <a:lnTo>
                  <a:pt x="20765" y="11615"/>
                </a:lnTo>
                <a:lnTo>
                  <a:pt x="22652" y="9227"/>
                </a:lnTo>
                <a:lnTo>
                  <a:pt x="24540" y="6839"/>
                </a:lnTo>
                <a:lnTo>
                  <a:pt x="26428" y="4614"/>
                </a:lnTo>
                <a:lnTo>
                  <a:pt x="28315" y="2703"/>
                </a:lnTo>
                <a:lnTo>
                  <a:pt x="30203" y="1236"/>
                </a:lnTo>
                <a:lnTo>
                  <a:pt x="32091" y="314"/>
                </a:lnTo>
                <a:lnTo>
                  <a:pt x="33978" y="0"/>
                </a:lnTo>
                <a:lnTo>
                  <a:pt x="35866" y="314"/>
                </a:lnTo>
                <a:lnTo>
                  <a:pt x="37754" y="1236"/>
                </a:lnTo>
                <a:lnTo>
                  <a:pt x="39642" y="2703"/>
                </a:lnTo>
                <a:lnTo>
                  <a:pt x="41529" y="4614"/>
                </a:lnTo>
                <a:lnTo>
                  <a:pt x="43417" y="6839"/>
                </a:lnTo>
                <a:lnTo>
                  <a:pt x="45305" y="9227"/>
                </a:lnTo>
                <a:lnTo>
                  <a:pt x="47192" y="11615"/>
                </a:lnTo>
                <a:lnTo>
                  <a:pt x="49080" y="13841"/>
                </a:lnTo>
                <a:lnTo>
                  <a:pt x="50968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1" y="18454"/>
                </a:lnTo>
                <a:lnTo>
                  <a:pt x="58518" y="18140"/>
                </a:lnTo>
                <a:lnTo>
                  <a:pt x="60406" y="17218"/>
                </a:lnTo>
                <a:lnTo>
                  <a:pt x="62294" y="15752"/>
                </a:lnTo>
                <a:lnTo>
                  <a:pt x="64181" y="13841"/>
                </a:lnTo>
                <a:lnTo>
                  <a:pt x="66069" y="11615"/>
                </a:lnTo>
                <a:lnTo>
                  <a:pt x="67957" y="9227"/>
                </a:lnTo>
                <a:lnTo>
                  <a:pt x="69844" y="6839"/>
                </a:lnTo>
                <a:lnTo>
                  <a:pt x="71732" y="4614"/>
                </a:lnTo>
                <a:lnTo>
                  <a:pt x="73620" y="2703"/>
                </a:lnTo>
                <a:lnTo>
                  <a:pt x="75507" y="1236"/>
                </a:lnTo>
                <a:lnTo>
                  <a:pt x="77395" y="314"/>
                </a:lnTo>
                <a:lnTo>
                  <a:pt x="79283" y="0"/>
                </a:lnTo>
                <a:lnTo>
                  <a:pt x="81171" y="314"/>
                </a:lnTo>
                <a:lnTo>
                  <a:pt x="83058" y="1236"/>
                </a:lnTo>
                <a:lnTo>
                  <a:pt x="84946" y="2703"/>
                </a:lnTo>
                <a:lnTo>
                  <a:pt x="86834" y="4614"/>
                </a:lnTo>
                <a:lnTo>
                  <a:pt x="88721" y="6839"/>
                </a:lnTo>
                <a:lnTo>
                  <a:pt x="90609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 TCO absorption 2L"/>
          <p:cNvSpPr/>
          <p:nvPr/>
        </p:nvSpPr>
        <p:spPr>
          <a:xfrm>
            <a:off x="7887656" y="5261042"/>
            <a:ext cx="90609" cy="18454"/>
          </a:xfrm>
          <a:custGeom>
            <a:avLst/>
            <a:gdLst/>
            <a:ahLst/>
            <a:cxnLst/>
            <a:rect l="l" t="t" r="r" b="b"/>
            <a:pathLst>
              <a:path w="90609" h="18454">
                <a:moveTo>
                  <a:pt x="0" y="9227"/>
                </a:moveTo>
                <a:lnTo>
                  <a:pt x="1888" y="11615"/>
                </a:lnTo>
                <a:lnTo>
                  <a:pt x="3775" y="13841"/>
                </a:lnTo>
                <a:lnTo>
                  <a:pt x="5663" y="15752"/>
                </a:lnTo>
                <a:lnTo>
                  <a:pt x="7551" y="17218"/>
                </a:lnTo>
                <a:lnTo>
                  <a:pt x="9438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1" y="17218"/>
                </a:lnTo>
                <a:lnTo>
                  <a:pt x="16989" y="15752"/>
                </a:lnTo>
                <a:lnTo>
                  <a:pt x="18877" y="13841"/>
                </a:lnTo>
                <a:lnTo>
                  <a:pt x="20764" y="11615"/>
                </a:lnTo>
                <a:lnTo>
                  <a:pt x="22652" y="9227"/>
                </a:lnTo>
                <a:lnTo>
                  <a:pt x="24540" y="6839"/>
                </a:lnTo>
                <a:lnTo>
                  <a:pt x="26427" y="4614"/>
                </a:lnTo>
                <a:lnTo>
                  <a:pt x="28315" y="2703"/>
                </a:lnTo>
                <a:lnTo>
                  <a:pt x="30203" y="1236"/>
                </a:lnTo>
                <a:lnTo>
                  <a:pt x="32090" y="314"/>
                </a:lnTo>
                <a:lnTo>
                  <a:pt x="33978" y="0"/>
                </a:lnTo>
                <a:lnTo>
                  <a:pt x="35866" y="314"/>
                </a:lnTo>
                <a:lnTo>
                  <a:pt x="37753" y="1236"/>
                </a:lnTo>
                <a:lnTo>
                  <a:pt x="39641" y="2703"/>
                </a:lnTo>
                <a:lnTo>
                  <a:pt x="41529" y="4614"/>
                </a:lnTo>
                <a:lnTo>
                  <a:pt x="43417" y="6839"/>
                </a:lnTo>
                <a:lnTo>
                  <a:pt x="45304" y="9227"/>
                </a:lnTo>
                <a:lnTo>
                  <a:pt x="47192" y="11615"/>
                </a:lnTo>
                <a:lnTo>
                  <a:pt x="49080" y="13841"/>
                </a:lnTo>
                <a:lnTo>
                  <a:pt x="50967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0" y="18454"/>
                </a:lnTo>
                <a:lnTo>
                  <a:pt x="58518" y="18140"/>
                </a:lnTo>
                <a:lnTo>
                  <a:pt x="60406" y="17218"/>
                </a:lnTo>
                <a:lnTo>
                  <a:pt x="62293" y="15752"/>
                </a:lnTo>
                <a:lnTo>
                  <a:pt x="64181" y="13841"/>
                </a:lnTo>
                <a:lnTo>
                  <a:pt x="66069" y="11615"/>
                </a:lnTo>
                <a:lnTo>
                  <a:pt x="67956" y="9227"/>
                </a:lnTo>
                <a:lnTo>
                  <a:pt x="69844" y="6839"/>
                </a:lnTo>
                <a:lnTo>
                  <a:pt x="71732" y="4614"/>
                </a:lnTo>
                <a:lnTo>
                  <a:pt x="73619" y="2703"/>
                </a:lnTo>
                <a:lnTo>
                  <a:pt x="75507" y="1236"/>
                </a:lnTo>
                <a:lnTo>
                  <a:pt x="77395" y="314"/>
                </a:lnTo>
                <a:lnTo>
                  <a:pt x="79282" y="0"/>
                </a:lnTo>
                <a:lnTo>
                  <a:pt x="81170" y="314"/>
                </a:lnTo>
                <a:lnTo>
                  <a:pt x="83058" y="1236"/>
                </a:lnTo>
                <a:lnTo>
                  <a:pt x="84946" y="2703"/>
                </a:lnTo>
                <a:lnTo>
                  <a:pt x="86833" y="4614"/>
                </a:lnTo>
                <a:lnTo>
                  <a:pt x="88721" y="6839"/>
                </a:lnTo>
                <a:lnTo>
                  <a:pt x="90609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 TCO absorption 2R"/>
          <p:cNvSpPr/>
          <p:nvPr/>
        </p:nvSpPr>
        <p:spPr>
          <a:xfrm>
            <a:off x="8286667" y="5261042"/>
            <a:ext cx="90608" cy="18454"/>
          </a:xfrm>
          <a:custGeom>
            <a:avLst/>
            <a:gdLst/>
            <a:ahLst/>
            <a:cxnLst/>
            <a:rect l="l" t="t" r="r" b="b"/>
            <a:pathLst>
              <a:path w="90608" h="18454">
                <a:moveTo>
                  <a:pt x="0" y="9227"/>
                </a:moveTo>
                <a:lnTo>
                  <a:pt x="1887" y="11615"/>
                </a:lnTo>
                <a:lnTo>
                  <a:pt x="3775" y="13841"/>
                </a:lnTo>
                <a:lnTo>
                  <a:pt x="5663" y="15752"/>
                </a:lnTo>
                <a:lnTo>
                  <a:pt x="7550" y="17218"/>
                </a:lnTo>
                <a:lnTo>
                  <a:pt x="9438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1" y="17218"/>
                </a:lnTo>
                <a:lnTo>
                  <a:pt x="16989" y="15752"/>
                </a:lnTo>
                <a:lnTo>
                  <a:pt x="18877" y="13841"/>
                </a:lnTo>
                <a:lnTo>
                  <a:pt x="20764" y="11615"/>
                </a:lnTo>
                <a:lnTo>
                  <a:pt x="22652" y="9227"/>
                </a:lnTo>
                <a:lnTo>
                  <a:pt x="24540" y="6839"/>
                </a:lnTo>
                <a:lnTo>
                  <a:pt x="26427" y="4614"/>
                </a:lnTo>
                <a:lnTo>
                  <a:pt x="28315" y="2703"/>
                </a:lnTo>
                <a:lnTo>
                  <a:pt x="30203" y="1236"/>
                </a:lnTo>
                <a:lnTo>
                  <a:pt x="32090" y="314"/>
                </a:lnTo>
                <a:lnTo>
                  <a:pt x="33978" y="0"/>
                </a:lnTo>
                <a:lnTo>
                  <a:pt x="35866" y="314"/>
                </a:lnTo>
                <a:lnTo>
                  <a:pt x="37753" y="1236"/>
                </a:lnTo>
                <a:lnTo>
                  <a:pt x="39641" y="2703"/>
                </a:lnTo>
                <a:lnTo>
                  <a:pt x="41529" y="4614"/>
                </a:lnTo>
                <a:lnTo>
                  <a:pt x="43416" y="6839"/>
                </a:lnTo>
                <a:lnTo>
                  <a:pt x="45304" y="9227"/>
                </a:lnTo>
                <a:lnTo>
                  <a:pt x="47192" y="11615"/>
                </a:lnTo>
                <a:lnTo>
                  <a:pt x="49079" y="13841"/>
                </a:lnTo>
                <a:lnTo>
                  <a:pt x="50967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0" y="18454"/>
                </a:lnTo>
                <a:lnTo>
                  <a:pt x="58518" y="18140"/>
                </a:lnTo>
                <a:lnTo>
                  <a:pt x="60406" y="17218"/>
                </a:lnTo>
                <a:lnTo>
                  <a:pt x="62293" y="15752"/>
                </a:lnTo>
                <a:lnTo>
                  <a:pt x="64181" y="13841"/>
                </a:lnTo>
                <a:lnTo>
                  <a:pt x="66069" y="11615"/>
                </a:lnTo>
                <a:lnTo>
                  <a:pt x="67956" y="9227"/>
                </a:lnTo>
                <a:lnTo>
                  <a:pt x="69844" y="6839"/>
                </a:lnTo>
                <a:lnTo>
                  <a:pt x="71732" y="4614"/>
                </a:lnTo>
                <a:lnTo>
                  <a:pt x="73619" y="2703"/>
                </a:lnTo>
                <a:lnTo>
                  <a:pt x="75507" y="1236"/>
                </a:lnTo>
                <a:lnTo>
                  <a:pt x="77395" y="314"/>
                </a:lnTo>
                <a:lnTo>
                  <a:pt x="79282" y="0"/>
                </a:lnTo>
                <a:lnTo>
                  <a:pt x="81170" y="314"/>
                </a:lnTo>
                <a:lnTo>
                  <a:pt x="83058" y="1236"/>
                </a:lnTo>
                <a:lnTo>
                  <a:pt x="84945" y="2703"/>
                </a:lnTo>
                <a:lnTo>
                  <a:pt x="86833" y="4614"/>
                </a:lnTo>
                <a:lnTo>
                  <a:pt x="88721" y="6839"/>
                </a:lnTo>
                <a:lnTo>
                  <a:pt x="90608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 TCO absorption 3L"/>
          <p:cNvSpPr/>
          <p:nvPr/>
        </p:nvSpPr>
        <p:spPr>
          <a:xfrm>
            <a:off x="9882710" y="5261042"/>
            <a:ext cx="90609" cy="18454"/>
          </a:xfrm>
          <a:custGeom>
            <a:avLst/>
            <a:gdLst/>
            <a:ahLst/>
            <a:cxnLst/>
            <a:rect l="l" t="t" r="r" b="b"/>
            <a:pathLst>
              <a:path w="90609" h="18454">
                <a:moveTo>
                  <a:pt x="0" y="9227"/>
                </a:moveTo>
                <a:lnTo>
                  <a:pt x="1888" y="11615"/>
                </a:lnTo>
                <a:lnTo>
                  <a:pt x="3776" y="13841"/>
                </a:lnTo>
                <a:lnTo>
                  <a:pt x="5663" y="15752"/>
                </a:lnTo>
                <a:lnTo>
                  <a:pt x="7551" y="17218"/>
                </a:lnTo>
                <a:lnTo>
                  <a:pt x="9439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2" y="17218"/>
                </a:lnTo>
                <a:lnTo>
                  <a:pt x="16990" y="15752"/>
                </a:lnTo>
                <a:lnTo>
                  <a:pt x="18877" y="13841"/>
                </a:lnTo>
                <a:lnTo>
                  <a:pt x="20765" y="11615"/>
                </a:lnTo>
                <a:lnTo>
                  <a:pt x="22653" y="9227"/>
                </a:lnTo>
                <a:lnTo>
                  <a:pt x="24540" y="6839"/>
                </a:lnTo>
                <a:lnTo>
                  <a:pt x="26428" y="4614"/>
                </a:lnTo>
                <a:lnTo>
                  <a:pt x="28316" y="2703"/>
                </a:lnTo>
                <a:lnTo>
                  <a:pt x="30203" y="1236"/>
                </a:lnTo>
                <a:lnTo>
                  <a:pt x="32091" y="314"/>
                </a:lnTo>
                <a:lnTo>
                  <a:pt x="33979" y="0"/>
                </a:lnTo>
                <a:lnTo>
                  <a:pt x="35866" y="314"/>
                </a:lnTo>
                <a:lnTo>
                  <a:pt x="37754" y="1236"/>
                </a:lnTo>
                <a:lnTo>
                  <a:pt x="39642" y="2703"/>
                </a:lnTo>
                <a:lnTo>
                  <a:pt x="41529" y="4614"/>
                </a:lnTo>
                <a:lnTo>
                  <a:pt x="43417" y="6839"/>
                </a:lnTo>
                <a:lnTo>
                  <a:pt x="45305" y="9227"/>
                </a:lnTo>
                <a:lnTo>
                  <a:pt x="47192" y="11615"/>
                </a:lnTo>
                <a:lnTo>
                  <a:pt x="49080" y="13841"/>
                </a:lnTo>
                <a:lnTo>
                  <a:pt x="50968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1" y="18454"/>
                </a:lnTo>
                <a:lnTo>
                  <a:pt x="58519" y="18140"/>
                </a:lnTo>
                <a:lnTo>
                  <a:pt x="60406" y="17218"/>
                </a:lnTo>
                <a:lnTo>
                  <a:pt x="62294" y="15752"/>
                </a:lnTo>
                <a:lnTo>
                  <a:pt x="64182" y="13841"/>
                </a:lnTo>
                <a:lnTo>
                  <a:pt x="66069" y="11615"/>
                </a:lnTo>
                <a:lnTo>
                  <a:pt x="67957" y="9227"/>
                </a:lnTo>
                <a:lnTo>
                  <a:pt x="69845" y="6839"/>
                </a:lnTo>
                <a:lnTo>
                  <a:pt x="71732" y="4614"/>
                </a:lnTo>
                <a:lnTo>
                  <a:pt x="73620" y="2703"/>
                </a:lnTo>
                <a:lnTo>
                  <a:pt x="75508" y="1236"/>
                </a:lnTo>
                <a:lnTo>
                  <a:pt x="77395" y="314"/>
                </a:lnTo>
                <a:lnTo>
                  <a:pt x="79283" y="0"/>
                </a:lnTo>
                <a:lnTo>
                  <a:pt x="81171" y="314"/>
                </a:lnTo>
                <a:lnTo>
                  <a:pt x="83058" y="1236"/>
                </a:lnTo>
                <a:lnTo>
                  <a:pt x="84946" y="2703"/>
                </a:lnTo>
                <a:lnTo>
                  <a:pt x="86834" y="4614"/>
                </a:lnTo>
                <a:lnTo>
                  <a:pt x="88721" y="6839"/>
                </a:lnTo>
                <a:lnTo>
                  <a:pt x="90609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 TCO absorption 3R"/>
          <p:cNvSpPr/>
          <p:nvPr/>
        </p:nvSpPr>
        <p:spPr>
          <a:xfrm>
            <a:off x="10281721" y="5261042"/>
            <a:ext cx="90609" cy="18454"/>
          </a:xfrm>
          <a:custGeom>
            <a:avLst/>
            <a:gdLst/>
            <a:ahLst/>
            <a:cxnLst/>
            <a:rect l="l" t="t" r="r" b="b"/>
            <a:pathLst>
              <a:path w="90609" h="18454">
                <a:moveTo>
                  <a:pt x="0" y="9227"/>
                </a:moveTo>
                <a:lnTo>
                  <a:pt x="1888" y="11615"/>
                </a:lnTo>
                <a:lnTo>
                  <a:pt x="3776" y="13841"/>
                </a:lnTo>
                <a:lnTo>
                  <a:pt x="5663" y="15752"/>
                </a:lnTo>
                <a:lnTo>
                  <a:pt x="7551" y="17218"/>
                </a:lnTo>
                <a:lnTo>
                  <a:pt x="9439" y="18140"/>
                </a:lnTo>
                <a:lnTo>
                  <a:pt x="11326" y="18454"/>
                </a:lnTo>
                <a:lnTo>
                  <a:pt x="13214" y="18140"/>
                </a:lnTo>
                <a:lnTo>
                  <a:pt x="15102" y="17218"/>
                </a:lnTo>
                <a:lnTo>
                  <a:pt x="16989" y="15752"/>
                </a:lnTo>
                <a:lnTo>
                  <a:pt x="18877" y="13841"/>
                </a:lnTo>
                <a:lnTo>
                  <a:pt x="20765" y="11615"/>
                </a:lnTo>
                <a:lnTo>
                  <a:pt x="22652" y="9227"/>
                </a:lnTo>
                <a:lnTo>
                  <a:pt x="24540" y="6839"/>
                </a:lnTo>
                <a:lnTo>
                  <a:pt x="26428" y="4614"/>
                </a:lnTo>
                <a:lnTo>
                  <a:pt x="28316" y="2703"/>
                </a:lnTo>
                <a:lnTo>
                  <a:pt x="30203" y="1236"/>
                </a:lnTo>
                <a:lnTo>
                  <a:pt x="32091" y="314"/>
                </a:lnTo>
                <a:lnTo>
                  <a:pt x="33979" y="0"/>
                </a:lnTo>
                <a:lnTo>
                  <a:pt x="35866" y="314"/>
                </a:lnTo>
                <a:lnTo>
                  <a:pt x="37754" y="1236"/>
                </a:lnTo>
                <a:lnTo>
                  <a:pt x="39642" y="2703"/>
                </a:lnTo>
                <a:lnTo>
                  <a:pt x="41529" y="4614"/>
                </a:lnTo>
                <a:lnTo>
                  <a:pt x="43417" y="6839"/>
                </a:lnTo>
                <a:lnTo>
                  <a:pt x="45305" y="9227"/>
                </a:lnTo>
                <a:lnTo>
                  <a:pt x="47192" y="11615"/>
                </a:lnTo>
                <a:lnTo>
                  <a:pt x="49080" y="13841"/>
                </a:lnTo>
                <a:lnTo>
                  <a:pt x="50968" y="15752"/>
                </a:lnTo>
                <a:lnTo>
                  <a:pt x="52855" y="17218"/>
                </a:lnTo>
                <a:lnTo>
                  <a:pt x="54743" y="18140"/>
                </a:lnTo>
                <a:lnTo>
                  <a:pt x="56631" y="18454"/>
                </a:lnTo>
                <a:lnTo>
                  <a:pt x="58518" y="18140"/>
                </a:lnTo>
                <a:lnTo>
                  <a:pt x="60406" y="17218"/>
                </a:lnTo>
                <a:lnTo>
                  <a:pt x="62294" y="15752"/>
                </a:lnTo>
                <a:lnTo>
                  <a:pt x="64181" y="13841"/>
                </a:lnTo>
                <a:lnTo>
                  <a:pt x="66069" y="11615"/>
                </a:lnTo>
                <a:lnTo>
                  <a:pt x="67957" y="9227"/>
                </a:lnTo>
                <a:lnTo>
                  <a:pt x="69845" y="6839"/>
                </a:lnTo>
                <a:lnTo>
                  <a:pt x="71732" y="4614"/>
                </a:lnTo>
                <a:lnTo>
                  <a:pt x="73620" y="2703"/>
                </a:lnTo>
                <a:lnTo>
                  <a:pt x="75508" y="1236"/>
                </a:lnTo>
                <a:lnTo>
                  <a:pt x="77395" y="314"/>
                </a:lnTo>
                <a:lnTo>
                  <a:pt x="79283" y="0"/>
                </a:lnTo>
                <a:lnTo>
                  <a:pt x="81171" y="314"/>
                </a:lnTo>
                <a:lnTo>
                  <a:pt x="83058" y="1236"/>
                </a:lnTo>
                <a:lnTo>
                  <a:pt x="84946" y="2703"/>
                </a:lnTo>
                <a:lnTo>
                  <a:pt x="86834" y="4614"/>
                </a:lnTo>
                <a:lnTo>
                  <a:pt x="88721" y="6839"/>
                </a:lnTo>
                <a:lnTo>
                  <a:pt x="90609" y="9227"/>
                </a:lnTo>
              </a:path>
            </a:pathLst>
          </a:custGeom>
          <a:noFill/>
          <a:ln w="7856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R ray emit"/>
          <p:cNvCxnSpPr/>
          <p:nvPr/>
        </p:nvCxnSpPr>
        <p:spPr>
          <a:xfrm flipV="1">
            <a:off x="4276192" y="4488873"/>
            <a:ext cx="863692" cy="863692"/>
          </a:xfrm>
          <a:prstGeom prst="line">
            <a:avLst/>
          </a:prstGeom>
          <a:ln w="7897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R ray down 1"/>
          <p:cNvCxnSpPr/>
          <p:nvPr/>
        </p:nvCxnSpPr>
        <p:spPr>
          <a:xfrm>
            <a:off x="5216361" y="4565350"/>
            <a:ext cx="867849" cy="867849"/>
          </a:xfrm>
          <a:prstGeom prst="line">
            <a:avLst/>
          </a:prstGeom>
          <a:ln w="6043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R ray up 1"/>
          <p:cNvCxnSpPr/>
          <p:nvPr/>
        </p:nvCxnSpPr>
        <p:spPr>
          <a:xfrm flipV="1">
            <a:off x="6190613" y="4488873"/>
            <a:ext cx="944325" cy="944326"/>
          </a:xfrm>
          <a:prstGeom prst="line">
            <a:avLst/>
          </a:prstGeom>
          <a:ln w="5908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R ray down 2"/>
          <p:cNvCxnSpPr/>
          <p:nvPr/>
        </p:nvCxnSpPr>
        <p:spPr>
          <a:xfrm>
            <a:off x="7211416" y="4565350"/>
            <a:ext cx="867848" cy="867849"/>
          </a:xfrm>
          <a:prstGeom prst="line">
            <a:avLst/>
          </a:prstGeom>
          <a:ln w="4521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R ray up 2"/>
          <p:cNvCxnSpPr/>
          <p:nvPr/>
        </p:nvCxnSpPr>
        <p:spPr>
          <a:xfrm flipV="1">
            <a:off x="8185667" y="4488873"/>
            <a:ext cx="944326" cy="944326"/>
          </a:xfrm>
          <a:prstGeom prst="line">
            <a:avLst/>
          </a:prstGeom>
          <a:ln w="4420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R ray down 3"/>
          <p:cNvCxnSpPr/>
          <p:nvPr/>
        </p:nvCxnSpPr>
        <p:spPr>
          <a:xfrm>
            <a:off x="9206470" y="4565350"/>
            <a:ext cx="867849" cy="867849"/>
          </a:xfrm>
          <a:prstGeom prst="line">
            <a:avLst/>
          </a:prstGeom>
          <a:ln w="3382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R ray up 3"/>
          <p:cNvCxnSpPr/>
          <p:nvPr/>
        </p:nvCxnSpPr>
        <p:spPr>
          <a:xfrm flipV="1">
            <a:off x="10180722" y="4488873"/>
            <a:ext cx="944326" cy="944326"/>
          </a:xfrm>
          <a:prstGeom prst="line">
            <a:avLst/>
          </a:prstGeom>
          <a:ln w="3306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R ray continues"/>
          <p:cNvCxnSpPr/>
          <p:nvPr/>
        </p:nvCxnSpPr>
        <p:spPr>
          <a:xfrm>
            <a:off x="11199862" y="4563687"/>
            <a:ext cx="174567" cy="174568"/>
          </a:xfrm>
          <a:prstGeom prst="line">
            <a:avLst/>
          </a:prstGeom>
          <a:ln w="25306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R outcoupled 1-1"/>
          <p:cNvCxnSpPr/>
          <p:nvPr/>
        </p:nvCxnSpPr>
        <p:spPr>
          <a:xfrm flipH="1" flipV="1">
            <a:off x="4626090" y="3862873"/>
            <a:ext cx="389103" cy="410029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R outcoupled 1-2"/>
          <p:cNvCxnSpPr/>
          <p:nvPr/>
        </p:nvCxnSpPr>
        <p:spPr>
          <a:xfrm flipH="1" flipV="1">
            <a:off x="5035273" y="3588985"/>
            <a:ext cx="82876" cy="651455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R outcoupled 1-3"/>
          <p:cNvCxnSpPr/>
          <p:nvPr/>
        </p:nvCxnSpPr>
        <p:spPr>
          <a:xfrm flipV="1">
            <a:off x="5233304" y="3763641"/>
            <a:ext cx="307493" cy="494009"/>
          </a:xfrm>
          <a:prstGeom prst="line">
            <a:avLst/>
          </a:prstGeom>
          <a:ln w="4343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R outcoupled 2-1"/>
          <p:cNvCxnSpPr/>
          <p:nvPr/>
        </p:nvCxnSpPr>
        <p:spPr>
          <a:xfrm flipH="1" flipV="1">
            <a:off x="6621144" y="3862873"/>
            <a:ext cx="389103" cy="410029"/>
          </a:xfrm>
          <a:prstGeom prst="line">
            <a:avLst/>
          </a:prstGeom>
          <a:ln w="3249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R outcoupled 2-2"/>
          <p:cNvCxnSpPr/>
          <p:nvPr/>
        </p:nvCxnSpPr>
        <p:spPr>
          <a:xfrm flipH="1" flipV="1">
            <a:off x="7030328" y="3588985"/>
            <a:ext cx="82875" cy="651455"/>
          </a:xfrm>
          <a:prstGeom prst="line">
            <a:avLst/>
          </a:prstGeom>
          <a:ln w="3249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R outcoupled 2-3"/>
          <p:cNvCxnSpPr/>
          <p:nvPr/>
        </p:nvCxnSpPr>
        <p:spPr>
          <a:xfrm flipV="1">
            <a:off x="7228358" y="3763641"/>
            <a:ext cx="307494" cy="494009"/>
          </a:xfrm>
          <a:prstGeom prst="line">
            <a:avLst/>
          </a:prstGeom>
          <a:ln w="3249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R outcoupled 3-1"/>
          <p:cNvCxnSpPr/>
          <p:nvPr/>
        </p:nvCxnSpPr>
        <p:spPr>
          <a:xfrm flipH="1" flipV="1">
            <a:off x="8616199" y="3862873"/>
            <a:ext cx="389103" cy="410029"/>
          </a:xfrm>
          <a:prstGeom prst="line">
            <a:avLst/>
          </a:prstGeom>
          <a:ln w="2431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R outcoupled 3-2"/>
          <p:cNvCxnSpPr/>
          <p:nvPr/>
        </p:nvCxnSpPr>
        <p:spPr>
          <a:xfrm flipH="1" flipV="1">
            <a:off x="9025382" y="3588985"/>
            <a:ext cx="82876" cy="651455"/>
          </a:xfrm>
          <a:prstGeom prst="line">
            <a:avLst/>
          </a:prstGeom>
          <a:ln w="2431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R outcoupled 3-3"/>
          <p:cNvCxnSpPr/>
          <p:nvPr/>
        </p:nvCxnSpPr>
        <p:spPr>
          <a:xfrm flipV="1">
            <a:off x="9223413" y="3763641"/>
            <a:ext cx="307493" cy="494009"/>
          </a:xfrm>
          <a:prstGeom prst="line">
            <a:avLst/>
          </a:prstGeom>
          <a:ln w="2431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R outcoupled 4-1"/>
          <p:cNvCxnSpPr/>
          <p:nvPr/>
        </p:nvCxnSpPr>
        <p:spPr>
          <a:xfrm flipH="1" flipV="1">
            <a:off x="10611254" y="3862873"/>
            <a:ext cx="389103" cy="410029"/>
          </a:xfrm>
          <a:prstGeom prst="line">
            <a:avLst/>
          </a:prstGeom>
          <a:ln w="1818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R outcoupled 4-2"/>
          <p:cNvCxnSpPr/>
          <p:nvPr/>
        </p:nvCxnSpPr>
        <p:spPr>
          <a:xfrm flipH="1" flipV="1">
            <a:off x="11020437" y="3588985"/>
            <a:ext cx="82875" cy="651455"/>
          </a:xfrm>
          <a:prstGeom prst="line">
            <a:avLst/>
          </a:prstGeom>
          <a:ln w="1818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R outcoupled 4-3"/>
          <p:cNvCxnSpPr/>
          <p:nvPr/>
        </p:nvCxnSpPr>
        <p:spPr>
          <a:xfrm flipV="1">
            <a:off x="11218468" y="3763641"/>
            <a:ext cx="307493" cy="494009"/>
          </a:xfrm>
          <a:prstGeom prst="line">
            <a:avLst/>
          </a:prstGeom>
          <a:ln w="1818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 ohmic loss 1L"/>
          <p:cNvSpPr/>
          <p:nvPr/>
        </p:nvSpPr>
        <p:spPr>
          <a:xfrm>
            <a:off x="5995302" y="5418433"/>
            <a:ext cx="106287" cy="36337"/>
          </a:xfrm>
          <a:custGeom>
            <a:avLst/>
            <a:gdLst/>
            <a:ahLst/>
            <a:cxnLst/>
            <a:rect l="l" t="t" r="r" b="b"/>
            <a:pathLst>
              <a:path w="106287" h="36337">
                <a:moveTo>
                  <a:pt x="106287" y="18091"/>
                </a:moveTo>
                <a:lnTo>
                  <a:pt x="104072" y="23956"/>
                </a:lnTo>
                <a:lnTo>
                  <a:pt x="101858" y="29198"/>
                </a:lnTo>
                <a:lnTo>
                  <a:pt x="99644" y="33262"/>
                </a:lnTo>
                <a:lnTo>
                  <a:pt x="97429" y="35716"/>
                </a:lnTo>
                <a:lnTo>
                  <a:pt x="95215" y="36298"/>
                </a:lnTo>
                <a:lnTo>
                  <a:pt x="93001" y="34948"/>
                </a:lnTo>
                <a:lnTo>
                  <a:pt x="90786" y="31809"/>
                </a:lnTo>
                <a:lnTo>
                  <a:pt x="88572" y="27214"/>
                </a:lnTo>
                <a:lnTo>
                  <a:pt x="86358" y="21650"/>
                </a:lnTo>
                <a:lnTo>
                  <a:pt x="84144" y="15709"/>
                </a:lnTo>
                <a:lnTo>
                  <a:pt x="81929" y="10020"/>
                </a:lnTo>
                <a:lnTo>
                  <a:pt x="79715" y="5188"/>
                </a:lnTo>
                <a:lnTo>
                  <a:pt x="77501" y="1726"/>
                </a:lnTo>
                <a:lnTo>
                  <a:pt x="75286" y="0"/>
                </a:lnTo>
                <a:lnTo>
                  <a:pt x="73072" y="195"/>
                </a:lnTo>
                <a:lnTo>
                  <a:pt x="70858" y="2289"/>
                </a:lnTo>
                <a:lnTo>
                  <a:pt x="68643" y="6060"/>
                </a:lnTo>
                <a:lnTo>
                  <a:pt x="66429" y="11108"/>
                </a:lnTo>
                <a:lnTo>
                  <a:pt x="64215" y="16897"/>
                </a:lnTo>
                <a:lnTo>
                  <a:pt x="62001" y="22813"/>
                </a:lnTo>
                <a:lnTo>
                  <a:pt x="59786" y="28228"/>
                </a:lnTo>
                <a:lnTo>
                  <a:pt x="57572" y="32567"/>
                </a:lnTo>
                <a:lnTo>
                  <a:pt x="55358" y="35369"/>
                </a:lnTo>
                <a:lnTo>
                  <a:pt x="53143" y="36337"/>
                </a:lnTo>
                <a:lnTo>
                  <a:pt x="50929" y="35369"/>
                </a:lnTo>
                <a:lnTo>
                  <a:pt x="48715" y="32567"/>
                </a:lnTo>
                <a:lnTo>
                  <a:pt x="46500" y="28228"/>
                </a:lnTo>
                <a:lnTo>
                  <a:pt x="44286" y="22813"/>
                </a:lnTo>
                <a:lnTo>
                  <a:pt x="42072" y="16897"/>
                </a:lnTo>
                <a:lnTo>
                  <a:pt x="39858" y="11108"/>
                </a:lnTo>
                <a:lnTo>
                  <a:pt x="37643" y="6060"/>
                </a:lnTo>
                <a:lnTo>
                  <a:pt x="35429" y="2289"/>
                </a:lnTo>
                <a:lnTo>
                  <a:pt x="33215" y="195"/>
                </a:lnTo>
                <a:lnTo>
                  <a:pt x="31000" y="0"/>
                </a:lnTo>
                <a:lnTo>
                  <a:pt x="28786" y="1726"/>
                </a:lnTo>
                <a:lnTo>
                  <a:pt x="26572" y="5188"/>
                </a:lnTo>
                <a:lnTo>
                  <a:pt x="24357" y="10020"/>
                </a:lnTo>
                <a:lnTo>
                  <a:pt x="22143" y="15709"/>
                </a:lnTo>
                <a:lnTo>
                  <a:pt x="19929" y="21650"/>
                </a:lnTo>
                <a:lnTo>
                  <a:pt x="17714" y="27214"/>
                </a:lnTo>
                <a:lnTo>
                  <a:pt x="15500" y="31809"/>
                </a:lnTo>
                <a:lnTo>
                  <a:pt x="13286" y="34948"/>
                </a:lnTo>
                <a:lnTo>
                  <a:pt x="11072" y="36298"/>
                </a:lnTo>
                <a:lnTo>
                  <a:pt x="8857" y="35716"/>
                </a:lnTo>
                <a:lnTo>
                  <a:pt x="6643" y="33262"/>
                </a:lnTo>
                <a:lnTo>
                  <a:pt x="4429" y="29198"/>
                </a:lnTo>
                <a:lnTo>
                  <a:pt x="2214" y="23956"/>
                </a:lnTo>
                <a:lnTo>
                  <a:pt x="0" y="18091"/>
                </a:lnTo>
              </a:path>
            </a:pathLst>
          </a:custGeom>
          <a:noFill/>
          <a:ln w="13815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 ohmic loss 1R"/>
          <p:cNvSpPr/>
          <p:nvPr/>
        </p:nvSpPr>
        <p:spPr>
          <a:xfrm>
            <a:off x="6173234" y="5418433"/>
            <a:ext cx="106286" cy="36337"/>
          </a:xfrm>
          <a:custGeom>
            <a:avLst/>
            <a:gdLst/>
            <a:ahLst/>
            <a:cxnLst/>
            <a:rect l="l" t="t" r="r" b="b"/>
            <a:pathLst>
              <a:path w="106286" h="36337">
                <a:moveTo>
                  <a:pt x="0" y="18091"/>
                </a:moveTo>
                <a:lnTo>
                  <a:pt x="2214" y="23956"/>
                </a:lnTo>
                <a:lnTo>
                  <a:pt x="4428" y="29198"/>
                </a:lnTo>
                <a:lnTo>
                  <a:pt x="6643" y="33262"/>
                </a:lnTo>
                <a:lnTo>
                  <a:pt x="8857" y="35716"/>
                </a:lnTo>
                <a:lnTo>
                  <a:pt x="11071" y="36298"/>
                </a:lnTo>
                <a:lnTo>
                  <a:pt x="13285" y="34948"/>
                </a:lnTo>
                <a:lnTo>
                  <a:pt x="15500" y="31809"/>
                </a:lnTo>
                <a:lnTo>
                  <a:pt x="17714" y="27214"/>
                </a:lnTo>
                <a:lnTo>
                  <a:pt x="19928" y="21650"/>
                </a:lnTo>
                <a:lnTo>
                  <a:pt x="22143" y="15709"/>
                </a:lnTo>
                <a:lnTo>
                  <a:pt x="24357" y="10020"/>
                </a:lnTo>
                <a:lnTo>
                  <a:pt x="26571" y="5188"/>
                </a:lnTo>
                <a:lnTo>
                  <a:pt x="28786" y="1726"/>
                </a:lnTo>
                <a:lnTo>
                  <a:pt x="31000" y="0"/>
                </a:lnTo>
                <a:lnTo>
                  <a:pt x="33214" y="195"/>
                </a:lnTo>
                <a:lnTo>
                  <a:pt x="35429" y="2289"/>
                </a:lnTo>
                <a:lnTo>
                  <a:pt x="37643" y="6060"/>
                </a:lnTo>
                <a:lnTo>
                  <a:pt x="39857" y="11108"/>
                </a:lnTo>
                <a:lnTo>
                  <a:pt x="42071" y="16897"/>
                </a:lnTo>
                <a:lnTo>
                  <a:pt x="44286" y="22813"/>
                </a:lnTo>
                <a:lnTo>
                  <a:pt x="46500" y="28228"/>
                </a:lnTo>
                <a:lnTo>
                  <a:pt x="48714" y="32567"/>
                </a:lnTo>
                <a:lnTo>
                  <a:pt x="50929" y="35369"/>
                </a:lnTo>
                <a:lnTo>
                  <a:pt x="53143" y="36337"/>
                </a:lnTo>
                <a:lnTo>
                  <a:pt x="55357" y="35369"/>
                </a:lnTo>
                <a:lnTo>
                  <a:pt x="57572" y="32567"/>
                </a:lnTo>
                <a:lnTo>
                  <a:pt x="59786" y="28228"/>
                </a:lnTo>
                <a:lnTo>
                  <a:pt x="62000" y="22813"/>
                </a:lnTo>
                <a:lnTo>
                  <a:pt x="64214" y="16897"/>
                </a:lnTo>
                <a:lnTo>
                  <a:pt x="66429" y="11108"/>
                </a:lnTo>
                <a:lnTo>
                  <a:pt x="68643" y="6060"/>
                </a:lnTo>
                <a:lnTo>
                  <a:pt x="70857" y="2289"/>
                </a:lnTo>
                <a:lnTo>
                  <a:pt x="73072" y="195"/>
                </a:lnTo>
                <a:lnTo>
                  <a:pt x="75286" y="0"/>
                </a:lnTo>
                <a:lnTo>
                  <a:pt x="77500" y="1726"/>
                </a:lnTo>
                <a:lnTo>
                  <a:pt x="79715" y="5188"/>
                </a:lnTo>
                <a:lnTo>
                  <a:pt x="81929" y="10020"/>
                </a:lnTo>
                <a:lnTo>
                  <a:pt x="84143" y="15709"/>
                </a:lnTo>
                <a:lnTo>
                  <a:pt x="86357" y="21650"/>
                </a:lnTo>
                <a:lnTo>
                  <a:pt x="88572" y="27214"/>
                </a:lnTo>
                <a:lnTo>
                  <a:pt x="90786" y="31809"/>
                </a:lnTo>
                <a:lnTo>
                  <a:pt x="93000" y="34948"/>
                </a:lnTo>
                <a:lnTo>
                  <a:pt x="95215" y="36298"/>
                </a:lnTo>
                <a:lnTo>
                  <a:pt x="97429" y="35716"/>
                </a:lnTo>
                <a:lnTo>
                  <a:pt x="99643" y="33262"/>
                </a:lnTo>
                <a:lnTo>
                  <a:pt x="101858" y="29198"/>
                </a:lnTo>
                <a:lnTo>
                  <a:pt x="104072" y="23956"/>
                </a:lnTo>
                <a:lnTo>
                  <a:pt x="106286" y="18091"/>
                </a:lnTo>
              </a:path>
            </a:pathLst>
          </a:custGeom>
          <a:noFill/>
          <a:ln w="13815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 absorption burst 1"/>
          <p:cNvSpPr/>
          <p:nvPr/>
        </p:nvSpPr>
        <p:spPr>
          <a:xfrm>
            <a:off x="6093276" y="5442265"/>
            <a:ext cx="88271" cy="88271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869"/>
            </a:srgbClr>
          </a:solidFill>
          <a:ln w="8313">
            <a:solidFill>
              <a:srgbClr val="E64B35">
                <a:alpha val="5386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 ohmic loss 2L"/>
          <p:cNvSpPr/>
          <p:nvPr/>
        </p:nvSpPr>
        <p:spPr>
          <a:xfrm>
            <a:off x="8001764" y="5418949"/>
            <a:ext cx="98856" cy="35301"/>
          </a:xfrm>
          <a:custGeom>
            <a:avLst/>
            <a:gdLst/>
            <a:ahLst/>
            <a:cxnLst/>
            <a:rect l="l" t="t" r="r" b="b"/>
            <a:pathLst>
              <a:path w="98856" h="35301">
                <a:moveTo>
                  <a:pt x="98856" y="17575"/>
                </a:moveTo>
                <a:lnTo>
                  <a:pt x="96797" y="23273"/>
                </a:lnTo>
                <a:lnTo>
                  <a:pt x="94737" y="28366"/>
                </a:lnTo>
                <a:lnTo>
                  <a:pt x="92678" y="32314"/>
                </a:lnTo>
                <a:lnTo>
                  <a:pt x="90618" y="34697"/>
                </a:lnTo>
                <a:lnTo>
                  <a:pt x="88559" y="35263"/>
                </a:lnTo>
                <a:lnTo>
                  <a:pt x="86499" y="33952"/>
                </a:lnTo>
                <a:lnTo>
                  <a:pt x="84440" y="30902"/>
                </a:lnTo>
                <a:lnTo>
                  <a:pt x="82380" y="26438"/>
                </a:lnTo>
                <a:lnTo>
                  <a:pt x="80321" y="21033"/>
                </a:lnTo>
                <a:lnTo>
                  <a:pt x="78261" y="15261"/>
                </a:lnTo>
                <a:lnTo>
                  <a:pt x="76202" y="9734"/>
                </a:lnTo>
                <a:lnTo>
                  <a:pt x="74142" y="5040"/>
                </a:lnTo>
                <a:lnTo>
                  <a:pt x="72083" y="1676"/>
                </a:lnTo>
                <a:lnTo>
                  <a:pt x="70023" y="0"/>
                </a:lnTo>
                <a:lnTo>
                  <a:pt x="67964" y="189"/>
                </a:lnTo>
                <a:lnTo>
                  <a:pt x="65904" y="2223"/>
                </a:lnTo>
                <a:lnTo>
                  <a:pt x="63845" y="5887"/>
                </a:lnTo>
                <a:lnTo>
                  <a:pt x="61785" y="10791"/>
                </a:lnTo>
                <a:lnTo>
                  <a:pt x="59726" y="16415"/>
                </a:lnTo>
                <a:lnTo>
                  <a:pt x="57666" y="22163"/>
                </a:lnTo>
                <a:lnTo>
                  <a:pt x="55607" y="27423"/>
                </a:lnTo>
                <a:lnTo>
                  <a:pt x="53547" y="31638"/>
                </a:lnTo>
                <a:lnTo>
                  <a:pt x="51488" y="34360"/>
                </a:lnTo>
                <a:lnTo>
                  <a:pt x="49428" y="35301"/>
                </a:lnTo>
                <a:lnTo>
                  <a:pt x="47369" y="34360"/>
                </a:lnTo>
                <a:lnTo>
                  <a:pt x="45309" y="31638"/>
                </a:lnTo>
                <a:lnTo>
                  <a:pt x="43250" y="27423"/>
                </a:lnTo>
                <a:lnTo>
                  <a:pt x="41190" y="22163"/>
                </a:lnTo>
                <a:lnTo>
                  <a:pt x="39131" y="16415"/>
                </a:lnTo>
                <a:lnTo>
                  <a:pt x="37071" y="10791"/>
                </a:lnTo>
                <a:lnTo>
                  <a:pt x="35012" y="5887"/>
                </a:lnTo>
                <a:lnTo>
                  <a:pt x="32952" y="2223"/>
                </a:lnTo>
                <a:lnTo>
                  <a:pt x="30893" y="189"/>
                </a:lnTo>
                <a:lnTo>
                  <a:pt x="28833" y="0"/>
                </a:lnTo>
                <a:lnTo>
                  <a:pt x="26774" y="1676"/>
                </a:lnTo>
                <a:lnTo>
                  <a:pt x="24714" y="5040"/>
                </a:lnTo>
                <a:lnTo>
                  <a:pt x="22655" y="9734"/>
                </a:lnTo>
                <a:lnTo>
                  <a:pt x="20595" y="15261"/>
                </a:lnTo>
                <a:lnTo>
                  <a:pt x="18536" y="21033"/>
                </a:lnTo>
                <a:lnTo>
                  <a:pt x="16476" y="26438"/>
                </a:lnTo>
                <a:lnTo>
                  <a:pt x="14417" y="30902"/>
                </a:lnTo>
                <a:lnTo>
                  <a:pt x="12357" y="33952"/>
                </a:lnTo>
                <a:lnTo>
                  <a:pt x="10298" y="35263"/>
                </a:lnTo>
                <a:lnTo>
                  <a:pt x="8238" y="34697"/>
                </a:lnTo>
                <a:lnTo>
                  <a:pt x="6179" y="32314"/>
                </a:lnTo>
                <a:lnTo>
                  <a:pt x="4119" y="28366"/>
                </a:lnTo>
                <a:lnTo>
                  <a:pt x="2060" y="23273"/>
                </a:lnTo>
                <a:lnTo>
                  <a:pt x="0" y="17575"/>
                </a:lnTo>
              </a:path>
            </a:pathLst>
          </a:custGeom>
          <a:noFill/>
          <a:ln w="13019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 ohmic loss 2R"/>
          <p:cNvSpPr/>
          <p:nvPr/>
        </p:nvSpPr>
        <p:spPr>
          <a:xfrm>
            <a:off x="8164311" y="5418949"/>
            <a:ext cx="98856" cy="35301"/>
          </a:xfrm>
          <a:custGeom>
            <a:avLst/>
            <a:gdLst/>
            <a:ahLst/>
            <a:cxnLst/>
            <a:rect l="l" t="t" r="r" b="b"/>
            <a:pathLst>
              <a:path w="98856" h="35301">
                <a:moveTo>
                  <a:pt x="0" y="17575"/>
                </a:moveTo>
                <a:lnTo>
                  <a:pt x="2060" y="23273"/>
                </a:lnTo>
                <a:lnTo>
                  <a:pt x="4119" y="28366"/>
                </a:lnTo>
                <a:lnTo>
                  <a:pt x="6179" y="32314"/>
                </a:lnTo>
                <a:lnTo>
                  <a:pt x="8238" y="34697"/>
                </a:lnTo>
                <a:lnTo>
                  <a:pt x="10298" y="35263"/>
                </a:lnTo>
                <a:lnTo>
                  <a:pt x="12357" y="33952"/>
                </a:lnTo>
                <a:lnTo>
                  <a:pt x="14417" y="30902"/>
                </a:lnTo>
                <a:lnTo>
                  <a:pt x="16476" y="26438"/>
                </a:lnTo>
                <a:lnTo>
                  <a:pt x="18536" y="21033"/>
                </a:lnTo>
                <a:lnTo>
                  <a:pt x="20595" y="15261"/>
                </a:lnTo>
                <a:lnTo>
                  <a:pt x="22655" y="9734"/>
                </a:lnTo>
                <a:lnTo>
                  <a:pt x="24714" y="5040"/>
                </a:lnTo>
                <a:lnTo>
                  <a:pt x="26774" y="1676"/>
                </a:lnTo>
                <a:lnTo>
                  <a:pt x="28833" y="0"/>
                </a:lnTo>
                <a:lnTo>
                  <a:pt x="30893" y="189"/>
                </a:lnTo>
                <a:lnTo>
                  <a:pt x="32952" y="2223"/>
                </a:lnTo>
                <a:lnTo>
                  <a:pt x="35012" y="5887"/>
                </a:lnTo>
                <a:lnTo>
                  <a:pt x="37071" y="10791"/>
                </a:lnTo>
                <a:lnTo>
                  <a:pt x="39131" y="16415"/>
                </a:lnTo>
                <a:lnTo>
                  <a:pt x="41190" y="22163"/>
                </a:lnTo>
                <a:lnTo>
                  <a:pt x="43250" y="27423"/>
                </a:lnTo>
                <a:lnTo>
                  <a:pt x="45309" y="31638"/>
                </a:lnTo>
                <a:lnTo>
                  <a:pt x="47369" y="34360"/>
                </a:lnTo>
                <a:lnTo>
                  <a:pt x="49428" y="35301"/>
                </a:lnTo>
                <a:lnTo>
                  <a:pt x="51488" y="34360"/>
                </a:lnTo>
                <a:lnTo>
                  <a:pt x="53547" y="31638"/>
                </a:lnTo>
                <a:lnTo>
                  <a:pt x="55607" y="27423"/>
                </a:lnTo>
                <a:lnTo>
                  <a:pt x="57666" y="22163"/>
                </a:lnTo>
                <a:lnTo>
                  <a:pt x="59726" y="16415"/>
                </a:lnTo>
                <a:lnTo>
                  <a:pt x="61785" y="10791"/>
                </a:lnTo>
                <a:lnTo>
                  <a:pt x="63845" y="5887"/>
                </a:lnTo>
                <a:lnTo>
                  <a:pt x="65904" y="2223"/>
                </a:lnTo>
                <a:lnTo>
                  <a:pt x="67964" y="189"/>
                </a:lnTo>
                <a:lnTo>
                  <a:pt x="70023" y="0"/>
                </a:lnTo>
                <a:lnTo>
                  <a:pt x="72083" y="1676"/>
                </a:lnTo>
                <a:lnTo>
                  <a:pt x="74142" y="5040"/>
                </a:lnTo>
                <a:lnTo>
                  <a:pt x="76202" y="9734"/>
                </a:lnTo>
                <a:lnTo>
                  <a:pt x="78261" y="15261"/>
                </a:lnTo>
                <a:lnTo>
                  <a:pt x="80321" y="21033"/>
                </a:lnTo>
                <a:lnTo>
                  <a:pt x="82380" y="26438"/>
                </a:lnTo>
                <a:lnTo>
                  <a:pt x="84440" y="30902"/>
                </a:lnTo>
                <a:lnTo>
                  <a:pt x="86499" y="33952"/>
                </a:lnTo>
                <a:lnTo>
                  <a:pt x="88559" y="35263"/>
                </a:lnTo>
                <a:lnTo>
                  <a:pt x="90618" y="34697"/>
                </a:lnTo>
                <a:lnTo>
                  <a:pt x="92678" y="32314"/>
                </a:lnTo>
                <a:lnTo>
                  <a:pt x="94737" y="28366"/>
                </a:lnTo>
                <a:lnTo>
                  <a:pt x="96797" y="23273"/>
                </a:lnTo>
                <a:lnTo>
                  <a:pt x="98856" y="17575"/>
                </a:lnTo>
              </a:path>
            </a:pathLst>
          </a:custGeom>
          <a:noFill/>
          <a:ln w="13019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 absorption burst 2"/>
          <p:cNvSpPr/>
          <p:nvPr/>
        </p:nvSpPr>
        <p:spPr>
          <a:xfrm>
            <a:off x="8092307" y="5446242"/>
            <a:ext cx="80317" cy="8031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2627"/>
            </a:srgbClr>
          </a:solidFill>
          <a:ln w="8313">
            <a:solidFill>
              <a:srgbClr val="E64B35">
                <a:alpha val="52627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 ohmic loss 3L"/>
          <p:cNvSpPr/>
          <p:nvPr/>
        </p:nvSpPr>
        <p:spPr>
          <a:xfrm>
            <a:off x="10005018" y="5419299"/>
            <a:ext cx="93810" cy="34598"/>
          </a:xfrm>
          <a:custGeom>
            <a:avLst/>
            <a:gdLst/>
            <a:ahLst/>
            <a:cxnLst/>
            <a:rect l="l" t="t" r="r" b="b"/>
            <a:pathLst>
              <a:path w="93810" h="34598">
                <a:moveTo>
                  <a:pt x="93810" y="17225"/>
                </a:moveTo>
                <a:lnTo>
                  <a:pt x="91855" y="22809"/>
                </a:lnTo>
                <a:lnTo>
                  <a:pt x="89901" y="27801"/>
                </a:lnTo>
                <a:lnTo>
                  <a:pt x="87947" y="31670"/>
                </a:lnTo>
                <a:lnTo>
                  <a:pt x="85992" y="34006"/>
                </a:lnTo>
                <a:lnTo>
                  <a:pt x="84038" y="34561"/>
                </a:lnTo>
                <a:lnTo>
                  <a:pt x="82084" y="33275"/>
                </a:lnTo>
                <a:lnTo>
                  <a:pt x="80129" y="30287"/>
                </a:lnTo>
                <a:lnTo>
                  <a:pt x="78175" y="25911"/>
                </a:lnTo>
                <a:lnTo>
                  <a:pt x="76220" y="20614"/>
                </a:lnTo>
                <a:lnTo>
                  <a:pt x="74266" y="14957"/>
                </a:lnTo>
                <a:lnTo>
                  <a:pt x="72312" y="9541"/>
                </a:lnTo>
                <a:lnTo>
                  <a:pt x="70357" y="4940"/>
                </a:lnTo>
                <a:lnTo>
                  <a:pt x="68403" y="1643"/>
                </a:lnTo>
                <a:lnTo>
                  <a:pt x="66449" y="0"/>
                </a:lnTo>
                <a:lnTo>
                  <a:pt x="64494" y="185"/>
                </a:lnTo>
                <a:lnTo>
                  <a:pt x="62540" y="2179"/>
                </a:lnTo>
                <a:lnTo>
                  <a:pt x="60586" y="5770"/>
                </a:lnTo>
                <a:lnTo>
                  <a:pt x="58631" y="10576"/>
                </a:lnTo>
                <a:lnTo>
                  <a:pt x="56677" y="16088"/>
                </a:lnTo>
                <a:lnTo>
                  <a:pt x="54722" y="21721"/>
                </a:lnTo>
                <a:lnTo>
                  <a:pt x="52768" y="26877"/>
                </a:lnTo>
                <a:lnTo>
                  <a:pt x="50814" y="31008"/>
                </a:lnTo>
                <a:lnTo>
                  <a:pt x="48859" y="33676"/>
                </a:lnTo>
                <a:lnTo>
                  <a:pt x="46905" y="34598"/>
                </a:lnTo>
                <a:lnTo>
                  <a:pt x="44951" y="33676"/>
                </a:lnTo>
                <a:lnTo>
                  <a:pt x="42996" y="31008"/>
                </a:lnTo>
                <a:lnTo>
                  <a:pt x="41042" y="26877"/>
                </a:lnTo>
                <a:lnTo>
                  <a:pt x="39088" y="21721"/>
                </a:lnTo>
                <a:lnTo>
                  <a:pt x="37133" y="16088"/>
                </a:lnTo>
                <a:lnTo>
                  <a:pt x="35179" y="10576"/>
                </a:lnTo>
                <a:lnTo>
                  <a:pt x="33224" y="5770"/>
                </a:lnTo>
                <a:lnTo>
                  <a:pt x="31270" y="2179"/>
                </a:lnTo>
                <a:lnTo>
                  <a:pt x="29316" y="185"/>
                </a:lnTo>
                <a:lnTo>
                  <a:pt x="27361" y="0"/>
                </a:lnTo>
                <a:lnTo>
                  <a:pt x="25407" y="1643"/>
                </a:lnTo>
                <a:lnTo>
                  <a:pt x="23453" y="4940"/>
                </a:lnTo>
                <a:lnTo>
                  <a:pt x="21498" y="9541"/>
                </a:lnTo>
                <a:lnTo>
                  <a:pt x="19544" y="14957"/>
                </a:lnTo>
                <a:lnTo>
                  <a:pt x="17589" y="20614"/>
                </a:lnTo>
                <a:lnTo>
                  <a:pt x="15635" y="25911"/>
                </a:lnTo>
                <a:lnTo>
                  <a:pt x="13681" y="30287"/>
                </a:lnTo>
                <a:lnTo>
                  <a:pt x="11726" y="33275"/>
                </a:lnTo>
                <a:lnTo>
                  <a:pt x="9772" y="34561"/>
                </a:lnTo>
                <a:lnTo>
                  <a:pt x="7818" y="34006"/>
                </a:lnTo>
                <a:lnTo>
                  <a:pt x="5863" y="31670"/>
                </a:lnTo>
                <a:lnTo>
                  <a:pt x="3909" y="27801"/>
                </a:lnTo>
                <a:lnTo>
                  <a:pt x="1955" y="22809"/>
                </a:lnTo>
                <a:lnTo>
                  <a:pt x="0" y="17225"/>
                </a:lnTo>
              </a:path>
            </a:pathLst>
          </a:custGeom>
          <a:noFill/>
          <a:ln w="12389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 ohmic loss 3R"/>
          <p:cNvSpPr/>
          <p:nvPr/>
        </p:nvSpPr>
        <p:spPr>
          <a:xfrm>
            <a:off x="10156213" y="5419299"/>
            <a:ext cx="93809" cy="34598"/>
          </a:xfrm>
          <a:custGeom>
            <a:avLst/>
            <a:gdLst/>
            <a:ahLst/>
            <a:cxnLst/>
            <a:rect l="l" t="t" r="r" b="b"/>
            <a:pathLst>
              <a:path w="93809" h="34598">
                <a:moveTo>
                  <a:pt x="0" y="17225"/>
                </a:moveTo>
                <a:lnTo>
                  <a:pt x="1954" y="22809"/>
                </a:lnTo>
                <a:lnTo>
                  <a:pt x="3908" y="27801"/>
                </a:lnTo>
                <a:lnTo>
                  <a:pt x="5863" y="31670"/>
                </a:lnTo>
                <a:lnTo>
                  <a:pt x="7817" y="34006"/>
                </a:lnTo>
                <a:lnTo>
                  <a:pt x="9772" y="34561"/>
                </a:lnTo>
                <a:lnTo>
                  <a:pt x="11726" y="33275"/>
                </a:lnTo>
                <a:lnTo>
                  <a:pt x="13680" y="30287"/>
                </a:lnTo>
                <a:lnTo>
                  <a:pt x="15635" y="25911"/>
                </a:lnTo>
                <a:lnTo>
                  <a:pt x="17589" y="20614"/>
                </a:lnTo>
                <a:lnTo>
                  <a:pt x="19543" y="14957"/>
                </a:lnTo>
                <a:lnTo>
                  <a:pt x="21498" y="9541"/>
                </a:lnTo>
                <a:lnTo>
                  <a:pt x="23452" y="4940"/>
                </a:lnTo>
                <a:lnTo>
                  <a:pt x="25406" y="1643"/>
                </a:lnTo>
                <a:lnTo>
                  <a:pt x="27361" y="0"/>
                </a:lnTo>
                <a:lnTo>
                  <a:pt x="29315" y="185"/>
                </a:lnTo>
                <a:lnTo>
                  <a:pt x="31270" y="2179"/>
                </a:lnTo>
                <a:lnTo>
                  <a:pt x="33224" y="5770"/>
                </a:lnTo>
                <a:lnTo>
                  <a:pt x="35178" y="10576"/>
                </a:lnTo>
                <a:lnTo>
                  <a:pt x="37133" y="16088"/>
                </a:lnTo>
                <a:lnTo>
                  <a:pt x="39087" y="21721"/>
                </a:lnTo>
                <a:lnTo>
                  <a:pt x="41041" y="26877"/>
                </a:lnTo>
                <a:lnTo>
                  <a:pt x="42996" y="31008"/>
                </a:lnTo>
                <a:lnTo>
                  <a:pt x="44950" y="33676"/>
                </a:lnTo>
                <a:lnTo>
                  <a:pt x="46904" y="34598"/>
                </a:lnTo>
                <a:lnTo>
                  <a:pt x="48859" y="33676"/>
                </a:lnTo>
                <a:lnTo>
                  <a:pt x="50813" y="31008"/>
                </a:lnTo>
                <a:lnTo>
                  <a:pt x="52768" y="26877"/>
                </a:lnTo>
                <a:lnTo>
                  <a:pt x="54722" y="21721"/>
                </a:lnTo>
                <a:lnTo>
                  <a:pt x="56676" y="16088"/>
                </a:lnTo>
                <a:lnTo>
                  <a:pt x="58631" y="10576"/>
                </a:lnTo>
                <a:lnTo>
                  <a:pt x="60585" y="5770"/>
                </a:lnTo>
                <a:lnTo>
                  <a:pt x="62539" y="2179"/>
                </a:lnTo>
                <a:lnTo>
                  <a:pt x="64494" y="185"/>
                </a:lnTo>
                <a:lnTo>
                  <a:pt x="66448" y="0"/>
                </a:lnTo>
                <a:lnTo>
                  <a:pt x="68403" y="1643"/>
                </a:lnTo>
                <a:lnTo>
                  <a:pt x="70357" y="4940"/>
                </a:lnTo>
                <a:lnTo>
                  <a:pt x="72311" y="9541"/>
                </a:lnTo>
                <a:lnTo>
                  <a:pt x="74266" y="14957"/>
                </a:lnTo>
                <a:lnTo>
                  <a:pt x="76220" y="20614"/>
                </a:lnTo>
                <a:lnTo>
                  <a:pt x="78174" y="25911"/>
                </a:lnTo>
                <a:lnTo>
                  <a:pt x="80129" y="30287"/>
                </a:lnTo>
                <a:lnTo>
                  <a:pt x="82083" y="33275"/>
                </a:lnTo>
                <a:lnTo>
                  <a:pt x="84037" y="34561"/>
                </a:lnTo>
                <a:lnTo>
                  <a:pt x="85992" y="34006"/>
                </a:lnTo>
                <a:lnTo>
                  <a:pt x="87946" y="31670"/>
                </a:lnTo>
                <a:lnTo>
                  <a:pt x="89901" y="27801"/>
                </a:lnTo>
                <a:lnTo>
                  <a:pt x="91855" y="22809"/>
                </a:lnTo>
                <a:lnTo>
                  <a:pt x="93809" y="17225"/>
                </a:lnTo>
              </a:path>
            </a:pathLst>
          </a:custGeom>
          <a:noFill/>
          <a:ln w="12389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 absorption burst 3"/>
          <p:cNvSpPr/>
          <p:nvPr/>
        </p:nvSpPr>
        <p:spPr>
          <a:xfrm>
            <a:off x="10090515" y="5449395"/>
            <a:ext cx="74010" cy="7401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784"/>
            </a:srgbClr>
          </a:solidFill>
          <a:ln w="8313">
            <a:solidFill>
              <a:srgbClr val="E64B35">
                <a:alpha val="51784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 emitter"/>
          <p:cNvSpPr/>
          <p:nvPr/>
        </p:nvSpPr>
        <p:spPr>
          <a:xfrm>
            <a:off x="4146513" y="5340927"/>
            <a:ext cx="141316" cy="141316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8313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 emitter core"/>
          <p:cNvSpPr/>
          <p:nvPr/>
        </p:nvSpPr>
        <p:spPr>
          <a:xfrm>
            <a:off x="4197221" y="5391635"/>
            <a:ext cx="39901" cy="39901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itle 2"/>
          <p:cNvSpPr txBox="1"/>
          <p:nvPr/>
        </p:nvSpPr>
        <p:spPr>
          <a:xfrm>
            <a:off x="4724248" y="2998068"/>
            <a:ext cx="5818909" cy="4189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74" b="1">
                <a:solidFill>
                  <a:srgbClr val="1A1A1A"/>
                </a:solidFill>
                <a:latin typeface="Arial"/>
              </a:rPr>
              <a:t>Low loss reflector</a:t>
            </a:r>
          </a:p>
        </p:txBody>
      </p:sp>
      <p:sp>
        <p:nvSpPr>
          <p:cNvPr id="124" name="subtitle 2"/>
          <p:cNvSpPr txBox="1"/>
          <p:nvPr/>
        </p:nvSpPr>
        <p:spPr>
          <a:xfrm>
            <a:off x="5139884" y="3261582"/>
            <a:ext cx="4987636" cy="3192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47" b="0">
                <a:solidFill>
                  <a:srgbClr val="55585C"/>
                </a:solidFill>
                <a:latin typeface="Arial"/>
              </a:rPr>
              <a:t>absorption suppressed — intensity survives many round trips</a:t>
            </a:r>
          </a:p>
        </p:txBody>
      </p:sp>
      <p:sp>
        <p:nvSpPr>
          <p:cNvPr id="125" name="designrule: Low loss metal electrode"/>
          <p:cNvSpPr txBox="1"/>
          <p:nvPr/>
        </p:nvSpPr>
        <p:spPr>
          <a:xfrm>
            <a:off x="826075" y="5376347"/>
            <a:ext cx="2685011" cy="20677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78" b="0">
                <a:solidFill>
                  <a:srgbClr val="1B2026"/>
                </a:solidFill>
                <a:latin typeface="Arial"/>
              </a:rPr>
              <a:t>Low loss metal electrode</a:t>
            </a:r>
          </a:p>
        </p:txBody>
      </p:sp>
      <p:sp>
        <p:nvSpPr>
          <p:cNvPr id="126" name="designrule: Organic layer"/>
          <p:cNvSpPr txBox="1"/>
          <p:nvPr/>
        </p:nvSpPr>
        <p:spPr>
          <a:xfrm>
            <a:off x="820356" y="5182024"/>
            <a:ext cx="2685011" cy="2087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84" b="0">
                <a:solidFill>
                  <a:srgbClr val="1B2026"/>
                </a:solidFill>
                <a:latin typeface="Arial"/>
              </a:rPr>
              <a:t>Organic layer</a:t>
            </a:r>
          </a:p>
        </p:txBody>
      </p:sp>
      <p:sp>
        <p:nvSpPr>
          <p:cNvPr id="127" name="designrule: Low loss TCO"/>
          <p:cNvSpPr txBox="1"/>
          <p:nvPr/>
        </p:nvSpPr>
        <p:spPr>
          <a:xfrm>
            <a:off x="814826" y="4994218"/>
            <a:ext cx="2685011" cy="21068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91" b="0">
                <a:solidFill>
                  <a:srgbClr val="1B2026"/>
                </a:solidFill>
                <a:latin typeface="Arial"/>
              </a:rPr>
              <a:t>Low loss TCO</a:t>
            </a:r>
          </a:p>
        </p:txBody>
      </p:sp>
      <p:sp>
        <p:nvSpPr>
          <p:cNvPr id="128" name="designrule: Glass"/>
          <p:cNvSpPr txBox="1"/>
          <p:nvPr/>
        </p:nvSpPr>
        <p:spPr>
          <a:xfrm>
            <a:off x="809619" y="4817366"/>
            <a:ext cx="2685011" cy="2124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97" b="0">
                <a:solidFill>
                  <a:srgbClr val="1B2026"/>
                </a:solidFill>
                <a:latin typeface="Arial"/>
              </a:rPr>
              <a:t>Glass</a:t>
            </a:r>
          </a:p>
        </p:txBody>
      </p:sp>
      <p:sp>
        <p:nvSpPr>
          <p:cNvPr id="129" name="designrule: Outcoupling structure"/>
          <p:cNvSpPr txBox="1"/>
          <p:nvPr/>
        </p:nvSpPr>
        <p:spPr>
          <a:xfrm>
            <a:off x="804368" y="4638971"/>
            <a:ext cx="2685011" cy="21435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3" b="0">
                <a:solidFill>
                  <a:srgbClr val="1B2026"/>
                </a:solidFill>
                <a:latin typeface="Arial"/>
              </a:rPr>
              <a:t>Outcoupling structure</a:t>
            </a:r>
          </a:p>
        </p:txBody>
      </p:sp>
      <p:sp>
        <p:nvSpPr>
          <p:cNvPr id="130" name="legend swatch: Outcoupling structure / Glass substrate"/>
          <p:cNvSpPr/>
          <p:nvPr/>
        </p:nvSpPr>
        <p:spPr>
          <a:xfrm>
            <a:off x="651011" y="6342611"/>
            <a:ext cx="182880" cy="116378"/>
          </a:xfrm>
          <a:prstGeom prst="rect">
            <a:avLst/>
          </a:prstGeom>
          <a:solidFill>
            <a:srgbClr val="EAF1F6"/>
          </a:solidFill>
          <a:ln w="8312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legend text: Outcoupling structure / Glass substrate"/>
          <p:cNvSpPr txBox="1"/>
          <p:nvPr/>
        </p:nvSpPr>
        <p:spPr>
          <a:xfrm>
            <a:off x="908706" y="6263141"/>
            <a:ext cx="3491345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Outcoupling structure / Glass substrate</a:t>
            </a:r>
          </a:p>
        </p:txBody>
      </p:sp>
      <p:sp>
        <p:nvSpPr>
          <p:cNvPr id="132" name="legend swatch: Transparent electrode"/>
          <p:cNvSpPr/>
          <p:nvPr/>
        </p:nvSpPr>
        <p:spPr>
          <a:xfrm>
            <a:off x="3477338" y="6342611"/>
            <a:ext cx="182880" cy="116378"/>
          </a:xfrm>
          <a:prstGeom prst="rect">
            <a:avLst/>
          </a:prstGeom>
          <a:solidFill>
            <a:srgbClr val="CBE1EE"/>
          </a:solidFill>
          <a:ln w="8312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legend text: Transparent electrode"/>
          <p:cNvSpPr txBox="1"/>
          <p:nvPr/>
        </p:nvSpPr>
        <p:spPr>
          <a:xfrm>
            <a:off x="3735033" y="6263141"/>
            <a:ext cx="3491345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Transparent electrode</a:t>
            </a:r>
          </a:p>
        </p:txBody>
      </p:sp>
      <p:sp>
        <p:nvSpPr>
          <p:cNvPr id="134" name="legend swatch: Organic layers"/>
          <p:cNvSpPr/>
          <p:nvPr/>
        </p:nvSpPr>
        <p:spPr>
          <a:xfrm>
            <a:off x="5472393" y="6342611"/>
            <a:ext cx="182880" cy="116378"/>
          </a:xfrm>
          <a:prstGeom prst="rect">
            <a:avLst/>
          </a:prstGeom>
          <a:solidFill>
            <a:srgbClr val="FDF2E2"/>
          </a:solidFill>
          <a:ln w="8312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legend text: Organic layers"/>
          <p:cNvSpPr txBox="1"/>
          <p:nvPr/>
        </p:nvSpPr>
        <p:spPr>
          <a:xfrm>
            <a:off x="5730088" y="6263141"/>
            <a:ext cx="3491345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Organic layers</a:t>
            </a:r>
          </a:p>
        </p:txBody>
      </p:sp>
      <p:sp>
        <p:nvSpPr>
          <p:cNvPr id="136" name="legend swatch: Metal electrode"/>
          <p:cNvSpPr/>
          <p:nvPr/>
        </p:nvSpPr>
        <p:spPr>
          <a:xfrm>
            <a:off x="7134938" y="6342611"/>
            <a:ext cx="182880" cy="116378"/>
          </a:xfrm>
          <a:prstGeom prst="rect">
            <a:avLst/>
          </a:prstGeom>
          <a:solidFill>
            <a:srgbClr val="C3C7CB"/>
          </a:solidFill>
          <a:ln w="8312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legend text: Metal electrode"/>
          <p:cNvSpPr txBox="1"/>
          <p:nvPr/>
        </p:nvSpPr>
        <p:spPr>
          <a:xfrm>
            <a:off x="7392633" y="6263141"/>
            <a:ext cx="3491345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Metal electrode</a:t>
            </a:r>
          </a:p>
        </p:txBody>
      </p:sp>
      <p:cxnSp>
        <p:nvCxnSpPr>
          <p:cNvPr id="138" name="legend ray"/>
          <p:cNvCxnSpPr/>
          <p:nvPr/>
        </p:nvCxnSpPr>
        <p:spPr>
          <a:xfrm>
            <a:off x="700888" y="6700058"/>
            <a:ext cx="465512" cy="0"/>
          </a:xfrm>
          <a:prstGeom prst="line">
            <a:avLst/>
          </a:prstGeom>
          <a:ln w="5153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legend ray text"/>
          <p:cNvSpPr txBox="1"/>
          <p:nvPr/>
        </p:nvSpPr>
        <p:spPr>
          <a:xfrm>
            <a:off x="1282778" y="6562399"/>
            <a:ext cx="3325091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Light ray  (line width ∝ optical power)</a:t>
            </a:r>
          </a:p>
        </p:txBody>
      </p:sp>
      <p:sp>
        <p:nvSpPr>
          <p:cNvPr id="140" name="legend emitter"/>
          <p:cNvSpPr/>
          <p:nvPr/>
        </p:nvSpPr>
        <p:spPr>
          <a:xfrm>
            <a:off x="3988571" y="6612775"/>
            <a:ext cx="141316" cy="141316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8313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legend emission text"/>
          <p:cNvSpPr txBox="1"/>
          <p:nvPr/>
        </p:nvSpPr>
        <p:spPr>
          <a:xfrm>
            <a:off x="4208858" y="6562399"/>
            <a:ext cx="2493818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Exciton emission</a:t>
            </a:r>
          </a:p>
        </p:txBody>
      </p:sp>
      <p:sp>
        <p:nvSpPr>
          <p:cNvPr id="142" name="legend loss"/>
          <p:cNvSpPr/>
          <p:nvPr/>
        </p:nvSpPr>
        <p:spPr>
          <a:xfrm>
            <a:off x="5721775" y="6657060"/>
            <a:ext cx="432262" cy="52973"/>
          </a:xfrm>
          <a:custGeom>
            <a:avLst/>
            <a:gdLst/>
            <a:ahLst/>
            <a:cxnLst/>
            <a:rect l="l" t="t" r="r" b="b"/>
            <a:pathLst>
              <a:path w="432262" h="52973">
                <a:moveTo>
                  <a:pt x="0" y="26373"/>
                </a:moveTo>
                <a:lnTo>
                  <a:pt x="9005" y="34923"/>
                </a:lnTo>
                <a:lnTo>
                  <a:pt x="18011" y="42566"/>
                </a:lnTo>
                <a:lnTo>
                  <a:pt x="27016" y="48490"/>
                </a:lnTo>
                <a:lnTo>
                  <a:pt x="36022" y="52067"/>
                </a:lnTo>
                <a:lnTo>
                  <a:pt x="45027" y="52917"/>
                </a:lnTo>
                <a:lnTo>
                  <a:pt x="54033" y="50949"/>
                </a:lnTo>
                <a:lnTo>
                  <a:pt x="63038" y="46372"/>
                </a:lnTo>
                <a:lnTo>
                  <a:pt x="72043" y="39673"/>
                </a:lnTo>
                <a:lnTo>
                  <a:pt x="81049" y="31562"/>
                </a:lnTo>
                <a:lnTo>
                  <a:pt x="90054" y="22901"/>
                </a:lnTo>
                <a:lnTo>
                  <a:pt x="99060" y="14608"/>
                </a:lnTo>
                <a:lnTo>
                  <a:pt x="108065" y="7563"/>
                </a:lnTo>
                <a:lnTo>
                  <a:pt x="117071" y="2515"/>
                </a:lnTo>
                <a:lnTo>
                  <a:pt x="126076" y="0"/>
                </a:lnTo>
                <a:lnTo>
                  <a:pt x="135082" y="283"/>
                </a:lnTo>
                <a:lnTo>
                  <a:pt x="144087" y="3336"/>
                </a:lnTo>
                <a:lnTo>
                  <a:pt x="153092" y="8834"/>
                </a:lnTo>
                <a:lnTo>
                  <a:pt x="162098" y="16193"/>
                </a:lnTo>
                <a:lnTo>
                  <a:pt x="171103" y="24633"/>
                </a:lnTo>
                <a:lnTo>
                  <a:pt x="180109" y="33258"/>
                </a:lnTo>
                <a:lnTo>
                  <a:pt x="189114" y="41151"/>
                </a:lnTo>
                <a:lnTo>
                  <a:pt x="198120" y="47477"/>
                </a:lnTo>
                <a:lnTo>
                  <a:pt x="207125" y="51562"/>
                </a:lnTo>
                <a:lnTo>
                  <a:pt x="216131" y="52973"/>
                </a:lnTo>
                <a:lnTo>
                  <a:pt x="225136" y="51562"/>
                </a:lnTo>
                <a:lnTo>
                  <a:pt x="234142" y="47477"/>
                </a:lnTo>
                <a:lnTo>
                  <a:pt x="243147" y="41151"/>
                </a:lnTo>
                <a:lnTo>
                  <a:pt x="252153" y="33258"/>
                </a:lnTo>
                <a:lnTo>
                  <a:pt x="261158" y="24633"/>
                </a:lnTo>
                <a:lnTo>
                  <a:pt x="270163" y="16193"/>
                </a:lnTo>
                <a:lnTo>
                  <a:pt x="279169" y="8834"/>
                </a:lnTo>
                <a:lnTo>
                  <a:pt x="288174" y="3336"/>
                </a:lnTo>
                <a:lnTo>
                  <a:pt x="297180" y="283"/>
                </a:lnTo>
                <a:lnTo>
                  <a:pt x="306185" y="0"/>
                </a:lnTo>
                <a:lnTo>
                  <a:pt x="315191" y="2515"/>
                </a:lnTo>
                <a:lnTo>
                  <a:pt x="324196" y="7563"/>
                </a:lnTo>
                <a:lnTo>
                  <a:pt x="333202" y="14608"/>
                </a:lnTo>
                <a:lnTo>
                  <a:pt x="342207" y="22901"/>
                </a:lnTo>
                <a:lnTo>
                  <a:pt x="351212" y="31562"/>
                </a:lnTo>
                <a:lnTo>
                  <a:pt x="360218" y="39673"/>
                </a:lnTo>
                <a:lnTo>
                  <a:pt x="369223" y="46372"/>
                </a:lnTo>
                <a:lnTo>
                  <a:pt x="378229" y="50949"/>
                </a:lnTo>
                <a:lnTo>
                  <a:pt x="387234" y="52917"/>
                </a:lnTo>
                <a:lnTo>
                  <a:pt x="396240" y="52067"/>
                </a:lnTo>
                <a:lnTo>
                  <a:pt x="405245" y="48490"/>
                </a:lnTo>
                <a:lnTo>
                  <a:pt x="414251" y="42566"/>
                </a:lnTo>
                <a:lnTo>
                  <a:pt x="423256" y="34923"/>
                </a:lnTo>
                <a:lnTo>
                  <a:pt x="432262" y="26373"/>
                </a:lnTo>
              </a:path>
            </a:pathLst>
          </a:custGeom>
          <a:noFill/>
          <a:ln w="18288">
            <a:solidFill>
              <a:srgbClr val="E64B35">
                <a:alpha val="95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legend loss text"/>
          <p:cNvSpPr txBox="1"/>
          <p:nvPr/>
        </p:nvSpPr>
        <p:spPr>
          <a:xfrm>
            <a:off x="6320291" y="6562399"/>
            <a:ext cx="3823855" cy="2793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16" b="0">
                <a:solidFill>
                  <a:srgbClr val="55585C"/>
                </a:solidFill>
                <a:latin typeface="Arial"/>
              </a:rPr>
              <a:t>Absorption loss  (ohmic at the metal, TCO)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