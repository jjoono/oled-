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conventional render" descr="emitting_area_render_conventional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825" y="787400"/>
            <a:ext cx="2201333" cy="2201333"/>
          </a:xfrm>
          <a:prstGeom prst="rect">
            <a:avLst/>
          </a:prstGeom>
        </p:spPr>
      </p:pic>
      <p:sp>
        <p:nvSpPr>
          <p:cNvPr id="3" name="L lens 01"/>
          <p:cNvSpPr/>
          <p:nvPr/>
        </p:nvSpPr>
        <p:spPr>
          <a:xfrm>
            <a:off x="4848425" y="1594556"/>
            <a:ext cx="440267" cy="440267"/>
          </a:xfrm>
          <a:prstGeom prst="ellipse">
            <a:avLst/>
          </a:prstGeom>
          <a:solidFill>
            <a:srgbClr val="EAF1F6"/>
          </a:solidFill>
          <a:ln w="9539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L lens 02"/>
          <p:cNvSpPr/>
          <p:nvPr/>
        </p:nvSpPr>
        <p:spPr>
          <a:xfrm>
            <a:off x="5288692" y="1594556"/>
            <a:ext cx="440267" cy="440267"/>
          </a:xfrm>
          <a:prstGeom prst="ellipse">
            <a:avLst/>
          </a:prstGeom>
          <a:solidFill>
            <a:srgbClr val="EAF1F6"/>
          </a:solidFill>
          <a:ln w="9539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 lens 03"/>
          <p:cNvSpPr/>
          <p:nvPr/>
        </p:nvSpPr>
        <p:spPr>
          <a:xfrm>
            <a:off x="5728959" y="1594556"/>
            <a:ext cx="440267" cy="440267"/>
          </a:xfrm>
          <a:prstGeom prst="ellipse">
            <a:avLst/>
          </a:prstGeom>
          <a:solidFill>
            <a:srgbClr val="EAF1F6"/>
          </a:solidFill>
          <a:ln w="9539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L lens 04"/>
          <p:cNvSpPr/>
          <p:nvPr/>
        </p:nvSpPr>
        <p:spPr>
          <a:xfrm>
            <a:off x="6169225" y="1594556"/>
            <a:ext cx="440267" cy="440267"/>
          </a:xfrm>
          <a:prstGeom prst="ellipse">
            <a:avLst/>
          </a:prstGeom>
          <a:solidFill>
            <a:srgbClr val="EAF1F6"/>
          </a:solidFill>
          <a:ln w="9539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 lens 05"/>
          <p:cNvSpPr/>
          <p:nvPr/>
        </p:nvSpPr>
        <p:spPr>
          <a:xfrm>
            <a:off x="6609492" y="1594556"/>
            <a:ext cx="440267" cy="440267"/>
          </a:xfrm>
          <a:prstGeom prst="ellipse">
            <a:avLst/>
          </a:prstGeom>
          <a:solidFill>
            <a:srgbClr val="EAF1F6"/>
          </a:solidFill>
          <a:ln w="9539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L lens 06"/>
          <p:cNvSpPr/>
          <p:nvPr/>
        </p:nvSpPr>
        <p:spPr>
          <a:xfrm>
            <a:off x="7049759" y="1594556"/>
            <a:ext cx="440267" cy="440267"/>
          </a:xfrm>
          <a:prstGeom prst="ellipse">
            <a:avLst/>
          </a:prstGeom>
          <a:solidFill>
            <a:srgbClr val="EAF1F6"/>
          </a:solidFill>
          <a:ln w="9539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L lens 07"/>
          <p:cNvSpPr/>
          <p:nvPr/>
        </p:nvSpPr>
        <p:spPr>
          <a:xfrm>
            <a:off x="7490025" y="1594556"/>
            <a:ext cx="440267" cy="440267"/>
          </a:xfrm>
          <a:prstGeom prst="ellipse">
            <a:avLst/>
          </a:prstGeom>
          <a:solidFill>
            <a:srgbClr val="EAF1F6"/>
          </a:solidFill>
          <a:ln w="9539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L lens 08"/>
          <p:cNvSpPr/>
          <p:nvPr/>
        </p:nvSpPr>
        <p:spPr>
          <a:xfrm>
            <a:off x="7930292" y="1594556"/>
            <a:ext cx="440267" cy="440267"/>
          </a:xfrm>
          <a:prstGeom prst="ellipse">
            <a:avLst/>
          </a:prstGeom>
          <a:solidFill>
            <a:srgbClr val="EAF1F6"/>
          </a:solidFill>
          <a:ln w="9539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L lens 09"/>
          <p:cNvSpPr/>
          <p:nvPr/>
        </p:nvSpPr>
        <p:spPr>
          <a:xfrm>
            <a:off x="8370559" y="1594556"/>
            <a:ext cx="440267" cy="440267"/>
          </a:xfrm>
          <a:prstGeom prst="ellipse">
            <a:avLst/>
          </a:prstGeom>
          <a:solidFill>
            <a:srgbClr val="EAF1F6"/>
          </a:solidFill>
          <a:ln w="9539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L lens 10"/>
          <p:cNvSpPr/>
          <p:nvPr/>
        </p:nvSpPr>
        <p:spPr>
          <a:xfrm>
            <a:off x="8810825" y="1594556"/>
            <a:ext cx="440267" cy="440267"/>
          </a:xfrm>
          <a:prstGeom prst="ellipse">
            <a:avLst/>
          </a:prstGeom>
          <a:solidFill>
            <a:srgbClr val="EAF1F6"/>
          </a:solidFill>
          <a:ln w="9539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L lens 11"/>
          <p:cNvSpPr/>
          <p:nvPr/>
        </p:nvSpPr>
        <p:spPr>
          <a:xfrm>
            <a:off x="9251092" y="1594556"/>
            <a:ext cx="440267" cy="440267"/>
          </a:xfrm>
          <a:prstGeom prst="ellipse">
            <a:avLst/>
          </a:prstGeom>
          <a:solidFill>
            <a:srgbClr val="EAF1F6"/>
          </a:solidFill>
          <a:ln w="9539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L lens 12"/>
          <p:cNvSpPr/>
          <p:nvPr/>
        </p:nvSpPr>
        <p:spPr>
          <a:xfrm>
            <a:off x="9691359" y="1594556"/>
            <a:ext cx="440267" cy="440267"/>
          </a:xfrm>
          <a:prstGeom prst="ellipse">
            <a:avLst/>
          </a:prstGeom>
          <a:solidFill>
            <a:srgbClr val="EAF1F6"/>
          </a:solidFill>
          <a:ln w="9539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L lens 13"/>
          <p:cNvSpPr/>
          <p:nvPr/>
        </p:nvSpPr>
        <p:spPr>
          <a:xfrm>
            <a:off x="10131625" y="1594556"/>
            <a:ext cx="440267" cy="440267"/>
          </a:xfrm>
          <a:prstGeom prst="ellipse">
            <a:avLst/>
          </a:prstGeom>
          <a:solidFill>
            <a:srgbClr val="EAF1F6"/>
          </a:solidFill>
          <a:ln w="9539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L lens 14"/>
          <p:cNvSpPr/>
          <p:nvPr/>
        </p:nvSpPr>
        <p:spPr>
          <a:xfrm>
            <a:off x="10571892" y="1594556"/>
            <a:ext cx="440267" cy="440267"/>
          </a:xfrm>
          <a:prstGeom prst="ellipse">
            <a:avLst/>
          </a:prstGeom>
          <a:solidFill>
            <a:srgbClr val="EAF1F6"/>
          </a:solidFill>
          <a:ln w="9539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L lens 15"/>
          <p:cNvSpPr/>
          <p:nvPr/>
        </p:nvSpPr>
        <p:spPr>
          <a:xfrm>
            <a:off x="11012159" y="1594556"/>
            <a:ext cx="440267" cy="440267"/>
          </a:xfrm>
          <a:prstGeom prst="ellipse">
            <a:avLst/>
          </a:prstGeom>
          <a:solidFill>
            <a:srgbClr val="EAF1F6"/>
          </a:solidFill>
          <a:ln w="9539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L glass substrate"/>
          <p:cNvSpPr/>
          <p:nvPr/>
        </p:nvSpPr>
        <p:spPr>
          <a:xfrm>
            <a:off x="4848425" y="1814689"/>
            <a:ext cx="6604000" cy="631049"/>
          </a:xfrm>
          <a:prstGeom prst="rect">
            <a:avLst/>
          </a:prstGeom>
          <a:solidFill>
            <a:srgbClr val="EAF1F6"/>
          </a:solidFill>
          <a:ln w="9539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L TCO anode"/>
          <p:cNvSpPr/>
          <p:nvPr/>
        </p:nvSpPr>
        <p:spPr>
          <a:xfrm>
            <a:off x="4848425" y="2445738"/>
            <a:ext cx="6604000" cy="117404"/>
          </a:xfrm>
          <a:prstGeom prst="rect">
            <a:avLst/>
          </a:prstGeom>
          <a:solidFill>
            <a:srgbClr val="CBE1EE"/>
          </a:solidFill>
          <a:ln w="7704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L organic layers"/>
          <p:cNvSpPr/>
          <p:nvPr/>
        </p:nvSpPr>
        <p:spPr>
          <a:xfrm>
            <a:off x="4848425" y="2563142"/>
            <a:ext cx="6604000" cy="132080"/>
          </a:xfrm>
          <a:prstGeom prst="rect">
            <a:avLst/>
          </a:prstGeom>
          <a:solidFill>
            <a:srgbClr val="FDF2E2"/>
          </a:solidFill>
          <a:ln w="7704">
            <a:solidFill>
              <a:srgbClr val="C99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L metal cathode"/>
          <p:cNvSpPr/>
          <p:nvPr/>
        </p:nvSpPr>
        <p:spPr>
          <a:xfrm>
            <a:off x="4848425" y="2695222"/>
            <a:ext cx="6604000" cy="293511"/>
          </a:xfrm>
          <a:prstGeom prst="rect">
            <a:avLst/>
          </a:prstGeom>
          <a:solidFill>
            <a:srgbClr val="C3C7CB"/>
          </a:solidFill>
          <a:ln w="7704">
            <a:solidFill>
              <a:srgbClr val="868C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L TCO absorption 1L"/>
          <p:cNvSpPr/>
          <p:nvPr/>
        </p:nvSpPr>
        <p:spPr>
          <a:xfrm>
            <a:off x="6550790" y="2480959"/>
            <a:ext cx="205458" cy="46962"/>
          </a:xfrm>
          <a:custGeom>
            <a:avLst/>
            <a:gdLst/>
            <a:ahLst/>
            <a:cxnLst/>
            <a:rect l="l" t="t" r="r" b="b"/>
            <a:pathLst>
              <a:path w="205458" h="46962">
                <a:moveTo>
                  <a:pt x="0" y="23481"/>
                </a:moveTo>
                <a:lnTo>
                  <a:pt x="4280" y="29558"/>
                </a:lnTo>
                <a:lnTo>
                  <a:pt x="8560" y="35221"/>
                </a:lnTo>
                <a:lnTo>
                  <a:pt x="12841" y="40084"/>
                </a:lnTo>
                <a:lnTo>
                  <a:pt x="17121" y="43816"/>
                </a:lnTo>
                <a:lnTo>
                  <a:pt x="21402" y="46162"/>
                </a:lnTo>
                <a:lnTo>
                  <a:pt x="25682" y="46962"/>
                </a:lnTo>
                <a:lnTo>
                  <a:pt x="29962" y="46162"/>
                </a:lnTo>
                <a:lnTo>
                  <a:pt x="34243" y="43816"/>
                </a:lnTo>
                <a:lnTo>
                  <a:pt x="38523" y="40084"/>
                </a:lnTo>
                <a:lnTo>
                  <a:pt x="42803" y="35221"/>
                </a:lnTo>
                <a:lnTo>
                  <a:pt x="47084" y="29558"/>
                </a:lnTo>
                <a:lnTo>
                  <a:pt x="51364" y="23481"/>
                </a:lnTo>
                <a:lnTo>
                  <a:pt x="55645" y="17404"/>
                </a:lnTo>
                <a:lnTo>
                  <a:pt x="59925" y="11741"/>
                </a:lnTo>
                <a:lnTo>
                  <a:pt x="64205" y="6878"/>
                </a:lnTo>
                <a:lnTo>
                  <a:pt x="68486" y="3146"/>
                </a:lnTo>
                <a:lnTo>
                  <a:pt x="72766" y="800"/>
                </a:lnTo>
                <a:lnTo>
                  <a:pt x="77046" y="0"/>
                </a:lnTo>
                <a:lnTo>
                  <a:pt x="81327" y="800"/>
                </a:lnTo>
                <a:lnTo>
                  <a:pt x="85607" y="3146"/>
                </a:lnTo>
                <a:lnTo>
                  <a:pt x="89888" y="6878"/>
                </a:lnTo>
                <a:lnTo>
                  <a:pt x="94168" y="11741"/>
                </a:lnTo>
                <a:lnTo>
                  <a:pt x="98448" y="17404"/>
                </a:lnTo>
                <a:lnTo>
                  <a:pt x="102729" y="23481"/>
                </a:lnTo>
                <a:lnTo>
                  <a:pt x="107009" y="29558"/>
                </a:lnTo>
                <a:lnTo>
                  <a:pt x="111289" y="35221"/>
                </a:lnTo>
                <a:lnTo>
                  <a:pt x="115570" y="40084"/>
                </a:lnTo>
                <a:lnTo>
                  <a:pt x="119850" y="43816"/>
                </a:lnTo>
                <a:lnTo>
                  <a:pt x="124130" y="46162"/>
                </a:lnTo>
                <a:lnTo>
                  <a:pt x="128411" y="46962"/>
                </a:lnTo>
                <a:lnTo>
                  <a:pt x="132691" y="46162"/>
                </a:lnTo>
                <a:lnTo>
                  <a:pt x="136972" y="43816"/>
                </a:lnTo>
                <a:lnTo>
                  <a:pt x="141252" y="40084"/>
                </a:lnTo>
                <a:lnTo>
                  <a:pt x="145532" y="35221"/>
                </a:lnTo>
                <a:lnTo>
                  <a:pt x="149813" y="29558"/>
                </a:lnTo>
                <a:lnTo>
                  <a:pt x="154093" y="23481"/>
                </a:lnTo>
                <a:lnTo>
                  <a:pt x="158373" y="17404"/>
                </a:lnTo>
                <a:lnTo>
                  <a:pt x="162654" y="11741"/>
                </a:lnTo>
                <a:lnTo>
                  <a:pt x="166934" y="6878"/>
                </a:lnTo>
                <a:lnTo>
                  <a:pt x="171215" y="3146"/>
                </a:lnTo>
                <a:lnTo>
                  <a:pt x="175495" y="800"/>
                </a:lnTo>
                <a:lnTo>
                  <a:pt x="179775" y="0"/>
                </a:lnTo>
                <a:lnTo>
                  <a:pt x="184056" y="800"/>
                </a:lnTo>
                <a:lnTo>
                  <a:pt x="188336" y="3146"/>
                </a:lnTo>
                <a:lnTo>
                  <a:pt x="192616" y="6878"/>
                </a:lnTo>
                <a:lnTo>
                  <a:pt x="196897" y="11741"/>
                </a:lnTo>
                <a:lnTo>
                  <a:pt x="201177" y="17404"/>
                </a:lnTo>
                <a:lnTo>
                  <a:pt x="205458" y="23481"/>
                </a:lnTo>
              </a:path>
            </a:pathLst>
          </a:custGeom>
          <a:noFill/>
          <a:ln w="13208">
            <a:solidFill>
              <a:srgbClr val="E64B35">
                <a:alpha val="89999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L TCO absorption 1R"/>
          <p:cNvSpPr/>
          <p:nvPr/>
        </p:nvSpPr>
        <p:spPr>
          <a:xfrm>
            <a:off x="6903003" y="2480959"/>
            <a:ext cx="205458" cy="46962"/>
          </a:xfrm>
          <a:custGeom>
            <a:avLst/>
            <a:gdLst/>
            <a:ahLst/>
            <a:cxnLst/>
            <a:rect l="l" t="t" r="r" b="b"/>
            <a:pathLst>
              <a:path w="205458" h="46962">
                <a:moveTo>
                  <a:pt x="0" y="23481"/>
                </a:moveTo>
                <a:lnTo>
                  <a:pt x="4280" y="29558"/>
                </a:lnTo>
                <a:lnTo>
                  <a:pt x="8561" y="35221"/>
                </a:lnTo>
                <a:lnTo>
                  <a:pt x="12841" y="40084"/>
                </a:lnTo>
                <a:lnTo>
                  <a:pt x="17122" y="43816"/>
                </a:lnTo>
                <a:lnTo>
                  <a:pt x="21402" y="46162"/>
                </a:lnTo>
                <a:lnTo>
                  <a:pt x="25682" y="46962"/>
                </a:lnTo>
                <a:lnTo>
                  <a:pt x="29963" y="46162"/>
                </a:lnTo>
                <a:lnTo>
                  <a:pt x="34243" y="43816"/>
                </a:lnTo>
                <a:lnTo>
                  <a:pt x="38523" y="40084"/>
                </a:lnTo>
                <a:lnTo>
                  <a:pt x="42804" y="35221"/>
                </a:lnTo>
                <a:lnTo>
                  <a:pt x="47084" y="29558"/>
                </a:lnTo>
                <a:lnTo>
                  <a:pt x="51365" y="23481"/>
                </a:lnTo>
                <a:lnTo>
                  <a:pt x="55645" y="17404"/>
                </a:lnTo>
                <a:lnTo>
                  <a:pt x="59925" y="11741"/>
                </a:lnTo>
                <a:lnTo>
                  <a:pt x="64206" y="6878"/>
                </a:lnTo>
                <a:lnTo>
                  <a:pt x="68486" y="3146"/>
                </a:lnTo>
                <a:lnTo>
                  <a:pt x="72766" y="800"/>
                </a:lnTo>
                <a:lnTo>
                  <a:pt x="77047" y="0"/>
                </a:lnTo>
                <a:lnTo>
                  <a:pt x="81327" y="800"/>
                </a:lnTo>
                <a:lnTo>
                  <a:pt x="85607" y="3146"/>
                </a:lnTo>
                <a:lnTo>
                  <a:pt x="89888" y="6878"/>
                </a:lnTo>
                <a:lnTo>
                  <a:pt x="94168" y="11741"/>
                </a:lnTo>
                <a:lnTo>
                  <a:pt x="98449" y="17404"/>
                </a:lnTo>
                <a:lnTo>
                  <a:pt x="102729" y="23481"/>
                </a:lnTo>
                <a:lnTo>
                  <a:pt x="107009" y="29558"/>
                </a:lnTo>
                <a:lnTo>
                  <a:pt x="111290" y="35221"/>
                </a:lnTo>
                <a:lnTo>
                  <a:pt x="115570" y="40084"/>
                </a:lnTo>
                <a:lnTo>
                  <a:pt x="119850" y="43816"/>
                </a:lnTo>
                <a:lnTo>
                  <a:pt x="124131" y="46162"/>
                </a:lnTo>
                <a:lnTo>
                  <a:pt x="128411" y="46962"/>
                </a:lnTo>
                <a:lnTo>
                  <a:pt x="132692" y="46162"/>
                </a:lnTo>
                <a:lnTo>
                  <a:pt x="136972" y="43816"/>
                </a:lnTo>
                <a:lnTo>
                  <a:pt x="141252" y="40084"/>
                </a:lnTo>
                <a:lnTo>
                  <a:pt x="145533" y="35221"/>
                </a:lnTo>
                <a:lnTo>
                  <a:pt x="149813" y="29558"/>
                </a:lnTo>
                <a:lnTo>
                  <a:pt x="154093" y="23481"/>
                </a:lnTo>
                <a:lnTo>
                  <a:pt x="158374" y="17404"/>
                </a:lnTo>
                <a:lnTo>
                  <a:pt x="162654" y="11741"/>
                </a:lnTo>
                <a:lnTo>
                  <a:pt x="166935" y="6878"/>
                </a:lnTo>
                <a:lnTo>
                  <a:pt x="171215" y="3146"/>
                </a:lnTo>
                <a:lnTo>
                  <a:pt x="175495" y="800"/>
                </a:lnTo>
                <a:lnTo>
                  <a:pt x="179776" y="0"/>
                </a:lnTo>
                <a:lnTo>
                  <a:pt x="184056" y="800"/>
                </a:lnTo>
                <a:lnTo>
                  <a:pt x="188336" y="3146"/>
                </a:lnTo>
                <a:lnTo>
                  <a:pt x="192617" y="6878"/>
                </a:lnTo>
                <a:lnTo>
                  <a:pt x="196897" y="11741"/>
                </a:lnTo>
                <a:lnTo>
                  <a:pt x="201177" y="17404"/>
                </a:lnTo>
                <a:lnTo>
                  <a:pt x="205458" y="23481"/>
                </a:lnTo>
              </a:path>
            </a:pathLst>
          </a:custGeom>
          <a:noFill/>
          <a:ln w="13208">
            <a:solidFill>
              <a:srgbClr val="E64B35">
                <a:alpha val="89999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L TCO absorption 2L"/>
          <p:cNvSpPr/>
          <p:nvPr/>
        </p:nvSpPr>
        <p:spPr>
          <a:xfrm>
            <a:off x="8311856" y="2480959"/>
            <a:ext cx="205458" cy="46962"/>
          </a:xfrm>
          <a:custGeom>
            <a:avLst/>
            <a:gdLst/>
            <a:ahLst/>
            <a:cxnLst/>
            <a:rect l="l" t="t" r="r" b="b"/>
            <a:pathLst>
              <a:path w="205458" h="46962">
                <a:moveTo>
                  <a:pt x="0" y="23481"/>
                </a:moveTo>
                <a:lnTo>
                  <a:pt x="4281" y="29558"/>
                </a:lnTo>
                <a:lnTo>
                  <a:pt x="8561" y="35221"/>
                </a:lnTo>
                <a:lnTo>
                  <a:pt x="12842" y="40084"/>
                </a:lnTo>
                <a:lnTo>
                  <a:pt x="17122" y="43816"/>
                </a:lnTo>
                <a:lnTo>
                  <a:pt x="21402" y="46162"/>
                </a:lnTo>
                <a:lnTo>
                  <a:pt x="25683" y="46962"/>
                </a:lnTo>
                <a:lnTo>
                  <a:pt x="29963" y="46162"/>
                </a:lnTo>
                <a:lnTo>
                  <a:pt x="34243" y="43816"/>
                </a:lnTo>
                <a:lnTo>
                  <a:pt x="38524" y="40084"/>
                </a:lnTo>
                <a:lnTo>
                  <a:pt x="42804" y="35221"/>
                </a:lnTo>
                <a:lnTo>
                  <a:pt x="47084" y="29558"/>
                </a:lnTo>
                <a:lnTo>
                  <a:pt x="51365" y="23481"/>
                </a:lnTo>
                <a:lnTo>
                  <a:pt x="55645" y="17404"/>
                </a:lnTo>
                <a:lnTo>
                  <a:pt x="59926" y="11741"/>
                </a:lnTo>
                <a:lnTo>
                  <a:pt x="64206" y="6878"/>
                </a:lnTo>
                <a:lnTo>
                  <a:pt x="68486" y="3146"/>
                </a:lnTo>
                <a:lnTo>
                  <a:pt x="72767" y="800"/>
                </a:lnTo>
                <a:lnTo>
                  <a:pt x="77047" y="0"/>
                </a:lnTo>
                <a:lnTo>
                  <a:pt x="81327" y="800"/>
                </a:lnTo>
                <a:lnTo>
                  <a:pt x="85608" y="3146"/>
                </a:lnTo>
                <a:lnTo>
                  <a:pt x="89888" y="6878"/>
                </a:lnTo>
                <a:lnTo>
                  <a:pt x="94169" y="11741"/>
                </a:lnTo>
                <a:lnTo>
                  <a:pt x="98449" y="17404"/>
                </a:lnTo>
                <a:lnTo>
                  <a:pt x="102729" y="23481"/>
                </a:lnTo>
                <a:lnTo>
                  <a:pt x="107010" y="29558"/>
                </a:lnTo>
                <a:lnTo>
                  <a:pt x="111290" y="35221"/>
                </a:lnTo>
                <a:lnTo>
                  <a:pt x="115570" y="40084"/>
                </a:lnTo>
                <a:lnTo>
                  <a:pt x="119851" y="43816"/>
                </a:lnTo>
                <a:lnTo>
                  <a:pt x="124131" y="46162"/>
                </a:lnTo>
                <a:lnTo>
                  <a:pt x="128412" y="46962"/>
                </a:lnTo>
                <a:lnTo>
                  <a:pt x="132692" y="46162"/>
                </a:lnTo>
                <a:lnTo>
                  <a:pt x="136972" y="43816"/>
                </a:lnTo>
                <a:lnTo>
                  <a:pt x="141253" y="40084"/>
                </a:lnTo>
                <a:lnTo>
                  <a:pt x="145533" y="35221"/>
                </a:lnTo>
                <a:lnTo>
                  <a:pt x="149813" y="29558"/>
                </a:lnTo>
                <a:lnTo>
                  <a:pt x="154094" y="23481"/>
                </a:lnTo>
                <a:lnTo>
                  <a:pt x="158374" y="17404"/>
                </a:lnTo>
                <a:lnTo>
                  <a:pt x="162654" y="11741"/>
                </a:lnTo>
                <a:lnTo>
                  <a:pt x="166935" y="6878"/>
                </a:lnTo>
                <a:lnTo>
                  <a:pt x="171215" y="3146"/>
                </a:lnTo>
                <a:lnTo>
                  <a:pt x="175496" y="800"/>
                </a:lnTo>
                <a:lnTo>
                  <a:pt x="179776" y="0"/>
                </a:lnTo>
                <a:lnTo>
                  <a:pt x="184056" y="800"/>
                </a:lnTo>
                <a:lnTo>
                  <a:pt x="188337" y="3146"/>
                </a:lnTo>
                <a:lnTo>
                  <a:pt x="192617" y="6878"/>
                </a:lnTo>
                <a:lnTo>
                  <a:pt x="196897" y="11741"/>
                </a:lnTo>
                <a:lnTo>
                  <a:pt x="201178" y="17404"/>
                </a:lnTo>
                <a:lnTo>
                  <a:pt x="205458" y="23481"/>
                </a:lnTo>
              </a:path>
            </a:pathLst>
          </a:custGeom>
          <a:noFill/>
          <a:ln w="13208">
            <a:solidFill>
              <a:srgbClr val="E64B35">
                <a:alpha val="89999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L TCO absorption 2R"/>
          <p:cNvSpPr/>
          <p:nvPr/>
        </p:nvSpPr>
        <p:spPr>
          <a:xfrm>
            <a:off x="8664070" y="2480959"/>
            <a:ext cx="205458" cy="46962"/>
          </a:xfrm>
          <a:custGeom>
            <a:avLst/>
            <a:gdLst/>
            <a:ahLst/>
            <a:cxnLst/>
            <a:rect l="l" t="t" r="r" b="b"/>
            <a:pathLst>
              <a:path w="205458" h="46962">
                <a:moveTo>
                  <a:pt x="0" y="23481"/>
                </a:moveTo>
                <a:lnTo>
                  <a:pt x="4280" y="29558"/>
                </a:lnTo>
                <a:lnTo>
                  <a:pt x="8560" y="35221"/>
                </a:lnTo>
                <a:lnTo>
                  <a:pt x="12841" y="40084"/>
                </a:lnTo>
                <a:lnTo>
                  <a:pt x="17121" y="43816"/>
                </a:lnTo>
                <a:lnTo>
                  <a:pt x="21402" y="46162"/>
                </a:lnTo>
                <a:lnTo>
                  <a:pt x="25682" y="46962"/>
                </a:lnTo>
                <a:lnTo>
                  <a:pt x="29962" y="46162"/>
                </a:lnTo>
                <a:lnTo>
                  <a:pt x="34243" y="43816"/>
                </a:lnTo>
                <a:lnTo>
                  <a:pt x="38523" y="40084"/>
                </a:lnTo>
                <a:lnTo>
                  <a:pt x="42803" y="35221"/>
                </a:lnTo>
                <a:lnTo>
                  <a:pt x="47084" y="29558"/>
                </a:lnTo>
                <a:lnTo>
                  <a:pt x="51364" y="23481"/>
                </a:lnTo>
                <a:lnTo>
                  <a:pt x="55645" y="17404"/>
                </a:lnTo>
                <a:lnTo>
                  <a:pt x="59925" y="11741"/>
                </a:lnTo>
                <a:lnTo>
                  <a:pt x="64205" y="6878"/>
                </a:lnTo>
                <a:lnTo>
                  <a:pt x="68486" y="3146"/>
                </a:lnTo>
                <a:lnTo>
                  <a:pt x="72766" y="800"/>
                </a:lnTo>
                <a:lnTo>
                  <a:pt x="77046" y="0"/>
                </a:lnTo>
                <a:lnTo>
                  <a:pt x="81327" y="800"/>
                </a:lnTo>
                <a:lnTo>
                  <a:pt x="85607" y="3146"/>
                </a:lnTo>
                <a:lnTo>
                  <a:pt x="89888" y="6878"/>
                </a:lnTo>
                <a:lnTo>
                  <a:pt x="94168" y="11741"/>
                </a:lnTo>
                <a:lnTo>
                  <a:pt x="98448" y="17404"/>
                </a:lnTo>
                <a:lnTo>
                  <a:pt x="102729" y="23481"/>
                </a:lnTo>
                <a:lnTo>
                  <a:pt x="107009" y="29558"/>
                </a:lnTo>
                <a:lnTo>
                  <a:pt x="111289" y="35221"/>
                </a:lnTo>
                <a:lnTo>
                  <a:pt x="115570" y="40084"/>
                </a:lnTo>
                <a:lnTo>
                  <a:pt x="119850" y="43816"/>
                </a:lnTo>
                <a:lnTo>
                  <a:pt x="124130" y="46162"/>
                </a:lnTo>
                <a:lnTo>
                  <a:pt x="128411" y="46962"/>
                </a:lnTo>
                <a:lnTo>
                  <a:pt x="132691" y="46162"/>
                </a:lnTo>
                <a:lnTo>
                  <a:pt x="136972" y="43816"/>
                </a:lnTo>
                <a:lnTo>
                  <a:pt x="141252" y="40084"/>
                </a:lnTo>
                <a:lnTo>
                  <a:pt x="145532" y="35221"/>
                </a:lnTo>
                <a:lnTo>
                  <a:pt x="149813" y="29558"/>
                </a:lnTo>
                <a:lnTo>
                  <a:pt x="154093" y="23481"/>
                </a:lnTo>
                <a:lnTo>
                  <a:pt x="158373" y="17404"/>
                </a:lnTo>
                <a:lnTo>
                  <a:pt x="162654" y="11741"/>
                </a:lnTo>
                <a:lnTo>
                  <a:pt x="166934" y="6878"/>
                </a:lnTo>
                <a:lnTo>
                  <a:pt x="171215" y="3146"/>
                </a:lnTo>
                <a:lnTo>
                  <a:pt x="175495" y="800"/>
                </a:lnTo>
                <a:lnTo>
                  <a:pt x="179775" y="0"/>
                </a:lnTo>
                <a:lnTo>
                  <a:pt x="184056" y="800"/>
                </a:lnTo>
                <a:lnTo>
                  <a:pt x="188336" y="3146"/>
                </a:lnTo>
                <a:lnTo>
                  <a:pt x="192616" y="6878"/>
                </a:lnTo>
                <a:lnTo>
                  <a:pt x="196897" y="11741"/>
                </a:lnTo>
                <a:lnTo>
                  <a:pt x="201177" y="17404"/>
                </a:lnTo>
                <a:lnTo>
                  <a:pt x="205458" y="23481"/>
                </a:lnTo>
              </a:path>
            </a:pathLst>
          </a:custGeom>
          <a:noFill/>
          <a:ln w="13208">
            <a:solidFill>
              <a:srgbClr val="E64B35">
                <a:alpha val="89999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L TCO absorption 3L"/>
          <p:cNvSpPr/>
          <p:nvPr/>
        </p:nvSpPr>
        <p:spPr>
          <a:xfrm>
            <a:off x="10072923" y="2480959"/>
            <a:ext cx="205458" cy="46962"/>
          </a:xfrm>
          <a:custGeom>
            <a:avLst/>
            <a:gdLst/>
            <a:ahLst/>
            <a:cxnLst/>
            <a:rect l="l" t="t" r="r" b="b"/>
            <a:pathLst>
              <a:path w="205458" h="46962">
                <a:moveTo>
                  <a:pt x="0" y="23481"/>
                </a:moveTo>
                <a:lnTo>
                  <a:pt x="4280" y="29558"/>
                </a:lnTo>
                <a:lnTo>
                  <a:pt x="8561" y="35221"/>
                </a:lnTo>
                <a:lnTo>
                  <a:pt x="12841" y="40084"/>
                </a:lnTo>
                <a:lnTo>
                  <a:pt x="17122" y="43816"/>
                </a:lnTo>
                <a:lnTo>
                  <a:pt x="21402" y="46162"/>
                </a:lnTo>
                <a:lnTo>
                  <a:pt x="25682" y="46962"/>
                </a:lnTo>
                <a:lnTo>
                  <a:pt x="29963" y="46162"/>
                </a:lnTo>
                <a:lnTo>
                  <a:pt x="34243" y="43816"/>
                </a:lnTo>
                <a:lnTo>
                  <a:pt x="38523" y="40084"/>
                </a:lnTo>
                <a:lnTo>
                  <a:pt x="42804" y="35221"/>
                </a:lnTo>
                <a:lnTo>
                  <a:pt x="47084" y="29558"/>
                </a:lnTo>
                <a:lnTo>
                  <a:pt x="51365" y="23481"/>
                </a:lnTo>
                <a:lnTo>
                  <a:pt x="55645" y="17404"/>
                </a:lnTo>
                <a:lnTo>
                  <a:pt x="59925" y="11741"/>
                </a:lnTo>
                <a:lnTo>
                  <a:pt x="64206" y="6878"/>
                </a:lnTo>
                <a:lnTo>
                  <a:pt x="68486" y="3146"/>
                </a:lnTo>
                <a:lnTo>
                  <a:pt x="72766" y="800"/>
                </a:lnTo>
                <a:lnTo>
                  <a:pt x="77047" y="0"/>
                </a:lnTo>
                <a:lnTo>
                  <a:pt x="81327" y="800"/>
                </a:lnTo>
                <a:lnTo>
                  <a:pt x="85607" y="3146"/>
                </a:lnTo>
                <a:lnTo>
                  <a:pt x="89888" y="6878"/>
                </a:lnTo>
                <a:lnTo>
                  <a:pt x="94168" y="11741"/>
                </a:lnTo>
                <a:lnTo>
                  <a:pt x="98449" y="17404"/>
                </a:lnTo>
                <a:lnTo>
                  <a:pt x="102729" y="23481"/>
                </a:lnTo>
                <a:lnTo>
                  <a:pt x="107009" y="29558"/>
                </a:lnTo>
                <a:lnTo>
                  <a:pt x="111290" y="35221"/>
                </a:lnTo>
                <a:lnTo>
                  <a:pt x="115570" y="40084"/>
                </a:lnTo>
                <a:lnTo>
                  <a:pt x="119850" y="43816"/>
                </a:lnTo>
                <a:lnTo>
                  <a:pt x="124131" y="46162"/>
                </a:lnTo>
                <a:lnTo>
                  <a:pt x="128411" y="46962"/>
                </a:lnTo>
                <a:lnTo>
                  <a:pt x="132692" y="46162"/>
                </a:lnTo>
                <a:lnTo>
                  <a:pt x="136972" y="43816"/>
                </a:lnTo>
                <a:lnTo>
                  <a:pt x="141252" y="40084"/>
                </a:lnTo>
                <a:lnTo>
                  <a:pt x="145533" y="35221"/>
                </a:lnTo>
                <a:lnTo>
                  <a:pt x="149813" y="29558"/>
                </a:lnTo>
                <a:lnTo>
                  <a:pt x="154093" y="23481"/>
                </a:lnTo>
                <a:lnTo>
                  <a:pt x="158374" y="17404"/>
                </a:lnTo>
                <a:lnTo>
                  <a:pt x="162654" y="11741"/>
                </a:lnTo>
                <a:lnTo>
                  <a:pt x="166935" y="6878"/>
                </a:lnTo>
                <a:lnTo>
                  <a:pt x="171215" y="3146"/>
                </a:lnTo>
                <a:lnTo>
                  <a:pt x="175495" y="800"/>
                </a:lnTo>
                <a:lnTo>
                  <a:pt x="179776" y="0"/>
                </a:lnTo>
                <a:lnTo>
                  <a:pt x="184056" y="800"/>
                </a:lnTo>
                <a:lnTo>
                  <a:pt x="188336" y="3146"/>
                </a:lnTo>
                <a:lnTo>
                  <a:pt x="192617" y="6878"/>
                </a:lnTo>
                <a:lnTo>
                  <a:pt x="196897" y="11741"/>
                </a:lnTo>
                <a:lnTo>
                  <a:pt x="201177" y="17404"/>
                </a:lnTo>
                <a:lnTo>
                  <a:pt x="205458" y="23481"/>
                </a:lnTo>
              </a:path>
            </a:pathLst>
          </a:custGeom>
          <a:noFill/>
          <a:ln w="13208">
            <a:solidFill>
              <a:srgbClr val="E64B35">
                <a:alpha val="89999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L TCO absorption 3R"/>
          <p:cNvSpPr/>
          <p:nvPr/>
        </p:nvSpPr>
        <p:spPr>
          <a:xfrm>
            <a:off x="10425136" y="2480959"/>
            <a:ext cx="205458" cy="46962"/>
          </a:xfrm>
          <a:custGeom>
            <a:avLst/>
            <a:gdLst/>
            <a:ahLst/>
            <a:cxnLst/>
            <a:rect l="l" t="t" r="r" b="b"/>
            <a:pathLst>
              <a:path w="205458" h="46962">
                <a:moveTo>
                  <a:pt x="0" y="23481"/>
                </a:moveTo>
                <a:lnTo>
                  <a:pt x="4281" y="29558"/>
                </a:lnTo>
                <a:lnTo>
                  <a:pt x="8561" y="35221"/>
                </a:lnTo>
                <a:lnTo>
                  <a:pt x="12842" y="40084"/>
                </a:lnTo>
                <a:lnTo>
                  <a:pt x="17122" y="43816"/>
                </a:lnTo>
                <a:lnTo>
                  <a:pt x="21402" y="46162"/>
                </a:lnTo>
                <a:lnTo>
                  <a:pt x="25683" y="46962"/>
                </a:lnTo>
                <a:lnTo>
                  <a:pt x="29963" y="46162"/>
                </a:lnTo>
                <a:lnTo>
                  <a:pt x="34243" y="43816"/>
                </a:lnTo>
                <a:lnTo>
                  <a:pt x="38524" y="40084"/>
                </a:lnTo>
                <a:lnTo>
                  <a:pt x="42804" y="35221"/>
                </a:lnTo>
                <a:lnTo>
                  <a:pt x="47084" y="29558"/>
                </a:lnTo>
                <a:lnTo>
                  <a:pt x="51365" y="23481"/>
                </a:lnTo>
                <a:lnTo>
                  <a:pt x="55645" y="17404"/>
                </a:lnTo>
                <a:lnTo>
                  <a:pt x="59926" y="11741"/>
                </a:lnTo>
                <a:lnTo>
                  <a:pt x="64206" y="6878"/>
                </a:lnTo>
                <a:lnTo>
                  <a:pt x="68486" y="3146"/>
                </a:lnTo>
                <a:lnTo>
                  <a:pt x="72767" y="800"/>
                </a:lnTo>
                <a:lnTo>
                  <a:pt x="77047" y="0"/>
                </a:lnTo>
                <a:lnTo>
                  <a:pt x="81327" y="800"/>
                </a:lnTo>
                <a:lnTo>
                  <a:pt x="85608" y="3146"/>
                </a:lnTo>
                <a:lnTo>
                  <a:pt x="89888" y="6878"/>
                </a:lnTo>
                <a:lnTo>
                  <a:pt x="94169" y="11741"/>
                </a:lnTo>
                <a:lnTo>
                  <a:pt x="98449" y="17404"/>
                </a:lnTo>
                <a:lnTo>
                  <a:pt x="102729" y="23481"/>
                </a:lnTo>
                <a:lnTo>
                  <a:pt x="107010" y="29558"/>
                </a:lnTo>
                <a:lnTo>
                  <a:pt x="111290" y="35221"/>
                </a:lnTo>
                <a:lnTo>
                  <a:pt x="115570" y="40084"/>
                </a:lnTo>
                <a:lnTo>
                  <a:pt x="119851" y="43816"/>
                </a:lnTo>
                <a:lnTo>
                  <a:pt x="124131" y="46162"/>
                </a:lnTo>
                <a:lnTo>
                  <a:pt x="128412" y="46962"/>
                </a:lnTo>
                <a:lnTo>
                  <a:pt x="132692" y="46162"/>
                </a:lnTo>
                <a:lnTo>
                  <a:pt x="136972" y="43816"/>
                </a:lnTo>
                <a:lnTo>
                  <a:pt x="141253" y="40084"/>
                </a:lnTo>
                <a:lnTo>
                  <a:pt x="145533" y="35221"/>
                </a:lnTo>
                <a:lnTo>
                  <a:pt x="149813" y="29558"/>
                </a:lnTo>
                <a:lnTo>
                  <a:pt x="154094" y="23481"/>
                </a:lnTo>
                <a:lnTo>
                  <a:pt x="158374" y="17404"/>
                </a:lnTo>
                <a:lnTo>
                  <a:pt x="162654" y="11741"/>
                </a:lnTo>
                <a:lnTo>
                  <a:pt x="166935" y="6878"/>
                </a:lnTo>
                <a:lnTo>
                  <a:pt x="171215" y="3146"/>
                </a:lnTo>
                <a:lnTo>
                  <a:pt x="175496" y="800"/>
                </a:lnTo>
                <a:lnTo>
                  <a:pt x="179776" y="0"/>
                </a:lnTo>
                <a:lnTo>
                  <a:pt x="184056" y="800"/>
                </a:lnTo>
                <a:lnTo>
                  <a:pt x="188337" y="3146"/>
                </a:lnTo>
                <a:lnTo>
                  <a:pt x="192617" y="6878"/>
                </a:lnTo>
                <a:lnTo>
                  <a:pt x="196897" y="11741"/>
                </a:lnTo>
                <a:lnTo>
                  <a:pt x="201178" y="17404"/>
                </a:lnTo>
                <a:lnTo>
                  <a:pt x="205458" y="23481"/>
                </a:lnTo>
              </a:path>
            </a:pathLst>
          </a:custGeom>
          <a:noFill/>
          <a:ln w="13208">
            <a:solidFill>
              <a:srgbClr val="E64B35">
                <a:alpha val="89999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L ray emit"/>
          <p:cNvCxnSpPr/>
          <p:nvPr/>
        </p:nvCxnSpPr>
        <p:spPr>
          <a:xfrm flipV="1">
            <a:off x="5186697" y="1814689"/>
            <a:ext cx="762395" cy="762395"/>
          </a:xfrm>
          <a:prstGeom prst="line">
            <a:avLst/>
          </a:prstGeom>
          <a:ln w="69709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L ray down 1"/>
          <p:cNvCxnSpPr/>
          <p:nvPr/>
        </p:nvCxnSpPr>
        <p:spPr>
          <a:xfrm>
            <a:off x="6016600" y="1882196"/>
            <a:ext cx="766064" cy="766064"/>
          </a:xfrm>
          <a:prstGeom prst="line">
            <a:avLst/>
          </a:prstGeom>
          <a:ln w="53347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L ray up 1"/>
          <p:cNvCxnSpPr/>
          <p:nvPr/>
        </p:nvCxnSpPr>
        <p:spPr>
          <a:xfrm flipV="1">
            <a:off x="6876587" y="1814689"/>
            <a:ext cx="833572" cy="833571"/>
          </a:xfrm>
          <a:prstGeom prst="line">
            <a:avLst/>
          </a:prstGeom>
          <a:ln w="35602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L ray down 2"/>
          <p:cNvCxnSpPr/>
          <p:nvPr/>
        </p:nvCxnSpPr>
        <p:spPr>
          <a:xfrm>
            <a:off x="7777666" y="1882196"/>
            <a:ext cx="766064" cy="766064"/>
          </a:xfrm>
          <a:prstGeom prst="line">
            <a:avLst/>
          </a:prstGeom>
          <a:ln w="27246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L ray up 2"/>
          <p:cNvCxnSpPr/>
          <p:nvPr/>
        </p:nvCxnSpPr>
        <p:spPr>
          <a:xfrm flipV="1">
            <a:off x="8637654" y="1814689"/>
            <a:ext cx="833571" cy="833571"/>
          </a:xfrm>
          <a:prstGeom prst="line">
            <a:avLst/>
          </a:prstGeom>
          <a:ln w="18183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L ray down 3"/>
          <p:cNvCxnSpPr/>
          <p:nvPr/>
        </p:nvCxnSpPr>
        <p:spPr>
          <a:xfrm>
            <a:off x="9538733" y="1882196"/>
            <a:ext cx="766064" cy="766064"/>
          </a:xfrm>
          <a:prstGeom prst="line">
            <a:avLst/>
          </a:prstGeom>
          <a:ln w="13915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L ray up 3"/>
          <p:cNvCxnSpPr/>
          <p:nvPr/>
        </p:nvCxnSpPr>
        <p:spPr>
          <a:xfrm flipV="1">
            <a:off x="10398720" y="1814689"/>
            <a:ext cx="833572" cy="833571"/>
          </a:xfrm>
          <a:prstGeom prst="line">
            <a:avLst/>
          </a:prstGeom>
          <a:ln w="9286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L ray continues"/>
          <p:cNvCxnSpPr/>
          <p:nvPr/>
        </p:nvCxnSpPr>
        <p:spPr>
          <a:xfrm>
            <a:off x="11298332" y="1880729"/>
            <a:ext cx="154093" cy="154093"/>
          </a:xfrm>
          <a:prstGeom prst="line">
            <a:avLst/>
          </a:prstGeom>
          <a:ln w="7107">
            <a:solidFill>
              <a:srgbClr val="00A087">
                <a:alpha val="4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L outcoupled 1-1"/>
          <p:cNvCxnSpPr/>
          <p:nvPr/>
        </p:nvCxnSpPr>
        <p:spPr>
          <a:xfrm flipH="1" flipV="1">
            <a:off x="5495558" y="1262109"/>
            <a:ext cx="343467" cy="361939"/>
          </a:xfrm>
          <a:prstGeom prst="line">
            <a:avLst/>
          </a:prstGeom>
          <a:ln w="38340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L outcoupled 1-2"/>
          <p:cNvCxnSpPr/>
          <p:nvPr/>
        </p:nvCxnSpPr>
        <p:spPr>
          <a:xfrm flipH="1" flipV="1">
            <a:off x="5856750" y="1020343"/>
            <a:ext cx="73156" cy="575050"/>
          </a:xfrm>
          <a:prstGeom prst="line">
            <a:avLst/>
          </a:prstGeom>
          <a:ln w="38340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L outcoupled 1-3"/>
          <p:cNvCxnSpPr/>
          <p:nvPr/>
        </p:nvCxnSpPr>
        <p:spPr>
          <a:xfrm flipV="1">
            <a:off x="6031555" y="1174515"/>
            <a:ext cx="271430" cy="436070"/>
          </a:xfrm>
          <a:prstGeom prst="line">
            <a:avLst/>
          </a:prstGeom>
          <a:ln w="38340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L outcoupled 2-1"/>
          <p:cNvCxnSpPr/>
          <p:nvPr/>
        </p:nvCxnSpPr>
        <p:spPr>
          <a:xfrm flipH="1" flipV="1">
            <a:off x="7256624" y="1262109"/>
            <a:ext cx="343468" cy="361939"/>
          </a:xfrm>
          <a:prstGeom prst="line">
            <a:avLst/>
          </a:prstGeom>
          <a:ln w="19581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L outcoupled 2-2"/>
          <p:cNvCxnSpPr/>
          <p:nvPr/>
        </p:nvCxnSpPr>
        <p:spPr>
          <a:xfrm flipH="1" flipV="1">
            <a:off x="7617817" y="1020343"/>
            <a:ext cx="73156" cy="575050"/>
          </a:xfrm>
          <a:prstGeom prst="line">
            <a:avLst/>
          </a:prstGeom>
          <a:ln w="19581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L outcoupled 2-3"/>
          <p:cNvCxnSpPr/>
          <p:nvPr/>
        </p:nvCxnSpPr>
        <p:spPr>
          <a:xfrm flipV="1">
            <a:off x="7792622" y="1174515"/>
            <a:ext cx="271429" cy="436070"/>
          </a:xfrm>
          <a:prstGeom prst="line">
            <a:avLst/>
          </a:prstGeom>
          <a:ln w="19581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L outcoupled 3-1"/>
          <p:cNvCxnSpPr/>
          <p:nvPr/>
        </p:nvCxnSpPr>
        <p:spPr>
          <a:xfrm flipH="1" flipV="1">
            <a:off x="9017691" y="1262109"/>
            <a:ext cx="343468" cy="361939"/>
          </a:xfrm>
          <a:prstGeom prst="line">
            <a:avLst/>
          </a:prstGeom>
          <a:ln w="10001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L outcoupled 3-2"/>
          <p:cNvCxnSpPr/>
          <p:nvPr/>
        </p:nvCxnSpPr>
        <p:spPr>
          <a:xfrm flipH="1" flipV="1">
            <a:off x="9378884" y="1020343"/>
            <a:ext cx="73155" cy="575050"/>
          </a:xfrm>
          <a:prstGeom prst="line">
            <a:avLst/>
          </a:prstGeom>
          <a:ln w="10001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L outcoupled 3-3"/>
          <p:cNvCxnSpPr/>
          <p:nvPr/>
        </p:nvCxnSpPr>
        <p:spPr>
          <a:xfrm flipV="1">
            <a:off x="9553689" y="1174515"/>
            <a:ext cx="271429" cy="436070"/>
          </a:xfrm>
          <a:prstGeom prst="line">
            <a:avLst/>
          </a:prstGeom>
          <a:ln w="10001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L outcoupled 4-1"/>
          <p:cNvCxnSpPr/>
          <p:nvPr/>
        </p:nvCxnSpPr>
        <p:spPr>
          <a:xfrm flipH="1" flipV="1">
            <a:off x="10778758" y="1262109"/>
            <a:ext cx="343467" cy="361939"/>
          </a:xfrm>
          <a:prstGeom prst="line">
            <a:avLst/>
          </a:prstGeom>
          <a:ln w="7338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L outcoupled 4-2"/>
          <p:cNvCxnSpPr/>
          <p:nvPr/>
        </p:nvCxnSpPr>
        <p:spPr>
          <a:xfrm flipH="1" flipV="1">
            <a:off x="11139950" y="1020343"/>
            <a:ext cx="73156" cy="575050"/>
          </a:xfrm>
          <a:prstGeom prst="line">
            <a:avLst/>
          </a:prstGeom>
          <a:ln w="7338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L outcoupled 4-3"/>
          <p:cNvCxnSpPr/>
          <p:nvPr/>
        </p:nvCxnSpPr>
        <p:spPr>
          <a:xfrm flipV="1">
            <a:off x="11314755" y="1174515"/>
            <a:ext cx="271430" cy="436070"/>
          </a:xfrm>
          <a:prstGeom prst="line">
            <a:avLst/>
          </a:prstGeom>
          <a:ln w="7338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L ohmic loss 1L"/>
          <p:cNvSpPr/>
          <p:nvPr/>
        </p:nvSpPr>
        <p:spPr>
          <a:xfrm>
            <a:off x="6404966" y="2618679"/>
            <a:ext cx="332254" cy="65313"/>
          </a:xfrm>
          <a:custGeom>
            <a:avLst/>
            <a:gdLst/>
            <a:ahLst/>
            <a:cxnLst/>
            <a:rect l="l" t="t" r="r" b="b"/>
            <a:pathLst>
              <a:path w="332254" h="65313">
                <a:moveTo>
                  <a:pt x="332254" y="32517"/>
                </a:moveTo>
                <a:lnTo>
                  <a:pt x="325332" y="43059"/>
                </a:lnTo>
                <a:lnTo>
                  <a:pt x="318410" y="52482"/>
                </a:lnTo>
                <a:lnTo>
                  <a:pt x="311488" y="59786"/>
                </a:lnTo>
                <a:lnTo>
                  <a:pt x="304567" y="64196"/>
                </a:lnTo>
                <a:lnTo>
                  <a:pt x="297645" y="65243"/>
                </a:lnTo>
                <a:lnTo>
                  <a:pt x="290723" y="62817"/>
                </a:lnTo>
                <a:lnTo>
                  <a:pt x="283801" y="57175"/>
                </a:lnTo>
                <a:lnTo>
                  <a:pt x="276879" y="48915"/>
                </a:lnTo>
                <a:lnTo>
                  <a:pt x="269957" y="38915"/>
                </a:lnTo>
                <a:lnTo>
                  <a:pt x="263035" y="28236"/>
                </a:lnTo>
                <a:lnTo>
                  <a:pt x="256113" y="18011"/>
                </a:lnTo>
                <a:lnTo>
                  <a:pt x="249191" y="9326"/>
                </a:lnTo>
                <a:lnTo>
                  <a:pt x="242269" y="3102"/>
                </a:lnTo>
                <a:lnTo>
                  <a:pt x="235347" y="0"/>
                </a:lnTo>
                <a:lnTo>
                  <a:pt x="228425" y="350"/>
                </a:lnTo>
                <a:lnTo>
                  <a:pt x="221503" y="4114"/>
                </a:lnTo>
                <a:lnTo>
                  <a:pt x="214581" y="10892"/>
                </a:lnTo>
                <a:lnTo>
                  <a:pt x="207659" y="19966"/>
                </a:lnTo>
                <a:lnTo>
                  <a:pt x="200737" y="30372"/>
                </a:lnTo>
                <a:lnTo>
                  <a:pt x="193815" y="41005"/>
                </a:lnTo>
                <a:lnTo>
                  <a:pt x="186893" y="50738"/>
                </a:lnTo>
                <a:lnTo>
                  <a:pt x="179971" y="58536"/>
                </a:lnTo>
                <a:lnTo>
                  <a:pt x="173049" y="63573"/>
                </a:lnTo>
                <a:lnTo>
                  <a:pt x="166127" y="65313"/>
                </a:lnTo>
                <a:lnTo>
                  <a:pt x="159205" y="63573"/>
                </a:lnTo>
                <a:lnTo>
                  <a:pt x="152283" y="58536"/>
                </a:lnTo>
                <a:lnTo>
                  <a:pt x="145361" y="50738"/>
                </a:lnTo>
                <a:lnTo>
                  <a:pt x="138439" y="41005"/>
                </a:lnTo>
                <a:lnTo>
                  <a:pt x="131517" y="30372"/>
                </a:lnTo>
                <a:lnTo>
                  <a:pt x="124595" y="19966"/>
                </a:lnTo>
                <a:lnTo>
                  <a:pt x="117673" y="10892"/>
                </a:lnTo>
                <a:lnTo>
                  <a:pt x="110751" y="4114"/>
                </a:lnTo>
                <a:lnTo>
                  <a:pt x="103829" y="350"/>
                </a:lnTo>
                <a:lnTo>
                  <a:pt x="96907" y="0"/>
                </a:lnTo>
                <a:lnTo>
                  <a:pt x="89985" y="3102"/>
                </a:lnTo>
                <a:lnTo>
                  <a:pt x="83063" y="9326"/>
                </a:lnTo>
                <a:lnTo>
                  <a:pt x="76141" y="18011"/>
                </a:lnTo>
                <a:lnTo>
                  <a:pt x="69220" y="28236"/>
                </a:lnTo>
                <a:lnTo>
                  <a:pt x="62298" y="38915"/>
                </a:lnTo>
                <a:lnTo>
                  <a:pt x="55376" y="48915"/>
                </a:lnTo>
                <a:lnTo>
                  <a:pt x="48454" y="57175"/>
                </a:lnTo>
                <a:lnTo>
                  <a:pt x="41532" y="62817"/>
                </a:lnTo>
                <a:lnTo>
                  <a:pt x="34610" y="65243"/>
                </a:lnTo>
                <a:lnTo>
                  <a:pt x="27688" y="64196"/>
                </a:lnTo>
                <a:lnTo>
                  <a:pt x="20766" y="59786"/>
                </a:lnTo>
                <a:lnTo>
                  <a:pt x="13844" y="52482"/>
                </a:lnTo>
                <a:lnTo>
                  <a:pt x="6922" y="43059"/>
                </a:lnTo>
                <a:lnTo>
                  <a:pt x="0" y="32517"/>
                </a:lnTo>
              </a:path>
            </a:pathLst>
          </a:custGeom>
          <a:noFill/>
          <a:ln w="24351">
            <a:solidFill>
              <a:srgbClr val="E64B35">
                <a:alpha val="99000"/>
              </a:srgbClr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L ohmic loss 1R"/>
          <p:cNvSpPr/>
          <p:nvPr/>
        </p:nvSpPr>
        <p:spPr>
          <a:xfrm>
            <a:off x="6922030" y="2618679"/>
            <a:ext cx="332255" cy="65313"/>
          </a:xfrm>
          <a:custGeom>
            <a:avLst/>
            <a:gdLst/>
            <a:ahLst/>
            <a:cxnLst/>
            <a:rect l="l" t="t" r="r" b="b"/>
            <a:pathLst>
              <a:path w="332255" h="65313">
                <a:moveTo>
                  <a:pt x="0" y="32517"/>
                </a:moveTo>
                <a:lnTo>
                  <a:pt x="6922" y="43059"/>
                </a:lnTo>
                <a:lnTo>
                  <a:pt x="13844" y="52482"/>
                </a:lnTo>
                <a:lnTo>
                  <a:pt x="20766" y="59786"/>
                </a:lnTo>
                <a:lnTo>
                  <a:pt x="27688" y="64196"/>
                </a:lnTo>
                <a:lnTo>
                  <a:pt x="34610" y="65243"/>
                </a:lnTo>
                <a:lnTo>
                  <a:pt x="41532" y="62817"/>
                </a:lnTo>
                <a:lnTo>
                  <a:pt x="48454" y="57175"/>
                </a:lnTo>
                <a:lnTo>
                  <a:pt x="55376" y="48915"/>
                </a:lnTo>
                <a:lnTo>
                  <a:pt x="62298" y="38915"/>
                </a:lnTo>
                <a:lnTo>
                  <a:pt x="69220" y="28236"/>
                </a:lnTo>
                <a:lnTo>
                  <a:pt x="76142" y="18011"/>
                </a:lnTo>
                <a:lnTo>
                  <a:pt x="83064" y="9326"/>
                </a:lnTo>
                <a:lnTo>
                  <a:pt x="89986" y="3102"/>
                </a:lnTo>
                <a:lnTo>
                  <a:pt x="96908" y="0"/>
                </a:lnTo>
                <a:lnTo>
                  <a:pt x="103830" y="350"/>
                </a:lnTo>
                <a:lnTo>
                  <a:pt x="110752" y="4114"/>
                </a:lnTo>
                <a:lnTo>
                  <a:pt x="117674" y="10892"/>
                </a:lnTo>
                <a:lnTo>
                  <a:pt x="124596" y="19966"/>
                </a:lnTo>
                <a:lnTo>
                  <a:pt x="131518" y="30372"/>
                </a:lnTo>
                <a:lnTo>
                  <a:pt x="138440" y="41005"/>
                </a:lnTo>
                <a:lnTo>
                  <a:pt x="145362" y="50738"/>
                </a:lnTo>
                <a:lnTo>
                  <a:pt x="152284" y="58536"/>
                </a:lnTo>
                <a:lnTo>
                  <a:pt x="159205" y="63573"/>
                </a:lnTo>
                <a:lnTo>
                  <a:pt x="166127" y="65313"/>
                </a:lnTo>
                <a:lnTo>
                  <a:pt x="173049" y="63573"/>
                </a:lnTo>
                <a:lnTo>
                  <a:pt x="179971" y="58536"/>
                </a:lnTo>
                <a:lnTo>
                  <a:pt x="186893" y="50738"/>
                </a:lnTo>
                <a:lnTo>
                  <a:pt x="193815" y="41005"/>
                </a:lnTo>
                <a:lnTo>
                  <a:pt x="200737" y="30372"/>
                </a:lnTo>
                <a:lnTo>
                  <a:pt x="207659" y="19966"/>
                </a:lnTo>
                <a:lnTo>
                  <a:pt x="214581" y="10892"/>
                </a:lnTo>
                <a:lnTo>
                  <a:pt x="221503" y="4114"/>
                </a:lnTo>
                <a:lnTo>
                  <a:pt x="228425" y="350"/>
                </a:lnTo>
                <a:lnTo>
                  <a:pt x="235347" y="0"/>
                </a:lnTo>
                <a:lnTo>
                  <a:pt x="242269" y="3102"/>
                </a:lnTo>
                <a:lnTo>
                  <a:pt x="249191" y="9326"/>
                </a:lnTo>
                <a:lnTo>
                  <a:pt x="256113" y="18011"/>
                </a:lnTo>
                <a:lnTo>
                  <a:pt x="263035" y="28236"/>
                </a:lnTo>
                <a:lnTo>
                  <a:pt x="269957" y="38915"/>
                </a:lnTo>
                <a:lnTo>
                  <a:pt x="276879" y="48915"/>
                </a:lnTo>
                <a:lnTo>
                  <a:pt x="283801" y="57175"/>
                </a:lnTo>
                <a:lnTo>
                  <a:pt x="290723" y="62817"/>
                </a:lnTo>
                <a:lnTo>
                  <a:pt x="297645" y="65243"/>
                </a:lnTo>
                <a:lnTo>
                  <a:pt x="304567" y="64196"/>
                </a:lnTo>
                <a:lnTo>
                  <a:pt x="311489" y="59786"/>
                </a:lnTo>
                <a:lnTo>
                  <a:pt x="318411" y="52482"/>
                </a:lnTo>
                <a:lnTo>
                  <a:pt x="325333" y="43059"/>
                </a:lnTo>
                <a:lnTo>
                  <a:pt x="332255" y="32517"/>
                </a:lnTo>
              </a:path>
            </a:pathLst>
          </a:custGeom>
          <a:noFill/>
          <a:ln w="24351">
            <a:solidFill>
              <a:srgbClr val="E64B35">
                <a:alpha val="99000"/>
              </a:srgbClr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L absorption burst 1"/>
          <p:cNvSpPr/>
          <p:nvPr/>
        </p:nvSpPr>
        <p:spPr>
          <a:xfrm>
            <a:off x="6729883" y="2595480"/>
            <a:ext cx="199485" cy="199485"/>
          </a:xfrm>
          <a:prstGeom prst="star10">
            <a:avLst>
              <a:gd name="adj" fmla="val 40000"/>
              <a:gd name="hf" fmla="val 105146"/>
            </a:avLst>
          </a:prstGeom>
          <a:solidFill>
            <a:srgbClr val="FBDCD6">
              <a:alpha val="99000"/>
            </a:srgbClr>
          </a:solidFill>
          <a:ln w="7338">
            <a:solidFill>
              <a:srgbClr val="E64B35">
                <a:alpha val="99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L ohmic loss 2L"/>
          <p:cNvSpPr/>
          <p:nvPr/>
        </p:nvSpPr>
        <p:spPr>
          <a:xfrm>
            <a:off x="8351547" y="2629311"/>
            <a:ext cx="179061" cy="43958"/>
          </a:xfrm>
          <a:custGeom>
            <a:avLst/>
            <a:gdLst/>
            <a:ahLst/>
            <a:cxnLst/>
            <a:rect l="l" t="t" r="r" b="b"/>
            <a:pathLst>
              <a:path w="179061" h="43958">
                <a:moveTo>
                  <a:pt x="179061" y="21885"/>
                </a:moveTo>
                <a:lnTo>
                  <a:pt x="175331" y="28980"/>
                </a:lnTo>
                <a:lnTo>
                  <a:pt x="171600" y="35322"/>
                </a:lnTo>
                <a:lnTo>
                  <a:pt x="167870" y="40238"/>
                </a:lnTo>
                <a:lnTo>
                  <a:pt x="164139" y="43206"/>
                </a:lnTo>
                <a:lnTo>
                  <a:pt x="160409" y="43911"/>
                </a:lnTo>
                <a:lnTo>
                  <a:pt x="156678" y="42278"/>
                </a:lnTo>
                <a:lnTo>
                  <a:pt x="152948" y="38480"/>
                </a:lnTo>
                <a:lnTo>
                  <a:pt x="149218" y="32921"/>
                </a:lnTo>
                <a:lnTo>
                  <a:pt x="145487" y="26191"/>
                </a:lnTo>
                <a:lnTo>
                  <a:pt x="141757" y="19003"/>
                </a:lnTo>
                <a:lnTo>
                  <a:pt x="138026" y="12122"/>
                </a:lnTo>
                <a:lnTo>
                  <a:pt x="134296" y="6276"/>
                </a:lnTo>
                <a:lnTo>
                  <a:pt x="130565" y="2088"/>
                </a:lnTo>
                <a:lnTo>
                  <a:pt x="126835" y="0"/>
                </a:lnTo>
                <a:lnTo>
                  <a:pt x="123104" y="235"/>
                </a:lnTo>
                <a:lnTo>
                  <a:pt x="119374" y="2768"/>
                </a:lnTo>
                <a:lnTo>
                  <a:pt x="115644" y="7331"/>
                </a:lnTo>
                <a:lnTo>
                  <a:pt x="111913" y="13437"/>
                </a:lnTo>
                <a:lnTo>
                  <a:pt x="108183" y="20441"/>
                </a:lnTo>
                <a:lnTo>
                  <a:pt x="104452" y="27598"/>
                </a:lnTo>
                <a:lnTo>
                  <a:pt x="100722" y="34148"/>
                </a:lnTo>
                <a:lnTo>
                  <a:pt x="96991" y="39397"/>
                </a:lnTo>
                <a:lnTo>
                  <a:pt x="93261" y="42787"/>
                </a:lnTo>
                <a:lnTo>
                  <a:pt x="89530" y="43958"/>
                </a:lnTo>
                <a:lnTo>
                  <a:pt x="85800" y="42787"/>
                </a:lnTo>
                <a:lnTo>
                  <a:pt x="82069" y="39397"/>
                </a:lnTo>
                <a:lnTo>
                  <a:pt x="78339" y="34148"/>
                </a:lnTo>
                <a:lnTo>
                  <a:pt x="74609" y="27598"/>
                </a:lnTo>
                <a:lnTo>
                  <a:pt x="70878" y="20441"/>
                </a:lnTo>
                <a:lnTo>
                  <a:pt x="67148" y="13437"/>
                </a:lnTo>
                <a:lnTo>
                  <a:pt x="63417" y="7331"/>
                </a:lnTo>
                <a:lnTo>
                  <a:pt x="59687" y="2768"/>
                </a:lnTo>
                <a:lnTo>
                  <a:pt x="55956" y="235"/>
                </a:lnTo>
                <a:lnTo>
                  <a:pt x="52226" y="0"/>
                </a:lnTo>
                <a:lnTo>
                  <a:pt x="48495" y="2088"/>
                </a:lnTo>
                <a:lnTo>
                  <a:pt x="44765" y="6276"/>
                </a:lnTo>
                <a:lnTo>
                  <a:pt x="41035" y="12122"/>
                </a:lnTo>
                <a:lnTo>
                  <a:pt x="37304" y="19003"/>
                </a:lnTo>
                <a:lnTo>
                  <a:pt x="33574" y="26191"/>
                </a:lnTo>
                <a:lnTo>
                  <a:pt x="29843" y="32921"/>
                </a:lnTo>
                <a:lnTo>
                  <a:pt x="26113" y="38480"/>
                </a:lnTo>
                <a:lnTo>
                  <a:pt x="22382" y="42278"/>
                </a:lnTo>
                <a:lnTo>
                  <a:pt x="18652" y="43911"/>
                </a:lnTo>
                <a:lnTo>
                  <a:pt x="14921" y="43206"/>
                </a:lnTo>
                <a:lnTo>
                  <a:pt x="11191" y="40238"/>
                </a:lnTo>
                <a:lnTo>
                  <a:pt x="7460" y="35322"/>
                </a:lnTo>
                <a:lnTo>
                  <a:pt x="3730" y="28980"/>
                </a:lnTo>
                <a:lnTo>
                  <a:pt x="0" y="21885"/>
                </a:lnTo>
              </a:path>
            </a:pathLst>
          </a:custGeom>
          <a:noFill/>
          <a:ln w="17887">
            <a:solidFill>
              <a:srgbClr val="E64B35">
                <a:alpha val="70003"/>
              </a:srgbClr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L ohmic loss 2R"/>
          <p:cNvSpPr/>
          <p:nvPr/>
        </p:nvSpPr>
        <p:spPr>
          <a:xfrm>
            <a:off x="8650776" y="2629311"/>
            <a:ext cx="179061" cy="43958"/>
          </a:xfrm>
          <a:custGeom>
            <a:avLst/>
            <a:gdLst/>
            <a:ahLst/>
            <a:cxnLst/>
            <a:rect l="l" t="t" r="r" b="b"/>
            <a:pathLst>
              <a:path w="179061" h="43958">
                <a:moveTo>
                  <a:pt x="0" y="21885"/>
                </a:moveTo>
                <a:lnTo>
                  <a:pt x="3730" y="28980"/>
                </a:lnTo>
                <a:lnTo>
                  <a:pt x="7461" y="35322"/>
                </a:lnTo>
                <a:lnTo>
                  <a:pt x="11191" y="40238"/>
                </a:lnTo>
                <a:lnTo>
                  <a:pt x="14922" y="43206"/>
                </a:lnTo>
                <a:lnTo>
                  <a:pt x="18652" y="43911"/>
                </a:lnTo>
                <a:lnTo>
                  <a:pt x="22382" y="42278"/>
                </a:lnTo>
                <a:lnTo>
                  <a:pt x="26113" y="38480"/>
                </a:lnTo>
                <a:lnTo>
                  <a:pt x="29843" y="32921"/>
                </a:lnTo>
                <a:lnTo>
                  <a:pt x="33574" y="26191"/>
                </a:lnTo>
                <a:lnTo>
                  <a:pt x="37304" y="19003"/>
                </a:lnTo>
                <a:lnTo>
                  <a:pt x="41035" y="12122"/>
                </a:lnTo>
                <a:lnTo>
                  <a:pt x="44765" y="6276"/>
                </a:lnTo>
                <a:lnTo>
                  <a:pt x="48496" y="2088"/>
                </a:lnTo>
                <a:lnTo>
                  <a:pt x="52226" y="0"/>
                </a:lnTo>
                <a:lnTo>
                  <a:pt x="55956" y="235"/>
                </a:lnTo>
                <a:lnTo>
                  <a:pt x="59687" y="2768"/>
                </a:lnTo>
                <a:lnTo>
                  <a:pt x="63417" y="7331"/>
                </a:lnTo>
                <a:lnTo>
                  <a:pt x="67148" y="13437"/>
                </a:lnTo>
                <a:lnTo>
                  <a:pt x="70878" y="20441"/>
                </a:lnTo>
                <a:lnTo>
                  <a:pt x="74609" y="27598"/>
                </a:lnTo>
                <a:lnTo>
                  <a:pt x="78339" y="34148"/>
                </a:lnTo>
                <a:lnTo>
                  <a:pt x="82070" y="39397"/>
                </a:lnTo>
                <a:lnTo>
                  <a:pt x="85800" y="42787"/>
                </a:lnTo>
                <a:lnTo>
                  <a:pt x="89531" y="43958"/>
                </a:lnTo>
                <a:lnTo>
                  <a:pt x="93261" y="42787"/>
                </a:lnTo>
                <a:lnTo>
                  <a:pt x="96991" y="39397"/>
                </a:lnTo>
                <a:lnTo>
                  <a:pt x="100722" y="34148"/>
                </a:lnTo>
                <a:lnTo>
                  <a:pt x="104452" y="27598"/>
                </a:lnTo>
                <a:lnTo>
                  <a:pt x="108183" y="20441"/>
                </a:lnTo>
                <a:lnTo>
                  <a:pt x="111913" y="13437"/>
                </a:lnTo>
                <a:lnTo>
                  <a:pt x="115644" y="7331"/>
                </a:lnTo>
                <a:lnTo>
                  <a:pt x="119374" y="2768"/>
                </a:lnTo>
                <a:lnTo>
                  <a:pt x="123105" y="235"/>
                </a:lnTo>
                <a:lnTo>
                  <a:pt x="126835" y="0"/>
                </a:lnTo>
                <a:lnTo>
                  <a:pt x="130565" y="2088"/>
                </a:lnTo>
                <a:lnTo>
                  <a:pt x="134296" y="6276"/>
                </a:lnTo>
                <a:lnTo>
                  <a:pt x="138026" y="12122"/>
                </a:lnTo>
                <a:lnTo>
                  <a:pt x="141757" y="19003"/>
                </a:lnTo>
                <a:lnTo>
                  <a:pt x="145487" y="26191"/>
                </a:lnTo>
                <a:lnTo>
                  <a:pt x="149218" y="32921"/>
                </a:lnTo>
                <a:lnTo>
                  <a:pt x="152948" y="38480"/>
                </a:lnTo>
                <a:lnTo>
                  <a:pt x="156679" y="42278"/>
                </a:lnTo>
                <a:lnTo>
                  <a:pt x="160409" y="43911"/>
                </a:lnTo>
                <a:lnTo>
                  <a:pt x="164140" y="43206"/>
                </a:lnTo>
                <a:lnTo>
                  <a:pt x="167870" y="40238"/>
                </a:lnTo>
                <a:lnTo>
                  <a:pt x="171600" y="35322"/>
                </a:lnTo>
                <a:lnTo>
                  <a:pt x="175331" y="28980"/>
                </a:lnTo>
                <a:lnTo>
                  <a:pt x="179061" y="21885"/>
                </a:lnTo>
              </a:path>
            </a:pathLst>
          </a:custGeom>
          <a:noFill/>
          <a:ln w="17887">
            <a:solidFill>
              <a:srgbClr val="E64B35">
                <a:alpha val="70003"/>
              </a:srgbClr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L absorption burst 2"/>
          <p:cNvSpPr/>
          <p:nvPr/>
        </p:nvSpPr>
        <p:spPr>
          <a:xfrm>
            <a:off x="8523270" y="2627801"/>
            <a:ext cx="134843" cy="134843"/>
          </a:xfrm>
          <a:prstGeom prst="star10">
            <a:avLst>
              <a:gd name="adj" fmla="val 40000"/>
              <a:gd name="hf" fmla="val 105146"/>
            </a:avLst>
          </a:prstGeom>
          <a:solidFill>
            <a:srgbClr val="FBDCD6">
              <a:alpha val="70003"/>
            </a:srgbClr>
          </a:solidFill>
          <a:ln w="7338">
            <a:solidFill>
              <a:srgbClr val="E64B35">
                <a:alpha val="70003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L ohmic loss 3L"/>
          <p:cNvSpPr/>
          <p:nvPr/>
        </p:nvSpPr>
        <p:spPr>
          <a:xfrm>
            <a:off x="10194034" y="2633651"/>
            <a:ext cx="116522" cy="35240"/>
          </a:xfrm>
          <a:custGeom>
            <a:avLst/>
            <a:gdLst/>
            <a:ahLst/>
            <a:cxnLst/>
            <a:rect l="l" t="t" r="r" b="b"/>
            <a:pathLst>
              <a:path w="116522" h="35240">
                <a:moveTo>
                  <a:pt x="116522" y="17545"/>
                </a:moveTo>
                <a:lnTo>
                  <a:pt x="114095" y="23233"/>
                </a:lnTo>
                <a:lnTo>
                  <a:pt x="111667" y="28317"/>
                </a:lnTo>
                <a:lnTo>
                  <a:pt x="109240" y="32258"/>
                </a:lnTo>
                <a:lnTo>
                  <a:pt x="106812" y="34637"/>
                </a:lnTo>
                <a:lnTo>
                  <a:pt x="104385" y="35202"/>
                </a:lnTo>
                <a:lnTo>
                  <a:pt x="101957" y="33893"/>
                </a:lnTo>
                <a:lnTo>
                  <a:pt x="99530" y="30849"/>
                </a:lnTo>
                <a:lnTo>
                  <a:pt x="97102" y="26392"/>
                </a:lnTo>
                <a:lnTo>
                  <a:pt x="94674" y="20997"/>
                </a:lnTo>
                <a:lnTo>
                  <a:pt x="92247" y="15235"/>
                </a:lnTo>
                <a:lnTo>
                  <a:pt x="89819" y="9718"/>
                </a:lnTo>
                <a:lnTo>
                  <a:pt x="87392" y="5032"/>
                </a:lnTo>
                <a:lnTo>
                  <a:pt x="84964" y="1674"/>
                </a:lnTo>
                <a:lnTo>
                  <a:pt x="82537" y="0"/>
                </a:lnTo>
                <a:lnTo>
                  <a:pt x="80109" y="189"/>
                </a:lnTo>
                <a:lnTo>
                  <a:pt x="77682" y="2220"/>
                </a:lnTo>
                <a:lnTo>
                  <a:pt x="75254" y="5877"/>
                </a:lnTo>
                <a:lnTo>
                  <a:pt x="72827" y="10773"/>
                </a:lnTo>
                <a:lnTo>
                  <a:pt x="70399" y="16387"/>
                </a:lnTo>
                <a:lnTo>
                  <a:pt x="67971" y="22125"/>
                </a:lnTo>
                <a:lnTo>
                  <a:pt x="65544" y="27376"/>
                </a:lnTo>
                <a:lnTo>
                  <a:pt x="63116" y="31583"/>
                </a:lnTo>
                <a:lnTo>
                  <a:pt x="60689" y="34301"/>
                </a:lnTo>
                <a:lnTo>
                  <a:pt x="58261" y="35240"/>
                </a:lnTo>
                <a:lnTo>
                  <a:pt x="55834" y="34301"/>
                </a:lnTo>
                <a:lnTo>
                  <a:pt x="53406" y="31583"/>
                </a:lnTo>
                <a:lnTo>
                  <a:pt x="50979" y="27376"/>
                </a:lnTo>
                <a:lnTo>
                  <a:pt x="48551" y="22125"/>
                </a:lnTo>
                <a:lnTo>
                  <a:pt x="46124" y="16387"/>
                </a:lnTo>
                <a:lnTo>
                  <a:pt x="43696" y="10773"/>
                </a:lnTo>
                <a:lnTo>
                  <a:pt x="41268" y="5877"/>
                </a:lnTo>
                <a:lnTo>
                  <a:pt x="38841" y="2220"/>
                </a:lnTo>
                <a:lnTo>
                  <a:pt x="36413" y="189"/>
                </a:lnTo>
                <a:lnTo>
                  <a:pt x="33986" y="0"/>
                </a:lnTo>
                <a:lnTo>
                  <a:pt x="31558" y="1674"/>
                </a:lnTo>
                <a:lnTo>
                  <a:pt x="29131" y="5032"/>
                </a:lnTo>
                <a:lnTo>
                  <a:pt x="26703" y="9718"/>
                </a:lnTo>
                <a:lnTo>
                  <a:pt x="24276" y="15235"/>
                </a:lnTo>
                <a:lnTo>
                  <a:pt x="21848" y="20997"/>
                </a:lnTo>
                <a:lnTo>
                  <a:pt x="19421" y="26392"/>
                </a:lnTo>
                <a:lnTo>
                  <a:pt x="16993" y="30849"/>
                </a:lnTo>
                <a:lnTo>
                  <a:pt x="14565" y="33893"/>
                </a:lnTo>
                <a:lnTo>
                  <a:pt x="12138" y="35202"/>
                </a:lnTo>
                <a:lnTo>
                  <a:pt x="9710" y="34637"/>
                </a:lnTo>
                <a:lnTo>
                  <a:pt x="7283" y="32258"/>
                </a:lnTo>
                <a:lnTo>
                  <a:pt x="4855" y="28317"/>
                </a:lnTo>
                <a:lnTo>
                  <a:pt x="2428" y="23233"/>
                </a:lnTo>
                <a:lnTo>
                  <a:pt x="0" y="17545"/>
                </a:lnTo>
              </a:path>
            </a:pathLst>
          </a:custGeom>
          <a:noFill/>
          <a:ln w="14111">
            <a:solidFill>
              <a:srgbClr val="E64B35">
                <a:alpha val="58166"/>
              </a:srgbClr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L ohmic loss 3R"/>
          <p:cNvSpPr/>
          <p:nvPr/>
        </p:nvSpPr>
        <p:spPr>
          <a:xfrm>
            <a:off x="10392961" y="2633651"/>
            <a:ext cx="116522" cy="35240"/>
          </a:xfrm>
          <a:custGeom>
            <a:avLst/>
            <a:gdLst/>
            <a:ahLst/>
            <a:cxnLst/>
            <a:rect l="l" t="t" r="r" b="b"/>
            <a:pathLst>
              <a:path w="116522" h="35240">
                <a:moveTo>
                  <a:pt x="0" y="17545"/>
                </a:moveTo>
                <a:lnTo>
                  <a:pt x="2427" y="23233"/>
                </a:lnTo>
                <a:lnTo>
                  <a:pt x="4855" y="28317"/>
                </a:lnTo>
                <a:lnTo>
                  <a:pt x="7283" y="32258"/>
                </a:lnTo>
                <a:lnTo>
                  <a:pt x="9710" y="34637"/>
                </a:lnTo>
                <a:lnTo>
                  <a:pt x="12138" y="35202"/>
                </a:lnTo>
                <a:lnTo>
                  <a:pt x="14565" y="33893"/>
                </a:lnTo>
                <a:lnTo>
                  <a:pt x="16993" y="30849"/>
                </a:lnTo>
                <a:lnTo>
                  <a:pt x="19420" y="26392"/>
                </a:lnTo>
                <a:lnTo>
                  <a:pt x="21848" y="20997"/>
                </a:lnTo>
                <a:lnTo>
                  <a:pt x="24275" y="15235"/>
                </a:lnTo>
                <a:lnTo>
                  <a:pt x="26703" y="9718"/>
                </a:lnTo>
                <a:lnTo>
                  <a:pt x="29130" y="5032"/>
                </a:lnTo>
                <a:lnTo>
                  <a:pt x="31558" y="1674"/>
                </a:lnTo>
                <a:lnTo>
                  <a:pt x="33986" y="0"/>
                </a:lnTo>
                <a:lnTo>
                  <a:pt x="36413" y="189"/>
                </a:lnTo>
                <a:lnTo>
                  <a:pt x="38841" y="2220"/>
                </a:lnTo>
                <a:lnTo>
                  <a:pt x="41268" y="5877"/>
                </a:lnTo>
                <a:lnTo>
                  <a:pt x="43696" y="10773"/>
                </a:lnTo>
                <a:lnTo>
                  <a:pt x="46123" y="16387"/>
                </a:lnTo>
                <a:lnTo>
                  <a:pt x="48551" y="22125"/>
                </a:lnTo>
                <a:lnTo>
                  <a:pt x="50978" y="27376"/>
                </a:lnTo>
                <a:lnTo>
                  <a:pt x="53406" y="31583"/>
                </a:lnTo>
                <a:lnTo>
                  <a:pt x="55833" y="34301"/>
                </a:lnTo>
                <a:lnTo>
                  <a:pt x="58261" y="35240"/>
                </a:lnTo>
                <a:lnTo>
                  <a:pt x="60689" y="34301"/>
                </a:lnTo>
                <a:lnTo>
                  <a:pt x="63116" y="31583"/>
                </a:lnTo>
                <a:lnTo>
                  <a:pt x="65544" y="27376"/>
                </a:lnTo>
                <a:lnTo>
                  <a:pt x="67971" y="22125"/>
                </a:lnTo>
                <a:lnTo>
                  <a:pt x="70399" y="16387"/>
                </a:lnTo>
                <a:lnTo>
                  <a:pt x="72826" y="10773"/>
                </a:lnTo>
                <a:lnTo>
                  <a:pt x="75254" y="5877"/>
                </a:lnTo>
                <a:lnTo>
                  <a:pt x="77681" y="2220"/>
                </a:lnTo>
                <a:lnTo>
                  <a:pt x="80109" y="189"/>
                </a:lnTo>
                <a:lnTo>
                  <a:pt x="82536" y="0"/>
                </a:lnTo>
                <a:lnTo>
                  <a:pt x="84964" y="1674"/>
                </a:lnTo>
                <a:lnTo>
                  <a:pt x="87392" y="5032"/>
                </a:lnTo>
                <a:lnTo>
                  <a:pt x="89819" y="9718"/>
                </a:lnTo>
                <a:lnTo>
                  <a:pt x="92247" y="15235"/>
                </a:lnTo>
                <a:lnTo>
                  <a:pt x="94674" y="20997"/>
                </a:lnTo>
                <a:lnTo>
                  <a:pt x="97102" y="26392"/>
                </a:lnTo>
                <a:lnTo>
                  <a:pt x="99529" y="30849"/>
                </a:lnTo>
                <a:lnTo>
                  <a:pt x="101957" y="33893"/>
                </a:lnTo>
                <a:lnTo>
                  <a:pt x="104384" y="35202"/>
                </a:lnTo>
                <a:lnTo>
                  <a:pt x="106812" y="34637"/>
                </a:lnTo>
                <a:lnTo>
                  <a:pt x="109239" y="32258"/>
                </a:lnTo>
                <a:lnTo>
                  <a:pt x="111667" y="28317"/>
                </a:lnTo>
                <a:lnTo>
                  <a:pt x="114095" y="23233"/>
                </a:lnTo>
                <a:lnTo>
                  <a:pt x="116522" y="17545"/>
                </a:lnTo>
              </a:path>
            </a:pathLst>
          </a:custGeom>
          <a:noFill/>
          <a:ln w="14111">
            <a:solidFill>
              <a:srgbClr val="E64B35">
                <a:alpha val="58166"/>
              </a:srgbClr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L absorption burst 3"/>
          <p:cNvSpPr/>
          <p:nvPr/>
        </p:nvSpPr>
        <p:spPr>
          <a:xfrm>
            <a:off x="10303219" y="2646682"/>
            <a:ext cx="97080" cy="97080"/>
          </a:xfrm>
          <a:prstGeom prst="star10">
            <a:avLst>
              <a:gd name="adj" fmla="val 40000"/>
              <a:gd name="hf" fmla="val 105146"/>
            </a:avLst>
          </a:prstGeom>
          <a:solidFill>
            <a:srgbClr val="FBDCD6">
              <a:alpha val="58166"/>
            </a:srgbClr>
          </a:solidFill>
          <a:ln w="7338">
            <a:solidFill>
              <a:srgbClr val="E64B35">
                <a:alpha val="58166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L emitter"/>
          <p:cNvSpPr/>
          <p:nvPr/>
        </p:nvSpPr>
        <p:spPr>
          <a:xfrm>
            <a:off x="5072228" y="2566811"/>
            <a:ext cx="124742" cy="124742"/>
          </a:xfrm>
          <a:prstGeom prst="star8">
            <a:avLst>
              <a:gd name="adj" fmla="val 40000"/>
            </a:avLst>
          </a:prstGeom>
          <a:solidFill>
            <a:srgbClr val="E8901F"/>
          </a:solidFill>
          <a:ln w="7338">
            <a:solidFill>
              <a:srgbClr val="6F43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L emitter core"/>
          <p:cNvSpPr/>
          <p:nvPr/>
        </p:nvSpPr>
        <p:spPr>
          <a:xfrm>
            <a:off x="5116988" y="2611572"/>
            <a:ext cx="35221" cy="35221"/>
          </a:xfrm>
          <a:prstGeom prst="ellipse">
            <a:avLst/>
          </a:prstGeom>
          <a:solidFill>
            <a:srgbClr val="FFF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itle 1"/>
          <p:cNvSpPr txBox="1"/>
          <p:nvPr/>
        </p:nvSpPr>
        <p:spPr>
          <a:xfrm>
            <a:off x="5582203" y="498732"/>
            <a:ext cx="5136444" cy="3698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213" b="1">
                <a:solidFill>
                  <a:srgbClr val="1A1A1A"/>
                </a:solidFill>
                <a:latin typeface="Arial"/>
              </a:rPr>
              <a:t>Conventional metal reflector</a:t>
            </a:r>
          </a:p>
        </p:txBody>
      </p:sp>
      <p:sp>
        <p:nvSpPr>
          <p:cNvPr id="60" name="subtitle 1"/>
          <p:cNvSpPr txBox="1"/>
          <p:nvPr/>
        </p:nvSpPr>
        <p:spPr>
          <a:xfrm>
            <a:off x="5949092" y="731339"/>
            <a:ext cx="4402667" cy="28177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24" b="0">
                <a:solidFill>
                  <a:srgbClr val="55585C"/>
                </a:solidFill>
                <a:latin typeface="Arial"/>
              </a:rPr>
              <a:t>large absorption per round trip — the beam dies out within a few passes</a:t>
            </a:r>
          </a:p>
        </p:txBody>
      </p:sp>
      <p:sp>
        <p:nvSpPr>
          <p:cNvPr id="61" name="key 1: Outcoupling structure"/>
          <p:cNvSpPr txBox="1"/>
          <p:nvPr/>
        </p:nvSpPr>
        <p:spPr>
          <a:xfrm>
            <a:off x="2801185" y="1509731"/>
            <a:ext cx="1907822" cy="24654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08" b="0">
                <a:solidFill>
                  <a:srgbClr val="55585C"/>
                </a:solidFill>
                <a:latin typeface="Arial"/>
              </a:rPr>
              <a:t>Outcoupling structure</a:t>
            </a:r>
          </a:p>
        </p:txBody>
      </p:sp>
      <p:cxnSp>
        <p:nvCxnSpPr>
          <p:cNvPr id="62" name="key leader 1: Outcoupling structure"/>
          <p:cNvCxnSpPr/>
          <p:nvPr/>
        </p:nvCxnSpPr>
        <p:spPr>
          <a:xfrm>
            <a:off x="4753034" y="1631244"/>
            <a:ext cx="58702" cy="14676"/>
          </a:xfrm>
          <a:prstGeom prst="line">
            <a:avLst/>
          </a:prstGeom>
          <a:ln w="6604">
            <a:solidFill>
              <a:srgbClr val="9AA0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key 1: Glass substrate"/>
          <p:cNvSpPr txBox="1"/>
          <p:nvPr/>
        </p:nvSpPr>
        <p:spPr>
          <a:xfrm>
            <a:off x="2801185" y="2038051"/>
            <a:ext cx="1907822" cy="24654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08" b="0">
                <a:solidFill>
                  <a:srgbClr val="55585C"/>
                </a:solidFill>
                <a:latin typeface="Arial"/>
              </a:rPr>
              <a:t>Glass substrate</a:t>
            </a:r>
          </a:p>
        </p:txBody>
      </p:sp>
      <p:cxnSp>
        <p:nvCxnSpPr>
          <p:cNvPr id="64" name="key leader 1: Glass substrate"/>
          <p:cNvCxnSpPr/>
          <p:nvPr/>
        </p:nvCxnSpPr>
        <p:spPr>
          <a:xfrm flipV="1">
            <a:off x="4753034" y="2130213"/>
            <a:ext cx="58702" cy="29351"/>
          </a:xfrm>
          <a:prstGeom prst="line">
            <a:avLst/>
          </a:prstGeom>
          <a:ln w="6604">
            <a:solidFill>
              <a:srgbClr val="9AA0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key 1: Transparent conductive oxide (TCO)"/>
          <p:cNvSpPr txBox="1"/>
          <p:nvPr/>
        </p:nvSpPr>
        <p:spPr>
          <a:xfrm>
            <a:off x="2801185" y="2338900"/>
            <a:ext cx="1907822" cy="24654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08" b="0">
                <a:solidFill>
                  <a:srgbClr val="55585C"/>
                </a:solidFill>
                <a:latin typeface="Arial"/>
              </a:rPr>
              <a:t>Transparent conductive oxide (TCO)</a:t>
            </a:r>
          </a:p>
        </p:txBody>
      </p:sp>
      <p:cxnSp>
        <p:nvCxnSpPr>
          <p:cNvPr id="66" name="key leader 1: Transparent conductive oxide (TCO)"/>
          <p:cNvCxnSpPr/>
          <p:nvPr/>
        </p:nvCxnSpPr>
        <p:spPr>
          <a:xfrm>
            <a:off x="4753034" y="2460413"/>
            <a:ext cx="58702" cy="44027"/>
          </a:xfrm>
          <a:prstGeom prst="line">
            <a:avLst/>
          </a:prstGeom>
          <a:ln w="6604">
            <a:solidFill>
              <a:srgbClr val="9AA0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key 1: Organic layers"/>
          <p:cNvSpPr txBox="1"/>
          <p:nvPr/>
        </p:nvSpPr>
        <p:spPr>
          <a:xfrm>
            <a:off x="2801185" y="2551695"/>
            <a:ext cx="1907822" cy="24654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08" b="0">
                <a:solidFill>
                  <a:srgbClr val="55585C"/>
                </a:solidFill>
                <a:latin typeface="Arial"/>
              </a:rPr>
              <a:t>Organic layers</a:t>
            </a:r>
          </a:p>
        </p:txBody>
      </p:sp>
      <p:cxnSp>
        <p:nvCxnSpPr>
          <p:cNvPr id="68" name="key leader 1: Organic layers"/>
          <p:cNvCxnSpPr/>
          <p:nvPr/>
        </p:nvCxnSpPr>
        <p:spPr>
          <a:xfrm flipV="1">
            <a:off x="4753034" y="2629182"/>
            <a:ext cx="58702" cy="44027"/>
          </a:xfrm>
          <a:prstGeom prst="line">
            <a:avLst/>
          </a:prstGeom>
          <a:ln w="6604">
            <a:solidFill>
              <a:srgbClr val="9AA0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key 1: Conventional metal electrode"/>
          <p:cNvSpPr txBox="1"/>
          <p:nvPr/>
        </p:nvSpPr>
        <p:spPr>
          <a:xfrm>
            <a:off x="2801185" y="2742478"/>
            <a:ext cx="1907822" cy="24654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08" b="0">
                <a:solidFill>
                  <a:srgbClr val="55585C"/>
                </a:solidFill>
                <a:latin typeface="Arial"/>
              </a:rPr>
              <a:t>Conventional metal electrode</a:t>
            </a:r>
          </a:p>
        </p:txBody>
      </p:sp>
      <p:cxnSp>
        <p:nvCxnSpPr>
          <p:cNvPr id="70" name="key leader 1: Conventional metal electrode"/>
          <p:cNvCxnSpPr/>
          <p:nvPr/>
        </p:nvCxnSpPr>
        <p:spPr>
          <a:xfrm flipV="1">
            <a:off x="4753034" y="2841978"/>
            <a:ext cx="58702" cy="22013"/>
          </a:xfrm>
          <a:prstGeom prst="line">
            <a:avLst/>
          </a:prstGeom>
          <a:ln w="6604">
            <a:solidFill>
              <a:srgbClr val="9AA0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1" name="designrule render" descr="emitting_area_render_designrule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825" y="3465689"/>
            <a:ext cx="2201333" cy="2201333"/>
          </a:xfrm>
          <a:prstGeom prst="rect">
            <a:avLst/>
          </a:prstGeom>
        </p:spPr>
      </p:pic>
      <p:sp>
        <p:nvSpPr>
          <p:cNvPr id="72" name="R lens 01"/>
          <p:cNvSpPr/>
          <p:nvPr/>
        </p:nvSpPr>
        <p:spPr>
          <a:xfrm>
            <a:off x="4848425" y="4272844"/>
            <a:ext cx="440267" cy="440267"/>
          </a:xfrm>
          <a:prstGeom prst="ellipse">
            <a:avLst/>
          </a:prstGeom>
          <a:solidFill>
            <a:srgbClr val="EAF1F6"/>
          </a:solidFill>
          <a:ln w="9539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 lens 02"/>
          <p:cNvSpPr/>
          <p:nvPr/>
        </p:nvSpPr>
        <p:spPr>
          <a:xfrm>
            <a:off x="5288692" y="4272844"/>
            <a:ext cx="440267" cy="440267"/>
          </a:xfrm>
          <a:prstGeom prst="ellipse">
            <a:avLst/>
          </a:prstGeom>
          <a:solidFill>
            <a:srgbClr val="EAF1F6"/>
          </a:solidFill>
          <a:ln w="9539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 lens 03"/>
          <p:cNvSpPr/>
          <p:nvPr/>
        </p:nvSpPr>
        <p:spPr>
          <a:xfrm>
            <a:off x="5728959" y="4272844"/>
            <a:ext cx="440267" cy="440267"/>
          </a:xfrm>
          <a:prstGeom prst="ellipse">
            <a:avLst/>
          </a:prstGeom>
          <a:solidFill>
            <a:srgbClr val="EAF1F6"/>
          </a:solidFill>
          <a:ln w="9539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 lens 04"/>
          <p:cNvSpPr/>
          <p:nvPr/>
        </p:nvSpPr>
        <p:spPr>
          <a:xfrm>
            <a:off x="6169225" y="4272844"/>
            <a:ext cx="440267" cy="440267"/>
          </a:xfrm>
          <a:prstGeom prst="ellipse">
            <a:avLst/>
          </a:prstGeom>
          <a:solidFill>
            <a:srgbClr val="EAF1F6"/>
          </a:solidFill>
          <a:ln w="9539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 lens 05"/>
          <p:cNvSpPr/>
          <p:nvPr/>
        </p:nvSpPr>
        <p:spPr>
          <a:xfrm>
            <a:off x="6609492" y="4272844"/>
            <a:ext cx="440267" cy="440267"/>
          </a:xfrm>
          <a:prstGeom prst="ellipse">
            <a:avLst/>
          </a:prstGeom>
          <a:solidFill>
            <a:srgbClr val="EAF1F6"/>
          </a:solidFill>
          <a:ln w="9539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 lens 06"/>
          <p:cNvSpPr/>
          <p:nvPr/>
        </p:nvSpPr>
        <p:spPr>
          <a:xfrm>
            <a:off x="7049759" y="4272844"/>
            <a:ext cx="440267" cy="440267"/>
          </a:xfrm>
          <a:prstGeom prst="ellipse">
            <a:avLst/>
          </a:prstGeom>
          <a:solidFill>
            <a:srgbClr val="EAF1F6"/>
          </a:solidFill>
          <a:ln w="9539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 lens 07"/>
          <p:cNvSpPr/>
          <p:nvPr/>
        </p:nvSpPr>
        <p:spPr>
          <a:xfrm>
            <a:off x="7490025" y="4272844"/>
            <a:ext cx="440267" cy="440267"/>
          </a:xfrm>
          <a:prstGeom prst="ellipse">
            <a:avLst/>
          </a:prstGeom>
          <a:solidFill>
            <a:srgbClr val="EAF1F6"/>
          </a:solidFill>
          <a:ln w="9539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 lens 08"/>
          <p:cNvSpPr/>
          <p:nvPr/>
        </p:nvSpPr>
        <p:spPr>
          <a:xfrm>
            <a:off x="7930292" y="4272844"/>
            <a:ext cx="440267" cy="440267"/>
          </a:xfrm>
          <a:prstGeom prst="ellipse">
            <a:avLst/>
          </a:prstGeom>
          <a:solidFill>
            <a:srgbClr val="EAF1F6"/>
          </a:solidFill>
          <a:ln w="9539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 lens 09"/>
          <p:cNvSpPr/>
          <p:nvPr/>
        </p:nvSpPr>
        <p:spPr>
          <a:xfrm>
            <a:off x="8370559" y="4272844"/>
            <a:ext cx="440267" cy="440267"/>
          </a:xfrm>
          <a:prstGeom prst="ellipse">
            <a:avLst/>
          </a:prstGeom>
          <a:solidFill>
            <a:srgbClr val="EAF1F6"/>
          </a:solidFill>
          <a:ln w="9539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 lens 10"/>
          <p:cNvSpPr/>
          <p:nvPr/>
        </p:nvSpPr>
        <p:spPr>
          <a:xfrm>
            <a:off x="8810825" y="4272844"/>
            <a:ext cx="440267" cy="440267"/>
          </a:xfrm>
          <a:prstGeom prst="ellipse">
            <a:avLst/>
          </a:prstGeom>
          <a:solidFill>
            <a:srgbClr val="EAF1F6"/>
          </a:solidFill>
          <a:ln w="9539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 lens 11"/>
          <p:cNvSpPr/>
          <p:nvPr/>
        </p:nvSpPr>
        <p:spPr>
          <a:xfrm>
            <a:off x="9251092" y="4272844"/>
            <a:ext cx="440267" cy="440267"/>
          </a:xfrm>
          <a:prstGeom prst="ellipse">
            <a:avLst/>
          </a:prstGeom>
          <a:solidFill>
            <a:srgbClr val="EAF1F6"/>
          </a:solidFill>
          <a:ln w="9539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 lens 12"/>
          <p:cNvSpPr/>
          <p:nvPr/>
        </p:nvSpPr>
        <p:spPr>
          <a:xfrm>
            <a:off x="9691359" y="4272844"/>
            <a:ext cx="440267" cy="440267"/>
          </a:xfrm>
          <a:prstGeom prst="ellipse">
            <a:avLst/>
          </a:prstGeom>
          <a:solidFill>
            <a:srgbClr val="EAF1F6"/>
          </a:solidFill>
          <a:ln w="9539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 lens 13"/>
          <p:cNvSpPr/>
          <p:nvPr/>
        </p:nvSpPr>
        <p:spPr>
          <a:xfrm>
            <a:off x="10131625" y="4272844"/>
            <a:ext cx="440267" cy="440267"/>
          </a:xfrm>
          <a:prstGeom prst="ellipse">
            <a:avLst/>
          </a:prstGeom>
          <a:solidFill>
            <a:srgbClr val="EAF1F6"/>
          </a:solidFill>
          <a:ln w="9539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 lens 14"/>
          <p:cNvSpPr/>
          <p:nvPr/>
        </p:nvSpPr>
        <p:spPr>
          <a:xfrm>
            <a:off x="10571892" y="4272844"/>
            <a:ext cx="440267" cy="440267"/>
          </a:xfrm>
          <a:prstGeom prst="ellipse">
            <a:avLst/>
          </a:prstGeom>
          <a:solidFill>
            <a:srgbClr val="EAF1F6"/>
          </a:solidFill>
          <a:ln w="9539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 lens 15"/>
          <p:cNvSpPr/>
          <p:nvPr/>
        </p:nvSpPr>
        <p:spPr>
          <a:xfrm>
            <a:off x="11012159" y="4272844"/>
            <a:ext cx="440267" cy="440267"/>
          </a:xfrm>
          <a:prstGeom prst="ellipse">
            <a:avLst/>
          </a:prstGeom>
          <a:solidFill>
            <a:srgbClr val="EAF1F6"/>
          </a:solidFill>
          <a:ln w="9539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 glass substrate"/>
          <p:cNvSpPr/>
          <p:nvPr/>
        </p:nvSpPr>
        <p:spPr>
          <a:xfrm>
            <a:off x="4848425" y="4492978"/>
            <a:ext cx="6604000" cy="631049"/>
          </a:xfrm>
          <a:prstGeom prst="rect">
            <a:avLst/>
          </a:prstGeom>
          <a:solidFill>
            <a:srgbClr val="EAF1F6"/>
          </a:solidFill>
          <a:ln w="9539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 TCO anode"/>
          <p:cNvSpPr/>
          <p:nvPr/>
        </p:nvSpPr>
        <p:spPr>
          <a:xfrm>
            <a:off x="4848425" y="5124027"/>
            <a:ext cx="6604000" cy="117404"/>
          </a:xfrm>
          <a:prstGeom prst="rect">
            <a:avLst/>
          </a:prstGeom>
          <a:solidFill>
            <a:srgbClr val="CBE1EE"/>
          </a:solidFill>
          <a:ln w="7704">
            <a:solidFill>
              <a:srgbClr val="6E9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 organic layers"/>
          <p:cNvSpPr/>
          <p:nvPr/>
        </p:nvSpPr>
        <p:spPr>
          <a:xfrm>
            <a:off x="4848425" y="5241431"/>
            <a:ext cx="6604000" cy="132080"/>
          </a:xfrm>
          <a:prstGeom prst="rect">
            <a:avLst/>
          </a:prstGeom>
          <a:solidFill>
            <a:srgbClr val="FDF2E2"/>
          </a:solidFill>
          <a:ln w="7704">
            <a:solidFill>
              <a:srgbClr val="C99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 metal cathode"/>
          <p:cNvSpPr/>
          <p:nvPr/>
        </p:nvSpPr>
        <p:spPr>
          <a:xfrm>
            <a:off x="4848425" y="5373511"/>
            <a:ext cx="6604000" cy="293511"/>
          </a:xfrm>
          <a:prstGeom prst="rect">
            <a:avLst/>
          </a:prstGeom>
          <a:solidFill>
            <a:srgbClr val="C3C7CB"/>
          </a:solidFill>
          <a:ln w="7704">
            <a:solidFill>
              <a:srgbClr val="868C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 TCO absorption 1L"/>
          <p:cNvSpPr/>
          <p:nvPr/>
        </p:nvSpPr>
        <p:spPr>
          <a:xfrm>
            <a:off x="6613528" y="5174584"/>
            <a:ext cx="79981" cy="16290"/>
          </a:xfrm>
          <a:custGeom>
            <a:avLst/>
            <a:gdLst/>
            <a:ahLst/>
            <a:cxnLst/>
            <a:rect l="l" t="t" r="r" b="b"/>
            <a:pathLst>
              <a:path w="79981" h="16290">
                <a:moveTo>
                  <a:pt x="0" y="8145"/>
                </a:moveTo>
                <a:lnTo>
                  <a:pt x="1666" y="10253"/>
                </a:lnTo>
                <a:lnTo>
                  <a:pt x="3332" y="12217"/>
                </a:lnTo>
                <a:lnTo>
                  <a:pt x="4999" y="13904"/>
                </a:lnTo>
                <a:lnTo>
                  <a:pt x="6665" y="15199"/>
                </a:lnTo>
                <a:lnTo>
                  <a:pt x="8331" y="16012"/>
                </a:lnTo>
                <a:lnTo>
                  <a:pt x="9997" y="16290"/>
                </a:lnTo>
                <a:lnTo>
                  <a:pt x="11664" y="16012"/>
                </a:lnTo>
                <a:lnTo>
                  <a:pt x="13330" y="15199"/>
                </a:lnTo>
                <a:lnTo>
                  <a:pt x="14996" y="13904"/>
                </a:lnTo>
                <a:lnTo>
                  <a:pt x="16663" y="12217"/>
                </a:lnTo>
                <a:lnTo>
                  <a:pt x="18329" y="10253"/>
                </a:lnTo>
                <a:lnTo>
                  <a:pt x="19995" y="8145"/>
                </a:lnTo>
                <a:lnTo>
                  <a:pt x="21661" y="6037"/>
                </a:lnTo>
                <a:lnTo>
                  <a:pt x="23328" y="4072"/>
                </a:lnTo>
                <a:lnTo>
                  <a:pt x="24994" y="2386"/>
                </a:lnTo>
                <a:lnTo>
                  <a:pt x="26660" y="1091"/>
                </a:lnTo>
                <a:lnTo>
                  <a:pt x="28327" y="277"/>
                </a:lnTo>
                <a:lnTo>
                  <a:pt x="29993" y="0"/>
                </a:lnTo>
                <a:lnTo>
                  <a:pt x="31659" y="277"/>
                </a:lnTo>
                <a:lnTo>
                  <a:pt x="33325" y="1091"/>
                </a:lnTo>
                <a:lnTo>
                  <a:pt x="34992" y="2386"/>
                </a:lnTo>
                <a:lnTo>
                  <a:pt x="36658" y="4072"/>
                </a:lnTo>
                <a:lnTo>
                  <a:pt x="38324" y="6037"/>
                </a:lnTo>
                <a:lnTo>
                  <a:pt x="39991" y="8145"/>
                </a:lnTo>
                <a:lnTo>
                  <a:pt x="41657" y="10253"/>
                </a:lnTo>
                <a:lnTo>
                  <a:pt x="43323" y="12217"/>
                </a:lnTo>
                <a:lnTo>
                  <a:pt x="44989" y="13904"/>
                </a:lnTo>
                <a:lnTo>
                  <a:pt x="46656" y="15199"/>
                </a:lnTo>
                <a:lnTo>
                  <a:pt x="48322" y="16012"/>
                </a:lnTo>
                <a:lnTo>
                  <a:pt x="49988" y="16290"/>
                </a:lnTo>
                <a:lnTo>
                  <a:pt x="51655" y="16012"/>
                </a:lnTo>
                <a:lnTo>
                  <a:pt x="53321" y="15199"/>
                </a:lnTo>
                <a:lnTo>
                  <a:pt x="54987" y="13904"/>
                </a:lnTo>
                <a:lnTo>
                  <a:pt x="56653" y="12217"/>
                </a:lnTo>
                <a:lnTo>
                  <a:pt x="58320" y="10253"/>
                </a:lnTo>
                <a:lnTo>
                  <a:pt x="59986" y="8145"/>
                </a:lnTo>
                <a:lnTo>
                  <a:pt x="61652" y="6037"/>
                </a:lnTo>
                <a:lnTo>
                  <a:pt x="63319" y="4072"/>
                </a:lnTo>
                <a:lnTo>
                  <a:pt x="64985" y="2386"/>
                </a:lnTo>
                <a:lnTo>
                  <a:pt x="66651" y="1091"/>
                </a:lnTo>
                <a:lnTo>
                  <a:pt x="68317" y="277"/>
                </a:lnTo>
                <a:lnTo>
                  <a:pt x="69984" y="0"/>
                </a:lnTo>
                <a:lnTo>
                  <a:pt x="71650" y="277"/>
                </a:lnTo>
                <a:lnTo>
                  <a:pt x="73316" y="1091"/>
                </a:lnTo>
                <a:lnTo>
                  <a:pt x="74983" y="2386"/>
                </a:lnTo>
                <a:lnTo>
                  <a:pt x="76649" y="4072"/>
                </a:lnTo>
                <a:lnTo>
                  <a:pt x="78315" y="6037"/>
                </a:lnTo>
                <a:lnTo>
                  <a:pt x="79981" y="8145"/>
                </a:lnTo>
              </a:path>
            </a:pathLst>
          </a:custGeom>
          <a:noFill/>
          <a:ln w="6934">
            <a:solidFill>
              <a:srgbClr val="E64B35">
                <a:alpha val="2825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 TCO absorption 1R"/>
          <p:cNvSpPr/>
          <p:nvPr/>
        </p:nvSpPr>
        <p:spPr>
          <a:xfrm>
            <a:off x="6965741" y="5174584"/>
            <a:ext cx="79982" cy="16290"/>
          </a:xfrm>
          <a:custGeom>
            <a:avLst/>
            <a:gdLst/>
            <a:ahLst/>
            <a:cxnLst/>
            <a:rect l="l" t="t" r="r" b="b"/>
            <a:pathLst>
              <a:path w="79982" h="16290">
                <a:moveTo>
                  <a:pt x="0" y="8145"/>
                </a:moveTo>
                <a:lnTo>
                  <a:pt x="1666" y="10253"/>
                </a:lnTo>
                <a:lnTo>
                  <a:pt x="3333" y="12217"/>
                </a:lnTo>
                <a:lnTo>
                  <a:pt x="4999" y="13904"/>
                </a:lnTo>
                <a:lnTo>
                  <a:pt x="6665" y="15199"/>
                </a:lnTo>
                <a:lnTo>
                  <a:pt x="8331" y="16012"/>
                </a:lnTo>
                <a:lnTo>
                  <a:pt x="9998" y="16290"/>
                </a:lnTo>
                <a:lnTo>
                  <a:pt x="11664" y="16012"/>
                </a:lnTo>
                <a:lnTo>
                  <a:pt x="13330" y="15199"/>
                </a:lnTo>
                <a:lnTo>
                  <a:pt x="14997" y="13904"/>
                </a:lnTo>
                <a:lnTo>
                  <a:pt x="16663" y="12217"/>
                </a:lnTo>
                <a:lnTo>
                  <a:pt x="18329" y="10253"/>
                </a:lnTo>
                <a:lnTo>
                  <a:pt x="19995" y="8145"/>
                </a:lnTo>
                <a:lnTo>
                  <a:pt x="21662" y="6037"/>
                </a:lnTo>
                <a:lnTo>
                  <a:pt x="23328" y="4072"/>
                </a:lnTo>
                <a:lnTo>
                  <a:pt x="24994" y="2386"/>
                </a:lnTo>
                <a:lnTo>
                  <a:pt x="26661" y="1091"/>
                </a:lnTo>
                <a:lnTo>
                  <a:pt x="28327" y="277"/>
                </a:lnTo>
                <a:lnTo>
                  <a:pt x="29993" y="0"/>
                </a:lnTo>
                <a:lnTo>
                  <a:pt x="31660" y="277"/>
                </a:lnTo>
                <a:lnTo>
                  <a:pt x="33326" y="1091"/>
                </a:lnTo>
                <a:lnTo>
                  <a:pt x="34992" y="2386"/>
                </a:lnTo>
                <a:lnTo>
                  <a:pt x="36658" y="4072"/>
                </a:lnTo>
                <a:lnTo>
                  <a:pt x="38325" y="6037"/>
                </a:lnTo>
                <a:lnTo>
                  <a:pt x="39991" y="8145"/>
                </a:lnTo>
                <a:lnTo>
                  <a:pt x="41657" y="10253"/>
                </a:lnTo>
                <a:lnTo>
                  <a:pt x="43324" y="12217"/>
                </a:lnTo>
                <a:lnTo>
                  <a:pt x="44990" y="13904"/>
                </a:lnTo>
                <a:lnTo>
                  <a:pt x="46656" y="15199"/>
                </a:lnTo>
                <a:lnTo>
                  <a:pt x="48322" y="16012"/>
                </a:lnTo>
                <a:lnTo>
                  <a:pt x="49989" y="16290"/>
                </a:lnTo>
                <a:lnTo>
                  <a:pt x="51655" y="16012"/>
                </a:lnTo>
                <a:lnTo>
                  <a:pt x="53321" y="15199"/>
                </a:lnTo>
                <a:lnTo>
                  <a:pt x="54988" y="13904"/>
                </a:lnTo>
                <a:lnTo>
                  <a:pt x="56654" y="12217"/>
                </a:lnTo>
                <a:lnTo>
                  <a:pt x="58320" y="10253"/>
                </a:lnTo>
                <a:lnTo>
                  <a:pt x="59986" y="8145"/>
                </a:lnTo>
                <a:lnTo>
                  <a:pt x="61653" y="6037"/>
                </a:lnTo>
                <a:lnTo>
                  <a:pt x="63319" y="4072"/>
                </a:lnTo>
                <a:lnTo>
                  <a:pt x="64985" y="2386"/>
                </a:lnTo>
                <a:lnTo>
                  <a:pt x="66652" y="1091"/>
                </a:lnTo>
                <a:lnTo>
                  <a:pt x="68318" y="277"/>
                </a:lnTo>
                <a:lnTo>
                  <a:pt x="69984" y="0"/>
                </a:lnTo>
                <a:lnTo>
                  <a:pt x="71650" y="277"/>
                </a:lnTo>
                <a:lnTo>
                  <a:pt x="73317" y="1091"/>
                </a:lnTo>
                <a:lnTo>
                  <a:pt x="74983" y="2386"/>
                </a:lnTo>
                <a:lnTo>
                  <a:pt x="76649" y="4072"/>
                </a:lnTo>
                <a:lnTo>
                  <a:pt x="78316" y="6037"/>
                </a:lnTo>
                <a:lnTo>
                  <a:pt x="79982" y="8145"/>
                </a:lnTo>
              </a:path>
            </a:pathLst>
          </a:custGeom>
          <a:noFill/>
          <a:ln w="6934">
            <a:solidFill>
              <a:srgbClr val="E64B35">
                <a:alpha val="2825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 TCO absorption 2L"/>
          <p:cNvSpPr/>
          <p:nvPr/>
        </p:nvSpPr>
        <p:spPr>
          <a:xfrm>
            <a:off x="8374594" y="5174584"/>
            <a:ext cx="79982" cy="16290"/>
          </a:xfrm>
          <a:custGeom>
            <a:avLst/>
            <a:gdLst/>
            <a:ahLst/>
            <a:cxnLst/>
            <a:rect l="l" t="t" r="r" b="b"/>
            <a:pathLst>
              <a:path w="79982" h="16290">
                <a:moveTo>
                  <a:pt x="0" y="8145"/>
                </a:moveTo>
                <a:lnTo>
                  <a:pt x="1667" y="10253"/>
                </a:lnTo>
                <a:lnTo>
                  <a:pt x="3333" y="12217"/>
                </a:lnTo>
                <a:lnTo>
                  <a:pt x="4999" y="13904"/>
                </a:lnTo>
                <a:lnTo>
                  <a:pt x="6666" y="15199"/>
                </a:lnTo>
                <a:lnTo>
                  <a:pt x="8332" y="16012"/>
                </a:lnTo>
                <a:lnTo>
                  <a:pt x="9998" y="16290"/>
                </a:lnTo>
                <a:lnTo>
                  <a:pt x="11664" y="16012"/>
                </a:lnTo>
                <a:lnTo>
                  <a:pt x="13331" y="15199"/>
                </a:lnTo>
                <a:lnTo>
                  <a:pt x="14997" y="13904"/>
                </a:lnTo>
                <a:lnTo>
                  <a:pt x="16663" y="12217"/>
                </a:lnTo>
                <a:lnTo>
                  <a:pt x="18330" y="10253"/>
                </a:lnTo>
                <a:lnTo>
                  <a:pt x="19996" y="8145"/>
                </a:lnTo>
                <a:lnTo>
                  <a:pt x="21662" y="6037"/>
                </a:lnTo>
                <a:lnTo>
                  <a:pt x="23328" y="4072"/>
                </a:lnTo>
                <a:lnTo>
                  <a:pt x="24995" y="2386"/>
                </a:lnTo>
                <a:lnTo>
                  <a:pt x="26661" y="1091"/>
                </a:lnTo>
                <a:lnTo>
                  <a:pt x="28327" y="277"/>
                </a:lnTo>
                <a:lnTo>
                  <a:pt x="29994" y="0"/>
                </a:lnTo>
                <a:lnTo>
                  <a:pt x="31660" y="277"/>
                </a:lnTo>
                <a:lnTo>
                  <a:pt x="33326" y="1091"/>
                </a:lnTo>
                <a:lnTo>
                  <a:pt x="34992" y="2386"/>
                </a:lnTo>
                <a:lnTo>
                  <a:pt x="36659" y="4072"/>
                </a:lnTo>
                <a:lnTo>
                  <a:pt x="38325" y="6037"/>
                </a:lnTo>
                <a:lnTo>
                  <a:pt x="39991" y="8145"/>
                </a:lnTo>
                <a:lnTo>
                  <a:pt x="41658" y="10253"/>
                </a:lnTo>
                <a:lnTo>
                  <a:pt x="43324" y="12217"/>
                </a:lnTo>
                <a:lnTo>
                  <a:pt x="44990" y="13904"/>
                </a:lnTo>
                <a:lnTo>
                  <a:pt x="46656" y="15199"/>
                </a:lnTo>
                <a:lnTo>
                  <a:pt x="48323" y="16012"/>
                </a:lnTo>
                <a:lnTo>
                  <a:pt x="49989" y="16290"/>
                </a:lnTo>
                <a:lnTo>
                  <a:pt x="51655" y="16012"/>
                </a:lnTo>
                <a:lnTo>
                  <a:pt x="53322" y="15199"/>
                </a:lnTo>
                <a:lnTo>
                  <a:pt x="54988" y="13904"/>
                </a:lnTo>
                <a:lnTo>
                  <a:pt x="56654" y="12217"/>
                </a:lnTo>
                <a:lnTo>
                  <a:pt x="58320" y="10253"/>
                </a:lnTo>
                <a:lnTo>
                  <a:pt x="59987" y="8145"/>
                </a:lnTo>
                <a:lnTo>
                  <a:pt x="61653" y="6037"/>
                </a:lnTo>
                <a:lnTo>
                  <a:pt x="63319" y="4072"/>
                </a:lnTo>
                <a:lnTo>
                  <a:pt x="64986" y="2386"/>
                </a:lnTo>
                <a:lnTo>
                  <a:pt x="66652" y="1091"/>
                </a:lnTo>
                <a:lnTo>
                  <a:pt x="68318" y="277"/>
                </a:lnTo>
                <a:lnTo>
                  <a:pt x="69984" y="0"/>
                </a:lnTo>
                <a:lnTo>
                  <a:pt x="71651" y="277"/>
                </a:lnTo>
                <a:lnTo>
                  <a:pt x="73317" y="1091"/>
                </a:lnTo>
                <a:lnTo>
                  <a:pt x="74983" y="2386"/>
                </a:lnTo>
                <a:lnTo>
                  <a:pt x="76650" y="4072"/>
                </a:lnTo>
                <a:lnTo>
                  <a:pt x="78316" y="6037"/>
                </a:lnTo>
                <a:lnTo>
                  <a:pt x="79982" y="8145"/>
                </a:lnTo>
              </a:path>
            </a:pathLst>
          </a:custGeom>
          <a:noFill/>
          <a:ln w="6934">
            <a:solidFill>
              <a:srgbClr val="E64B35">
                <a:alpha val="2825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 TCO absorption 2R"/>
          <p:cNvSpPr/>
          <p:nvPr/>
        </p:nvSpPr>
        <p:spPr>
          <a:xfrm>
            <a:off x="8726808" y="5174584"/>
            <a:ext cx="79982" cy="16290"/>
          </a:xfrm>
          <a:custGeom>
            <a:avLst/>
            <a:gdLst/>
            <a:ahLst/>
            <a:cxnLst/>
            <a:rect l="l" t="t" r="r" b="b"/>
            <a:pathLst>
              <a:path w="79982" h="16290">
                <a:moveTo>
                  <a:pt x="0" y="8145"/>
                </a:moveTo>
                <a:lnTo>
                  <a:pt x="1666" y="10253"/>
                </a:lnTo>
                <a:lnTo>
                  <a:pt x="3332" y="12217"/>
                </a:lnTo>
                <a:lnTo>
                  <a:pt x="4999" y="13904"/>
                </a:lnTo>
                <a:lnTo>
                  <a:pt x="6665" y="15199"/>
                </a:lnTo>
                <a:lnTo>
                  <a:pt x="8331" y="16012"/>
                </a:lnTo>
                <a:lnTo>
                  <a:pt x="9997" y="16290"/>
                </a:lnTo>
                <a:lnTo>
                  <a:pt x="11664" y="16012"/>
                </a:lnTo>
                <a:lnTo>
                  <a:pt x="13330" y="15199"/>
                </a:lnTo>
                <a:lnTo>
                  <a:pt x="14996" y="13904"/>
                </a:lnTo>
                <a:lnTo>
                  <a:pt x="16663" y="12217"/>
                </a:lnTo>
                <a:lnTo>
                  <a:pt x="18329" y="10253"/>
                </a:lnTo>
                <a:lnTo>
                  <a:pt x="19995" y="8145"/>
                </a:lnTo>
                <a:lnTo>
                  <a:pt x="21661" y="6037"/>
                </a:lnTo>
                <a:lnTo>
                  <a:pt x="23328" y="4072"/>
                </a:lnTo>
                <a:lnTo>
                  <a:pt x="24994" y="2386"/>
                </a:lnTo>
                <a:lnTo>
                  <a:pt x="26660" y="1091"/>
                </a:lnTo>
                <a:lnTo>
                  <a:pt x="28327" y="277"/>
                </a:lnTo>
                <a:lnTo>
                  <a:pt x="29993" y="0"/>
                </a:lnTo>
                <a:lnTo>
                  <a:pt x="31659" y="277"/>
                </a:lnTo>
                <a:lnTo>
                  <a:pt x="33325" y="1091"/>
                </a:lnTo>
                <a:lnTo>
                  <a:pt x="34992" y="2386"/>
                </a:lnTo>
                <a:lnTo>
                  <a:pt x="36658" y="4072"/>
                </a:lnTo>
                <a:lnTo>
                  <a:pt x="38324" y="6037"/>
                </a:lnTo>
                <a:lnTo>
                  <a:pt x="39991" y="8145"/>
                </a:lnTo>
                <a:lnTo>
                  <a:pt x="41657" y="10253"/>
                </a:lnTo>
                <a:lnTo>
                  <a:pt x="43323" y="12217"/>
                </a:lnTo>
                <a:lnTo>
                  <a:pt x="44989" y="13904"/>
                </a:lnTo>
                <a:lnTo>
                  <a:pt x="46656" y="15199"/>
                </a:lnTo>
                <a:lnTo>
                  <a:pt x="48322" y="16012"/>
                </a:lnTo>
                <a:lnTo>
                  <a:pt x="49988" y="16290"/>
                </a:lnTo>
                <a:lnTo>
                  <a:pt x="51655" y="16012"/>
                </a:lnTo>
                <a:lnTo>
                  <a:pt x="53321" y="15199"/>
                </a:lnTo>
                <a:lnTo>
                  <a:pt x="54987" y="13904"/>
                </a:lnTo>
                <a:lnTo>
                  <a:pt x="56653" y="12217"/>
                </a:lnTo>
                <a:lnTo>
                  <a:pt x="58320" y="10253"/>
                </a:lnTo>
                <a:lnTo>
                  <a:pt x="59986" y="8145"/>
                </a:lnTo>
                <a:lnTo>
                  <a:pt x="61652" y="6037"/>
                </a:lnTo>
                <a:lnTo>
                  <a:pt x="63319" y="4072"/>
                </a:lnTo>
                <a:lnTo>
                  <a:pt x="64985" y="2386"/>
                </a:lnTo>
                <a:lnTo>
                  <a:pt x="66651" y="1091"/>
                </a:lnTo>
                <a:lnTo>
                  <a:pt x="68317" y="277"/>
                </a:lnTo>
                <a:lnTo>
                  <a:pt x="69984" y="0"/>
                </a:lnTo>
                <a:lnTo>
                  <a:pt x="71650" y="277"/>
                </a:lnTo>
                <a:lnTo>
                  <a:pt x="73316" y="1091"/>
                </a:lnTo>
                <a:lnTo>
                  <a:pt x="74983" y="2386"/>
                </a:lnTo>
                <a:lnTo>
                  <a:pt x="76649" y="4072"/>
                </a:lnTo>
                <a:lnTo>
                  <a:pt x="78315" y="6037"/>
                </a:lnTo>
                <a:lnTo>
                  <a:pt x="79982" y="8145"/>
                </a:lnTo>
              </a:path>
            </a:pathLst>
          </a:custGeom>
          <a:noFill/>
          <a:ln w="6934">
            <a:solidFill>
              <a:srgbClr val="E64B35">
                <a:alpha val="2825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 TCO absorption 3L"/>
          <p:cNvSpPr/>
          <p:nvPr/>
        </p:nvSpPr>
        <p:spPr>
          <a:xfrm>
            <a:off x="10135661" y="5174584"/>
            <a:ext cx="79982" cy="16290"/>
          </a:xfrm>
          <a:custGeom>
            <a:avLst/>
            <a:gdLst/>
            <a:ahLst/>
            <a:cxnLst/>
            <a:rect l="l" t="t" r="r" b="b"/>
            <a:pathLst>
              <a:path w="79982" h="16290">
                <a:moveTo>
                  <a:pt x="0" y="8145"/>
                </a:moveTo>
                <a:lnTo>
                  <a:pt x="1666" y="10253"/>
                </a:lnTo>
                <a:lnTo>
                  <a:pt x="3333" y="12217"/>
                </a:lnTo>
                <a:lnTo>
                  <a:pt x="4999" y="13904"/>
                </a:lnTo>
                <a:lnTo>
                  <a:pt x="6665" y="15199"/>
                </a:lnTo>
                <a:lnTo>
                  <a:pt x="8331" y="16012"/>
                </a:lnTo>
                <a:lnTo>
                  <a:pt x="9998" y="16290"/>
                </a:lnTo>
                <a:lnTo>
                  <a:pt x="11664" y="16012"/>
                </a:lnTo>
                <a:lnTo>
                  <a:pt x="13330" y="15199"/>
                </a:lnTo>
                <a:lnTo>
                  <a:pt x="14997" y="13904"/>
                </a:lnTo>
                <a:lnTo>
                  <a:pt x="16663" y="12217"/>
                </a:lnTo>
                <a:lnTo>
                  <a:pt x="18329" y="10253"/>
                </a:lnTo>
                <a:lnTo>
                  <a:pt x="19995" y="8145"/>
                </a:lnTo>
                <a:lnTo>
                  <a:pt x="21662" y="6037"/>
                </a:lnTo>
                <a:lnTo>
                  <a:pt x="23328" y="4072"/>
                </a:lnTo>
                <a:lnTo>
                  <a:pt x="24994" y="2386"/>
                </a:lnTo>
                <a:lnTo>
                  <a:pt x="26661" y="1091"/>
                </a:lnTo>
                <a:lnTo>
                  <a:pt x="28327" y="277"/>
                </a:lnTo>
                <a:lnTo>
                  <a:pt x="29993" y="0"/>
                </a:lnTo>
                <a:lnTo>
                  <a:pt x="31660" y="277"/>
                </a:lnTo>
                <a:lnTo>
                  <a:pt x="33326" y="1091"/>
                </a:lnTo>
                <a:lnTo>
                  <a:pt x="34992" y="2386"/>
                </a:lnTo>
                <a:lnTo>
                  <a:pt x="36658" y="4072"/>
                </a:lnTo>
                <a:lnTo>
                  <a:pt x="38325" y="6037"/>
                </a:lnTo>
                <a:lnTo>
                  <a:pt x="39991" y="8145"/>
                </a:lnTo>
                <a:lnTo>
                  <a:pt x="41657" y="10253"/>
                </a:lnTo>
                <a:lnTo>
                  <a:pt x="43324" y="12217"/>
                </a:lnTo>
                <a:lnTo>
                  <a:pt x="44990" y="13904"/>
                </a:lnTo>
                <a:lnTo>
                  <a:pt x="46656" y="15199"/>
                </a:lnTo>
                <a:lnTo>
                  <a:pt x="48322" y="16012"/>
                </a:lnTo>
                <a:lnTo>
                  <a:pt x="49989" y="16290"/>
                </a:lnTo>
                <a:lnTo>
                  <a:pt x="51655" y="16012"/>
                </a:lnTo>
                <a:lnTo>
                  <a:pt x="53321" y="15199"/>
                </a:lnTo>
                <a:lnTo>
                  <a:pt x="54988" y="13904"/>
                </a:lnTo>
                <a:lnTo>
                  <a:pt x="56654" y="12217"/>
                </a:lnTo>
                <a:lnTo>
                  <a:pt x="58320" y="10253"/>
                </a:lnTo>
                <a:lnTo>
                  <a:pt x="59986" y="8145"/>
                </a:lnTo>
                <a:lnTo>
                  <a:pt x="61653" y="6037"/>
                </a:lnTo>
                <a:lnTo>
                  <a:pt x="63319" y="4072"/>
                </a:lnTo>
                <a:lnTo>
                  <a:pt x="64985" y="2386"/>
                </a:lnTo>
                <a:lnTo>
                  <a:pt x="66652" y="1091"/>
                </a:lnTo>
                <a:lnTo>
                  <a:pt x="68318" y="277"/>
                </a:lnTo>
                <a:lnTo>
                  <a:pt x="69984" y="0"/>
                </a:lnTo>
                <a:lnTo>
                  <a:pt x="71650" y="277"/>
                </a:lnTo>
                <a:lnTo>
                  <a:pt x="73317" y="1091"/>
                </a:lnTo>
                <a:lnTo>
                  <a:pt x="74983" y="2386"/>
                </a:lnTo>
                <a:lnTo>
                  <a:pt x="76649" y="4072"/>
                </a:lnTo>
                <a:lnTo>
                  <a:pt x="78316" y="6037"/>
                </a:lnTo>
                <a:lnTo>
                  <a:pt x="79982" y="8145"/>
                </a:lnTo>
              </a:path>
            </a:pathLst>
          </a:custGeom>
          <a:noFill/>
          <a:ln w="6934">
            <a:solidFill>
              <a:srgbClr val="E64B35">
                <a:alpha val="2825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 TCO absorption 3R"/>
          <p:cNvSpPr/>
          <p:nvPr/>
        </p:nvSpPr>
        <p:spPr>
          <a:xfrm>
            <a:off x="10487874" y="5174584"/>
            <a:ext cx="79982" cy="16290"/>
          </a:xfrm>
          <a:custGeom>
            <a:avLst/>
            <a:gdLst/>
            <a:ahLst/>
            <a:cxnLst/>
            <a:rect l="l" t="t" r="r" b="b"/>
            <a:pathLst>
              <a:path w="79982" h="16290">
                <a:moveTo>
                  <a:pt x="0" y="8145"/>
                </a:moveTo>
                <a:lnTo>
                  <a:pt x="1667" y="10253"/>
                </a:lnTo>
                <a:lnTo>
                  <a:pt x="3333" y="12217"/>
                </a:lnTo>
                <a:lnTo>
                  <a:pt x="4999" y="13904"/>
                </a:lnTo>
                <a:lnTo>
                  <a:pt x="6666" y="15199"/>
                </a:lnTo>
                <a:lnTo>
                  <a:pt x="8332" y="16012"/>
                </a:lnTo>
                <a:lnTo>
                  <a:pt x="9998" y="16290"/>
                </a:lnTo>
                <a:lnTo>
                  <a:pt x="11664" y="16012"/>
                </a:lnTo>
                <a:lnTo>
                  <a:pt x="13331" y="15199"/>
                </a:lnTo>
                <a:lnTo>
                  <a:pt x="14997" y="13904"/>
                </a:lnTo>
                <a:lnTo>
                  <a:pt x="16663" y="12217"/>
                </a:lnTo>
                <a:lnTo>
                  <a:pt x="18330" y="10253"/>
                </a:lnTo>
                <a:lnTo>
                  <a:pt x="19996" y="8145"/>
                </a:lnTo>
                <a:lnTo>
                  <a:pt x="21662" y="6037"/>
                </a:lnTo>
                <a:lnTo>
                  <a:pt x="23328" y="4072"/>
                </a:lnTo>
                <a:lnTo>
                  <a:pt x="24995" y="2386"/>
                </a:lnTo>
                <a:lnTo>
                  <a:pt x="26661" y="1091"/>
                </a:lnTo>
                <a:lnTo>
                  <a:pt x="28327" y="277"/>
                </a:lnTo>
                <a:lnTo>
                  <a:pt x="29994" y="0"/>
                </a:lnTo>
                <a:lnTo>
                  <a:pt x="31660" y="277"/>
                </a:lnTo>
                <a:lnTo>
                  <a:pt x="33326" y="1091"/>
                </a:lnTo>
                <a:lnTo>
                  <a:pt x="34992" y="2386"/>
                </a:lnTo>
                <a:lnTo>
                  <a:pt x="36659" y="4072"/>
                </a:lnTo>
                <a:lnTo>
                  <a:pt x="38325" y="6037"/>
                </a:lnTo>
                <a:lnTo>
                  <a:pt x="39991" y="8145"/>
                </a:lnTo>
                <a:lnTo>
                  <a:pt x="41658" y="10253"/>
                </a:lnTo>
                <a:lnTo>
                  <a:pt x="43324" y="12217"/>
                </a:lnTo>
                <a:lnTo>
                  <a:pt x="44990" y="13904"/>
                </a:lnTo>
                <a:lnTo>
                  <a:pt x="46656" y="15199"/>
                </a:lnTo>
                <a:lnTo>
                  <a:pt x="48323" y="16012"/>
                </a:lnTo>
                <a:lnTo>
                  <a:pt x="49989" y="16290"/>
                </a:lnTo>
                <a:lnTo>
                  <a:pt x="51655" y="16012"/>
                </a:lnTo>
                <a:lnTo>
                  <a:pt x="53322" y="15199"/>
                </a:lnTo>
                <a:lnTo>
                  <a:pt x="54988" y="13904"/>
                </a:lnTo>
                <a:lnTo>
                  <a:pt x="56654" y="12217"/>
                </a:lnTo>
                <a:lnTo>
                  <a:pt x="58320" y="10253"/>
                </a:lnTo>
                <a:lnTo>
                  <a:pt x="59987" y="8145"/>
                </a:lnTo>
                <a:lnTo>
                  <a:pt x="61653" y="6037"/>
                </a:lnTo>
                <a:lnTo>
                  <a:pt x="63319" y="4072"/>
                </a:lnTo>
                <a:lnTo>
                  <a:pt x="64986" y="2386"/>
                </a:lnTo>
                <a:lnTo>
                  <a:pt x="66652" y="1091"/>
                </a:lnTo>
                <a:lnTo>
                  <a:pt x="68318" y="277"/>
                </a:lnTo>
                <a:lnTo>
                  <a:pt x="69984" y="0"/>
                </a:lnTo>
                <a:lnTo>
                  <a:pt x="71651" y="277"/>
                </a:lnTo>
                <a:lnTo>
                  <a:pt x="73317" y="1091"/>
                </a:lnTo>
                <a:lnTo>
                  <a:pt x="74983" y="2386"/>
                </a:lnTo>
                <a:lnTo>
                  <a:pt x="76650" y="4072"/>
                </a:lnTo>
                <a:lnTo>
                  <a:pt x="78316" y="6037"/>
                </a:lnTo>
                <a:lnTo>
                  <a:pt x="79982" y="8145"/>
                </a:lnTo>
              </a:path>
            </a:pathLst>
          </a:custGeom>
          <a:noFill/>
          <a:ln w="6934">
            <a:solidFill>
              <a:srgbClr val="E64B35">
                <a:alpha val="2825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7" name="R ray emit"/>
          <p:cNvCxnSpPr/>
          <p:nvPr/>
        </p:nvCxnSpPr>
        <p:spPr>
          <a:xfrm flipV="1">
            <a:off x="5186697" y="4492978"/>
            <a:ext cx="762395" cy="762395"/>
          </a:xfrm>
          <a:prstGeom prst="line">
            <a:avLst/>
          </a:prstGeom>
          <a:ln w="69709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R ray down 1"/>
          <p:cNvCxnSpPr/>
          <p:nvPr/>
        </p:nvCxnSpPr>
        <p:spPr>
          <a:xfrm>
            <a:off x="6016600" y="4560485"/>
            <a:ext cx="766064" cy="766064"/>
          </a:xfrm>
          <a:prstGeom prst="line">
            <a:avLst/>
          </a:prstGeom>
          <a:ln w="53347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R ray up 1"/>
          <p:cNvCxnSpPr/>
          <p:nvPr/>
        </p:nvCxnSpPr>
        <p:spPr>
          <a:xfrm flipV="1">
            <a:off x="6876587" y="4492978"/>
            <a:ext cx="833572" cy="833571"/>
          </a:xfrm>
          <a:prstGeom prst="line">
            <a:avLst/>
          </a:prstGeom>
          <a:ln w="52151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R ray down 2"/>
          <p:cNvCxnSpPr/>
          <p:nvPr/>
        </p:nvCxnSpPr>
        <p:spPr>
          <a:xfrm>
            <a:off x="7777666" y="4560485"/>
            <a:ext cx="766064" cy="766064"/>
          </a:xfrm>
          <a:prstGeom prst="line">
            <a:avLst/>
          </a:prstGeom>
          <a:ln w="39911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R ray up 2"/>
          <p:cNvCxnSpPr/>
          <p:nvPr/>
        </p:nvCxnSpPr>
        <p:spPr>
          <a:xfrm flipV="1">
            <a:off x="8637654" y="4492978"/>
            <a:ext cx="833571" cy="833571"/>
          </a:xfrm>
          <a:prstGeom prst="line">
            <a:avLst/>
          </a:prstGeom>
          <a:ln w="39016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R ray down 3"/>
          <p:cNvCxnSpPr/>
          <p:nvPr/>
        </p:nvCxnSpPr>
        <p:spPr>
          <a:xfrm>
            <a:off x="9538733" y="4560485"/>
            <a:ext cx="766064" cy="766064"/>
          </a:xfrm>
          <a:prstGeom prst="line">
            <a:avLst/>
          </a:prstGeom>
          <a:ln w="29858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R ray up 3"/>
          <p:cNvCxnSpPr/>
          <p:nvPr/>
        </p:nvCxnSpPr>
        <p:spPr>
          <a:xfrm flipV="1">
            <a:off x="10398720" y="4492978"/>
            <a:ext cx="833572" cy="833571"/>
          </a:xfrm>
          <a:prstGeom prst="line">
            <a:avLst/>
          </a:prstGeom>
          <a:ln w="29189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R ray continues"/>
          <p:cNvCxnSpPr/>
          <p:nvPr/>
        </p:nvCxnSpPr>
        <p:spPr>
          <a:xfrm>
            <a:off x="11298332" y="4559018"/>
            <a:ext cx="154093" cy="154093"/>
          </a:xfrm>
          <a:prstGeom prst="line">
            <a:avLst/>
          </a:prstGeom>
          <a:ln w="22338">
            <a:solidFill>
              <a:srgbClr val="00A087">
                <a:alpha val="4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R outcoupled 1-1"/>
          <p:cNvCxnSpPr/>
          <p:nvPr/>
        </p:nvCxnSpPr>
        <p:spPr>
          <a:xfrm flipH="1" flipV="1">
            <a:off x="5495558" y="3940397"/>
            <a:ext cx="343467" cy="361940"/>
          </a:xfrm>
          <a:prstGeom prst="line">
            <a:avLst/>
          </a:prstGeom>
          <a:ln w="38340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R outcoupled 1-2"/>
          <p:cNvCxnSpPr/>
          <p:nvPr/>
        </p:nvCxnSpPr>
        <p:spPr>
          <a:xfrm flipH="1" flipV="1">
            <a:off x="5856750" y="3698632"/>
            <a:ext cx="73156" cy="575050"/>
          </a:xfrm>
          <a:prstGeom prst="line">
            <a:avLst/>
          </a:prstGeom>
          <a:ln w="38340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R outcoupled 1-3"/>
          <p:cNvCxnSpPr/>
          <p:nvPr/>
        </p:nvCxnSpPr>
        <p:spPr>
          <a:xfrm flipV="1">
            <a:off x="6031555" y="3852804"/>
            <a:ext cx="271430" cy="436070"/>
          </a:xfrm>
          <a:prstGeom prst="line">
            <a:avLst/>
          </a:prstGeom>
          <a:ln w="38340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R outcoupled 2-1"/>
          <p:cNvCxnSpPr/>
          <p:nvPr/>
        </p:nvCxnSpPr>
        <p:spPr>
          <a:xfrm flipH="1" flipV="1">
            <a:off x="7256624" y="3940397"/>
            <a:ext cx="343468" cy="361940"/>
          </a:xfrm>
          <a:prstGeom prst="line">
            <a:avLst/>
          </a:prstGeom>
          <a:ln w="28683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R outcoupled 2-2"/>
          <p:cNvCxnSpPr/>
          <p:nvPr/>
        </p:nvCxnSpPr>
        <p:spPr>
          <a:xfrm flipH="1" flipV="1">
            <a:off x="7617817" y="3698632"/>
            <a:ext cx="73156" cy="575050"/>
          </a:xfrm>
          <a:prstGeom prst="line">
            <a:avLst/>
          </a:prstGeom>
          <a:ln w="28683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R outcoupled 2-3"/>
          <p:cNvCxnSpPr/>
          <p:nvPr/>
        </p:nvCxnSpPr>
        <p:spPr>
          <a:xfrm flipV="1">
            <a:off x="7792622" y="3852804"/>
            <a:ext cx="271429" cy="436070"/>
          </a:xfrm>
          <a:prstGeom prst="line">
            <a:avLst/>
          </a:prstGeom>
          <a:ln w="28683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R outcoupled 3-1"/>
          <p:cNvCxnSpPr/>
          <p:nvPr/>
        </p:nvCxnSpPr>
        <p:spPr>
          <a:xfrm flipH="1" flipV="1">
            <a:off x="9017691" y="3940397"/>
            <a:ext cx="343468" cy="361940"/>
          </a:xfrm>
          <a:prstGeom prst="line">
            <a:avLst/>
          </a:prstGeom>
          <a:ln w="21459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R outcoupled 3-2"/>
          <p:cNvCxnSpPr/>
          <p:nvPr/>
        </p:nvCxnSpPr>
        <p:spPr>
          <a:xfrm flipH="1" flipV="1">
            <a:off x="9378884" y="3698632"/>
            <a:ext cx="73155" cy="575050"/>
          </a:xfrm>
          <a:prstGeom prst="line">
            <a:avLst/>
          </a:prstGeom>
          <a:ln w="21459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R outcoupled 3-3"/>
          <p:cNvCxnSpPr/>
          <p:nvPr/>
        </p:nvCxnSpPr>
        <p:spPr>
          <a:xfrm flipV="1">
            <a:off x="9553689" y="3852804"/>
            <a:ext cx="271429" cy="436070"/>
          </a:xfrm>
          <a:prstGeom prst="line">
            <a:avLst/>
          </a:prstGeom>
          <a:ln w="21459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R outcoupled 4-1"/>
          <p:cNvCxnSpPr/>
          <p:nvPr/>
        </p:nvCxnSpPr>
        <p:spPr>
          <a:xfrm flipH="1" flipV="1">
            <a:off x="10778758" y="3940397"/>
            <a:ext cx="343467" cy="361940"/>
          </a:xfrm>
          <a:prstGeom prst="line">
            <a:avLst/>
          </a:prstGeom>
          <a:ln w="16054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R outcoupled 4-2"/>
          <p:cNvCxnSpPr/>
          <p:nvPr/>
        </p:nvCxnSpPr>
        <p:spPr>
          <a:xfrm flipH="1" flipV="1">
            <a:off x="11139950" y="3698632"/>
            <a:ext cx="73156" cy="575050"/>
          </a:xfrm>
          <a:prstGeom prst="line">
            <a:avLst/>
          </a:prstGeom>
          <a:ln w="16054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R outcoupled 4-3"/>
          <p:cNvCxnSpPr/>
          <p:nvPr/>
        </p:nvCxnSpPr>
        <p:spPr>
          <a:xfrm flipV="1">
            <a:off x="11314755" y="3852804"/>
            <a:ext cx="271430" cy="436070"/>
          </a:xfrm>
          <a:prstGeom prst="line">
            <a:avLst/>
          </a:prstGeom>
          <a:ln w="16054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 ohmic loss 1L"/>
          <p:cNvSpPr/>
          <p:nvPr/>
        </p:nvSpPr>
        <p:spPr>
          <a:xfrm>
            <a:off x="6704183" y="5313516"/>
            <a:ext cx="93821" cy="32075"/>
          </a:xfrm>
          <a:custGeom>
            <a:avLst/>
            <a:gdLst/>
            <a:ahLst/>
            <a:cxnLst/>
            <a:rect l="l" t="t" r="r" b="b"/>
            <a:pathLst>
              <a:path w="93821" h="32075">
                <a:moveTo>
                  <a:pt x="93821" y="15968"/>
                </a:moveTo>
                <a:lnTo>
                  <a:pt x="91867" y="21146"/>
                </a:lnTo>
                <a:lnTo>
                  <a:pt x="89912" y="25774"/>
                </a:lnTo>
                <a:lnTo>
                  <a:pt x="87957" y="29361"/>
                </a:lnTo>
                <a:lnTo>
                  <a:pt x="86003" y="31526"/>
                </a:lnTo>
                <a:lnTo>
                  <a:pt x="84048" y="32041"/>
                </a:lnTo>
                <a:lnTo>
                  <a:pt x="82094" y="30849"/>
                </a:lnTo>
                <a:lnTo>
                  <a:pt x="80139" y="28078"/>
                </a:lnTo>
                <a:lnTo>
                  <a:pt x="78184" y="24022"/>
                </a:lnTo>
                <a:lnTo>
                  <a:pt x="76230" y="19111"/>
                </a:lnTo>
                <a:lnTo>
                  <a:pt x="74275" y="13866"/>
                </a:lnTo>
                <a:lnTo>
                  <a:pt x="72321" y="8845"/>
                </a:lnTo>
                <a:lnTo>
                  <a:pt x="70366" y="4579"/>
                </a:lnTo>
                <a:lnTo>
                  <a:pt x="68411" y="1523"/>
                </a:lnTo>
                <a:lnTo>
                  <a:pt x="66457" y="0"/>
                </a:lnTo>
                <a:lnTo>
                  <a:pt x="64502" y="171"/>
                </a:lnTo>
                <a:lnTo>
                  <a:pt x="62548" y="2020"/>
                </a:lnTo>
                <a:lnTo>
                  <a:pt x="60593" y="5349"/>
                </a:lnTo>
                <a:lnTo>
                  <a:pt x="58638" y="9805"/>
                </a:lnTo>
                <a:lnTo>
                  <a:pt x="56684" y="14915"/>
                </a:lnTo>
                <a:lnTo>
                  <a:pt x="54729" y="20137"/>
                </a:lnTo>
                <a:lnTo>
                  <a:pt x="52775" y="24917"/>
                </a:lnTo>
                <a:lnTo>
                  <a:pt x="50820" y="28747"/>
                </a:lnTo>
                <a:lnTo>
                  <a:pt x="48865" y="31220"/>
                </a:lnTo>
                <a:lnTo>
                  <a:pt x="46911" y="32075"/>
                </a:lnTo>
                <a:lnTo>
                  <a:pt x="44956" y="31220"/>
                </a:lnTo>
                <a:lnTo>
                  <a:pt x="43002" y="28747"/>
                </a:lnTo>
                <a:lnTo>
                  <a:pt x="41047" y="24917"/>
                </a:lnTo>
                <a:lnTo>
                  <a:pt x="39092" y="20137"/>
                </a:lnTo>
                <a:lnTo>
                  <a:pt x="37138" y="14915"/>
                </a:lnTo>
                <a:lnTo>
                  <a:pt x="35183" y="9805"/>
                </a:lnTo>
                <a:lnTo>
                  <a:pt x="33229" y="5349"/>
                </a:lnTo>
                <a:lnTo>
                  <a:pt x="31274" y="2020"/>
                </a:lnTo>
                <a:lnTo>
                  <a:pt x="29319" y="171"/>
                </a:lnTo>
                <a:lnTo>
                  <a:pt x="27365" y="0"/>
                </a:lnTo>
                <a:lnTo>
                  <a:pt x="25410" y="1523"/>
                </a:lnTo>
                <a:lnTo>
                  <a:pt x="23456" y="4579"/>
                </a:lnTo>
                <a:lnTo>
                  <a:pt x="21501" y="8845"/>
                </a:lnTo>
                <a:lnTo>
                  <a:pt x="19546" y="13866"/>
                </a:lnTo>
                <a:lnTo>
                  <a:pt x="17592" y="19111"/>
                </a:lnTo>
                <a:lnTo>
                  <a:pt x="15637" y="24022"/>
                </a:lnTo>
                <a:lnTo>
                  <a:pt x="13683" y="28078"/>
                </a:lnTo>
                <a:lnTo>
                  <a:pt x="11728" y="30849"/>
                </a:lnTo>
                <a:lnTo>
                  <a:pt x="9773" y="32041"/>
                </a:lnTo>
                <a:lnTo>
                  <a:pt x="7819" y="31526"/>
                </a:lnTo>
                <a:lnTo>
                  <a:pt x="5864" y="29361"/>
                </a:lnTo>
                <a:lnTo>
                  <a:pt x="3910" y="25774"/>
                </a:lnTo>
                <a:lnTo>
                  <a:pt x="1955" y="21146"/>
                </a:lnTo>
                <a:lnTo>
                  <a:pt x="0" y="15968"/>
                </a:lnTo>
              </a:path>
            </a:pathLst>
          </a:custGeom>
          <a:noFill/>
          <a:ln w="12194">
            <a:solidFill>
              <a:srgbClr val="E64B35">
                <a:alpha val="53869"/>
              </a:srgbClr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 ohmic loss 1R"/>
          <p:cNvSpPr/>
          <p:nvPr/>
        </p:nvSpPr>
        <p:spPr>
          <a:xfrm>
            <a:off x="6861246" y="5313516"/>
            <a:ext cx="93821" cy="32075"/>
          </a:xfrm>
          <a:custGeom>
            <a:avLst/>
            <a:gdLst/>
            <a:ahLst/>
            <a:cxnLst/>
            <a:rect l="l" t="t" r="r" b="b"/>
            <a:pathLst>
              <a:path w="93821" h="32075">
                <a:moveTo>
                  <a:pt x="0" y="15968"/>
                </a:moveTo>
                <a:lnTo>
                  <a:pt x="1955" y="21146"/>
                </a:lnTo>
                <a:lnTo>
                  <a:pt x="3910" y="25774"/>
                </a:lnTo>
                <a:lnTo>
                  <a:pt x="5864" y="29361"/>
                </a:lnTo>
                <a:lnTo>
                  <a:pt x="7819" y="31526"/>
                </a:lnTo>
                <a:lnTo>
                  <a:pt x="9773" y="32041"/>
                </a:lnTo>
                <a:lnTo>
                  <a:pt x="11728" y="30849"/>
                </a:lnTo>
                <a:lnTo>
                  <a:pt x="13683" y="28078"/>
                </a:lnTo>
                <a:lnTo>
                  <a:pt x="15637" y="24022"/>
                </a:lnTo>
                <a:lnTo>
                  <a:pt x="17592" y="19111"/>
                </a:lnTo>
                <a:lnTo>
                  <a:pt x="19546" y="13866"/>
                </a:lnTo>
                <a:lnTo>
                  <a:pt x="21501" y="8845"/>
                </a:lnTo>
                <a:lnTo>
                  <a:pt x="23456" y="4579"/>
                </a:lnTo>
                <a:lnTo>
                  <a:pt x="25410" y="1523"/>
                </a:lnTo>
                <a:lnTo>
                  <a:pt x="27365" y="0"/>
                </a:lnTo>
                <a:lnTo>
                  <a:pt x="29319" y="171"/>
                </a:lnTo>
                <a:lnTo>
                  <a:pt x="31274" y="2020"/>
                </a:lnTo>
                <a:lnTo>
                  <a:pt x="33229" y="5349"/>
                </a:lnTo>
                <a:lnTo>
                  <a:pt x="35183" y="9805"/>
                </a:lnTo>
                <a:lnTo>
                  <a:pt x="37138" y="14915"/>
                </a:lnTo>
                <a:lnTo>
                  <a:pt x="39092" y="20137"/>
                </a:lnTo>
                <a:lnTo>
                  <a:pt x="41047" y="24917"/>
                </a:lnTo>
                <a:lnTo>
                  <a:pt x="43002" y="28747"/>
                </a:lnTo>
                <a:lnTo>
                  <a:pt x="44956" y="31220"/>
                </a:lnTo>
                <a:lnTo>
                  <a:pt x="46911" y="32075"/>
                </a:lnTo>
                <a:lnTo>
                  <a:pt x="48865" y="31220"/>
                </a:lnTo>
                <a:lnTo>
                  <a:pt x="50820" y="28747"/>
                </a:lnTo>
                <a:lnTo>
                  <a:pt x="52775" y="24917"/>
                </a:lnTo>
                <a:lnTo>
                  <a:pt x="54729" y="20137"/>
                </a:lnTo>
                <a:lnTo>
                  <a:pt x="56684" y="14915"/>
                </a:lnTo>
                <a:lnTo>
                  <a:pt x="58638" y="9805"/>
                </a:lnTo>
                <a:lnTo>
                  <a:pt x="60593" y="5349"/>
                </a:lnTo>
                <a:lnTo>
                  <a:pt x="62548" y="2020"/>
                </a:lnTo>
                <a:lnTo>
                  <a:pt x="64502" y="171"/>
                </a:lnTo>
                <a:lnTo>
                  <a:pt x="66457" y="0"/>
                </a:lnTo>
                <a:lnTo>
                  <a:pt x="68411" y="1523"/>
                </a:lnTo>
                <a:lnTo>
                  <a:pt x="70366" y="4579"/>
                </a:lnTo>
                <a:lnTo>
                  <a:pt x="72321" y="8845"/>
                </a:lnTo>
                <a:lnTo>
                  <a:pt x="74275" y="13866"/>
                </a:lnTo>
                <a:lnTo>
                  <a:pt x="76230" y="19111"/>
                </a:lnTo>
                <a:lnTo>
                  <a:pt x="78184" y="24022"/>
                </a:lnTo>
                <a:lnTo>
                  <a:pt x="80139" y="28078"/>
                </a:lnTo>
                <a:lnTo>
                  <a:pt x="82094" y="30849"/>
                </a:lnTo>
                <a:lnTo>
                  <a:pt x="84048" y="32041"/>
                </a:lnTo>
                <a:lnTo>
                  <a:pt x="86003" y="31526"/>
                </a:lnTo>
                <a:lnTo>
                  <a:pt x="87957" y="29361"/>
                </a:lnTo>
                <a:lnTo>
                  <a:pt x="89912" y="25774"/>
                </a:lnTo>
                <a:lnTo>
                  <a:pt x="91867" y="21146"/>
                </a:lnTo>
                <a:lnTo>
                  <a:pt x="93821" y="15968"/>
                </a:lnTo>
              </a:path>
            </a:pathLst>
          </a:custGeom>
          <a:noFill/>
          <a:ln w="12194">
            <a:solidFill>
              <a:srgbClr val="E64B35">
                <a:alpha val="53869"/>
              </a:srgbClr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 absorption burst 1"/>
          <p:cNvSpPr/>
          <p:nvPr/>
        </p:nvSpPr>
        <p:spPr>
          <a:xfrm>
            <a:off x="6790666" y="5334552"/>
            <a:ext cx="77918" cy="77918"/>
          </a:xfrm>
          <a:prstGeom prst="star10">
            <a:avLst>
              <a:gd name="adj" fmla="val 40000"/>
              <a:gd name="hf" fmla="val 105146"/>
            </a:avLst>
          </a:prstGeom>
          <a:solidFill>
            <a:srgbClr val="FBDCD6">
              <a:alpha val="53869"/>
            </a:srgbClr>
          </a:solidFill>
          <a:ln w="7338">
            <a:solidFill>
              <a:srgbClr val="E64B35">
                <a:alpha val="53869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 ohmic loss 2L"/>
          <p:cNvSpPr/>
          <p:nvPr/>
        </p:nvSpPr>
        <p:spPr>
          <a:xfrm>
            <a:off x="8475320" y="5313971"/>
            <a:ext cx="87261" cy="31161"/>
          </a:xfrm>
          <a:custGeom>
            <a:avLst/>
            <a:gdLst/>
            <a:ahLst/>
            <a:cxnLst/>
            <a:rect l="l" t="t" r="r" b="b"/>
            <a:pathLst>
              <a:path w="87261" h="31161">
                <a:moveTo>
                  <a:pt x="87261" y="15513"/>
                </a:moveTo>
                <a:lnTo>
                  <a:pt x="85443" y="20543"/>
                </a:lnTo>
                <a:lnTo>
                  <a:pt x="83625" y="25039"/>
                </a:lnTo>
                <a:lnTo>
                  <a:pt x="81807" y="28524"/>
                </a:lnTo>
                <a:lnTo>
                  <a:pt x="79990" y="30628"/>
                </a:lnTo>
                <a:lnTo>
                  <a:pt x="78172" y="31127"/>
                </a:lnTo>
                <a:lnTo>
                  <a:pt x="76354" y="29970"/>
                </a:lnTo>
                <a:lnTo>
                  <a:pt x="74536" y="27278"/>
                </a:lnTo>
                <a:lnTo>
                  <a:pt x="72718" y="23337"/>
                </a:lnTo>
                <a:lnTo>
                  <a:pt x="70900" y="18566"/>
                </a:lnTo>
                <a:lnTo>
                  <a:pt x="69082" y="13471"/>
                </a:lnTo>
                <a:lnTo>
                  <a:pt x="67264" y="8593"/>
                </a:lnTo>
                <a:lnTo>
                  <a:pt x="65446" y="4449"/>
                </a:lnTo>
                <a:lnTo>
                  <a:pt x="63628" y="1480"/>
                </a:lnTo>
                <a:lnTo>
                  <a:pt x="61810" y="0"/>
                </a:lnTo>
                <a:lnTo>
                  <a:pt x="59992" y="167"/>
                </a:lnTo>
                <a:lnTo>
                  <a:pt x="58174" y="1962"/>
                </a:lnTo>
                <a:lnTo>
                  <a:pt x="56356" y="5196"/>
                </a:lnTo>
                <a:lnTo>
                  <a:pt x="54538" y="9525"/>
                </a:lnTo>
                <a:lnTo>
                  <a:pt x="52720" y="14490"/>
                </a:lnTo>
                <a:lnTo>
                  <a:pt x="50902" y="19563"/>
                </a:lnTo>
                <a:lnTo>
                  <a:pt x="49084" y="24207"/>
                </a:lnTo>
                <a:lnTo>
                  <a:pt x="47266" y="27927"/>
                </a:lnTo>
                <a:lnTo>
                  <a:pt x="45448" y="30330"/>
                </a:lnTo>
                <a:lnTo>
                  <a:pt x="43630" y="31161"/>
                </a:lnTo>
                <a:lnTo>
                  <a:pt x="41812" y="30330"/>
                </a:lnTo>
                <a:lnTo>
                  <a:pt x="39995" y="27927"/>
                </a:lnTo>
                <a:lnTo>
                  <a:pt x="38177" y="24207"/>
                </a:lnTo>
                <a:lnTo>
                  <a:pt x="36359" y="19563"/>
                </a:lnTo>
                <a:lnTo>
                  <a:pt x="34541" y="14490"/>
                </a:lnTo>
                <a:lnTo>
                  <a:pt x="32723" y="9525"/>
                </a:lnTo>
                <a:lnTo>
                  <a:pt x="30905" y="5196"/>
                </a:lnTo>
                <a:lnTo>
                  <a:pt x="29087" y="1962"/>
                </a:lnTo>
                <a:lnTo>
                  <a:pt x="27269" y="167"/>
                </a:lnTo>
                <a:lnTo>
                  <a:pt x="25451" y="0"/>
                </a:lnTo>
                <a:lnTo>
                  <a:pt x="23633" y="1480"/>
                </a:lnTo>
                <a:lnTo>
                  <a:pt x="21815" y="4449"/>
                </a:lnTo>
                <a:lnTo>
                  <a:pt x="19997" y="8593"/>
                </a:lnTo>
                <a:lnTo>
                  <a:pt x="18179" y="13471"/>
                </a:lnTo>
                <a:lnTo>
                  <a:pt x="16361" y="18566"/>
                </a:lnTo>
                <a:lnTo>
                  <a:pt x="14543" y="23337"/>
                </a:lnTo>
                <a:lnTo>
                  <a:pt x="12725" y="27278"/>
                </a:lnTo>
                <a:lnTo>
                  <a:pt x="10907" y="29970"/>
                </a:lnTo>
                <a:lnTo>
                  <a:pt x="9089" y="31127"/>
                </a:lnTo>
                <a:lnTo>
                  <a:pt x="7271" y="30628"/>
                </a:lnTo>
                <a:lnTo>
                  <a:pt x="5453" y="28524"/>
                </a:lnTo>
                <a:lnTo>
                  <a:pt x="3635" y="25039"/>
                </a:lnTo>
                <a:lnTo>
                  <a:pt x="1817" y="20543"/>
                </a:lnTo>
                <a:lnTo>
                  <a:pt x="0" y="15513"/>
                </a:lnTo>
              </a:path>
            </a:pathLst>
          </a:custGeom>
          <a:noFill/>
          <a:ln w="11492">
            <a:solidFill>
              <a:srgbClr val="E64B35">
                <a:alpha val="52627"/>
              </a:srgbClr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 ohmic loss 2R"/>
          <p:cNvSpPr/>
          <p:nvPr/>
        </p:nvSpPr>
        <p:spPr>
          <a:xfrm>
            <a:off x="8618803" y="5313971"/>
            <a:ext cx="87261" cy="31161"/>
          </a:xfrm>
          <a:custGeom>
            <a:avLst/>
            <a:gdLst/>
            <a:ahLst/>
            <a:cxnLst/>
            <a:rect l="l" t="t" r="r" b="b"/>
            <a:pathLst>
              <a:path w="87261" h="31161">
                <a:moveTo>
                  <a:pt x="0" y="15513"/>
                </a:moveTo>
                <a:lnTo>
                  <a:pt x="1817" y="20543"/>
                </a:lnTo>
                <a:lnTo>
                  <a:pt x="3635" y="25039"/>
                </a:lnTo>
                <a:lnTo>
                  <a:pt x="5453" y="28524"/>
                </a:lnTo>
                <a:lnTo>
                  <a:pt x="7271" y="30628"/>
                </a:lnTo>
                <a:lnTo>
                  <a:pt x="9089" y="31127"/>
                </a:lnTo>
                <a:lnTo>
                  <a:pt x="10907" y="29970"/>
                </a:lnTo>
                <a:lnTo>
                  <a:pt x="12725" y="27278"/>
                </a:lnTo>
                <a:lnTo>
                  <a:pt x="14543" y="23337"/>
                </a:lnTo>
                <a:lnTo>
                  <a:pt x="16361" y="18566"/>
                </a:lnTo>
                <a:lnTo>
                  <a:pt x="18179" y="13471"/>
                </a:lnTo>
                <a:lnTo>
                  <a:pt x="19997" y="8593"/>
                </a:lnTo>
                <a:lnTo>
                  <a:pt x="21815" y="4449"/>
                </a:lnTo>
                <a:lnTo>
                  <a:pt x="23633" y="1480"/>
                </a:lnTo>
                <a:lnTo>
                  <a:pt x="25451" y="0"/>
                </a:lnTo>
                <a:lnTo>
                  <a:pt x="27269" y="167"/>
                </a:lnTo>
                <a:lnTo>
                  <a:pt x="29087" y="1962"/>
                </a:lnTo>
                <a:lnTo>
                  <a:pt x="30905" y="5196"/>
                </a:lnTo>
                <a:lnTo>
                  <a:pt x="32723" y="9525"/>
                </a:lnTo>
                <a:lnTo>
                  <a:pt x="34541" y="14490"/>
                </a:lnTo>
                <a:lnTo>
                  <a:pt x="36359" y="19563"/>
                </a:lnTo>
                <a:lnTo>
                  <a:pt x="38177" y="24207"/>
                </a:lnTo>
                <a:lnTo>
                  <a:pt x="39995" y="27927"/>
                </a:lnTo>
                <a:lnTo>
                  <a:pt x="41812" y="30330"/>
                </a:lnTo>
                <a:lnTo>
                  <a:pt x="43630" y="31161"/>
                </a:lnTo>
                <a:lnTo>
                  <a:pt x="45448" y="30330"/>
                </a:lnTo>
                <a:lnTo>
                  <a:pt x="47266" y="27927"/>
                </a:lnTo>
                <a:lnTo>
                  <a:pt x="49084" y="24207"/>
                </a:lnTo>
                <a:lnTo>
                  <a:pt x="50902" y="19563"/>
                </a:lnTo>
                <a:lnTo>
                  <a:pt x="52720" y="14490"/>
                </a:lnTo>
                <a:lnTo>
                  <a:pt x="54538" y="9525"/>
                </a:lnTo>
                <a:lnTo>
                  <a:pt x="56356" y="5196"/>
                </a:lnTo>
                <a:lnTo>
                  <a:pt x="58174" y="1962"/>
                </a:lnTo>
                <a:lnTo>
                  <a:pt x="59992" y="167"/>
                </a:lnTo>
                <a:lnTo>
                  <a:pt x="61810" y="0"/>
                </a:lnTo>
                <a:lnTo>
                  <a:pt x="63628" y="1480"/>
                </a:lnTo>
                <a:lnTo>
                  <a:pt x="65446" y="4449"/>
                </a:lnTo>
                <a:lnTo>
                  <a:pt x="67264" y="8593"/>
                </a:lnTo>
                <a:lnTo>
                  <a:pt x="69082" y="13471"/>
                </a:lnTo>
                <a:lnTo>
                  <a:pt x="70900" y="18566"/>
                </a:lnTo>
                <a:lnTo>
                  <a:pt x="72718" y="23337"/>
                </a:lnTo>
                <a:lnTo>
                  <a:pt x="74536" y="27278"/>
                </a:lnTo>
                <a:lnTo>
                  <a:pt x="76354" y="29970"/>
                </a:lnTo>
                <a:lnTo>
                  <a:pt x="78172" y="31127"/>
                </a:lnTo>
                <a:lnTo>
                  <a:pt x="79990" y="30628"/>
                </a:lnTo>
                <a:lnTo>
                  <a:pt x="81807" y="28524"/>
                </a:lnTo>
                <a:lnTo>
                  <a:pt x="83625" y="25039"/>
                </a:lnTo>
                <a:lnTo>
                  <a:pt x="85443" y="20543"/>
                </a:lnTo>
                <a:lnTo>
                  <a:pt x="87261" y="15513"/>
                </a:lnTo>
              </a:path>
            </a:pathLst>
          </a:custGeom>
          <a:noFill/>
          <a:ln w="11492">
            <a:solidFill>
              <a:srgbClr val="E64B35">
                <a:alpha val="52627"/>
              </a:srgbClr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 absorption burst 2"/>
          <p:cNvSpPr/>
          <p:nvPr/>
        </p:nvSpPr>
        <p:spPr>
          <a:xfrm>
            <a:off x="8555244" y="5338063"/>
            <a:ext cx="70897" cy="70897"/>
          </a:xfrm>
          <a:prstGeom prst="star10">
            <a:avLst>
              <a:gd name="adj" fmla="val 40000"/>
              <a:gd name="hf" fmla="val 105146"/>
            </a:avLst>
          </a:prstGeom>
          <a:solidFill>
            <a:srgbClr val="FBDCD6">
              <a:alpha val="52627"/>
            </a:srgbClr>
          </a:solidFill>
          <a:ln w="7338">
            <a:solidFill>
              <a:srgbClr val="E64B35">
                <a:alpha val="52627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 ohmic loss 3L"/>
          <p:cNvSpPr/>
          <p:nvPr/>
        </p:nvSpPr>
        <p:spPr>
          <a:xfrm>
            <a:off x="10243624" y="5314280"/>
            <a:ext cx="82807" cy="30540"/>
          </a:xfrm>
          <a:custGeom>
            <a:avLst/>
            <a:gdLst/>
            <a:ahLst/>
            <a:cxnLst/>
            <a:rect l="l" t="t" r="r" b="b"/>
            <a:pathLst>
              <a:path w="82807" h="30540">
                <a:moveTo>
                  <a:pt x="82807" y="15204"/>
                </a:moveTo>
                <a:lnTo>
                  <a:pt x="81082" y="20134"/>
                </a:lnTo>
                <a:lnTo>
                  <a:pt x="79357" y="24540"/>
                </a:lnTo>
                <a:lnTo>
                  <a:pt x="77632" y="27956"/>
                </a:lnTo>
                <a:lnTo>
                  <a:pt x="75907" y="30018"/>
                </a:lnTo>
                <a:lnTo>
                  <a:pt x="74182" y="30507"/>
                </a:lnTo>
                <a:lnTo>
                  <a:pt x="72456" y="29373"/>
                </a:lnTo>
                <a:lnTo>
                  <a:pt x="70731" y="26734"/>
                </a:lnTo>
                <a:lnTo>
                  <a:pt x="69006" y="22872"/>
                </a:lnTo>
                <a:lnTo>
                  <a:pt x="67281" y="18196"/>
                </a:lnTo>
                <a:lnTo>
                  <a:pt x="65556" y="13203"/>
                </a:lnTo>
                <a:lnTo>
                  <a:pt x="63831" y="8422"/>
                </a:lnTo>
                <a:lnTo>
                  <a:pt x="62106" y="4361"/>
                </a:lnTo>
                <a:lnTo>
                  <a:pt x="60380" y="1450"/>
                </a:lnTo>
                <a:lnTo>
                  <a:pt x="58655" y="0"/>
                </a:lnTo>
                <a:lnTo>
                  <a:pt x="56930" y="163"/>
                </a:lnTo>
                <a:lnTo>
                  <a:pt x="55205" y="1923"/>
                </a:lnTo>
                <a:lnTo>
                  <a:pt x="53480" y="5093"/>
                </a:lnTo>
                <a:lnTo>
                  <a:pt x="51755" y="9336"/>
                </a:lnTo>
                <a:lnTo>
                  <a:pt x="50029" y="14201"/>
                </a:lnTo>
                <a:lnTo>
                  <a:pt x="48304" y="19174"/>
                </a:lnTo>
                <a:lnTo>
                  <a:pt x="46579" y="23724"/>
                </a:lnTo>
                <a:lnTo>
                  <a:pt x="44854" y="27371"/>
                </a:lnTo>
                <a:lnTo>
                  <a:pt x="43129" y="29726"/>
                </a:lnTo>
                <a:lnTo>
                  <a:pt x="41404" y="30540"/>
                </a:lnTo>
                <a:lnTo>
                  <a:pt x="39679" y="29726"/>
                </a:lnTo>
                <a:lnTo>
                  <a:pt x="37953" y="27371"/>
                </a:lnTo>
                <a:lnTo>
                  <a:pt x="36228" y="23724"/>
                </a:lnTo>
                <a:lnTo>
                  <a:pt x="34503" y="19174"/>
                </a:lnTo>
                <a:lnTo>
                  <a:pt x="32778" y="14201"/>
                </a:lnTo>
                <a:lnTo>
                  <a:pt x="31053" y="9336"/>
                </a:lnTo>
                <a:lnTo>
                  <a:pt x="29328" y="5093"/>
                </a:lnTo>
                <a:lnTo>
                  <a:pt x="27602" y="1923"/>
                </a:lnTo>
                <a:lnTo>
                  <a:pt x="25877" y="163"/>
                </a:lnTo>
                <a:lnTo>
                  <a:pt x="24152" y="0"/>
                </a:lnTo>
                <a:lnTo>
                  <a:pt x="22427" y="1450"/>
                </a:lnTo>
                <a:lnTo>
                  <a:pt x="20702" y="4361"/>
                </a:lnTo>
                <a:lnTo>
                  <a:pt x="18977" y="8422"/>
                </a:lnTo>
                <a:lnTo>
                  <a:pt x="17252" y="13203"/>
                </a:lnTo>
                <a:lnTo>
                  <a:pt x="15526" y="18196"/>
                </a:lnTo>
                <a:lnTo>
                  <a:pt x="13801" y="22872"/>
                </a:lnTo>
                <a:lnTo>
                  <a:pt x="12076" y="26734"/>
                </a:lnTo>
                <a:lnTo>
                  <a:pt x="10351" y="29373"/>
                </a:lnTo>
                <a:lnTo>
                  <a:pt x="8626" y="30507"/>
                </a:lnTo>
                <a:lnTo>
                  <a:pt x="6901" y="30018"/>
                </a:lnTo>
                <a:lnTo>
                  <a:pt x="5176" y="27956"/>
                </a:lnTo>
                <a:lnTo>
                  <a:pt x="3450" y="24540"/>
                </a:lnTo>
                <a:lnTo>
                  <a:pt x="1725" y="20134"/>
                </a:lnTo>
                <a:lnTo>
                  <a:pt x="0" y="15204"/>
                </a:lnTo>
              </a:path>
            </a:pathLst>
          </a:custGeom>
          <a:noFill/>
          <a:ln w="10936">
            <a:solidFill>
              <a:srgbClr val="E64B35">
                <a:alpha val="51784"/>
              </a:srgbClr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 ohmic loss 3R"/>
          <p:cNvSpPr/>
          <p:nvPr/>
        </p:nvSpPr>
        <p:spPr>
          <a:xfrm>
            <a:off x="10377086" y="5314280"/>
            <a:ext cx="82807" cy="30540"/>
          </a:xfrm>
          <a:custGeom>
            <a:avLst/>
            <a:gdLst/>
            <a:ahLst/>
            <a:cxnLst/>
            <a:rect l="l" t="t" r="r" b="b"/>
            <a:pathLst>
              <a:path w="82807" h="30540">
                <a:moveTo>
                  <a:pt x="0" y="15204"/>
                </a:moveTo>
                <a:lnTo>
                  <a:pt x="1725" y="20134"/>
                </a:lnTo>
                <a:lnTo>
                  <a:pt x="3450" y="24540"/>
                </a:lnTo>
                <a:lnTo>
                  <a:pt x="5175" y="27956"/>
                </a:lnTo>
                <a:lnTo>
                  <a:pt x="6901" y="30018"/>
                </a:lnTo>
                <a:lnTo>
                  <a:pt x="8626" y="30507"/>
                </a:lnTo>
                <a:lnTo>
                  <a:pt x="10351" y="29373"/>
                </a:lnTo>
                <a:lnTo>
                  <a:pt x="12076" y="26734"/>
                </a:lnTo>
                <a:lnTo>
                  <a:pt x="13801" y="22872"/>
                </a:lnTo>
                <a:lnTo>
                  <a:pt x="15526" y="18196"/>
                </a:lnTo>
                <a:lnTo>
                  <a:pt x="17251" y="13203"/>
                </a:lnTo>
                <a:lnTo>
                  <a:pt x="18977" y="8422"/>
                </a:lnTo>
                <a:lnTo>
                  <a:pt x="20702" y="4361"/>
                </a:lnTo>
                <a:lnTo>
                  <a:pt x="22427" y="1450"/>
                </a:lnTo>
                <a:lnTo>
                  <a:pt x="24152" y="0"/>
                </a:lnTo>
                <a:lnTo>
                  <a:pt x="25877" y="163"/>
                </a:lnTo>
                <a:lnTo>
                  <a:pt x="27602" y="1923"/>
                </a:lnTo>
                <a:lnTo>
                  <a:pt x="29327" y="5093"/>
                </a:lnTo>
                <a:lnTo>
                  <a:pt x="31053" y="9336"/>
                </a:lnTo>
                <a:lnTo>
                  <a:pt x="32778" y="14201"/>
                </a:lnTo>
                <a:lnTo>
                  <a:pt x="34503" y="19174"/>
                </a:lnTo>
                <a:lnTo>
                  <a:pt x="36228" y="23724"/>
                </a:lnTo>
                <a:lnTo>
                  <a:pt x="37953" y="27371"/>
                </a:lnTo>
                <a:lnTo>
                  <a:pt x="39678" y="29726"/>
                </a:lnTo>
                <a:lnTo>
                  <a:pt x="41404" y="30540"/>
                </a:lnTo>
                <a:lnTo>
                  <a:pt x="43129" y="29726"/>
                </a:lnTo>
                <a:lnTo>
                  <a:pt x="44854" y="27371"/>
                </a:lnTo>
                <a:lnTo>
                  <a:pt x="46579" y="23724"/>
                </a:lnTo>
                <a:lnTo>
                  <a:pt x="48304" y="19174"/>
                </a:lnTo>
                <a:lnTo>
                  <a:pt x="50029" y="14201"/>
                </a:lnTo>
                <a:lnTo>
                  <a:pt x="51754" y="9336"/>
                </a:lnTo>
                <a:lnTo>
                  <a:pt x="53480" y="5093"/>
                </a:lnTo>
                <a:lnTo>
                  <a:pt x="55205" y="1923"/>
                </a:lnTo>
                <a:lnTo>
                  <a:pt x="56930" y="163"/>
                </a:lnTo>
                <a:lnTo>
                  <a:pt x="58655" y="0"/>
                </a:lnTo>
                <a:lnTo>
                  <a:pt x="60380" y="1450"/>
                </a:lnTo>
                <a:lnTo>
                  <a:pt x="62105" y="4361"/>
                </a:lnTo>
                <a:lnTo>
                  <a:pt x="63830" y="8422"/>
                </a:lnTo>
                <a:lnTo>
                  <a:pt x="65556" y="13203"/>
                </a:lnTo>
                <a:lnTo>
                  <a:pt x="67281" y="18196"/>
                </a:lnTo>
                <a:lnTo>
                  <a:pt x="69006" y="22872"/>
                </a:lnTo>
                <a:lnTo>
                  <a:pt x="70731" y="26734"/>
                </a:lnTo>
                <a:lnTo>
                  <a:pt x="72456" y="29373"/>
                </a:lnTo>
                <a:lnTo>
                  <a:pt x="74181" y="30507"/>
                </a:lnTo>
                <a:lnTo>
                  <a:pt x="75907" y="30018"/>
                </a:lnTo>
                <a:lnTo>
                  <a:pt x="77632" y="27956"/>
                </a:lnTo>
                <a:lnTo>
                  <a:pt x="79357" y="24540"/>
                </a:lnTo>
                <a:lnTo>
                  <a:pt x="81082" y="20134"/>
                </a:lnTo>
                <a:lnTo>
                  <a:pt x="82807" y="15204"/>
                </a:lnTo>
              </a:path>
            </a:pathLst>
          </a:custGeom>
          <a:noFill/>
          <a:ln w="10936">
            <a:solidFill>
              <a:srgbClr val="E64B35">
                <a:alpha val="51784"/>
              </a:srgbClr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 absorption burst 3"/>
          <p:cNvSpPr/>
          <p:nvPr/>
        </p:nvSpPr>
        <p:spPr>
          <a:xfrm>
            <a:off x="10319094" y="5340846"/>
            <a:ext cx="65330" cy="65330"/>
          </a:xfrm>
          <a:prstGeom prst="star10">
            <a:avLst>
              <a:gd name="adj" fmla="val 40000"/>
              <a:gd name="hf" fmla="val 105146"/>
            </a:avLst>
          </a:prstGeom>
          <a:solidFill>
            <a:srgbClr val="FBDCD6">
              <a:alpha val="51784"/>
            </a:srgbClr>
          </a:solidFill>
          <a:ln w="7338">
            <a:solidFill>
              <a:srgbClr val="E64B35">
                <a:alpha val="51784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 emitter"/>
          <p:cNvSpPr/>
          <p:nvPr/>
        </p:nvSpPr>
        <p:spPr>
          <a:xfrm>
            <a:off x="5072228" y="5245100"/>
            <a:ext cx="124742" cy="124742"/>
          </a:xfrm>
          <a:prstGeom prst="star8">
            <a:avLst>
              <a:gd name="adj" fmla="val 40000"/>
            </a:avLst>
          </a:prstGeom>
          <a:solidFill>
            <a:srgbClr val="E8901F"/>
          </a:solidFill>
          <a:ln w="7338">
            <a:solidFill>
              <a:srgbClr val="6F43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 emitter core"/>
          <p:cNvSpPr/>
          <p:nvPr/>
        </p:nvSpPr>
        <p:spPr>
          <a:xfrm>
            <a:off x="5116988" y="5289860"/>
            <a:ext cx="35221" cy="35221"/>
          </a:xfrm>
          <a:prstGeom prst="ellipse">
            <a:avLst/>
          </a:prstGeom>
          <a:solidFill>
            <a:srgbClr val="FFF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itle 2"/>
          <p:cNvSpPr txBox="1"/>
          <p:nvPr/>
        </p:nvSpPr>
        <p:spPr>
          <a:xfrm>
            <a:off x="5582203" y="3177021"/>
            <a:ext cx="5136444" cy="36982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213" b="1">
                <a:solidFill>
                  <a:srgbClr val="1A1A1A"/>
                </a:solidFill>
                <a:latin typeface="Arial"/>
              </a:rPr>
              <a:t>Low loss reflector</a:t>
            </a:r>
          </a:p>
        </p:txBody>
      </p:sp>
      <p:sp>
        <p:nvSpPr>
          <p:cNvPr id="129" name="subtitle 2"/>
          <p:cNvSpPr txBox="1"/>
          <p:nvPr/>
        </p:nvSpPr>
        <p:spPr>
          <a:xfrm>
            <a:off x="5949092" y="3409628"/>
            <a:ext cx="4402667" cy="28177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24" b="0">
                <a:solidFill>
                  <a:srgbClr val="55585C"/>
                </a:solidFill>
                <a:latin typeface="Arial"/>
              </a:rPr>
              <a:t>absorption suppressed — intensity survives many round trips</a:t>
            </a:r>
          </a:p>
        </p:txBody>
      </p:sp>
      <p:sp>
        <p:nvSpPr>
          <p:cNvPr id="130" name="key 2: Outcoupling structure"/>
          <p:cNvSpPr txBox="1"/>
          <p:nvPr/>
        </p:nvSpPr>
        <p:spPr>
          <a:xfrm>
            <a:off x="2801185" y="4188020"/>
            <a:ext cx="1907822" cy="24654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08" b="0">
                <a:solidFill>
                  <a:srgbClr val="55585C"/>
                </a:solidFill>
                <a:latin typeface="Arial"/>
              </a:rPr>
              <a:t>Outcoupling structure</a:t>
            </a:r>
          </a:p>
        </p:txBody>
      </p:sp>
      <p:cxnSp>
        <p:nvCxnSpPr>
          <p:cNvPr id="131" name="key leader 2: Outcoupling structure"/>
          <p:cNvCxnSpPr/>
          <p:nvPr/>
        </p:nvCxnSpPr>
        <p:spPr>
          <a:xfrm>
            <a:off x="4753034" y="4309533"/>
            <a:ext cx="58702" cy="14676"/>
          </a:xfrm>
          <a:prstGeom prst="line">
            <a:avLst/>
          </a:prstGeom>
          <a:ln w="6604">
            <a:solidFill>
              <a:srgbClr val="9AA0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key 2: Glass substrate"/>
          <p:cNvSpPr txBox="1"/>
          <p:nvPr/>
        </p:nvSpPr>
        <p:spPr>
          <a:xfrm>
            <a:off x="2801185" y="4716340"/>
            <a:ext cx="1907822" cy="24654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08" b="0">
                <a:solidFill>
                  <a:srgbClr val="55585C"/>
                </a:solidFill>
                <a:latin typeface="Arial"/>
              </a:rPr>
              <a:t>Glass substrate</a:t>
            </a:r>
          </a:p>
        </p:txBody>
      </p:sp>
      <p:cxnSp>
        <p:nvCxnSpPr>
          <p:cNvPr id="133" name="key leader 2: Glass substrate"/>
          <p:cNvCxnSpPr/>
          <p:nvPr/>
        </p:nvCxnSpPr>
        <p:spPr>
          <a:xfrm flipV="1">
            <a:off x="4753034" y="4808502"/>
            <a:ext cx="58702" cy="29351"/>
          </a:xfrm>
          <a:prstGeom prst="line">
            <a:avLst/>
          </a:prstGeom>
          <a:ln w="6604">
            <a:solidFill>
              <a:srgbClr val="9AA0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key 2: Low loss TCO"/>
          <p:cNvSpPr txBox="1"/>
          <p:nvPr/>
        </p:nvSpPr>
        <p:spPr>
          <a:xfrm>
            <a:off x="2801185" y="5017189"/>
            <a:ext cx="1907822" cy="24654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08" b="0">
                <a:solidFill>
                  <a:srgbClr val="55585C"/>
                </a:solidFill>
                <a:latin typeface="Arial"/>
              </a:rPr>
              <a:t>Low loss TCO</a:t>
            </a:r>
          </a:p>
        </p:txBody>
      </p:sp>
      <p:cxnSp>
        <p:nvCxnSpPr>
          <p:cNvPr id="135" name="key leader 2: Low loss TCO"/>
          <p:cNvCxnSpPr/>
          <p:nvPr/>
        </p:nvCxnSpPr>
        <p:spPr>
          <a:xfrm>
            <a:off x="4753034" y="5138702"/>
            <a:ext cx="58702" cy="44027"/>
          </a:xfrm>
          <a:prstGeom prst="line">
            <a:avLst/>
          </a:prstGeom>
          <a:ln w="6604">
            <a:solidFill>
              <a:srgbClr val="9AA0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key 2: Organic layers"/>
          <p:cNvSpPr txBox="1"/>
          <p:nvPr/>
        </p:nvSpPr>
        <p:spPr>
          <a:xfrm>
            <a:off x="2801185" y="5229984"/>
            <a:ext cx="1907822" cy="24654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08" b="0">
                <a:solidFill>
                  <a:srgbClr val="55585C"/>
                </a:solidFill>
                <a:latin typeface="Arial"/>
              </a:rPr>
              <a:t>Organic layers</a:t>
            </a:r>
          </a:p>
        </p:txBody>
      </p:sp>
      <p:cxnSp>
        <p:nvCxnSpPr>
          <p:cNvPr id="137" name="key leader 2: Organic layers"/>
          <p:cNvCxnSpPr/>
          <p:nvPr/>
        </p:nvCxnSpPr>
        <p:spPr>
          <a:xfrm flipV="1">
            <a:off x="4753034" y="5307471"/>
            <a:ext cx="58702" cy="44027"/>
          </a:xfrm>
          <a:prstGeom prst="line">
            <a:avLst/>
          </a:prstGeom>
          <a:ln w="6604">
            <a:solidFill>
              <a:srgbClr val="9AA0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key 2: Low loss metal electrode"/>
          <p:cNvSpPr txBox="1"/>
          <p:nvPr/>
        </p:nvSpPr>
        <p:spPr>
          <a:xfrm>
            <a:off x="2801185" y="5420766"/>
            <a:ext cx="1907822" cy="24654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808" b="0">
                <a:solidFill>
                  <a:srgbClr val="55585C"/>
                </a:solidFill>
                <a:latin typeface="Arial"/>
              </a:rPr>
              <a:t>Low loss metal electrode</a:t>
            </a:r>
          </a:p>
        </p:txBody>
      </p:sp>
      <p:cxnSp>
        <p:nvCxnSpPr>
          <p:cNvPr id="139" name="key leader 2: Low loss metal electrode"/>
          <p:cNvCxnSpPr/>
          <p:nvPr/>
        </p:nvCxnSpPr>
        <p:spPr>
          <a:xfrm flipV="1">
            <a:off x="4753034" y="5520267"/>
            <a:ext cx="58702" cy="22013"/>
          </a:xfrm>
          <a:prstGeom prst="line">
            <a:avLst/>
          </a:prstGeom>
          <a:ln w="6604">
            <a:solidFill>
              <a:srgbClr val="9AA0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legend ray"/>
          <p:cNvCxnSpPr/>
          <p:nvPr/>
        </p:nvCxnSpPr>
        <p:spPr>
          <a:xfrm>
            <a:off x="2206825" y="5997222"/>
            <a:ext cx="469618" cy="0"/>
          </a:xfrm>
          <a:prstGeom prst="line">
            <a:avLst/>
          </a:prstGeom>
          <a:ln w="45494">
            <a:solidFill>
              <a:srgbClr val="00A087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legend ray text"/>
          <p:cNvSpPr txBox="1"/>
          <p:nvPr/>
        </p:nvSpPr>
        <p:spPr>
          <a:xfrm>
            <a:off x="2779172" y="5864408"/>
            <a:ext cx="2935111" cy="264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66" b="0">
                <a:solidFill>
                  <a:srgbClr val="55585C"/>
                </a:solidFill>
                <a:latin typeface="Arial"/>
              </a:rPr>
              <a:t>Light ray  (line width ∝ optical power)</a:t>
            </a:r>
          </a:p>
        </p:txBody>
      </p:sp>
      <p:sp>
        <p:nvSpPr>
          <p:cNvPr id="142" name="legend emitter"/>
          <p:cNvSpPr/>
          <p:nvPr/>
        </p:nvSpPr>
        <p:spPr>
          <a:xfrm>
            <a:off x="5373076" y="5920176"/>
            <a:ext cx="124742" cy="124742"/>
          </a:xfrm>
          <a:prstGeom prst="star8">
            <a:avLst>
              <a:gd name="adj" fmla="val 40000"/>
            </a:avLst>
          </a:prstGeom>
          <a:solidFill>
            <a:srgbClr val="E8901F"/>
          </a:solidFill>
          <a:ln w="7338">
            <a:solidFill>
              <a:srgbClr val="6F43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legend emission text"/>
          <p:cNvSpPr txBox="1"/>
          <p:nvPr/>
        </p:nvSpPr>
        <p:spPr>
          <a:xfrm>
            <a:off x="5567528" y="5864408"/>
            <a:ext cx="2201333" cy="264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66" b="0">
                <a:solidFill>
                  <a:srgbClr val="55585C"/>
                </a:solidFill>
                <a:latin typeface="Arial"/>
              </a:rPr>
              <a:t>Exciton emission</a:t>
            </a:r>
          </a:p>
        </p:txBody>
      </p:sp>
      <p:sp>
        <p:nvSpPr>
          <p:cNvPr id="144" name="legend loss"/>
          <p:cNvSpPr/>
          <p:nvPr/>
        </p:nvSpPr>
        <p:spPr>
          <a:xfrm>
            <a:off x="6903003" y="5957812"/>
            <a:ext cx="410916" cy="49683"/>
          </a:xfrm>
          <a:custGeom>
            <a:avLst/>
            <a:gdLst/>
            <a:ahLst/>
            <a:cxnLst/>
            <a:rect l="l" t="t" r="r" b="b"/>
            <a:pathLst>
              <a:path w="410916" h="49683">
                <a:moveTo>
                  <a:pt x="0" y="24735"/>
                </a:moveTo>
                <a:lnTo>
                  <a:pt x="8561" y="32754"/>
                </a:lnTo>
                <a:lnTo>
                  <a:pt x="17122" y="39922"/>
                </a:lnTo>
                <a:lnTo>
                  <a:pt x="25682" y="45479"/>
                </a:lnTo>
                <a:lnTo>
                  <a:pt x="34243" y="48833"/>
                </a:lnTo>
                <a:lnTo>
                  <a:pt x="42804" y="49630"/>
                </a:lnTo>
                <a:lnTo>
                  <a:pt x="51365" y="47784"/>
                </a:lnTo>
                <a:lnTo>
                  <a:pt x="59925" y="43492"/>
                </a:lnTo>
                <a:lnTo>
                  <a:pt x="68486" y="37209"/>
                </a:lnTo>
                <a:lnTo>
                  <a:pt x="77047" y="29602"/>
                </a:lnTo>
                <a:lnTo>
                  <a:pt x="85607" y="21478"/>
                </a:lnTo>
                <a:lnTo>
                  <a:pt x="94168" y="13700"/>
                </a:lnTo>
                <a:lnTo>
                  <a:pt x="102729" y="7093"/>
                </a:lnTo>
                <a:lnTo>
                  <a:pt x="111290" y="2359"/>
                </a:lnTo>
                <a:lnTo>
                  <a:pt x="119850" y="0"/>
                </a:lnTo>
                <a:lnTo>
                  <a:pt x="128411" y="266"/>
                </a:lnTo>
                <a:lnTo>
                  <a:pt x="136972" y="3129"/>
                </a:lnTo>
                <a:lnTo>
                  <a:pt x="145533" y="8285"/>
                </a:lnTo>
                <a:lnTo>
                  <a:pt x="154093" y="15187"/>
                </a:lnTo>
                <a:lnTo>
                  <a:pt x="162654" y="23103"/>
                </a:lnTo>
                <a:lnTo>
                  <a:pt x="171215" y="31192"/>
                </a:lnTo>
                <a:lnTo>
                  <a:pt x="179776" y="38595"/>
                </a:lnTo>
                <a:lnTo>
                  <a:pt x="188336" y="44528"/>
                </a:lnTo>
                <a:lnTo>
                  <a:pt x="196897" y="48359"/>
                </a:lnTo>
                <a:lnTo>
                  <a:pt x="205458" y="49683"/>
                </a:lnTo>
                <a:lnTo>
                  <a:pt x="214019" y="48359"/>
                </a:lnTo>
                <a:lnTo>
                  <a:pt x="222579" y="44528"/>
                </a:lnTo>
                <a:lnTo>
                  <a:pt x="231140" y="38595"/>
                </a:lnTo>
                <a:lnTo>
                  <a:pt x="239701" y="31192"/>
                </a:lnTo>
                <a:lnTo>
                  <a:pt x="248262" y="23103"/>
                </a:lnTo>
                <a:lnTo>
                  <a:pt x="256822" y="15187"/>
                </a:lnTo>
                <a:lnTo>
                  <a:pt x="265383" y="8285"/>
                </a:lnTo>
                <a:lnTo>
                  <a:pt x="273944" y="3129"/>
                </a:lnTo>
                <a:lnTo>
                  <a:pt x="282505" y="266"/>
                </a:lnTo>
                <a:lnTo>
                  <a:pt x="291065" y="0"/>
                </a:lnTo>
                <a:lnTo>
                  <a:pt x="299626" y="2359"/>
                </a:lnTo>
                <a:lnTo>
                  <a:pt x="308187" y="7093"/>
                </a:lnTo>
                <a:lnTo>
                  <a:pt x="316747" y="13700"/>
                </a:lnTo>
                <a:lnTo>
                  <a:pt x="325308" y="21478"/>
                </a:lnTo>
                <a:lnTo>
                  <a:pt x="333869" y="29602"/>
                </a:lnTo>
                <a:lnTo>
                  <a:pt x="342430" y="37209"/>
                </a:lnTo>
                <a:lnTo>
                  <a:pt x="350990" y="43492"/>
                </a:lnTo>
                <a:lnTo>
                  <a:pt x="359551" y="47784"/>
                </a:lnTo>
                <a:lnTo>
                  <a:pt x="368112" y="49630"/>
                </a:lnTo>
                <a:lnTo>
                  <a:pt x="376673" y="48833"/>
                </a:lnTo>
                <a:lnTo>
                  <a:pt x="385233" y="45479"/>
                </a:lnTo>
                <a:lnTo>
                  <a:pt x="393794" y="39922"/>
                </a:lnTo>
                <a:lnTo>
                  <a:pt x="402355" y="32754"/>
                </a:lnTo>
                <a:lnTo>
                  <a:pt x="410916" y="24735"/>
                </a:lnTo>
              </a:path>
            </a:pathLst>
          </a:custGeom>
          <a:noFill/>
          <a:ln w="16143">
            <a:solidFill>
              <a:srgbClr val="E64B35">
                <a:alpha val="95000"/>
              </a:srgbClr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legend loss text"/>
          <p:cNvSpPr txBox="1"/>
          <p:nvPr/>
        </p:nvSpPr>
        <p:spPr>
          <a:xfrm>
            <a:off x="7460674" y="5864408"/>
            <a:ext cx="3375378" cy="2641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866" b="0">
                <a:solidFill>
                  <a:srgbClr val="55585C"/>
                </a:solidFill>
                <a:latin typeface="Arial"/>
              </a:rPr>
              <a:t>Absorption loss  (ohmic at the metal, TCO)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