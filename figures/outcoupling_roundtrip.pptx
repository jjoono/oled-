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265176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L lens 01"/>
          <p:cNvSpPr/>
          <p:nvPr/>
        </p:nvSpPr>
        <p:spPr>
          <a:xfrm>
            <a:off x="1273681" y="899735"/>
            <a:ext cx="336430" cy="336430"/>
          </a:xfrm>
          <a:prstGeom prst="ellipse">
            <a:avLst/>
          </a:prstGeom>
          <a:solidFill>
            <a:srgbClr val="EAF1F6"/>
          </a:solidFill>
          <a:ln w="728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 lens 02"/>
          <p:cNvSpPr/>
          <p:nvPr/>
        </p:nvSpPr>
        <p:spPr>
          <a:xfrm>
            <a:off x="1610112" y="899735"/>
            <a:ext cx="336430" cy="336430"/>
          </a:xfrm>
          <a:prstGeom prst="ellipse">
            <a:avLst/>
          </a:prstGeom>
          <a:solidFill>
            <a:srgbClr val="EAF1F6"/>
          </a:solidFill>
          <a:ln w="728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L lens 03"/>
          <p:cNvSpPr/>
          <p:nvPr/>
        </p:nvSpPr>
        <p:spPr>
          <a:xfrm>
            <a:off x="1946542" y="899735"/>
            <a:ext cx="336430" cy="336430"/>
          </a:xfrm>
          <a:prstGeom prst="ellipse">
            <a:avLst/>
          </a:prstGeom>
          <a:solidFill>
            <a:srgbClr val="EAF1F6"/>
          </a:solidFill>
          <a:ln w="728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 lens 04"/>
          <p:cNvSpPr/>
          <p:nvPr/>
        </p:nvSpPr>
        <p:spPr>
          <a:xfrm>
            <a:off x="2282972" y="899735"/>
            <a:ext cx="336430" cy="336430"/>
          </a:xfrm>
          <a:prstGeom prst="ellipse">
            <a:avLst/>
          </a:prstGeom>
          <a:solidFill>
            <a:srgbClr val="EAF1F6"/>
          </a:solidFill>
          <a:ln w="728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 lens 05"/>
          <p:cNvSpPr/>
          <p:nvPr/>
        </p:nvSpPr>
        <p:spPr>
          <a:xfrm>
            <a:off x="2619402" y="899735"/>
            <a:ext cx="336430" cy="336430"/>
          </a:xfrm>
          <a:prstGeom prst="ellipse">
            <a:avLst/>
          </a:prstGeom>
          <a:solidFill>
            <a:srgbClr val="EAF1F6"/>
          </a:solidFill>
          <a:ln w="728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 lens 06"/>
          <p:cNvSpPr/>
          <p:nvPr/>
        </p:nvSpPr>
        <p:spPr>
          <a:xfrm>
            <a:off x="2955832" y="899735"/>
            <a:ext cx="336430" cy="336430"/>
          </a:xfrm>
          <a:prstGeom prst="ellipse">
            <a:avLst/>
          </a:prstGeom>
          <a:solidFill>
            <a:srgbClr val="EAF1F6"/>
          </a:solidFill>
          <a:ln w="728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L lens 07"/>
          <p:cNvSpPr/>
          <p:nvPr/>
        </p:nvSpPr>
        <p:spPr>
          <a:xfrm>
            <a:off x="3292263" y="899735"/>
            <a:ext cx="336430" cy="336430"/>
          </a:xfrm>
          <a:prstGeom prst="ellipse">
            <a:avLst/>
          </a:prstGeom>
          <a:solidFill>
            <a:srgbClr val="EAF1F6"/>
          </a:solidFill>
          <a:ln w="728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L lens 08"/>
          <p:cNvSpPr/>
          <p:nvPr/>
        </p:nvSpPr>
        <p:spPr>
          <a:xfrm>
            <a:off x="3628693" y="899735"/>
            <a:ext cx="336430" cy="336430"/>
          </a:xfrm>
          <a:prstGeom prst="ellipse">
            <a:avLst/>
          </a:prstGeom>
          <a:solidFill>
            <a:srgbClr val="EAF1F6"/>
          </a:solidFill>
          <a:ln w="728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L lens 09"/>
          <p:cNvSpPr/>
          <p:nvPr/>
        </p:nvSpPr>
        <p:spPr>
          <a:xfrm>
            <a:off x="3965123" y="899735"/>
            <a:ext cx="336430" cy="336430"/>
          </a:xfrm>
          <a:prstGeom prst="ellipse">
            <a:avLst/>
          </a:prstGeom>
          <a:solidFill>
            <a:srgbClr val="EAF1F6"/>
          </a:solidFill>
          <a:ln w="728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L lens 10"/>
          <p:cNvSpPr/>
          <p:nvPr/>
        </p:nvSpPr>
        <p:spPr>
          <a:xfrm>
            <a:off x="4301553" y="899735"/>
            <a:ext cx="336430" cy="336430"/>
          </a:xfrm>
          <a:prstGeom prst="ellipse">
            <a:avLst/>
          </a:prstGeom>
          <a:solidFill>
            <a:srgbClr val="EAF1F6"/>
          </a:solidFill>
          <a:ln w="728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L lens 11"/>
          <p:cNvSpPr/>
          <p:nvPr/>
        </p:nvSpPr>
        <p:spPr>
          <a:xfrm>
            <a:off x="4637983" y="899735"/>
            <a:ext cx="336430" cy="336430"/>
          </a:xfrm>
          <a:prstGeom prst="ellipse">
            <a:avLst/>
          </a:prstGeom>
          <a:solidFill>
            <a:srgbClr val="EAF1F6"/>
          </a:solidFill>
          <a:ln w="728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L lens 12"/>
          <p:cNvSpPr/>
          <p:nvPr/>
        </p:nvSpPr>
        <p:spPr>
          <a:xfrm>
            <a:off x="4974414" y="899735"/>
            <a:ext cx="336430" cy="336430"/>
          </a:xfrm>
          <a:prstGeom prst="ellipse">
            <a:avLst/>
          </a:prstGeom>
          <a:solidFill>
            <a:srgbClr val="EAF1F6"/>
          </a:solidFill>
          <a:ln w="728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L lens 13"/>
          <p:cNvSpPr/>
          <p:nvPr/>
        </p:nvSpPr>
        <p:spPr>
          <a:xfrm>
            <a:off x="5310844" y="899735"/>
            <a:ext cx="336430" cy="336430"/>
          </a:xfrm>
          <a:prstGeom prst="ellipse">
            <a:avLst/>
          </a:prstGeom>
          <a:solidFill>
            <a:srgbClr val="EAF1F6"/>
          </a:solidFill>
          <a:ln w="728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L lens 14"/>
          <p:cNvSpPr/>
          <p:nvPr/>
        </p:nvSpPr>
        <p:spPr>
          <a:xfrm>
            <a:off x="5647274" y="899735"/>
            <a:ext cx="336430" cy="336430"/>
          </a:xfrm>
          <a:prstGeom prst="ellipse">
            <a:avLst/>
          </a:prstGeom>
          <a:solidFill>
            <a:srgbClr val="EAF1F6"/>
          </a:solidFill>
          <a:ln w="728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L lens 15"/>
          <p:cNvSpPr/>
          <p:nvPr/>
        </p:nvSpPr>
        <p:spPr>
          <a:xfrm>
            <a:off x="5983704" y="899735"/>
            <a:ext cx="336430" cy="336430"/>
          </a:xfrm>
          <a:prstGeom prst="ellipse">
            <a:avLst/>
          </a:prstGeom>
          <a:solidFill>
            <a:srgbClr val="EAF1F6"/>
          </a:solidFill>
          <a:ln w="728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L glass substrate"/>
          <p:cNvSpPr/>
          <p:nvPr/>
        </p:nvSpPr>
        <p:spPr>
          <a:xfrm>
            <a:off x="1273681" y="1067950"/>
            <a:ext cx="5046453" cy="482217"/>
          </a:xfrm>
          <a:prstGeom prst="rect">
            <a:avLst/>
          </a:prstGeom>
          <a:solidFill>
            <a:srgbClr val="EAF1F6"/>
          </a:solidFill>
          <a:ln w="728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L TCO anode"/>
          <p:cNvSpPr/>
          <p:nvPr/>
        </p:nvSpPr>
        <p:spPr>
          <a:xfrm>
            <a:off x="1273681" y="1550167"/>
            <a:ext cx="5046453" cy="89715"/>
          </a:xfrm>
          <a:prstGeom prst="rect">
            <a:avLst/>
          </a:prstGeom>
          <a:solidFill>
            <a:srgbClr val="CBE1EE"/>
          </a:solidFill>
          <a:ln w="5887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L organic layers"/>
          <p:cNvSpPr/>
          <p:nvPr/>
        </p:nvSpPr>
        <p:spPr>
          <a:xfrm>
            <a:off x="1273681" y="1639882"/>
            <a:ext cx="5046453" cy="100929"/>
          </a:xfrm>
          <a:prstGeom prst="rect">
            <a:avLst/>
          </a:prstGeom>
          <a:solidFill>
            <a:srgbClr val="FDF2E2"/>
          </a:solidFill>
          <a:ln w="5887">
            <a:solidFill>
              <a:srgbClr val="C99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L metal cathode"/>
          <p:cNvSpPr/>
          <p:nvPr/>
        </p:nvSpPr>
        <p:spPr>
          <a:xfrm>
            <a:off x="1273681" y="1740811"/>
            <a:ext cx="5046453" cy="224287"/>
          </a:xfrm>
          <a:prstGeom prst="rect">
            <a:avLst/>
          </a:prstGeom>
          <a:solidFill>
            <a:srgbClr val="C3C7CB"/>
          </a:solidFill>
          <a:ln w="5887">
            <a:solidFill>
              <a:srgbClr val="868C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L TCO absorption 1L"/>
          <p:cNvSpPr/>
          <p:nvPr/>
        </p:nvSpPr>
        <p:spPr>
          <a:xfrm>
            <a:off x="2574545" y="1577081"/>
            <a:ext cx="157001" cy="35886"/>
          </a:xfrm>
          <a:custGeom>
            <a:avLst/>
            <a:gdLst/>
            <a:ahLst/>
            <a:cxnLst/>
            <a:rect l="l" t="t" r="r" b="b"/>
            <a:pathLst>
              <a:path w="157001" h="35886">
                <a:moveTo>
                  <a:pt x="0" y="17943"/>
                </a:moveTo>
                <a:lnTo>
                  <a:pt x="3271" y="22587"/>
                </a:lnTo>
                <a:lnTo>
                  <a:pt x="6542" y="26915"/>
                </a:lnTo>
                <a:lnTo>
                  <a:pt x="9812" y="30631"/>
                </a:lnTo>
                <a:lnTo>
                  <a:pt x="13083" y="33482"/>
                </a:lnTo>
                <a:lnTo>
                  <a:pt x="16354" y="35275"/>
                </a:lnTo>
                <a:lnTo>
                  <a:pt x="19625" y="35886"/>
                </a:lnTo>
                <a:lnTo>
                  <a:pt x="22896" y="35275"/>
                </a:lnTo>
                <a:lnTo>
                  <a:pt x="26167" y="33482"/>
                </a:lnTo>
                <a:lnTo>
                  <a:pt x="29437" y="30631"/>
                </a:lnTo>
                <a:lnTo>
                  <a:pt x="32708" y="26915"/>
                </a:lnTo>
                <a:lnTo>
                  <a:pt x="35979" y="22587"/>
                </a:lnTo>
                <a:lnTo>
                  <a:pt x="39250" y="17943"/>
                </a:lnTo>
                <a:lnTo>
                  <a:pt x="42521" y="13299"/>
                </a:lnTo>
                <a:lnTo>
                  <a:pt x="45792" y="8972"/>
                </a:lnTo>
                <a:lnTo>
                  <a:pt x="49063" y="5256"/>
                </a:lnTo>
                <a:lnTo>
                  <a:pt x="52333" y="2404"/>
                </a:lnTo>
                <a:lnTo>
                  <a:pt x="55604" y="612"/>
                </a:lnTo>
                <a:lnTo>
                  <a:pt x="58875" y="0"/>
                </a:lnTo>
                <a:lnTo>
                  <a:pt x="62146" y="612"/>
                </a:lnTo>
                <a:lnTo>
                  <a:pt x="65417" y="2404"/>
                </a:lnTo>
                <a:lnTo>
                  <a:pt x="68688" y="5256"/>
                </a:lnTo>
                <a:lnTo>
                  <a:pt x="71959" y="8972"/>
                </a:lnTo>
                <a:lnTo>
                  <a:pt x="75229" y="13299"/>
                </a:lnTo>
                <a:lnTo>
                  <a:pt x="78500" y="17943"/>
                </a:lnTo>
                <a:lnTo>
                  <a:pt x="81771" y="22587"/>
                </a:lnTo>
                <a:lnTo>
                  <a:pt x="85042" y="26915"/>
                </a:lnTo>
                <a:lnTo>
                  <a:pt x="88313" y="30631"/>
                </a:lnTo>
                <a:lnTo>
                  <a:pt x="91584" y="33482"/>
                </a:lnTo>
                <a:lnTo>
                  <a:pt x="94854" y="35275"/>
                </a:lnTo>
                <a:lnTo>
                  <a:pt x="98125" y="35886"/>
                </a:lnTo>
                <a:lnTo>
                  <a:pt x="101396" y="35275"/>
                </a:lnTo>
                <a:lnTo>
                  <a:pt x="104667" y="33482"/>
                </a:lnTo>
                <a:lnTo>
                  <a:pt x="107938" y="30631"/>
                </a:lnTo>
                <a:lnTo>
                  <a:pt x="111209" y="26915"/>
                </a:lnTo>
                <a:lnTo>
                  <a:pt x="114480" y="22587"/>
                </a:lnTo>
                <a:lnTo>
                  <a:pt x="117750" y="17943"/>
                </a:lnTo>
                <a:lnTo>
                  <a:pt x="121021" y="13299"/>
                </a:lnTo>
                <a:lnTo>
                  <a:pt x="124292" y="8972"/>
                </a:lnTo>
                <a:lnTo>
                  <a:pt x="127563" y="5256"/>
                </a:lnTo>
                <a:lnTo>
                  <a:pt x="130834" y="2404"/>
                </a:lnTo>
                <a:lnTo>
                  <a:pt x="134105" y="612"/>
                </a:lnTo>
                <a:lnTo>
                  <a:pt x="137376" y="0"/>
                </a:lnTo>
                <a:lnTo>
                  <a:pt x="140646" y="612"/>
                </a:lnTo>
                <a:lnTo>
                  <a:pt x="143917" y="2404"/>
                </a:lnTo>
                <a:lnTo>
                  <a:pt x="147188" y="5256"/>
                </a:lnTo>
                <a:lnTo>
                  <a:pt x="150459" y="8972"/>
                </a:lnTo>
                <a:lnTo>
                  <a:pt x="153730" y="13299"/>
                </a:lnTo>
                <a:lnTo>
                  <a:pt x="157001" y="17943"/>
                </a:lnTo>
              </a:path>
            </a:pathLst>
          </a:custGeom>
          <a:noFill/>
          <a:ln w="10093">
            <a:solidFill>
              <a:srgbClr val="E64B35">
                <a:alpha val="89999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L TCO absorption 1R"/>
          <p:cNvSpPr/>
          <p:nvPr/>
        </p:nvSpPr>
        <p:spPr>
          <a:xfrm>
            <a:off x="2843689" y="1577081"/>
            <a:ext cx="157001" cy="35886"/>
          </a:xfrm>
          <a:custGeom>
            <a:avLst/>
            <a:gdLst/>
            <a:ahLst/>
            <a:cxnLst/>
            <a:rect l="l" t="t" r="r" b="b"/>
            <a:pathLst>
              <a:path w="157001" h="35886">
                <a:moveTo>
                  <a:pt x="0" y="17943"/>
                </a:moveTo>
                <a:lnTo>
                  <a:pt x="3271" y="22587"/>
                </a:lnTo>
                <a:lnTo>
                  <a:pt x="6542" y="26915"/>
                </a:lnTo>
                <a:lnTo>
                  <a:pt x="9813" y="30631"/>
                </a:lnTo>
                <a:lnTo>
                  <a:pt x="13083" y="33482"/>
                </a:lnTo>
                <a:lnTo>
                  <a:pt x="16354" y="35275"/>
                </a:lnTo>
                <a:lnTo>
                  <a:pt x="19625" y="35886"/>
                </a:lnTo>
                <a:lnTo>
                  <a:pt x="22896" y="35275"/>
                </a:lnTo>
                <a:lnTo>
                  <a:pt x="26167" y="33482"/>
                </a:lnTo>
                <a:lnTo>
                  <a:pt x="29438" y="30631"/>
                </a:lnTo>
                <a:lnTo>
                  <a:pt x="32709" y="26915"/>
                </a:lnTo>
                <a:lnTo>
                  <a:pt x="35979" y="22587"/>
                </a:lnTo>
                <a:lnTo>
                  <a:pt x="39250" y="17943"/>
                </a:lnTo>
                <a:lnTo>
                  <a:pt x="42521" y="13299"/>
                </a:lnTo>
                <a:lnTo>
                  <a:pt x="45792" y="8972"/>
                </a:lnTo>
                <a:lnTo>
                  <a:pt x="49063" y="5256"/>
                </a:lnTo>
                <a:lnTo>
                  <a:pt x="52334" y="2404"/>
                </a:lnTo>
                <a:lnTo>
                  <a:pt x="55604" y="612"/>
                </a:lnTo>
                <a:lnTo>
                  <a:pt x="58875" y="0"/>
                </a:lnTo>
                <a:lnTo>
                  <a:pt x="62146" y="612"/>
                </a:lnTo>
                <a:lnTo>
                  <a:pt x="65417" y="2404"/>
                </a:lnTo>
                <a:lnTo>
                  <a:pt x="68688" y="5256"/>
                </a:lnTo>
                <a:lnTo>
                  <a:pt x="71959" y="8972"/>
                </a:lnTo>
                <a:lnTo>
                  <a:pt x="75230" y="13299"/>
                </a:lnTo>
                <a:lnTo>
                  <a:pt x="78500" y="17943"/>
                </a:lnTo>
                <a:lnTo>
                  <a:pt x="81771" y="22587"/>
                </a:lnTo>
                <a:lnTo>
                  <a:pt x="85042" y="26915"/>
                </a:lnTo>
                <a:lnTo>
                  <a:pt x="88313" y="30631"/>
                </a:lnTo>
                <a:lnTo>
                  <a:pt x="91584" y="33482"/>
                </a:lnTo>
                <a:lnTo>
                  <a:pt x="94855" y="35275"/>
                </a:lnTo>
                <a:lnTo>
                  <a:pt x="98125" y="35886"/>
                </a:lnTo>
                <a:lnTo>
                  <a:pt x="101396" y="35275"/>
                </a:lnTo>
                <a:lnTo>
                  <a:pt x="104667" y="33482"/>
                </a:lnTo>
                <a:lnTo>
                  <a:pt x="107938" y="30631"/>
                </a:lnTo>
                <a:lnTo>
                  <a:pt x="111209" y="26915"/>
                </a:lnTo>
                <a:lnTo>
                  <a:pt x="114480" y="22587"/>
                </a:lnTo>
                <a:lnTo>
                  <a:pt x="117751" y="17943"/>
                </a:lnTo>
                <a:lnTo>
                  <a:pt x="121021" y="13299"/>
                </a:lnTo>
                <a:lnTo>
                  <a:pt x="124292" y="8972"/>
                </a:lnTo>
                <a:lnTo>
                  <a:pt x="127563" y="5256"/>
                </a:lnTo>
                <a:lnTo>
                  <a:pt x="130834" y="2404"/>
                </a:lnTo>
                <a:lnTo>
                  <a:pt x="134105" y="612"/>
                </a:lnTo>
                <a:lnTo>
                  <a:pt x="137376" y="0"/>
                </a:lnTo>
                <a:lnTo>
                  <a:pt x="140647" y="612"/>
                </a:lnTo>
                <a:lnTo>
                  <a:pt x="143917" y="2404"/>
                </a:lnTo>
                <a:lnTo>
                  <a:pt x="147188" y="5256"/>
                </a:lnTo>
                <a:lnTo>
                  <a:pt x="150459" y="8972"/>
                </a:lnTo>
                <a:lnTo>
                  <a:pt x="153730" y="13299"/>
                </a:lnTo>
                <a:lnTo>
                  <a:pt x="157001" y="17943"/>
                </a:lnTo>
              </a:path>
            </a:pathLst>
          </a:custGeom>
          <a:noFill/>
          <a:ln w="10093">
            <a:solidFill>
              <a:srgbClr val="E64B35">
                <a:alpha val="89999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L TCO absorption 2L"/>
          <p:cNvSpPr/>
          <p:nvPr/>
        </p:nvSpPr>
        <p:spPr>
          <a:xfrm>
            <a:off x="3920266" y="1577081"/>
            <a:ext cx="157000" cy="35886"/>
          </a:xfrm>
          <a:custGeom>
            <a:avLst/>
            <a:gdLst/>
            <a:ahLst/>
            <a:cxnLst/>
            <a:rect l="l" t="t" r="r" b="b"/>
            <a:pathLst>
              <a:path w="157000" h="35886">
                <a:moveTo>
                  <a:pt x="0" y="17943"/>
                </a:moveTo>
                <a:lnTo>
                  <a:pt x="3270" y="22587"/>
                </a:lnTo>
                <a:lnTo>
                  <a:pt x="6541" y="26915"/>
                </a:lnTo>
                <a:lnTo>
                  <a:pt x="9812" y="30631"/>
                </a:lnTo>
                <a:lnTo>
                  <a:pt x="13083" y="33482"/>
                </a:lnTo>
                <a:lnTo>
                  <a:pt x="16354" y="35275"/>
                </a:lnTo>
                <a:lnTo>
                  <a:pt x="19625" y="35886"/>
                </a:lnTo>
                <a:lnTo>
                  <a:pt x="22896" y="35275"/>
                </a:lnTo>
                <a:lnTo>
                  <a:pt x="26166" y="33482"/>
                </a:lnTo>
                <a:lnTo>
                  <a:pt x="29437" y="30631"/>
                </a:lnTo>
                <a:lnTo>
                  <a:pt x="32708" y="26915"/>
                </a:lnTo>
                <a:lnTo>
                  <a:pt x="35979" y="22587"/>
                </a:lnTo>
                <a:lnTo>
                  <a:pt x="39250" y="17943"/>
                </a:lnTo>
                <a:lnTo>
                  <a:pt x="42521" y="13299"/>
                </a:lnTo>
                <a:lnTo>
                  <a:pt x="45792" y="8972"/>
                </a:lnTo>
                <a:lnTo>
                  <a:pt x="49062" y="5256"/>
                </a:lnTo>
                <a:lnTo>
                  <a:pt x="52333" y="2404"/>
                </a:lnTo>
                <a:lnTo>
                  <a:pt x="55604" y="612"/>
                </a:lnTo>
                <a:lnTo>
                  <a:pt x="58875" y="0"/>
                </a:lnTo>
                <a:lnTo>
                  <a:pt x="62146" y="612"/>
                </a:lnTo>
                <a:lnTo>
                  <a:pt x="65417" y="2404"/>
                </a:lnTo>
                <a:lnTo>
                  <a:pt x="68687" y="5256"/>
                </a:lnTo>
                <a:lnTo>
                  <a:pt x="71958" y="8972"/>
                </a:lnTo>
                <a:lnTo>
                  <a:pt x="75229" y="13299"/>
                </a:lnTo>
                <a:lnTo>
                  <a:pt x="78500" y="17943"/>
                </a:lnTo>
                <a:lnTo>
                  <a:pt x="81771" y="22587"/>
                </a:lnTo>
                <a:lnTo>
                  <a:pt x="85042" y="26915"/>
                </a:lnTo>
                <a:lnTo>
                  <a:pt x="88313" y="30631"/>
                </a:lnTo>
                <a:lnTo>
                  <a:pt x="91583" y="33482"/>
                </a:lnTo>
                <a:lnTo>
                  <a:pt x="94854" y="35275"/>
                </a:lnTo>
                <a:lnTo>
                  <a:pt x="98125" y="35886"/>
                </a:lnTo>
                <a:lnTo>
                  <a:pt x="101396" y="35275"/>
                </a:lnTo>
                <a:lnTo>
                  <a:pt x="104667" y="33482"/>
                </a:lnTo>
                <a:lnTo>
                  <a:pt x="107938" y="30631"/>
                </a:lnTo>
                <a:lnTo>
                  <a:pt x="111208" y="26915"/>
                </a:lnTo>
                <a:lnTo>
                  <a:pt x="114479" y="22587"/>
                </a:lnTo>
                <a:lnTo>
                  <a:pt x="117750" y="17943"/>
                </a:lnTo>
                <a:lnTo>
                  <a:pt x="121021" y="13299"/>
                </a:lnTo>
                <a:lnTo>
                  <a:pt x="124292" y="8972"/>
                </a:lnTo>
                <a:lnTo>
                  <a:pt x="127563" y="5256"/>
                </a:lnTo>
                <a:lnTo>
                  <a:pt x="130834" y="2404"/>
                </a:lnTo>
                <a:lnTo>
                  <a:pt x="134104" y="612"/>
                </a:lnTo>
                <a:lnTo>
                  <a:pt x="137375" y="0"/>
                </a:lnTo>
                <a:lnTo>
                  <a:pt x="140646" y="612"/>
                </a:lnTo>
                <a:lnTo>
                  <a:pt x="143917" y="2404"/>
                </a:lnTo>
                <a:lnTo>
                  <a:pt x="147188" y="5256"/>
                </a:lnTo>
                <a:lnTo>
                  <a:pt x="150459" y="8972"/>
                </a:lnTo>
                <a:lnTo>
                  <a:pt x="153730" y="13299"/>
                </a:lnTo>
                <a:lnTo>
                  <a:pt x="157000" y="17943"/>
                </a:lnTo>
              </a:path>
            </a:pathLst>
          </a:custGeom>
          <a:noFill/>
          <a:ln w="10093">
            <a:solidFill>
              <a:srgbClr val="E64B35">
                <a:alpha val="89999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L TCO absorption 2R"/>
          <p:cNvSpPr/>
          <p:nvPr/>
        </p:nvSpPr>
        <p:spPr>
          <a:xfrm>
            <a:off x="4189410" y="1577081"/>
            <a:ext cx="157001" cy="35886"/>
          </a:xfrm>
          <a:custGeom>
            <a:avLst/>
            <a:gdLst/>
            <a:ahLst/>
            <a:cxnLst/>
            <a:rect l="l" t="t" r="r" b="b"/>
            <a:pathLst>
              <a:path w="157001" h="35886">
                <a:moveTo>
                  <a:pt x="0" y="17943"/>
                </a:moveTo>
                <a:lnTo>
                  <a:pt x="3271" y="22587"/>
                </a:lnTo>
                <a:lnTo>
                  <a:pt x="6541" y="26915"/>
                </a:lnTo>
                <a:lnTo>
                  <a:pt x="9812" y="30631"/>
                </a:lnTo>
                <a:lnTo>
                  <a:pt x="13083" y="33482"/>
                </a:lnTo>
                <a:lnTo>
                  <a:pt x="16354" y="35275"/>
                </a:lnTo>
                <a:lnTo>
                  <a:pt x="19625" y="35886"/>
                </a:lnTo>
                <a:lnTo>
                  <a:pt x="22896" y="35275"/>
                </a:lnTo>
                <a:lnTo>
                  <a:pt x="26167" y="33482"/>
                </a:lnTo>
                <a:lnTo>
                  <a:pt x="29437" y="30631"/>
                </a:lnTo>
                <a:lnTo>
                  <a:pt x="32708" y="26915"/>
                </a:lnTo>
                <a:lnTo>
                  <a:pt x="35979" y="22587"/>
                </a:lnTo>
                <a:lnTo>
                  <a:pt x="39250" y="17943"/>
                </a:lnTo>
                <a:lnTo>
                  <a:pt x="42521" y="13299"/>
                </a:lnTo>
                <a:lnTo>
                  <a:pt x="45792" y="8972"/>
                </a:lnTo>
                <a:lnTo>
                  <a:pt x="49062" y="5256"/>
                </a:lnTo>
                <a:lnTo>
                  <a:pt x="52333" y="2404"/>
                </a:lnTo>
                <a:lnTo>
                  <a:pt x="55604" y="612"/>
                </a:lnTo>
                <a:lnTo>
                  <a:pt x="58875" y="0"/>
                </a:lnTo>
                <a:lnTo>
                  <a:pt x="62146" y="612"/>
                </a:lnTo>
                <a:lnTo>
                  <a:pt x="65417" y="2404"/>
                </a:lnTo>
                <a:lnTo>
                  <a:pt x="68688" y="5256"/>
                </a:lnTo>
                <a:lnTo>
                  <a:pt x="71958" y="8972"/>
                </a:lnTo>
                <a:lnTo>
                  <a:pt x="75229" y="13299"/>
                </a:lnTo>
                <a:lnTo>
                  <a:pt x="78500" y="17943"/>
                </a:lnTo>
                <a:lnTo>
                  <a:pt x="81771" y="22587"/>
                </a:lnTo>
                <a:lnTo>
                  <a:pt x="85042" y="26915"/>
                </a:lnTo>
                <a:lnTo>
                  <a:pt x="88313" y="30631"/>
                </a:lnTo>
                <a:lnTo>
                  <a:pt x="91584" y="33482"/>
                </a:lnTo>
                <a:lnTo>
                  <a:pt x="94854" y="35275"/>
                </a:lnTo>
                <a:lnTo>
                  <a:pt x="98125" y="35886"/>
                </a:lnTo>
                <a:lnTo>
                  <a:pt x="101396" y="35275"/>
                </a:lnTo>
                <a:lnTo>
                  <a:pt x="104667" y="33482"/>
                </a:lnTo>
                <a:lnTo>
                  <a:pt x="107938" y="30631"/>
                </a:lnTo>
                <a:lnTo>
                  <a:pt x="111209" y="26915"/>
                </a:lnTo>
                <a:lnTo>
                  <a:pt x="114479" y="22587"/>
                </a:lnTo>
                <a:lnTo>
                  <a:pt x="117750" y="17943"/>
                </a:lnTo>
                <a:lnTo>
                  <a:pt x="121021" y="13299"/>
                </a:lnTo>
                <a:lnTo>
                  <a:pt x="124292" y="8972"/>
                </a:lnTo>
                <a:lnTo>
                  <a:pt x="127563" y="5256"/>
                </a:lnTo>
                <a:lnTo>
                  <a:pt x="130834" y="2404"/>
                </a:lnTo>
                <a:lnTo>
                  <a:pt x="134105" y="612"/>
                </a:lnTo>
                <a:lnTo>
                  <a:pt x="137375" y="0"/>
                </a:lnTo>
                <a:lnTo>
                  <a:pt x="140646" y="612"/>
                </a:lnTo>
                <a:lnTo>
                  <a:pt x="143917" y="2404"/>
                </a:lnTo>
                <a:lnTo>
                  <a:pt x="147188" y="5256"/>
                </a:lnTo>
                <a:lnTo>
                  <a:pt x="150459" y="8972"/>
                </a:lnTo>
                <a:lnTo>
                  <a:pt x="153730" y="13299"/>
                </a:lnTo>
                <a:lnTo>
                  <a:pt x="157001" y="17943"/>
                </a:lnTo>
              </a:path>
            </a:pathLst>
          </a:custGeom>
          <a:noFill/>
          <a:ln w="10093">
            <a:solidFill>
              <a:srgbClr val="E64B35">
                <a:alpha val="89999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L TCO absorption 3L"/>
          <p:cNvSpPr/>
          <p:nvPr/>
        </p:nvSpPr>
        <p:spPr>
          <a:xfrm>
            <a:off x="5265986" y="1577081"/>
            <a:ext cx="157001" cy="35886"/>
          </a:xfrm>
          <a:custGeom>
            <a:avLst/>
            <a:gdLst/>
            <a:ahLst/>
            <a:cxnLst/>
            <a:rect l="l" t="t" r="r" b="b"/>
            <a:pathLst>
              <a:path w="157001" h="35886">
                <a:moveTo>
                  <a:pt x="0" y="17943"/>
                </a:moveTo>
                <a:lnTo>
                  <a:pt x="3271" y="22587"/>
                </a:lnTo>
                <a:lnTo>
                  <a:pt x="6542" y="26915"/>
                </a:lnTo>
                <a:lnTo>
                  <a:pt x="9813" y="30631"/>
                </a:lnTo>
                <a:lnTo>
                  <a:pt x="13084" y="33482"/>
                </a:lnTo>
                <a:lnTo>
                  <a:pt x="16355" y="35275"/>
                </a:lnTo>
                <a:lnTo>
                  <a:pt x="19625" y="35886"/>
                </a:lnTo>
                <a:lnTo>
                  <a:pt x="22896" y="35275"/>
                </a:lnTo>
                <a:lnTo>
                  <a:pt x="26167" y="33482"/>
                </a:lnTo>
                <a:lnTo>
                  <a:pt x="29438" y="30631"/>
                </a:lnTo>
                <a:lnTo>
                  <a:pt x="32709" y="26915"/>
                </a:lnTo>
                <a:lnTo>
                  <a:pt x="35980" y="22587"/>
                </a:lnTo>
                <a:lnTo>
                  <a:pt x="39251" y="17943"/>
                </a:lnTo>
                <a:lnTo>
                  <a:pt x="42521" y="13299"/>
                </a:lnTo>
                <a:lnTo>
                  <a:pt x="45792" y="8972"/>
                </a:lnTo>
                <a:lnTo>
                  <a:pt x="49063" y="5256"/>
                </a:lnTo>
                <a:lnTo>
                  <a:pt x="52334" y="2404"/>
                </a:lnTo>
                <a:lnTo>
                  <a:pt x="55605" y="612"/>
                </a:lnTo>
                <a:lnTo>
                  <a:pt x="58876" y="0"/>
                </a:lnTo>
                <a:lnTo>
                  <a:pt x="62146" y="612"/>
                </a:lnTo>
                <a:lnTo>
                  <a:pt x="65417" y="2404"/>
                </a:lnTo>
                <a:lnTo>
                  <a:pt x="68688" y="5256"/>
                </a:lnTo>
                <a:lnTo>
                  <a:pt x="71959" y="8972"/>
                </a:lnTo>
                <a:lnTo>
                  <a:pt x="75230" y="13299"/>
                </a:lnTo>
                <a:lnTo>
                  <a:pt x="78501" y="17943"/>
                </a:lnTo>
                <a:lnTo>
                  <a:pt x="81772" y="22587"/>
                </a:lnTo>
                <a:lnTo>
                  <a:pt x="85042" y="26915"/>
                </a:lnTo>
                <a:lnTo>
                  <a:pt x="88313" y="30631"/>
                </a:lnTo>
                <a:lnTo>
                  <a:pt x="91584" y="33482"/>
                </a:lnTo>
                <a:lnTo>
                  <a:pt x="94855" y="35275"/>
                </a:lnTo>
                <a:lnTo>
                  <a:pt x="98126" y="35886"/>
                </a:lnTo>
                <a:lnTo>
                  <a:pt x="101397" y="35275"/>
                </a:lnTo>
                <a:lnTo>
                  <a:pt x="104668" y="33482"/>
                </a:lnTo>
                <a:lnTo>
                  <a:pt x="107938" y="30631"/>
                </a:lnTo>
                <a:lnTo>
                  <a:pt x="111209" y="26915"/>
                </a:lnTo>
                <a:lnTo>
                  <a:pt x="114480" y="22587"/>
                </a:lnTo>
                <a:lnTo>
                  <a:pt x="117751" y="17943"/>
                </a:lnTo>
                <a:lnTo>
                  <a:pt x="121022" y="13299"/>
                </a:lnTo>
                <a:lnTo>
                  <a:pt x="124293" y="8972"/>
                </a:lnTo>
                <a:lnTo>
                  <a:pt x="127563" y="5256"/>
                </a:lnTo>
                <a:lnTo>
                  <a:pt x="130834" y="2404"/>
                </a:lnTo>
                <a:lnTo>
                  <a:pt x="134105" y="612"/>
                </a:lnTo>
                <a:lnTo>
                  <a:pt x="137376" y="0"/>
                </a:lnTo>
                <a:lnTo>
                  <a:pt x="140647" y="612"/>
                </a:lnTo>
                <a:lnTo>
                  <a:pt x="143918" y="2404"/>
                </a:lnTo>
                <a:lnTo>
                  <a:pt x="147189" y="5256"/>
                </a:lnTo>
                <a:lnTo>
                  <a:pt x="150459" y="8972"/>
                </a:lnTo>
                <a:lnTo>
                  <a:pt x="153730" y="13299"/>
                </a:lnTo>
                <a:lnTo>
                  <a:pt x="157001" y="17943"/>
                </a:lnTo>
              </a:path>
            </a:pathLst>
          </a:custGeom>
          <a:noFill/>
          <a:ln w="10093">
            <a:solidFill>
              <a:srgbClr val="E64B35">
                <a:alpha val="89999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L TCO absorption 3R"/>
          <p:cNvSpPr/>
          <p:nvPr/>
        </p:nvSpPr>
        <p:spPr>
          <a:xfrm>
            <a:off x="5535131" y="1577081"/>
            <a:ext cx="157000" cy="35886"/>
          </a:xfrm>
          <a:custGeom>
            <a:avLst/>
            <a:gdLst/>
            <a:ahLst/>
            <a:cxnLst/>
            <a:rect l="l" t="t" r="r" b="b"/>
            <a:pathLst>
              <a:path w="157000" h="35886">
                <a:moveTo>
                  <a:pt x="0" y="17943"/>
                </a:moveTo>
                <a:lnTo>
                  <a:pt x="3270" y="22587"/>
                </a:lnTo>
                <a:lnTo>
                  <a:pt x="6541" y="26915"/>
                </a:lnTo>
                <a:lnTo>
                  <a:pt x="9812" y="30631"/>
                </a:lnTo>
                <a:lnTo>
                  <a:pt x="13083" y="33482"/>
                </a:lnTo>
                <a:lnTo>
                  <a:pt x="16354" y="35275"/>
                </a:lnTo>
                <a:lnTo>
                  <a:pt x="19625" y="35886"/>
                </a:lnTo>
                <a:lnTo>
                  <a:pt x="22895" y="35275"/>
                </a:lnTo>
                <a:lnTo>
                  <a:pt x="26166" y="33482"/>
                </a:lnTo>
                <a:lnTo>
                  <a:pt x="29437" y="30631"/>
                </a:lnTo>
                <a:lnTo>
                  <a:pt x="32708" y="26915"/>
                </a:lnTo>
                <a:lnTo>
                  <a:pt x="35979" y="22587"/>
                </a:lnTo>
                <a:lnTo>
                  <a:pt x="39250" y="17943"/>
                </a:lnTo>
                <a:lnTo>
                  <a:pt x="42521" y="13299"/>
                </a:lnTo>
                <a:lnTo>
                  <a:pt x="45791" y="8972"/>
                </a:lnTo>
                <a:lnTo>
                  <a:pt x="49062" y="5256"/>
                </a:lnTo>
                <a:lnTo>
                  <a:pt x="52333" y="2404"/>
                </a:lnTo>
                <a:lnTo>
                  <a:pt x="55604" y="612"/>
                </a:lnTo>
                <a:lnTo>
                  <a:pt x="58875" y="0"/>
                </a:lnTo>
                <a:lnTo>
                  <a:pt x="62146" y="612"/>
                </a:lnTo>
                <a:lnTo>
                  <a:pt x="65417" y="2404"/>
                </a:lnTo>
                <a:lnTo>
                  <a:pt x="68687" y="5256"/>
                </a:lnTo>
                <a:lnTo>
                  <a:pt x="71958" y="8972"/>
                </a:lnTo>
                <a:lnTo>
                  <a:pt x="75229" y="13299"/>
                </a:lnTo>
                <a:lnTo>
                  <a:pt x="78500" y="17943"/>
                </a:lnTo>
                <a:lnTo>
                  <a:pt x="81771" y="22587"/>
                </a:lnTo>
                <a:lnTo>
                  <a:pt x="85042" y="26915"/>
                </a:lnTo>
                <a:lnTo>
                  <a:pt x="88312" y="30631"/>
                </a:lnTo>
                <a:lnTo>
                  <a:pt x="91583" y="33482"/>
                </a:lnTo>
                <a:lnTo>
                  <a:pt x="94854" y="35275"/>
                </a:lnTo>
                <a:lnTo>
                  <a:pt x="98125" y="35886"/>
                </a:lnTo>
                <a:lnTo>
                  <a:pt x="101396" y="35275"/>
                </a:lnTo>
                <a:lnTo>
                  <a:pt x="104667" y="33482"/>
                </a:lnTo>
                <a:lnTo>
                  <a:pt x="107938" y="30631"/>
                </a:lnTo>
                <a:lnTo>
                  <a:pt x="111208" y="26915"/>
                </a:lnTo>
                <a:lnTo>
                  <a:pt x="114479" y="22587"/>
                </a:lnTo>
                <a:lnTo>
                  <a:pt x="117750" y="17943"/>
                </a:lnTo>
                <a:lnTo>
                  <a:pt x="121021" y="13299"/>
                </a:lnTo>
                <a:lnTo>
                  <a:pt x="124292" y="8972"/>
                </a:lnTo>
                <a:lnTo>
                  <a:pt x="127563" y="5256"/>
                </a:lnTo>
                <a:lnTo>
                  <a:pt x="130833" y="2404"/>
                </a:lnTo>
                <a:lnTo>
                  <a:pt x="134104" y="612"/>
                </a:lnTo>
                <a:lnTo>
                  <a:pt x="137375" y="0"/>
                </a:lnTo>
                <a:lnTo>
                  <a:pt x="140646" y="612"/>
                </a:lnTo>
                <a:lnTo>
                  <a:pt x="143917" y="2404"/>
                </a:lnTo>
                <a:lnTo>
                  <a:pt x="147188" y="5256"/>
                </a:lnTo>
                <a:lnTo>
                  <a:pt x="150459" y="8972"/>
                </a:lnTo>
                <a:lnTo>
                  <a:pt x="153729" y="13299"/>
                </a:lnTo>
                <a:lnTo>
                  <a:pt x="157000" y="17943"/>
                </a:lnTo>
              </a:path>
            </a:pathLst>
          </a:custGeom>
          <a:noFill/>
          <a:ln w="10093">
            <a:solidFill>
              <a:srgbClr val="E64B35">
                <a:alpha val="89999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L ray emit"/>
          <p:cNvCxnSpPr/>
          <p:nvPr/>
        </p:nvCxnSpPr>
        <p:spPr>
          <a:xfrm flipV="1">
            <a:off x="1532172" y="1067950"/>
            <a:ext cx="582585" cy="582585"/>
          </a:xfrm>
          <a:prstGeom prst="line">
            <a:avLst/>
          </a:prstGeom>
          <a:ln w="53268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L ray down 1"/>
          <p:cNvCxnSpPr/>
          <p:nvPr/>
        </p:nvCxnSpPr>
        <p:spPr>
          <a:xfrm>
            <a:off x="2166343" y="1119536"/>
            <a:ext cx="585388" cy="585389"/>
          </a:xfrm>
          <a:prstGeom prst="line">
            <a:avLst/>
          </a:prstGeom>
          <a:ln w="40765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L ray up 1"/>
          <p:cNvCxnSpPr/>
          <p:nvPr/>
        </p:nvCxnSpPr>
        <p:spPr>
          <a:xfrm flipV="1">
            <a:off x="2823503" y="1067950"/>
            <a:ext cx="636975" cy="636975"/>
          </a:xfrm>
          <a:prstGeom prst="line">
            <a:avLst/>
          </a:prstGeom>
          <a:ln w="27205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L ray down 2"/>
          <p:cNvCxnSpPr/>
          <p:nvPr/>
        </p:nvCxnSpPr>
        <p:spPr>
          <a:xfrm>
            <a:off x="3512064" y="1119536"/>
            <a:ext cx="585388" cy="585389"/>
          </a:xfrm>
          <a:prstGeom prst="line">
            <a:avLst/>
          </a:prstGeom>
          <a:ln w="20820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L ray up 2"/>
          <p:cNvCxnSpPr/>
          <p:nvPr/>
        </p:nvCxnSpPr>
        <p:spPr>
          <a:xfrm flipV="1">
            <a:off x="4169224" y="1067950"/>
            <a:ext cx="636974" cy="636975"/>
          </a:xfrm>
          <a:prstGeom prst="line">
            <a:avLst/>
          </a:prstGeom>
          <a:ln w="13894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L ray down 3"/>
          <p:cNvCxnSpPr/>
          <p:nvPr/>
        </p:nvCxnSpPr>
        <p:spPr>
          <a:xfrm>
            <a:off x="4857784" y="1119536"/>
            <a:ext cx="585389" cy="585389"/>
          </a:xfrm>
          <a:prstGeom prst="line">
            <a:avLst/>
          </a:prstGeom>
          <a:ln w="10633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L ray up 3"/>
          <p:cNvCxnSpPr/>
          <p:nvPr/>
        </p:nvCxnSpPr>
        <p:spPr>
          <a:xfrm flipV="1">
            <a:off x="5514945" y="1067950"/>
            <a:ext cx="636974" cy="636975"/>
          </a:xfrm>
          <a:prstGeom prst="line">
            <a:avLst/>
          </a:prstGeom>
          <a:ln w="7096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L ray continues"/>
          <p:cNvCxnSpPr/>
          <p:nvPr/>
        </p:nvCxnSpPr>
        <p:spPr>
          <a:xfrm>
            <a:off x="6202384" y="1118415"/>
            <a:ext cx="117750" cy="117750"/>
          </a:xfrm>
          <a:prstGeom prst="line">
            <a:avLst/>
          </a:prstGeom>
          <a:ln w="5431">
            <a:solidFill>
              <a:srgbClr val="00A087">
                <a:alpha val="4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L outcoupled 1-1"/>
          <p:cNvCxnSpPr/>
          <p:nvPr/>
        </p:nvCxnSpPr>
        <p:spPr>
          <a:xfrm flipH="1" flipV="1">
            <a:off x="1768188" y="645695"/>
            <a:ext cx="262461" cy="276577"/>
          </a:xfrm>
          <a:prstGeom prst="line">
            <a:avLst/>
          </a:prstGeom>
          <a:ln w="29297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L outcoupled 1-2"/>
          <p:cNvCxnSpPr/>
          <p:nvPr/>
        </p:nvCxnSpPr>
        <p:spPr>
          <a:xfrm flipH="1" flipV="1">
            <a:off x="2044194" y="460950"/>
            <a:ext cx="55902" cy="439425"/>
          </a:xfrm>
          <a:prstGeom prst="line">
            <a:avLst/>
          </a:prstGeom>
          <a:ln w="29297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L outcoupled 1-3"/>
          <p:cNvCxnSpPr/>
          <p:nvPr/>
        </p:nvCxnSpPr>
        <p:spPr>
          <a:xfrm flipV="1">
            <a:off x="2177771" y="578761"/>
            <a:ext cx="207413" cy="333223"/>
          </a:xfrm>
          <a:prstGeom prst="line">
            <a:avLst/>
          </a:prstGeom>
          <a:ln w="29297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L outcoupled 2-1"/>
          <p:cNvCxnSpPr/>
          <p:nvPr/>
        </p:nvCxnSpPr>
        <p:spPr>
          <a:xfrm flipH="1" flipV="1">
            <a:off x="3113909" y="645695"/>
            <a:ext cx="262461" cy="276577"/>
          </a:xfrm>
          <a:prstGeom prst="line">
            <a:avLst/>
          </a:prstGeom>
          <a:ln w="14963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L outcoupled 2-2"/>
          <p:cNvCxnSpPr/>
          <p:nvPr/>
        </p:nvCxnSpPr>
        <p:spPr>
          <a:xfrm flipH="1" flipV="1">
            <a:off x="3389915" y="460950"/>
            <a:ext cx="55902" cy="439425"/>
          </a:xfrm>
          <a:prstGeom prst="line">
            <a:avLst/>
          </a:prstGeom>
          <a:ln w="14963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L outcoupled 2-3"/>
          <p:cNvCxnSpPr/>
          <p:nvPr/>
        </p:nvCxnSpPr>
        <p:spPr>
          <a:xfrm flipV="1">
            <a:off x="3523492" y="578761"/>
            <a:ext cx="207413" cy="333223"/>
          </a:xfrm>
          <a:prstGeom prst="line">
            <a:avLst/>
          </a:prstGeom>
          <a:ln w="14963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L outcoupled 3-1"/>
          <p:cNvCxnSpPr/>
          <p:nvPr/>
        </p:nvCxnSpPr>
        <p:spPr>
          <a:xfrm flipH="1" flipV="1">
            <a:off x="4459630" y="645695"/>
            <a:ext cx="262461" cy="276577"/>
          </a:xfrm>
          <a:prstGeom prst="line">
            <a:avLst/>
          </a:prstGeom>
          <a:ln w="7642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L outcoupled 3-2"/>
          <p:cNvCxnSpPr/>
          <p:nvPr/>
        </p:nvCxnSpPr>
        <p:spPr>
          <a:xfrm flipH="1" flipV="1">
            <a:off x="4735636" y="460950"/>
            <a:ext cx="55902" cy="439425"/>
          </a:xfrm>
          <a:prstGeom prst="line">
            <a:avLst/>
          </a:prstGeom>
          <a:ln w="7642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L outcoupled 3-3"/>
          <p:cNvCxnSpPr/>
          <p:nvPr/>
        </p:nvCxnSpPr>
        <p:spPr>
          <a:xfrm flipV="1">
            <a:off x="4869213" y="578761"/>
            <a:ext cx="207413" cy="333223"/>
          </a:xfrm>
          <a:prstGeom prst="line">
            <a:avLst/>
          </a:prstGeom>
          <a:ln w="7642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L outcoupled 4-1"/>
          <p:cNvCxnSpPr/>
          <p:nvPr/>
        </p:nvCxnSpPr>
        <p:spPr>
          <a:xfrm flipH="1" flipV="1">
            <a:off x="5805351" y="645695"/>
            <a:ext cx="262461" cy="276577"/>
          </a:xfrm>
          <a:prstGeom prst="line">
            <a:avLst/>
          </a:prstGeom>
          <a:ln w="5607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L outcoupled 4-2"/>
          <p:cNvCxnSpPr/>
          <p:nvPr/>
        </p:nvCxnSpPr>
        <p:spPr>
          <a:xfrm flipH="1" flipV="1">
            <a:off x="6081356" y="460950"/>
            <a:ext cx="55902" cy="439425"/>
          </a:xfrm>
          <a:prstGeom prst="line">
            <a:avLst/>
          </a:prstGeom>
          <a:ln w="5607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L outcoupled 4-3"/>
          <p:cNvCxnSpPr/>
          <p:nvPr/>
        </p:nvCxnSpPr>
        <p:spPr>
          <a:xfrm flipV="1">
            <a:off x="6214934" y="578761"/>
            <a:ext cx="207413" cy="333223"/>
          </a:xfrm>
          <a:prstGeom prst="line">
            <a:avLst/>
          </a:prstGeom>
          <a:ln w="5607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L ohmic loss 1L"/>
          <p:cNvSpPr/>
          <p:nvPr/>
        </p:nvSpPr>
        <p:spPr>
          <a:xfrm>
            <a:off x="2463113" y="1682320"/>
            <a:ext cx="253893" cy="49909"/>
          </a:xfrm>
          <a:custGeom>
            <a:avLst/>
            <a:gdLst/>
            <a:ahLst/>
            <a:cxnLst/>
            <a:rect l="l" t="t" r="r" b="b"/>
            <a:pathLst>
              <a:path w="253893" h="49909">
                <a:moveTo>
                  <a:pt x="253893" y="24848"/>
                </a:moveTo>
                <a:lnTo>
                  <a:pt x="248604" y="32903"/>
                </a:lnTo>
                <a:lnTo>
                  <a:pt x="243314" y="40104"/>
                </a:lnTo>
                <a:lnTo>
                  <a:pt x="238025" y="45686"/>
                </a:lnTo>
                <a:lnTo>
                  <a:pt x="232735" y="49055"/>
                </a:lnTo>
                <a:lnTo>
                  <a:pt x="227446" y="49856"/>
                </a:lnTo>
                <a:lnTo>
                  <a:pt x="222156" y="48002"/>
                </a:lnTo>
                <a:lnTo>
                  <a:pt x="216867" y="43690"/>
                </a:lnTo>
                <a:lnTo>
                  <a:pt x="211578" y="37378"/>
                </a:lnTo>
                <a:lnTo>
                  <a:pt x="206288" y="29737"/>
                </a:lnTo>
                <a:lnTo>
                  <a:pt x="200999" y="21576"/>
                </a:lnTo>
                <a:lnTo>
                  <a:pt x="195709" y="13763"/>
                </a:lnTo>
                <a:lnTo>
                  <a:pt x="190420" y="7126"/>
                </a:lnTo>
                <a:lnTo>
                  <a:pt x="185130" y="2370"/>
                </a:lnTo>
                <a:lnTo>
                  <a:pt x="179841" y="0"/>
                </a:lnTo>
                <a:lnTo>
                  <a:pt x="174552" y="267"/>
                </a:lnTo>
                <a:lnTo>
                  <a:pt x="169262" y="3143"/>
                </a:lnTo>
                <a:lnTo>
                  <a:pt x="163973" y="8323"/>
                </a:lnTo>
                <a:lnTo>
                  <a:pt x="158683" y="15257"/>
                </a:lnTo>
                <a:lnTo>
                  <a:pt x="153394" y="23208"/>
                </a:lnTo>
                <a:lnTo>
                  <a:pt x="148104" y="31334"/>
                </a:lnTo>
                <a:lnTo>
                  <a:pt x="142815" y="38771"/>
                </a:lnTo>
                <a:lnTo>
                  <a:pt x="137526" y="44730"/>
                </a:lnTo>
                <a:lnTo>
                  <a:pt x="132236" y="48579"/>
                </a:lnTo>
                <a:lnTo>
                  <a:pt x="126947" y="49909"/>
                </a:lnTo>
                <a:lnTo>
                  <a:pt x="121657" y="48579"/>
                </a:lnTo>
                <a:lnTo>
                  <a:pt x="116368" y="44730"/>
                </a:lnTo>
                <a:lnTo>
                  <a:pt x="111078" y="38771"/>
                </a:lnTo>
                <a:lnTo>
                  <a:pt x="105789" y="31334"/>
                </a:lnTo>
                <a:lnTo>
                  <a:pt x="100500" y="23208"/>
                </a:lnTo>
                <a:lnTo>
                  <a:pt x="95210" y="15257"/>
                </a:lnTo>
                <a:lnTo>
                  <a:pt x="89921" y="8323"/>
                </a:lnTo>
                <a:lnTo>
                  <a:pt x="84631" y="3143"/>
                </a:lnTo>
                <a:lnTo>
                  <a:pt x="79342" y="267"/>
                </a:lnTo>
                <a:lnTo>
                  <a:pt x="74052" y="0"/>
                </a:lnTo>
                <a:lnTo>
                  <a:pt x="68763" y="2370"/>
                </a:lnTo>
                <a:lnTo>
                  <a:pt x="63474" y="7126"/>
                </a:lnTo>
                <a:lnTo>
                  <a:pt x="58184" y="13763"/>
                </a:lnTo>
                <a:lnTo>
                  <a:pt x="52895" y="21576"/>
                </a:lnTo>
                <a:lnTo>
                  <a:pt x="47605" y="29737"/>
                </a:lnTo>
                <a:lnTo>
                  <a:pt x="42316" y="37378"/>
                </a:lnTo>
                <a:lnTo>
                  <a:pt x="37026" y="43690"/>
                </a:lnTo>
                <a:lnTo>
                  <a:pt x="31737" y="48002"/>
                </a:lnTo>
                <a:lnTo>
                  <a:pt x="26448" y="49856"/>
                </a:lnTo>
                <a:lnTo>
                  <a:pt x="21158" y="49055"/>
                </a:lnTo>
                <a:lnTo>
                  <a:pt x="15869" y="45686"/>
                </a:lnTo>
                <a:lnTo>
                  <a:pt x="10579" y="40104"/>
                </a:lnTo>
                <a:lnTo>
                  <a:pt x="5290" y="32903"/>
                </a:lnTo>
                <a:lnTo>
                  <a:pt x="0" y="24848"/>
                </a:lnTo>
              </a:path>
            </a:pathLst>
          </a:custGeom>
          <a:noFill/>
          <a:ln w="18608">
            <a:solidFill>
              <a:srgbClr val="E64B35">
                <a:alpha val="99000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L ohmic loss 1R"/>
          <p:cNvSpPr/>
          <p:nvPr/>
        </p:nvSpPr>
        <p:spPr>
          <a:xfrm>
            <a:off x="2858229" y="1682320"/>
            <a:ext cx="253892" cy="49909"/>
          </a:xfrm>
          <a:custGeom>
            <a:avLst/>
            <a:gdLst/>
            <a:ahLst/>
            <a:cxnLst/>
            <a:rect l="l" t="t" r="r" b="b"/>
            <a:pathLst>
              <a:path w="253892" h="49909">
                <a:moveTo>
                  <a:pt x="0" y="24848"/>
                </a:moveTo>
                <a:lnTo>
                  <a:pt x="5289" y="32903"/>
                </a:lnTo>
                <a:lnTo>
                  <a:pt x="10578" y="40104"/>
                </a:lnTo>
                <a:lnTo>
                  <a:pt x="15868" y="45686"/>
                </a:lnTo>
                <a:lnTo>
                  <a:pt x="21157" y="49055"/>
                </a:lnTo>
                <a:lnTo>
                  <a:pt x="26447" y="49856"/>
                </a:lnTo>
                <a:lnTo>
                  <a:pt x="31736" y="48002"/>
                </a:lnTo>
                <a:lnTo>
                  <a:pt x="37026" y="43690"/>
                </a:lnTo>
                <a:lnTo>
                  <a:pt x="42315" y="37378"/>
                </a:lnTo>
                <a:lnTo>
                  <a:pt x="47604" y="29737"/>
                </a:lnTo>
                <a:lnTo>
                  <a:pt x="52894" y="21576"/>
                </a:lnTo>
                <a:lnTo>
                  <a:pt x="58183" y="13763"/>
                </a:lnTo>
                <a:lnTo>
                  <a:pt x="63473" y="7126"/>
                </a:lnTo>
                <a:lnTo>
                  <a:pt x="68762" y="2370"/>
                </a:lnTo>
                <a:lnTo>
                  <a:pt x="74052" y="0"/>
                </a:lnTo>
                <a:lnTo>
                  <a:pt x="79341" y="267"/>
                </a:lnTo>
                <a:lnTo>
                  <a:pt x="84630" y="3143"/>
                </a:lnTo>
                <a:lnTo>
                  <a:pt x="89920" y="8323"/>
                </a:lnTo>
                <a:lnTo>
                  <a:pt x="95209" y="15257"/>
                </a:lnTo>
                <a:lnTo>
                  <a:pt x="100499" y="23208"/>
                </a:lnTo>
                <a:lnTo>
                  <a:pt x="105788" y="31334"/>
                </a:lnTo>
                <a:lnTo>
                  <a:pt x="111078" y="38771"/>
                </a:lnTo>
                <a:lnTo>
                  <a:pt x="116367" y="44730"/>
                </a:lnTo>
                <a:lnTo>
                  <a:pt x="121656" y="48579"/>
                </a:lnTo>
                <a:lnTo>
                  <a:pt x="126946" y="49909"/>
                </a:lnTo>
                <a:lnTo>
                  <a:pt x="132235" y="48579"/>
                </a:lnTo>
                <a:lnTo>
                  <a:pt x="137525" y="44730"/>
                </a:lnTo>
                <a:lnTo>
                  <a:pt x="142814" y="38771"/>
                </a:lnTo>
                <a:lnTo>
                  <a:pt x="148104" y="31334"/>
                </a:lnTo>
                <a:lnTo>
                  <a:pt x="153393" y="23208"/>
                </a:lnTo>
                <a:lnTo>
                  <a:pt x="158683" y="15257"/>
                </a:lnTo>
                <a:lnTo>
                  <a:pt x="163972" y="8323"/>
                </a:lnTo>
                <a:lnTo>
                  <a:pt x="169261" y="3143"/>
                </a:lnTo>
                <a:lnTo>
                  <a:pt x="174551" y="267"/>
                </a:lnTo>
                <a:lnTo>
                  <a:pt x="179840" y="0"/>
                </a:lnTo>
                <a:lnTo>
                  <a:pt x="185130" y="2370"/>
                </a:lnTo>
                <a:lnTo>
                  <a:pt x="190419" y="7126"/>
                </a:lnTo>
                <a:lnTo>
                  <a:pt x="195709" y="13763"/>
                </a:lnTo>
                <a:lnTo>
                  <a:pt x="200998" y="21576"/>
                </a:lnTo>
                <a:lnTo>
                  <a:pt x="206287" y="29737"/>
                </a:lnTo>
                <a:lnTo>
                  <a:pt x="211577" y="37378"/>
                </a:lnTo>
                <a:lnTo>
                  <a:pt x="216866" y="43690"/>
                </a:lnTo>
                <a:lnTo>
                  <a:pt x="222156" y="48002"/>
                </a:lnTo>
                <a:lnTo>
                  <a:pt x="227445" y="49856"/>
                </a:lnTo>
                <a:lnTo>
                  <a:pt x="232735" y="49055"/>
                </a:lnTo>
                <a:lnTo>
                  <a:pt x="238024" y="45686"/>
                </a:lnTo>
                <a:lnTo>
                  <a:pt x="243313" y="40104"/>
                </a:lnTo>
                <a:lnTo>
                  <a:pt x="248603" y="32903"/>
                </a:lnTo>
                <a:lnTo>
                  <a:pt x="253892" y="24848"/>
                </a:lnTo>
              </a:path>
            </a:pathLst>
          </a:custGeom>
          <a:noFill/>
          <a:ln w="18608">
            <a:solidFill>
              <a:srgbClr val="E64B35">
                <a:alpha val="99000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L absorption burst 1"/>
          <p:cNvSpPr/>
          <p:nvPr/>
        </p:nvSpPr>
        <p:spPr>
          <a:xfrm>
            <a:off x="2711399" y="1664592"/>
            <a:ext cx="152437" cy="152437"/>
          </a:xfrm>
          <a:prstGeom prst="star10">
            <a:avLst>
              <a:gd name="adj" fmla="val 40000"/>
              <a:gd name="hf" fmla="val 105146"/>
            </a:avLst>
          </a:prstGeom>
          <a:solidFill>
            <a:srgbClr val="FBDCD6">
              <a:alpha val="99000"/>
            </a:srgbClr>
          </a:solidFill>
          <a:ln w="5607">
            <a:solidFill>
              <a:srgbClr val="E64B35">
                <a:alpha val="99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L ohmic loss 2L"/>
          <p:cNvSpPr/>
          <p:nvPr/>
        </p:nvSpPr>
        <p:spPr>
          <a:xfrm>
            <a:off x="3950595" y="1690444"/>
            <a:ext cx="136830" cy="33591"/>
          </a:xfrm>
          <a:custGeom>
            <a:avLst/>
            <a:gdLst/>
            <a:ahLst/>
            <a:cxnLst/>
            <a:rect l="l" t="t" r="r" b="b"/>
            <a:pathLst>
              <a:path w="136830" h="33591">
                <a:moveTo>
                  <a:pt x="136830" y="16724"/>
                </a:moveTo>
                <a:lnTo>
                  <a:pt x="133979" y="22145"/>
                </a:lnTo>
                <a:lnTo>
                  <a:pt x="131129" y="26992"/>
                </a:lnTo>
                <a:lnTo>
                  <a:pt x="128278" y="30748"/>
                </a:lnTo>
                <a:lnTo>
                  <a:pt x="125427" y="33016"/>
                </a:lnTo>
                <a:lnTo>
                  <a:pt x="122577" y="33555"/>
                </a:lnTo>
                <a:lnTo>
                  <a:pt x="119726" y="32307"/>
                </a:lnTo>
                <a:lnTo>
                  <a:pt x="116876" y="29405"/>
                </a:lnTo>
                <a:lnTo>
                  <a:pt x="114025" y="25157"/>
                </a:lnTo>
                <a:lnTo>
                  <a:pt x="111174" y="20014"/>
                </a:lnTo>
                <a:lnTo>
                  <a:pt x="108324" y="14522"/>
                </a:lnTo>
                <a:lnTo>
                  <a:pt x="105473" y="9263"/>
                </a:lnTo>
                <a:lnTo>
                  <a:pt x="102622" y="4796"/>
                </a:lnTo>
                <a:lnTo>
                  <a:pt x="99772" y="1596"/>
                </a:lnTo>
                <a:lnTo>
                  <a:pt x="96921" y="0"/>
                </a:lnTo>
                <a:lnTo>
                  <a:pt x="94071" y="180"/>
                </a:lnTo>
                <a:lnTo>
                  <a:pt x="91220" y="2116"/>
                </a:lnTo>
                <a:lnTo>
                  <a:pt x="88369" y="5602"/>
                </a:lnTo>
                <a:lnTo>
                  <a:pt x="85519" y="10269"/>
                </a:lnTo>
                <a:lnTo>
                  <a:pt x="82668" y="15620"/>
                </a:lnTo>
                <a:lnTo>
                  <a:pt x="79817" y="21089"/>
                </a:lnTo>
                <a:lnTo>
                  <a:pt x="76967" y="26095"/>
                </a:lnTo>
                <a:lnTo>
                  <a:pt x="74116" y="30105"/>
                </a:lnTo>
                <a:lnTo>
                  <a:pt x="71266" y="32696"/>
                </a:lnTo>
                <a:lnTo>
                  <a:pt x="68415" y="33591"/>
                </a:lnTo>
                <a:lnTo>
                  <a:pt x="65564" y="32696"/>
                </a:lnTo>
                <a:lnTo>
                  <a:pt x="62714" y="30105"/>
                </a:lnTo>
                <a:lnTo>
                  <a:pt x="59863" y="26095"/>
                </a:lnTo>
                <a:lnTo>
                  <a:pt x="57012" y="21089"/>
                </a:lnTo>
                <a:lnTo>
                  <a:pt x="54162" y="15620"/>
                </a:lnTo>
                <a:lnTo>
                  <a:pt x="51311" y="10269"/>
                </a:lnTo>
                <a:lnTo>
                  <a:pt x="48461" y="5602"/>
                </a:lnTo>
                <a:lnTo>
                  <a:pt x="45610" y="2116"/>
                </a:lnTo>
                <a:lnTo>
                  <a:pt x="42759" y="180"/>
                </a:lnTo>
                <a:lnTo>
                  <a:pt x="39909" y="0"/>
                </a:lnTo>
                <a:lnTo>
                  <a:pt x="37058" y="1596"/>
                </a:lnTo>
                <a:lnTo>
                  <a:pt x="34207" y="4796"/>
                </a:lnTo>
                <a:lnTo>
                  <a:pt x="31357" y="9263"/>
                </a:lnTo>
                <a:lnTo>
                  <a:pt x="28506" y="14522"/>
                </a:lnTo>
                <a:lnTo>
                  <a:pt x="25656" y="20014"/>
                </a:lnTo>
                <a:lnTo>
                  <a:pt x="22805" y="25157"/>
                </a:lnTo>
                <a:lnTo>
                  <a:pt x="19954" y="29405"/>
                </a:lnTo>
                <a:lnTo>
                  <a:pt x="17104" y="32307"/>
                </a:lnTo>
                <a:lnTo>
                  <a:pt x="14253" y="33555"/>
                </a:lnTo>
                <a:lnTo>
                  <a:pt x="11402" y="33016"/>
                </a:lnTo>
                <a:lnTo>
                  <a:pt x="8552" y="30748"/>
                </a:lnTo>
                <a:lnTo>
                  <a:pt x="5701" y="26992"/>
                </a:lnTo>
                <a:lnTo>
                  <a:pt x="2851" y="22145"/>
                </a:lnTo>
                <a:lnTo>
                  <a:pt x="0" y="16724"/>
                </a:lnTo>
              </a:path>
            </a:pathLst>
          </a:custGeom>
          <a:noFill/>
          <a:ln w="13668">
            <a:solidFill>
              <a:srgbClr val="E64B35">
                <a:alpha val="70003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L ohmic loss 2R"/>
          <p:cNvSpPr/>
          <p:nvPr/>
        </p:nvSpPr>
        <p:spPr>
          <a:xfrm>
            <a:off x="4179251" y="1690444"/>
            <a:ext cx="136830" cy="33591"/>
          </a:xfrm>
          <a:custGeom>
            <a:avLst/>
            <a:gdLst/>
            <a:ahLst/>
            <a:cxnLst/>
            <a:rect l="l" t="t" r="r" b="b"/>
            <a:pathLst>
              <a:path w="136830" h="33591">
                <a:moveTo>
                  <a:pt x="0" y="16724"/>
                </a:moveTo>
                <a:lnTo>
                  <a:pt x="2851" y="22145"/>
                </a:lnTo>
                <a:lnTo>
                  <a:pt x="5701" y="26992"/>
                </a:lnTo>
                <a:lnTo>
                  <a:pt x="8552" y="30748"/>
                </a:lnTo>
                <a:lnTo>
                  <a:pt x="11403" y="33016"/>
                </a:lnTo>
                <a:lnTo>
                  <a:pt x="14253" y="33555"/>
                </a:lnTo>
                <a:lnTo>
                  <a:pt x="17104" y="32307"/>
                </a:lnTo>
                <a:lnTo>
                  <a:pt x="19955" y="29405"/>
                </a:lnTo>
                <a:lnTo>
                  <a:pt x="22805" y="25157"/>
                </a:lnTo>
                <a:lnTo>
                  <a:pt x="25656" y="20014"/>
                </a:lnTo>
                <a:lnTo>
                  <a:pt x="28506" y="14522"/>
                </a:lnTo>
                <a:lnTo>
                  <a:pt x="31357" y="9263"/>
                </a:lnTo>
                <a:lnTo>
                  <a:pt x="34208" y="4796"/>
                </a:lnTo>
                <a:lnTo>
                  <a:pt x="37058" y="1596"/>
                </a:lnTo>
                <a:lnTo>
                  <a:pt x="39909" y="0"/>
                </a:lnTo>
                <a:lnTo>
                  <a:pt x="42760" y="180"/>
                </a:lnTo>
                <a:lnTo>
                  <a:pt x="45610" y="2116"/>
                </a:lnTo>
                <a:lnTo>
                  <a:pt x="48461" y="5602"/>
                </a:lnTo>
                <a:lnTo>
                  <a:pt x="51311" y="10269"/>
                </a:lnTo>
                <a:lnTo>
                  <a:pt x="54162" y="15620"/>
                </a:lnTo>
                <a:lnTo>
                  <a:pt x="57013" y="21089"/>
                </a:lnTo>
                <a:lnTo>
                  <a:pt x="59863" y="26095"/>
                </a:lnTo>
                <a:lnTo>
                  <a:pt x="62714" y="30105"/>
                </a:lnTo>
                <a:lnTo>
                  <a:pt x="65565" y="32696"/>
                </a:lnTo>
                <a:lnTo>
                  <a:pt x="68415" y="33591"/>
                </a:lnTo>
                <a:lnTo>
                  <a:pt x="71266" y="32696"/>
                </a:lnTo>
                <a:lnTo>
                  <a:pt x="74116" y="30105"/>
                </a:lnTo>
                <a:lnTo>
                  <a:pt x="76967" y="26095"/>
                </a:lnTo>
                <a:lnTo>
                  <a:pt x="79818" y="21089"/>
                </a:lnTo>
                <a:lnTo>
                  <a:pt x="82668" y="15620"/>
                </a:lnTo>
                <a:lnTo>
                  <a:pt x="85519" y="10269"/>
                </a:lnTo>
                <a:lnTo>
                  <a:pt x="88370" y="5602"/>
                </a:lnTo>
                <a:lnTo>
                  <a:pt x="91220" y="2116"/>
                </a:lnTo>
                <a:lnTo>
                  <a:pt x="94071" y="180"/>
                </a:lnTo>
                <a:lnTo>
                  <a:pt x="96921" y="0"/>
                </a:lnTo>
                <a:lnTo>
                  <a:pt x="99772" y="1596"/>
                </a:lnTo>
                <a:lnTo>
                  <a:pt x="102623" y="4796"/>
                </a:lnTo>
                <a:lnTo>
                  <a:pt x="105473" y="9263"/>
                </a:lnTo>
                <a:lnTo>
                  <a:pt x="108324" y="14522"/>
                </a:lnTo>
                <a:lnTo>
                  <a:pt x="111175" y="20014"/>
                </a:lnTo>
                <a:lnTo>
                  <a:pt x="114025" y="25157"/>
                </a:lnTo>
                <a:lnTo>
                  <a:pt x="116876" y="29405"/>
                </a:lnTo>
                <a:lnTo>
                  <a:pt x="119726" y="32307"/>
                </a:lnTo>
                <a:lnTo>
                  <a:pt x="122577" y="33555"/>
                </a:lnTo>
                <a:lnTo>
                  <a:pt x="125428" y="33016"/>
                </a:lnTo>
                <a:lnTo>
                  <a:pt x="128278" y="30748"/>
                </a:lnTo>
                <a:lnTo>
                  <a:pt x="131129" y="26992"/>
                </a:lnTo>
                <a:lnTo>
                  <a:pt x="133980" y="22145"/>
                </a:lnTo>
                <a:lnTo>
                  <a:pt x="136830" y="16724"/>
                </a:lnTo>
              </a:path>
            </a:pathLst>
          </a:custGeom>
          <a:noFill/>
          <a:ln w="13668">
            <a:solidFill>
              <a:srgbClr val="E64B35">
                <a:alpha val="70003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L absorption burst 2"/>
          <p:cNvSpPr/>
          <p:nvPr/>
        </p:nvSpPr>
        <p:spPr>
          <a:xfrm>
            <a:off x="4081818" y="1689290"/>
            <a:ext cx="103040" cy="103040"/>
          </a:xfrm>
          <a:prstGeom prst="star10">
            <a:avLst>
              <a:gd name="adj" fmla="val 40000"/>
              <a:gd name="hf" fmla="val 105146"/>
            </a:avLst>
          </a:prstGeom>
          <a:solidFill>
            <a:srgbClr val="FBDCD6">
              <a:alpha val="70003"/>
            </a:srgbClr>
          </a:solidFill>
          <a:ln w="5607">
            <a:solidFill>
              <a:srgbClr val="E64B35">
                <a:alpha val="70003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L ohmic loss 3L"/>
          <p:cNvSpPr/>
          <p:nvPr/>
        </p:nvSpPr>
        <p:spPr>
          <a:xfrm>
            <a:off x="5358534" y="1693761"/>
            <a:ext cx="89040" cy="26929"/>
          </a:xfrm>
          <a:custGeom>
            <a:avLst/>
            <a:gdLst/>
            <a:ahLst/>
            <a:cxnLst/>
            <a:rect l="l" t="t" r="r" b="b"/>
            <a:pathLst>
              <a:path w="89040" h="26929">
                <a:moveTo>
                  <a:pt x="89040" y="13407"/>
                </a:moveTo>
                <a:lnTo>
                  <a:pt x="87185" y="17753"/>
                </a:lnTo>
                <a:lnTo>
                  <a:pt x="85330" y="21638"/>
                </a:lnTo>
                <a:lnTo>
                  <a:pt x="83475" y="24650"/>
                </a:lnTo>
                <a:lnTo>
                  <a:pt x="81620" y="26468"/>
                </a:lnTo>
                <a:lnTo>
                  <a:pt x="79765" y="26900"/>
                </a:lnTo>
                <a:lnTo>
                  <a:pt x="77910" y="25899"/>
                </a:lnTo>
                <a:lnTo>
                  <a:pt x="76055" y="23573"/>
                </a:lnTo>
                <a:lnTo>
                  <a:pt x="74200" y="20168"/>
                </a:lnTo>
                <a:lnTo>
                  <a:pt x="72345" y="16045"/>
                </a:lnTo>
                <a:lnTo>
                  <a:pt x="70490" y="11642"/>
                </a:lnTo>
                <a:lnTo>
                  <a:pt x="68635" y="7426"/>
                </a:lnTo>
                <a:lnTo>
                  <a:pt x="66780" y="3845"/>
                </a:lnTo>
                <a:lnTo>
                  <a:pt x="64925" y="1279"/>
                </a:lnTo>
                <a:lnTo>
                  <a:pt x="63070" y="0"/>
                </a:lnTo>
                <a:lnTo>
                  <a:pt x="61215" y="144"/>
                </a:lnTo>
                <a:lnTo>
                  <a:pt x="59360" y="1696"/>
                </a:lnTo>
                <a:lnTo>
                  <a:pt x="57505" y="4491"/>
                </a:lnTo>
                <a:lnTo>
                  <a:pt x="55650" y="8232"/>
                </a:lnTo>
                <a:lnTo>
                  <a:pt x="53795" y="12522"/>
                </a:lnTo>
                <a:lnTo>
                  <a:pt x="51940" y="16906"/>
                </a:lnTo>
                <a:lnTo>
                  <a:pt x="50085" y="20919"/>
                </a:lnTo>
                <a:lnTo>
                  <a:pt x="48230" y="24134"/>
                </a:lnTo>
                <a:lnTo>
                  <a:pt x="46375" y="26211"/>
                </a:lnTo>
                <a:lnTo>
                  <a:pt x="44520" y="26929"/>
                </a:lnTo>
                <a:lnTo>
                  <a:pt x="42665" y="26211"/>
                </a:lnTo>
                <a:lnTo>
                  <a:pt x="40810" y="24134"/>
                </a:lnTo>
                <a:lnTo>
                  <a:pt x="38955" y="20919"/>
                </a:lnTo>
                <a:lnTo>
                  <a:pt x="37100" y="16906"/>
                </a:lnTo>
                <a:lnTo>
                  <a:pt x="35245" y="12522"/>
                </a:lnTo>
                <a:lnTo>
                  <a:pt x="33390" y="8232"/>
                </a:lnTo>
                <a:lnTo>
                  <a:pt x="31535" y="4491"/>
                </a:lnTo>
                <a:lnTo>
                  <a:pt x="29680" y="1696"/>
                </a:lnTo>
                <a:lnTo>
                  <a:pt x="27825" y="144"/>
                </a:lnTo>
                <a:lnTo>
                  <a:pt x="25970" y="0"/>
                </a:lnTo>
                <a:lnTo>
                  <a:pt x="24115" y="1279"/>
                </a:lnTo>
                <a:lnTo>
                  <a:pt x="22260" y="3845"/>
                </a:lnTo>
                <a:lnTo>
                  <a:pt x="20405" y="7426"/>
                </a:lnTo>
                <a:lnTo>
                  <a:pt x="18550" y="11642"/>
                </a:lnTo>
                <a:lnTo>
                  <a:pt x="16695" y="16045"/>
                </a:lnTo>
                <a:lnTo>
                  <a:pt x="14840" y="20168"/>
                </a:lnTo>
                <a:lnTo>
                  <a:pt x="12985" y="23573"/>
                </a:lnTo>
                <a:lnTo>
                  <a:pt x="11130" y="25899"/>
                </a:lnTo>
                <a:lnTo>
                  <a:pt x="9275" y="26900"/>
                </a:lnTo>
                <a:lnTo>
                  <a:pt x="7420" y="26468"/>
                </a:lnTo>
                <a:lnTo>
                  <a:pt x="5565" y="24650"/>
                </a:lnTo>
                <a:lnTo>
                  <a:pt x="3710" y="21638"/>
                </a:lnTo>
                <a:lnTo>
                  <a:pt x="1855" y="17753"/>
                </a:lnTo>
                <a:lnTo>
                  <a:pt x="0" y="13407"/>
                </a:lnTo>
              </a:path>
            </a:pathLst>
          </a:custGeom>
          <a:noFill/>
          <a:ln w="10783">
            <a:solidFill>
              <a:srgbClr val="E64B35">
                <a:alpha val="58166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L ohmic loss 3R"/>
          <p:cNvSpPr/>
          <p:nvPr/>
        </p:nvSpPr>
        <p:spPr>
          <a:xfrm>
            <a:off x="5510544" y="1693761"/>
            <a:ext cx="89040" cy="26929"/>
          </a:xfrm>
          <a:custGeom>
            <a:avLst/>
            <a:gdLst/>
            <a:ahLst/>
            <a:cxnLst/>
            <a:rect l="l" t="t" r="r" b="b"/>
            <a:pathLst>
              <a:path w="89040" h="26929">
                <a:moveTo>
                  <a:pt x="0" y="13407"/>
                </a:moveTo>
                <a:lnTo>
                  <a:pt x="1855" y="17753"/>
                </a:lnTo>
                <a:lnTo>
                  <a:pt x="3710" y="21638"/>
                </a:lnTo>
                <a:lnTo>
                  <a:pt x="5565" y="24650"/>
                </a:lnTo>
                <a:lnTo>
                  <a:pt x="7420" y="26468"/>
                </a:lnTo>
                <a:lnTo>
                  <a:pt x="9275" y="26900"/>
                </a:lnTo>
                <a:lnTo>
                  <a:pt x="11130" y="25899"/>
                </a:lnTo>
                <a:lnTo>
                  <a:pt x="12985" y="23573"/>
                </a:lnTo>
                <a:lnTo>
                  <a:pt x="14840" y="20168"/>
                </a:lnTo>
                <a:lnTo>
                  <a:pt x="16695" y="16045"/>
                </a:lnTo>
                <a:lnTo>
                  <a:pt x="18550" y="11642"/>
                </a:lnTo>
                <a:lnTo>
                  <a:pt x="20405" y="7426"/>
                </a:lnTo>
                <a:lnTo>
                  <a:pt x="22260" y="3845"/>
                </a:lnTo>
                <a:lnTo>
                  <a:pt x="24115" y="1279"/>
                </a:lnTo>
                <a:lnTo>
                  <a:pt x="25970" y="0"/>
                </a:lnTo>
                <a:lnTo>
                  <a:pt x="27825" y="144"/>
                </a:lnTo>
                <a:lnTo>
                  <a:pt x="29680" y="1696"/>
                </a:lnTo>
                <a:lnTo>
                  <a:pt x="31535" y="4491"/>
                </a:lnTo>
                <a:lnTo>
                  <a:pt x="33390" y="8232"/>
                </a:lnTo>
                <a:lnTo>
                  <a:pt x="35245" y="12522"/>
                </a:lnTo>
                <a:lnTo>
                  <a:pt x="37100" y="16906"/>
                </a:lnTo>
                <a:lnTo>
                  <a:pt x="38955" y="20919"/>
                </a:lnTo>
                <a:lnTo>
                  <a:pt x="40810" y="24134"/>
                </a:lnTo>
                <a:lnTo>
                  <a:pt x="42665" y="26211"/>
                </a:lnTo>
                <a:lnTo>
                  <a:pt x="44520" y="26929"/>
                </a:lnTo>
                <a:lnTo>
                  <a:pt x="46375" y="26211"/>
                </a:lnTo>
                <a:lnTo>
                  <a:pt x="48230" y="24134"/>
                </a:lnTo>
                <a:lnTo>
                  <a:pt x="50085" y="20919"/>
                </a:lnTo>
                <a:lnTo>
                  <a:pt x="51940" y="16906"/>
                </a:lnTo>
                <a:lnTo>
                  <a:pt x="53795" y="12522"/>
                </a:lnTo>
                <a:lnTo>
                  <a:pt x="55650" y="8232"/>
                </a:lnTo>
                <a:lnTo>
                  <a:pt x="57505" y="4491"/>
                </a:lnTo>
                <a:lnTo>
                  <a:pt x="59360" y="1696"/>
                </a:lnTo>
                <a:lnTo>
                  <a:pt x="61215" y="144"/>
                </a:lnTo>
                <a:lnTo>
                  <a:pt x="63070" y="0"/>
                </a:lnTo>
                <a:lnTo>
                  <a:pt x="64925" y="1279"/>
                </a:lnTo>
                <a:lnTo>
                  <a:pt x="66780" y="3845"/>
                </a:lnTo>
                <a:lnTo>
                  <a:pt x="68635" y="7426"/>
                </a:lnTo>
                <a:lnTo>
                  <a:pt x="70490" y="11642"/>
                </a:lnTo>
                <a:lnTo>
                  <a:pt x="72345" y="16045"/>
                </a:lnTo>
                <a:lnTo>
                  <a:pt x="74200" y="20168"/>
                </a:lnTo>
                <a:lnTo>
                  <a:pt x="76055" y="23573"/>
                </a:lnTo>
                <a:lnTo>
                  <a:pt x="77910" y="25899"/>
                </a:lnTo>
                <a:lnTo>
                  <a:pt x="79765" y="26900"/>
                </a:lnTo>
                <a:lnTo>
                  <a:pt x="81620" y="26468"/>
                </a:lnTo>
                <a:lnTo>
                  <a:pt x="83475" y="24650"/>
                </a:lnTo>
                <a:lnTo>
                  <a:pt x="85330" y="21638"/>
                </a:lnTo>
                <a:lnTo>
                  <a:pt x="87185" y="17753"/>
                </a:lnTo>
                <a:lnTo>
                  <a:pt x="89040" y="13407"/>
                </a:lnTo>
              </a:path>
            </a:pathLst>
          </a:custGeom>
          <a:noFill/>
          <a:ln w="10783">
            <a:solidFill>
              <a:srgbClr val="E64B35">
                <a:alpha val="58166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L absorption burst 3"/>
          <p:cNvSpPr/>
          <p:nvPr/>
        </p:nvSpPr>
        <p:spPr>
          <a:xfrm>
            <a:off x="5441967" y="1703719"/>
            <a:ext cx="74184" cy="74184"/>
          </a:xfrm>
          <a:prstGeom prst="star10">
            <a:avLst>
              <a:gd name="adj" fmla="val 40000"/>
              <a:gd name="hf" fmla="val 105146"/>
            </a:avLst>
          </a:prstGeom>
          <a:solidFill>
            <a:srgbClr val="FBDCD6">
              <a:alpha val="58166"/>
            </a:srgbClr>
          </a:solidFill>
          <a:ln w="5607">
            <a:solidFill>
              <a:srgbClr val="E64B35">
                <a:alpha val="58166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L emitter"/>
          <p:cNvSpPr/>
          <p:nvPr/>
        </p:nvSpPr>
        <p:spPr>
          <a:xfrm>
            <a:off x="1444700" y="1642685"/>
            <a:ext cx="95322" cy="95322"/>
          </a:xfrm>
          <a:prstGeom prst="star8">
            <a:avLst>
              <a:gd name="adj" fmla="val 40000"/>
            </a:avLst>
          </a:prstGeom>
          <a:solidFill>
            <a:srgbClr val="E8901F"/>
          </a:solidFill>
          <a:ln w="5607">
            <a:solidFill>
              <a:srgbClr val="6F43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L emitter core"/>
          <p:cNvSpPr/>
          <p:nvPr/>
        </p:nvSpPr>
        <p:spPr>
          <a:xfrm>
            <a:off x="1478904" y="1676889"/>
            <a:ext cx="26914" cy="26914"/>
          </a:xfrm>
          <a:prstGeom prst="ellipse">
            <a:avLst/>
          </a:prstGeom>
          <a:solidFill>
            <a:srgbClr val="FFF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 lens 01"/>
          <p:cNvSpPr/>
          <p:nvPr/>
        </p:nvSpPr>
        <p:spPr>
          <a:xfrm>
            <a:off x="6656564" y="899735"/>
            <a:ext cx="336430" cy="336430"/>
          </a:xfrm>
          <a:prstGeom prst="ellipse">
            <a:avLst/>
          </a:prstGeom>
          <a:solidFill>
            <a:srgbClr val="EAF1F6"/>
          </a:solidFill>
          <a:ln w="728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 lens 02"/>
          <p:cNvSpPr/>
          <p:nvPr/>
        </p:nvSpPr>
        <p:spPr>
          <a:xfrm>
            <a:off x="6992995" y="899735"/>
            <a:ext cx="336430" cy="336430"/>
          </a:xfrm>
          <a:prstGeom prst="ellipse">
            <a:avLst/>
          </a:prstGeom>
          <a:solidFill>
            <a:srgbClr val="EAF1F6"/>
          </a:solidFill>
          <a:ln w="728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 lens 03"/>
          <p:cNvSpPr/>
          <p:nvPr/>
        </p:nvSpPr>
        <p:spPr>
          <a:xfrm>
            <a:off x="7329425" y="899735"/>
            <a:ext cx="336430" cy="336430"/>
          </a:xfrm>
          <a:prstGeom prst="ellipse">
            <a:avLst/>
          </a:prstGeom>
          <a:solidFill>
            <a:srgbClr val="EAF1F6"/>
          </a:solidFill>
          <a:ln w="728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 lens 04"/>
          <p:cNvSpPr/>
          <p:nvPr/>
        </p:nvSpPr>
        <p:spPr>
          <a:xfrm>
            <a:off x="7665855" y="899735"/>
            <a:ext cx="336430" cy="336430"/>
          </a:xfrm>
          <a:prstGeom prst="ellipse">
            <a:avLst/>
          </a:prstGeom>
          <a:solidFill>
            <a:srgbClr val="EAF1F6"/>
          </a:solidFill>
          <a:ln w="728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 lens 05"/>
          <p:cNvSpPr/>
          <p:nvPr/>
        </p:nvSpPr>
        <p:spPr>
          <a:xfrm>
            <a:off x="8002285" y="899735"/>
            <a:ext cx="336430" cy="336430"/>
          </a:xfrm>
          <a:prstGeom prst="ellipse">
            <a:avLst/>
          </a:prstGeom>
          <a:solidFill>
            <a:srgbClr val="EAF1F6"/>
          </a:solidFill>
          <a:ln w="728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 lens 06"/>
          <p:cNvSpPr/>
          <p:nvPr/>
        </p:nvSpPr>
        <p:spPr>
          <a:xfrm>
            <a:off x="8338715" y="899735"/>
            <a:ext cx="336430" cy="336430"/>
          </a:xfrm>
          <a:prstGeom prst="ellipse">
            <a:avLst/>
          </a:prstGeom>
          <a:solidFill>
            <a:srgbClr val="EAF1F6"/>
          </a:solidFill>
          <a:ln w="728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 lens 07"/>
          <p:cNvSpPr/>
          <p:nvPr/>
        </p:nvSpPr>
        <p:spPr>
          <a:xfrm>
            <a:off x="8675146" y="899735"/>
            <a:ext cx="336430" cy="336430"/>
          </a:xfrm>
          <a:prstGeom prst="ellipse">
            <a:avLst/>
          </a:prstGeom>
          <a:solidFill>
            <a:srgbClr val="EAF1F6"/>
          </a:solidFill>
          <a:ln w="728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 lens 08"/>
          <p:cNvSpPr/>
          <p:nvPr/>
        </p:nvSpPr>
        <p:spPr>
          <a:xfrm>
            <a:off x="9011576" y="899735"/>
            <a:ext cx="336430" cy="336430"/>
          </a:xfrm>
          <a:prstGeom prst="ellipse">
            <a:avLst/>
          </a:prstGeom>
          <a:solidFill>
            <a:srgbClr val="EAF1F6"/>
          </a:solidFill>
          <a:ln w="728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 lens 09"/>
          <p:cNvSpPr/>
          <p:nvPr/>
        </p:nvSpPr>
        <p:spPr>
          <a:xfrm>
            <a:off x="9348006" y="899735"/>
            <a:ext cx="336430" cy="336430"/>
          </a:xfrm>
          <a:prstGeom prst="ellipse">
            <a:avLst/>
          </a:prstGeom>
          <a:solidFill>
            <a:srgbClr val="EAF1F6"/>
          </a:solidFill>
          <a:ln w="728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 lens 10"/>
          <p:cNvSpPr/>
          <p:nvPr/>
        </p:nvSpPr>
        <p:spPr>
          <a:xfrm>
            <a:off x="9684436" y="899735"/>
            <a:ext cx="336430" cy="336430"/>
          </a:xfrm>
          <a:prstGeom prst="ellipse">
            <a:avLst/>
          </a:prstGeom>
          <a:solidFill>
            <a:srgbClr val="EAF1F6"/>
          </a:solidFill>
          <a:ln w="728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 lens 11"/>
          <p:cNvSpPr/>
          <p:nvPr/>
        </p:nvSpPr>
        <p:spPr>
          <a:xfrm>
            <a:off x="10020866" y="899735"/>
            <a:ext cx="336430" cy="336430"/>
          </a:xfrm>
          <a:prstGeom prst="ellipse">
            <a:avLst/>
          </a:prstGeom>
          <a:solidFill>
            <a:srgbClr val="EAF1F6"/>
          </a:solidFill>
          <a:ln w="728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 lens 12"/>
          <p:cNvSpPr/>
          <p:nvPr/>
        </p:nvSpPr>
        <p:spPr>
          <a:xfrm>
            <a:off x="10357297" y="899735"/>
            <a:ext cx="336430" cy="336430"/>
          </a:xfrm>
          <a:prstGeom prst="ellipse">
            <a:avLst/>
          </a:prstGeom>
          <a:solidFill>
            <a:srgbClr val="EAF1F6"/>
          </a:solidFill>
          <a:ln w="728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 lens 13"/>
          <p:cNvSpPr/>
          <p:nvPr/>
        </p:nvSpPr>
        <p:spPr>
          <a:xfrm>
            <a:off x="10693727" y="899735"/>
            <a:ext cx="336430" cy="336430"/>
          </a:xfrm>
          <a:prstGeom prst="ellipse">
            <a:avLst/>
          </a:prstGeom>
          <a:solidFill>
            <a:srgbClr val="EAF1F6"/>
          </a:solidFill>
          <a:ln w="728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 lens 14"/>
          <p:cNvSpPr/>
          <p:nvPr/>
        </p:nvSpPr>
        <p:spPr>
          <a:xfrm>
            <a:off x="11030157" y="899735"/>
            <a:ext cx="336430" cy="336430"/>
          </a:xfrm>
          <a:prstGeom prst="ellipse">
            <a:avLst/>
          </a:prstGeom>
          <a:solidFill>
            <a:srgbClr val="EAF1F6"/>
          </a:solidFill>
          <a:ln w="728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 lens 15"/>
          <p:cNvSpPr/>
          <p:nvPr/>
        </p:nvSpPr>
        <p:spPr>
          <a:xfrm>
            <a:off x="11366587" y="899735"/>
            <a:ext cx="336430" cy="336430"/>
          </a:xfrm>
          <a:prstGeom prst="ellipse">
            <a:avLst/>
          </a:prstGeom>
          <a:solidFill>
            <a:srgbClr val="EAF1F6"/>
          </a:solidFill>
          <a:ln w="728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 glass substrate"/>
          <p:cNvSpPr/>
          <p:nvPr/>
        </p:nvSpPr>
        <p:spPr>
          <a:xfrm>
            <a:off x="6656564" y="1067950"/>
            <a:ext cx="5046453" cy="482217"/>
          </a:xfrm>
          <a:prstGeom prst="rect">
            <a:avLst/>
          </a:prstGeom>
          <a:solidFill>
            <a:srgbClr val="EAF1F6"/>
          </a:solidFill>
          <a:ln w="728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 TCO anode"/>
          <p:cNvSpPr/>
          <p:nvPr/>
        </p:nvSpPr>
        <p:spPr>
          <a:xfrm>
            <a:off x="6656564" y="1550167"/>
            <a:ext cx="5046453" cy="89715"/>
          </a:xfrm>
          <a:prstGeom prst="rect">
            <a:avLst/>
          </a:prstGeom>
          <a:solidFill>
            <a:srgbClr val="CBE1EE"/>
          </a:solidFill>
          <a:ln w="5887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 organic layers"/>
          <p:cNvSpPr/>
          <p:nvPr/>
        </p:nvSpPr>
        <p:spPr>
          <a:xfrm>
            <a:off x="6656564" y="1639882"/>
            <a:ext cx="5046453" cy="100929"/>
          </a:xfrm>
          <a:prstGeom prst="rect">
            <a:avLst/>
          </a:prstGeom>
          <a:solidFill>
            <a:srgbClr val="FDF2E2"/>
          </a:solidFill>
          <a:ln w="5887">
            <a:solidFill>
              <a:srgbClr val="C99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 metal cathode"/>
          <p:cNvSpPr/>
          <p:nvPr/>
        </p:nvSpPr>
        <p:spPr>
          <a:xfrm>
            <a:off x="6656564" y="1740811"/>
            <a:ext cx="5046453" cy="224287"/>
          </a:xfrm>
          <a:prstGeom prst="rect">
            <a:avLst/>
          </a:prstGeom>
          <a:solidFill>
            <a:srgbClr val="C3C7CB"/>
          </a:solidFill>
          <a:ln w="5887">
            <a:solidFill>
              <a:srgbClr val="868C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 TCO absorption 1L"/>
          <p:cNvSpPr/>
          <p:nvPr/>
        </p:nvSpPr>
        <p:spPr>
          <a:xfrm>
            <a:off x="8005369" y="1588800"/>
            <a:ext cx="61118" cy="12448"/>
          </a:xfrm>
          <a:custGeom>
            <a:avLst/>
            <a:gdLst/>
            <a:ahLst/>
            <a:cxnLst/>
            <a:rect l="l" t="t" r="r" b="b"/>
            <a:pathLst>
              <a:path w="61118" h="12448">
                <a:moveTo>
                  <a:pt x="0" y="6224"/>
                </a:moveTo>
                <a:lnTo>
                  <a:pt x="1273" y="7835"/>
                </a:lnTo>
                <a:lnTo>
                  <a:pt x="2547" y="9336"/>
                </a:lnTo>
                <a:lnTo>
                  <a:pt x="3820" y="10625"/>
                </a:lnTo>
                <a:lnTo>
                  <a:pt x="5093" y="11614"/>
                </a:lnTo>
                <a:lnTo>
                  <a:pt x="6367" y="12236"/>
                </a:lnTo>
                <a:lnTo>
                  <a:pt x="7640" y="12448"/>
                </a:lnTo>
                <a:lnTo>
                  <a:pt x="8913" y="12236"/>
                </a:lnTo>
                <a:lnTo>
                  <a:pt x="10187" y="11614"/>
                </a:lnTo>
                <a:lnTo>
                  <a:pt x="11460" y="10625"/>
                </a:lnTo>
                <a:lnTo>
                  <a:pt x="12733" y="9336"/>
                </a:lnTo>
                <a:lnTo>
                  <a:pt x="14006" y="7835"/>
                </a:lnTo>
                <a:lnTo>
                  <a:pt x="15280" y="6224"/>
                </a:lnTo>
                <a:lnTo>
                  <a:pt x="16553" y="4613"/>
                </a:lnTo>
                <a:lnTo>
                  <a:pt x="17826" y="3112"/>
                </a:lnTo>
                <a:lnTo>
                  <a:pt x="19100" y="1823"/>
                </a:lnTo>
                <a:lnTo>
                  <a:pt x="20373" y="834"/>
                </a:lnTo>
                <a:lnTo>
                  <a:pt x="21646" y="212"/>
                </a:lnTo>
                <a:lnTo>
                  <a:pt x="22919" y="0"/>
                </a:lnTo>
                <a:lnTo>
                  <a:pt x="24193" y="212"/>
                </a:lnTo>
                <a:lnTo>
                  <a:pt x="25466" y="834"/>
                </a:lnTo>
                <a:lnTo>
                  <a:pt x="26739" y="1823"/>
                </a:lnTo>
                <a:lnTo>
                  <a:pt x="28013" y="3112"/>
                </a:lnTo>
                <a:lnTo>
                  <a:pt x="29286" y="4613"/>
                </a:lnTo>
                <a:lnTo>
                  <a:pt x="30559" y="6224"/>
                </a:lnTo>
                <a:lnTo>
                  <a:pt x="31833" y="7835"/>
                </a:lnTo>
                <a:lnTo>
                  <a:pt x="33106" y="9336"/>
                </a:lnTo>
                <a:lnTo>
                  <a:pt x="34379" y="10625"/>
                </a:lnTo>
                <a:lnTo>
                  <a:pt x="35652" y="11614"/>
                </a:lnTo>
                <a:lnTo>
                  <a:pt x="36926" y="12236"/>
                </a:lnTo>
                <a:lnTo>
                  <a:pt x="38199" y="12448"/>
                </a:lnTo>
                <a:lnTo>
                  <a:pt x="39472" y="12236"/>
                </a:lnTo>
                <a:lnTo>
                  <a:pt x="40746" y="11614"/>
                </a:lnTo>
                <a:lnTo>
                  <a:pt x="42019" y="10625"/>
                </a:lnTo>
                <a:lnTo>
                  <a:pt x="43292" y="9336"/>
                </a:lnTo>
                <a:lnTo>
                  <a:pt x="44565" y="7835"/>
                </a:lnTo>
                <a:lnTo>
                  <a:pt x="45839" y="6224"/>
                </a:lnTo>
                <a:lnTo>
                  <a:pt x="47112" y="4613"/>
                </a:lnTo>
                <a:lnTo>
                  <a:pt x="48385" y="3112"/>
                </a:lnTo>
                <a:lnTo>
                  <a:pt x="49659" y="1823"/>
                </a:lnTo>
                <a:lnTo>
                  <a:pt x="50932" y="834"/>
                </a:lnTo>
                <a:lnTo>
                  <a:pt x="52205" y="212"/>
                </a:lnTo>
                <a:lnTo>
                  <a:pt x="53479" y="0"/>
                </a:lnTo>
                <a:lnTo>
                  <a:pt x="54752" y="212"/>
                </a:lnTo>
                <a:lnTo>
                  <a:pt x="56025" y="834"/>
                </a:lnTo>
                <a:lnTo>
                  <a:pt x="57298" y="1823"/>
                </a:lnTo>
                <a:lnTo>
                  <a:pt x="58572" y="3112"/>
                </a:lnTo>
                <a:lnTo>
                  <a:pt x="59845" y="4613"/>
                </a:lnTo>
                <a:lnTo>
                  <a:pt x="61118" y="6224"/>
                </a:lnTo>
              </a:path>
            </a:pathLst>
          </a:custGeom>
          <a:noFill/>
          <a:ln w="5299">
            <a:solidFill>
              <a:srgbClr val="E64B35">
                <a:alpha val="2825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 TCO absorption 1R"/>
          <p:cNvSpPr/>
          <p:nvPr/>
        </p:nvSpPr>
        <p:spPr>
          <a:xfrm>
            <a:off x="8274513" y="1588800"/>
            <a:ext cx="61118" cy="12448"/>
          </a:xfrm>
          <a:custGeom>
            <a:avLst/>
            <a:gdLst/>
            <a:ahLst/>
            <a:cxnLst/>
            <a:rect l="l" t="t" r="r" b="b"/>
            <a:pathLst>
              <a:path w="61118" h="12448">
                <a:moveTo>
                  <a:pt x="0" y="6224"/>
                </a:moveTo>
                <a:lnTo>
                  <a:pt x="1274" y="7835"/>
                </a:lnTo>
                <a:lnTo>
                  <a:pt x="2547" y="9336"/>
                </a:lnTo>
                <a:lnTo>
                  <a:pt x="3820" y="10625"/>
                </a:lnTo>
                <a:lnTo>
                  <a:pt x="5094" y="11614"/>
                </a:lnTo>
                <a:lnTo>
                  <a:pt x="6367" y="12236"/>
                </a:lnTo>
                <a:lnTo>
                  <a:pt x="7640" y="12448"/>
                </a:lnTo>
                <a:lnTo>
                  <a:pt x="8913" y="12236"/>
                </a:lnTo>
                <a:lnTo>
                  <a:pt x="10187" y="11614"/>
                </a:lnTo>
                <a:lnTo>
                  <a:pt x="11460" y="10625"/>
                </a:lnTo>
                <a:lnTo>
                  <a:pt x="12733" y="9336"/>
                </a:lnTo>
                <a:lnTo>
                  <a:pt x="14007" y="7835"/>
                </a:lnTo>
                <a:lnTo>
                  <a:pt x="15280" y="6224"/>
                </a:lnTo>
                <a:lnTo>
                  <a:pt x="16553" y="4613"/>
                </a:lnTo>
                <a:lnTo>
                  <a:pt x="17826" y="3112"/>
                </a:lnTo>
                <a:lnTo>
                  <a:pt x="19100" y="1823"/>
                </a:lnTo>
                <a:lnTo>
                  <a:pt x="20373" y="834"/>
                </a:lnTo>
                <a:lnTo>
                  <a:pt x="21646" y="212"/>
                </a:lnTo>
                <a:lnTo>
                  <a:pt x="22920" y="0"/>
                </a:lnTo>
                <a:lnTo>
                  <a:pt x="24193" y="212"/>
                </a:lnTo>
                <a:lnTo>
                  <a:pt x="25466" y="834"/>
                </a:lnTo>
                <a:lnTo>
                  <a:pt x="26740" y="1823"/>
                </a:lnTo>
                <a:lnTo>
                  <a:pt x="28013" y="3112"/>
                </a:lnTo>
                <a:lnTo>
                  <a:pt x="29286" y="4613"/>
                </a:lnTo>
                <a:lnTo>
                  <a:pt x="30559" y="6224"/>
                </a:lnTo>
                <a:lnTo>
                  <a:pt x="31833" y="7835"/>
                </a:lnTo>
                <a:lnTo>
                  <a:pt x="33106" y="9336"/>
                </a:lnTo>
                <a:lnTo>
                  <a:pt x="34379" y="10625"/>
                </a:lnTo>
                <a:lnTo>
                  <a:pt x="35653" y="11614"/>
                </a:lnTo>
                <a:lnTo>
                  <a:pt x="36926" y="12236"/>
                </a:lnTo>
                <a:lnTo>
                  <a:pt x="38199" y="12448"/>
                </a:lnTo>
                <a:lnTo>
                  <a:pt x="39472" y="12236"/>
                </a:lnTo>
                <a:lnTo>
                  <a:pt x="40746" y="11614"/>
                </a:lnTo>
                <a:lnTo>
                  <a:pt x="42019" y="10625"/>
                </a:lnTo>
                <a:lnTo>
                  <a:pt x="43292" y="9336"/>
                </a:lnTo>
                <a:lnTo>
                  <a:pt x="44566" y="7835"/>
                </a:lnTo>
                <a:lnTo>
                  <a:pt x="45839" y="6224"/>
                </a:lnTo>
                <a:lnTo>
                  <a:pt x="47112" y="4613"/>
                </a:lnTo>
                <a:lnTo>
                  <a:pt x="48386" y="3112"/>
                </a:lnTo>
                <a:lnTo>
                  <a:pt x="49659" y="1823"/>
                </a:lnTo>
                <a:lnTo>
                  <a:pt x="50932" y="834"/>
                </a:lnTo>
                <a:lnTo>
                  <a:pt x="52205" y="212"/>
                </a:lnTo>
                <a:lnTo>
                  <a:pt x="53479" y="0"/>
                </a:lnTo>
                <a:lnTo>
                  <a:pt x="54752" y="212"/>
                </a:lnTo>
                <a:lnTo>
                  <a:pt x="56025" y="834"/>
                </a:lnTo>
                <a:lnTo>
                  <a:pt x="57299" y="1823"/>
                </a:lnTo>
                <a:lnTo>
                  <a:pt x="58572" y="3112"/>
                </a:lnTo>
                <a:lnTo>
                  <a:pt x="59845" y="4613"/>
                </a:lnTo>
                <a:lnTo>
                  <a:pt x="61118" y="6224"/>
                </a:lnTo>
              </a:path>
            </a:pathLst>
          </a:custGeom>
          <a:noFill/>
          <a:ln w="5299">
            <a:solidFill>
              <a:srgbClr val="E64B35">
                <a:alpha val="2825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 TCO absorption 2L"/>
          <p:cNvSpPr/>
          <p:nvPr/>
        </p:nvSpPr>
        <p:spPr>
          <a:xfrm>
            <a:off x="9351090" y="1588800"/>
            <a:ext cx="61118" cy="12448"/>
          </a:xfrm>
          <a:custGeom>
            <a:avLst/>
            <a:gdLst/>
            <a:ahLst/>
            <a:cxnLst/>
            <a:rect l="l" t="t" r="r" b="b"/>
            <a:pathLst>
              <a:path w="61118" h="12448">
                <a:moveTo>
                  <a:pt x="0" y="6224"/>
                </a:moveTo>
                <a:lnTo>
                  <a:pt x="1273" y="7835"/>
                </a:lnTo>
                <a:lnTo>
                  <a:pt x="2547" y="9336"/>
                </a:lnTo>
                <a:lnTo>
                  <a:pt x="3820" y="10625"/>
                </a:lnTo>
                <a:lnTo>
                  <a:pt x="5093" y="11614"/>
                </a:lnTo>
                <a:lnTo>
                  <a:pt x="6366" y="12236"/>
                </a:lnTo>
                <a:lnTo>
                  <a:pt x="7640" y="12448"/>
                </a:lnTo>
                <a:lnTo>
                  <a:pt x="8913" y="12236"/>
                </a:lnTo>
                <a:lnTo>
                  <a:pt x="10186" y="11614"/>
                </a:lnTo>
                <a:lnTo>
                  <a:pt x="11460" y="10625"/>
                </a:lnTo>
                <a:lnTo>
                  <a:pt x="12733" y="9336"/>
                </a:lnTo>
                <a:lnTo>
                  <a:pt x="14006" y="7835"/>
                </a:lnTo>
                <a:lnTo>
                  <a:pt x="15279" y="6224"/>
                </a:lnTo>
                <a:lnTo>
                  <a:pt x="16553" y="4613"/>
                </a:lnTo>
                <a:lnTo>
                  <a:pt x="17826" y="3112"/>
                </a:lnTo>
                <a:lnTo>
                  <a:pt x="19099" y="1823"/>
                </a:lnTo>
                <a:lnTo>
                  <a:pt x="20373" y="834"/>
                </a:lnTo>
                <a:lnTo>
                  <a:pt x="21646" y="212"/>
                </a:lnTo>
                <a:lnTo>
                  <a:pt x="22919" y="0"/>
                </a:lnTo>
                <a:lnTo>
                  <a:pt x="24193" y="212"/>
                </a:lnTo>
                <a:lnTo>
                  <a:pt x="25466" y="834"/>
                </a:lnTo>
                <a:lnTo>
                  <a:pt x="26739" y="1823"/>
                </a:lnTo>
                <a:lnTo>
                  <a:pt x="28012" y="3112"/>
                </a:lnTo>
                <a:lnTo>
                  <a:pt x="29286" y="4613"/>
                </a:lnTo>
                <a:lnTo>
                  <a:pt x="30559" y="6224"/>
                </a:lnTo>
                <a:lnTo>
                  <a:pt x="31832" y="7835"/>
                </a:lnTo>
                <a:lnTo>
                  <a:pt x="33106" y="9336"/>
                </a:lnTo>
                <a:lnTo>
                  <a:pt x="34379" y="10625"/>
                </a:lnTo>
                <a:lnTo>
                  <a:pt x="35652" y="11614"/>
                </a:lnTo>
                <a:lnTo>
                  <a:pt x="36925" y="12236"/>
                </a:lnTo>
                <a:lnTo>
                  <a:pt x="38199" y="12448"/>
                </a:lnTo>
                <a:lnTo>
                  <a:pt x="39472" y="12236"/>
                </a:lnTo>
                <a:lnTo>
                  <a:pt x="40745" y="11614"/>
                </a:lnTo>
                <a:lnTo>
                  <a:pt x="42019" y="10625"/>
                </a:lnTo>
                <a:lnTo>
                  <a:pt x="43292" y="9336"/>
                </a:lnTo>
                <a:lnTo>
                  <a:pt x="44565" y="7835"/>
                </a:lnTo>
                <a:lnTo>
                  <a:pt x="45839" y="6224"/>
                </a:lnTo>
                <a:lnTo>
                  <a:pt x="47112" y="4613"/>
                </a:lnTo>
                <a:lnTo>
                  <a:pt x="48385" y="3112"/>
                </a:lnTo>
                <a:lnTo>
                  <a:pt x="49658" y="1823"/>
                </a:lnTo>
                <a:lnTo>
                  <a:pt x="50932" y="834"/>
                </a:lnTo>
                <a:lnTo>
                  <a:pt x="52205" y="212"/>
                </a:lnTo>
                <a:lnTo>
                  <a:pt x="53478" y="0"/>
                </a:lnTo>
                <a:lnTo>
                  <a:pt x="54752" y="212"/>
                </a:lnTo>
                <a:lnTo>
                  <a:pt x="56025" y="834"/>
                </a:lnTo>
                <a:lnTo>
                  <a:pt x="57298" y="1823"/>
                </a:lnTo>
                <a:lnTo>
                  <a:pt x="58571" y="3112"/>
                </a:lnTo>
                <a:lnTo>
                  <a:pt x="59845" y="4613"/>
                </a:lnTo>
                <a:lnTo>
                  <a:pt x="61118" y="6224"/>
                </a:lnTo>
              </a:path>
            </a:pathLst>
          </a:custGeom>
          <a:noFill/>
          <a:ln w="5299">
            <a:solidFill>
              <a:srgbClr val="E64B35">
                <a:alpha val="2825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 TCO absorption 2R"/>
          <p:cNvSpPr/>
          <p:nvPr/>
        </p:nvSpPr>
        <p:spPr>
          <a:xfrm>
            <a:off x="9620234" y="1588800"/>
            <a:ext cx="61118" cy="12448"/>
          </a:xfrm>
          <a:custGeom>
            <a:avLst/>
            <a:gdLst/>
            <a:ahLst/>
            <a:cxnLst/>
            <a:rect l="l" t="t" r="r" b="b"/>
            <a:pathLst>
              <a:path w="61118" h="12448">
                <a:moveTo>
                  <a:pt x="0" y="6224"/>
                </a:moveTo>
                <a:lnTo>
                  <a:pt x="1273" y="7835"/>
                </a:lnTo>
                <a:lnTo>
                  <a:pt x="2547" y="9336"/>
                </a:lnTo>
                <a:lnTo>
                  <a:pt x="3820" y="10625"/>
                </a:lnTo>
                <a:lnTo>
                  <a:pt x="5093" y="11614"/>
                </a:lnTo>
                <a:lnTo>
                  <a:pt x="6367" y="12236"/>
                </a:lnTo>
                <a:lnTo>
                  <a:pt x="7640" y="12448"/>
                </a:lnTo>
                <a:lnTo>
                  <a:pt x="8913" y="12236"/>
                </a:lnTo>
                <a:lnTo>
                  <a:pt x="10186" y="11614"/>
                </a:lnTo>
                <a:lnTo>
                  <a:pt x="11460" y="10625"/>
                </a:lnTo>
                <a:lnTo>
                  <a:pt x="12733" y="9336"/>
                </a:lnTo>
                <a:lnTo>
                  <a:pt x="14006" y="7835"/>
                </a:lnTo>
                <a:lnTo>
                  <a:pt x="15280" y="6224"/>
                </a:lnTo>
                <a:lnTo>
                  <a:pt x="16553" y="4613"/>
                </a:lnTo>
                <a:lnTo>
                  <a:pt x="17826" y="3112"/>
                </a:lnTo>
                <a:lnTo>
                  <a:pt x="19100" y="1823"/>
                </a:lnTo>
                <a:lnTo>
                  <a:pt x="20373" y="834"/>
                </a:lnTo>
                <a:lnTo>
                  <a:pt x="21646" y="212"/>
                </a:lnTo>
                <a:lnTo>
                  <a:pt x="22919" y="0"/>
                </a:lnTo>
                <a:lnTo>
                  <a:pt x="24193" y="212"/>
                </a:lnTo>
                <a:lnTo>
                  <a:pt x="25466" y="834"/>
                </a:lnTo>
                <a:lnTo>
                  <a:pt x="26739" y="1823"/>
                </a:lnTo>
                <a:lnTo>
                  <a:pt x="28013" y="3112"/>
                </a:lnTo>
                <a:lnTo>
                  <a:pt x="29286" y="4613"/>
                </a:lnTo>
                <a:lnTo>
                  <a:pt x="30559" y="6224"/>
                </a:lnTo>
                <a:lnTo>
                  <a:pt x="31832" y="7835"/>
                </a:lnTo>
                <a:lnTo>
                  <a:pt x="33106" y="9336"/>
                </a:lnTo>
                <a:lnTo>
                  <a:pt x="34379" y="10625"/>
                </a:lnTo>
                <a:lnTo>
                  <a:pt x="35652" y="11614"/>
                </a:lnTo>
                <a:lnTo>
                  <a:pt x="36926" y="12236"/>
                </a:lnTo>
                <a:lnTo>
                  <a:pt x="38199" y="12448"/>
                </a:lnTo>
                <a:lnTo>
                  <a:pt x="39472" y="12236"/>
                </a:lnTo>
                <a:lnTo>
                  <a:pt x="40746" y="11614"/>
                </a:lnTo>
                <a:lnTo>
                  <a:pt x="42019" y="10625"/>
                </a:lnTo>
                <a:lnTo>
                  <a:pt x="43292" y="9336"/>
                </a:lnTo>
                <a:lnTo>
                  <a:pt x="44565" y="7835"/>
                </a:lnTo>
                <a:lnTo>
                  <a:pt x="45839" y="6224"/>
                </a:lnTo>
                <a:lnTo>
                  <a:pt x="47112" y="4613"/>
                </a:lnTo>
                <a:lnTo>
                  <a:pt x="48385" y="3112"/>
                </a:lnTo>
                <a:lnTo>
                  <a:pt x="49659" y="1823"/>
                </a:lnTo>
                <a:lnTo>
                  <a:pt x="50932" y="834"/>
                </a:lnTo>
                <a:lnTo>
                  <a:pt x="52205" y="212"/>
                </a:lnTo>
                <a:lnTo>
                  <a:pt x="53478" y="0"/>
                </a:lnTo>
                <a:lnTo>
                  <a:pt x="54752" y="212"/>
                </a:lnTo>
                <a:lnTo>
                  <a:pt x="56025" y="834"/>
                </a:lnTo>
                <a:lnTo>
                  <a:pt x="57298" y="1823"/>
                </a:lnTo>
                <a:lnTo>
                  <a:pt x="58572" y="3112"/>
                </a:lnTo>
                <a:lnTo>
                  <a:pt x="59845" y="4613"/>
                </a:lnTo>
                <a:lnTo>
                  <a:pt x="61118" y="6224"/>
                </a:lnTo>
              </a:path>
            </a:pathLst>
          </a:custGeom>
          <a:noFill/>
          <a:ln w="5299">
            <a:solidFill>
              <a:srgbClr val="E64B35">
                <a:alpha val="2825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 TCO absorption 3L"/>
          <p:cNvSpPr/>
          <p:nvPr/>
        </p:nvSpPr>
        <p:spPr>
          <a:xfrm>
            <a:off x="10696811" y="1588800"/>
            <a:ext cx="61118" cy="12448"/>
          </a:xfrm>
          <a:custGeom>
            <a:avLst/>
            <a:gdLst/>
            <a:ahLst/>
            <a:cxnLst/>
            <a:rect l="l" t="t" r="r" b="b"/>
            <a:pathLst>
              <a:path w="61118" h="12448">
                <a:moveTo>
                  <a:pt x="0" y="6224"/>
                </a:moveTo>
                <a:lnTo>
                  <a:pt x="1273" y="7835"/>
                </a:lnTo>
                <a:lnTo>
                  <a:pt x="2546" y="9336"/>
                </a:lnTo>
                <a:lnTo>
                  <a:pt x="3820" y="10625"/>
                </a:lnTo>
                <a:lnTo>
                  <a:pt x="5093" y="11614"/>
                </a:lnTo>
                <a:lnTo>
                  <a:pt x="6366" y="12236"/>
                </a:lnTo>
                <a:lnTo>
                  <a:pt x="7639" y="12448"/>
                </a:lnTo>
                <a:lnTo>
                  <a:pt x="8913" y="12236"/>
                </a:lnTo>
                <a:lnTo>
                  <a:pt x="10186" y="11614"/>
                </a:lnTo>
                <a:lnTo>
                  <a:pt x="11459" y="10625"/>
                </a:lnTo>
                <a:lnTo>
                  <a:pt x="12733" y="9336"/>
                </a:lnTo>
                <a:lnTo>
                  <a:pt x="14006" y="7835"/>
                </a:lnTo>
                <a:lnTo>
                  <a:pt x="15279" y="6224"/>
                </a:lnTo>
                <a:lnTo>
                  <a:pt x="16553" y="4613"/>
                </a:lnTo>
                <a:lnTo>
                  <a:pt x="17826" y="3112"/>
                </a:lnTo>
                <a:lnTo>
                  <a:pt x="19099" y="1823"/>
                </a:lnTo>
                <a:lnTo>
                  <a:pt x="20372" y="834"/>
                </a:lnTo>
                <a:lnTo>
                  <a:pt x="21646" y="212"/>
                </a:lnTo>
                <a:lnTo>
                  <a:pt x="22919" y="0"/>
                </a:lnTo>
                <a:lnTo>
                  <a:pt x="24192" y="212"/>
                </a:lnTo>
                <a:lnTo>
                  <a:pt x="25466" y="834"/>
                </a:lnTo>
                <a:lnTo>
                  <a:pt x="26739" y="1823"/>
                </a:lnTo>
                <a:lnTo>
                  <a:pt x="28012" y="3112"/>
                </a:lnTo>
                <a:lnTo>
                  <a:pt x="29285" y="4613"/>
                </a:lnTo>
                <a:lnTo>
                  <a:pt x="30559" y="6224"/>
                </a:lnTo>
                <a:lnTo>
                  <a:pt x="31832" y="7835"/>
                </a:lnTo>
                <a:lnTo>
                  <a:pt x="33105" y="9336"/>
                </a:lnTo>
                <a:lnTo>
                  <a:pt x="34379" y="10625"/>
                </a:lnTo>
                <a:lnTo>
                  <a:pt x="35652" y="11614"/>
                </a:lnTo>
                <a:lnTo>
                  <a:pt x="36925" y="12236"/>
                </a:lnTo>
                <a:lnTo>
                  <a:pt x="38199" y="12448"/>
                </a:lnTo>
                <a:lnTo>
                  <a:pt x="39472" y="12236"/>
                </a:lnTo>
                <a:lnTo>
                  <a:pt x="40745" y="11614"/>
                </a:lnTo>
                <a:lnTo>
                  <a:pt x="42018" y="10625"/>
                </a:lnTo>
                <a:lnTo>
                  <a:pt x="43292" y="9336"/>
                </a:lnTo>
                <a:lnTo>
                  <a:pt x="44565" y="7835"/>
                </a:lnTo>
                <a:lnTo>
                  <a:pt x="45838" y="6224"/>
                </a:lnTo>
                <a:lnTo>
                  <a:pt x="47112" y="4613"/>
                </a:lnTo>
                <a:lnTo>
                  <a:pt x="48385" y="3112"/>
                </a:lnTo>
                <a:lnTo>
                  <a:pt x="49658" y="1823"/>
                </a:lnTo>
                <a:lnTo>
                  <a:pt x="50931" y="834"/>
                </a:lnTo>
                <a:lnTo>
                  <a:pt x="52205" y="212"/>
                </a:lnTo>
                <a:lnTo>
                  <a:pt x="53478" y="0"/>
                </a:lnTo>
                <a:lnTo>
                  <a:pt x="54751" y="212"/>
                </a:lnTo>
                <a:lnTo>
                  <a:pt x="56025" y="834"/>
                </a:lnTo>
                <a:lnTo>
                  <a:pt x="57298" y="1823"/>
                </a:lnTo>
                <a:lnTo>
                  <a:pt x="58571" y="3112"/>
                </a:lnTo>
                <a:lnTo>
                  <a:pt x="59845" y="4613"/>
                </a:lnTo>
                <a:lnTo>
                  <a:pt x="61118" y="6224"/>
                </a:lnTo>
              </a:path>
            </a:pathLst>
          </a:custGeom>
          <a:noFill/>
          <a:ln w="5299">
            <a:solidFill>
              <a:srgbClr val="E64B35">
                <a:alpha val="2825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 TCO absorption 3R"/>
          <p:cNvSpPr/>
          <p:nvPr/>
        </p:nvSpPr>
        <p:spPr>
          <a:xfrm>
            <a:off x="10965955" y="1588800"/>
            <a:ext cx="61118" cy="12448"/>
          </a:xfrm>
          <a:custGeom>
            <a:avLst/>
            <a:gdLst/>
            <a:ahLst/>
            <a:cxnLst/>
            <a:rect l="l" t="t" r="r" b="b"/>
            <a:pathLst>
              <a:path w="61118" h="12448">
                <a:moveTo>
                  <a:pt x="0" y="6224"/>
                </a:moveTo>
                <a:lnTo>
                  <a:pt x="1273" y="7835"/>
                </a:lnTo>
                <a:lnTo>
                  <a:pt x="2546" y="9336"/>
                </a:lnTo>
                <a:lnTo>
                  <a:pt x="3820" y="10625"/>
                </a:lnTo>
                <a:lnTo>
                  <a:pt x="5093" y="11614"/>
                </a:lnTo>
                <a:lnTo>
                  <a:pt x="6366" y="12236"/>
                </a:lnTo>
                <a:lnTo>
                  <a:pt x="7640" y="12448"/>
                </a:lnTo>
                <a:lnTo>
                  <a:pt x="8913" y="12236"/>
                </a:lnTo>
                <a:lnTo>
                  <a:pt x="10186" y="11614"/>
                </a:lnTo>
                <a:lnTo>
                  <a:pt x="11459" y="10625"/>
                </a:lnTo>
                <a:lnTo>
                  <a:pt x="12733" y="9336"/>
                </a:lnTo>
                <a:lnTo>
                  <a:pt x="14006" y="7835"/>
                </a:lnTo>
                <a:lnTo>
                  <a:pt x="15279" y="6224"/>
                </a:lnTo>
                <a:lnTo>
                  <a:pt x="16553" y="4613"/>
                </a:lnTo>
                <a:lnTo>
                  <a:pt x="17826" y="3112"/>
                </a:lnTo>
                <a:lnTo>
                  <a:pt x="19099" y="1823"/>
                </a:lnTo>
                <a:lnTo>
                  <a:pt x="20373" y="834"/>
                </a:lnTo>
                <a:lnTo>
                  <a:pt x="21646" y="212"/>
                </a:lnTo>
                <a:lnTo>
                  <a:pt x="22919" y="0"/>
                </a:lnTo>
                <a:lnTo>
                  <a:pt x="24192" y="212"/>
                </a:lnTo>
                <a:lnTo>
                  <a:pt x="25466" y="834"/>
                </a:lnTo>
                <a:lnTo>
                  <a:pt x="26739" y="1823"/>
                </a:lnTo>
                <a:lnTo>
                  <a:pt x="28012" y="3112"/>
                </a:lnTo>
                <a:lnTo>
                  <a:pt x="29286" y="4613"/>
                </a:lnTo>
                <a:lnTo>
                  <a:pt x="30559" y="6224"/>
                </a:lnTo>
                <a:lnTo>
                  <a:pt x="31832" y="7835"/>
                </a:lnTo>
                <a:lnTo>
                  <a:pt x="33106" y="9336"/>
                </a:lnTo>
                <a:lnTo>
                  <a:pt x="34379" y="10625"/>
                </a:lnTo>
                <a:lnTo>
                  <a:pt x="35652" y="11614"/>
                </a:lnTo>
                <a:lnTo>
                  <a:pt x="36925" y="12236"/>
                </a:lnTo>
                <a:lnTo>
                  <a:pt x="38199" y="12448"/>
                </a:lnTo>
                <a:lnTo>
                  <a:pt x="39472" y="12236"/>
                </a:lnTo>
                <a:lnTo>
                  <a:pt x="40745" y="11614"/>
                </a:lnTo>
                <a:lnTo>
                  <a:pt x="42019" y="10625"/>
                </a:lnTo>
                <a:lnTo>
                  <a:pt x="43292" y="9336"/>
                </a:lnTo>
                <a:lnTo>
                  <a:pt x="44565" y="7835"/>
                </a:lnTo>
                <a:lnTo>
                  <a:pt x="45838" y="6224"/>
                </a:lnTo>
                <a:lnTo>
                  <a:pt x="47112" y="4613"/>
                </a:lnTo>
                <a:lnTo>
                  <a:pt x="48385" y="3112"/>
                </a:lnTo>
                <a:lnTo>
                  <a:pt x="49658" y="1823"/>
                </a:lnTo>
                <a:lnTo>
                  <a:pt x="50932" y="834"/>
                </a:lnTo>
                <a:lnTo>
                  <a:pt x="52205" y="212"/>
                </a:lnTo>
                <a:lnTo>
                  <a:pt x="53478" y="0"/>
                </a:lnTo>
                <a:lnTo>
                  <a:pt x="54752" y="212"/>
                </a:lnTo>
                <a:lnTo>
                  <a:pt x="56025" y="834"/>
                </a:lnTo>
                <a:lnTo>
                  <a:pt x="57298" y="1823"/>
                </a:lnTo>
                <a:lnTo>
                  <a:pt x="58571" y="3112"/>
                </a:lnTo>
                <a:lnTo>
                  <a:pt x="59845" y="4613"/>
                </a:lnTo>
                <a:lnTo>
                  <a:pt x="61118" y="6224"/>
                </a:lnTo>
              </a:path>
            </a:pathLst>
          </a:custGeom>
          <a:noFill/>
          <a:ln w="5299">
            <a:solidFill>
              <a:srgbClr val="E64B35">
                <a:alpha val="2825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R ray emit"/>
          <p:cNvCxnSpPr/>
          <p:nvPr/>
        </p:nvCxnSpPr>
        <p:spPr>
          <a:xfrm flipV="1">
            <a:off x="6915055" y="1067950"/>
            <a:ext cx="582585" cy="582585"/>
          </a:xfrm>
          <a:prstGeom prst="line">
            <a:avLst/>
          </a:prstGeom>
          <a:ln w="53268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R ray down 1"/>
          <p:cNvCxnSpPr/>
          <p:nvPr/>
        </p:nvCxnSpPr>
        <p:spPr>
          <a:xfrm>
            <a:off x="7549226" y="1119536"/>
            <a:ext cx="585388" cy="585389"/>
          </a:xfrm>
          <a:prstGeom prst="line">
            <a:avLst/>
          </a:prstGeom>
          <a:ln w="40765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R ray up 1"/>
          <p:cNvCxnSpPr/>
          <p:nvPr/>
        </p:nvCxnSpPr>
        <p:spPr>
          <a:xfrm flipV="1">
            <a:off x="8206386" y="1067950"/>
            <a:ext cx="636975" cy="636975"/>
          </a:xfrm>
          <a:prstGeom prst="line">
            <a:avLst/>
          </a:prstGeom>
          <a:ln w="39852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R ray down 2"/>
          <p:cNvCxnSpPr/>
          <p:nvPr/>
        </p:nvCxnSpPr>
        <p:spPr>
          <a:xfrm>
            <a:off x="8894947" y="1119536"/>
            <a:ext cx="585388" cy="585389"/>
          </a:xfrm>
          <a:prstGeom prst="line">
            <a:avLst/>
          </a:prstGeom>
          <a:ln w="30498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R ray up 2"/>
          <p:cNvCxnSpPr/>
          <p:nvPr/>
        </p:nvCxnSpPr>
        <p:spPr>
          <a:xfrm flipV="1">
            <a:off x="9552107" y="1067950"/>
            <a:ext cx="636974" cy="636975"/>
          </a:xfrm>
          <a:prstGeom prst="line">
            <a:avLst/>
          </a:prstGeom>
          <a:ln w="29814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R ray down 3"/>
          <p:cNvCxnSpPr/>
          <p:nvPr/>
        </p:nvCxnSpPr>
        <p:spPr>
          <a:xfrm>
            <a:off x="10240667" y="1119536"/>
            <a:ext cx="585389" cy="585389"/>
          </a:xfrm>
          <a:prstGeom prst="line">
            <a:avLst/>
          </a:prstGeom>
          <a:ln w="22816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R ray up 3"/>
          <p:cNvCxnSpPr/>
          <p:nvPr/>
        </p:nvCxnSpPr>
        <p:spPr>
          <a:xfrm flipV="1">
            <a:off x="10897828" y="1067950"/>
            <a:ext cx="636974" cy="636975"/>
          </a:xfrm>
          <a:prstGeom prst="line">
            <a:avLst/>
          </a:prstGeom>
          <a:ln w="22305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R ray continues"/>
          <p:cNvCxnSpPr/>
          <p:nvPr/>
        </p:nvCxnSpPr>
        <p:spPr>
          <a:xfrm>
            <a:off x="11585267" y="1118415"/>
            <a:ext cx="117750" cy="117750"/>
          </a:xfrm>
          <a:prstGeom prst="line">
            <a:avLst/>
          </a:prstGeom>
          <a:ln w="17070">
            <a:solidFill>
              <a:srgbClr val="00A087">
                <a:alpha val="4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R outcoupled 1-1"/>
          <p:cNvCxnSpPr/>
          <p:nvPr/>
        </p:nvCxnSpPr>
        <p:spPr>
          <a:xfrm flipH="1" flipV="1">
            <a:off x="7151071" y="645695"/>
            <a:ext cx="262461" cy="276577"/>
          </a:xfrm>
          <a:prstGeom prst="line">
            <a:avLst/>
          </a:prstGeom>
          <a:ln w="29297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R outcoupled 1-2"/>
          <p:cNvCxnSpPr/>
          <p:nvPr/>
        </p:nvCxnSpPr>
        <p:spPr>
          <a:xfrm flipH="1" flipV="1">
            <a:off x="7427077" y="460950"/>
            <a:ext cx="55902" cy="439425"/>
          </a:xfrm>
          <a:prstGeom prst="line">
            <a:avLst/>
          </a:prstGeom>
          <a:ln w="29297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R outcoupled 1-3"/>
          <p:cNvCxnSpPr/>
          <p:nvPr/>
        </p:nvCxnSpPr>
        <p:spPr>
          <a:xfrm flipV="1">
            <a:off x="7560654" y="578761"/>
            <a:ext cx="207413" cy="333223"/>
          </a:xfrm>
          <a:prstGeom prst="line">
            <a:avLst/>
          </a:prstGeom>
          <a:ln w="29297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R outcoupled 2-1"/>
          <p:cNvCxnSpPr/>
          <p:nvPr/>
        </p:nvCxnSpPr>
        <p:spPr>
          <a:xfrm flipH="1" flipV="1">
            <a:off x="8496792" y="645695"/>
            <a:ext cx="262461" cy="276577"/>
          </a:xfrm>
          <a:prstGeom prst="line">
            <a:avLst/>
          </a:prstGeom>
          <a:ln w="21918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R outcoupled 2-2"/>
          <p:cNvCxnSpPr/>
          <p:nvPr/>
        </p:nvCxnSpPr>
        <p:spPr>
          <a:xfrm flipH="1" flipV="1">
            <a:off x="8772798" y="460950"/>
            <a:ext cx="55902" cy="439425"/>
          </a:xfrm>
          <a:prstGeom prst="line">
            <a:avLst/>
          </a:prstGeom>
          <a:ln w="21918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R outcoupled 2-3"/>
          <p:cNvCxnSpPr/>
          <p:nvPr/>
        </p:nvCxnSpPr>
        <p:spPr>
          <a:xfrm flipV="1">
            <a:off x="8906375" y="578761"/>
            <a:ext cx="207413" cy="333223"/>
          </a:xfrm>
          <a:prstGeom prst="line">
            <a:avLst/>
          </a:prstGeom>
          <a:ln w="21918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R outcoupled 3-1"/>
          <p:cNvCxnSpPr/>
          <p:nvPr/>
        </p:nvCxnSpPr>
        <p:spPr>
          <a:xfrm flipH="1" flipV="1">
            <a:off x="9842513" y="645695"/>
            <a:ext cx="262461" cy="276577"/>
          </a:xfrm>
          <a:prstGeom prst="line">
            <a:avLst/>
          </a:prstGeom>
          <a:ln w="16398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R outcoupled 3-2"/>
          <p:cNvCxnSpPr/>
          <p:nvPr/>
        </p:nvCxnSpPr>
        <p:spPr>
          <a:xfrm flipH="1" flipV="1">
            <a:off x="10118519" y="460950"/>
            <a:ext cx="55902" cy="439425"/>
          </a:xfrm>
          <a:prstGeom prst="line">
            <a:avLst/>
          </a:prstGeom>
          <a:ln w="16398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R outcoupled 3-3"/>
          <p:cNvCxnSpPr/>
          <p:nvPr/>
        </p:nvCxnSpPr>
        <p:spPr>
          <a:xfrm flipV="1">
            <a:off x="10252096" y="578761"/>
            <a:ext cx="207413" cy="333223"/>
          </a:xfrm>
          <a:prstGeom prst="line">
            <a:avLst/>
          </a:prstGeom>
          <a:ln w="16398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R outcoupled 4-1"/>
          <p:cNvCxnSpPr/>
          <p:nvPr/>
        </p:nvCxnSpPr>
        <p:spPr>
          <a:xfrm flipH="1" flipV="1">
            <a:off x="11188234" y="645695"/>
            <a:ext cx="262461" cy="276577"/>
          </a:xfrm>
          <a:prstGeom prst="line">
            <a:avLst/>
          </a:prstGeom>
          <a:ln w="12268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R outcoupled 4-2"/>
          <p:cNvCxnSpPr/>
          <p:nvPr/>
        </p:nvCxnSpPr>
        <p:spPr>
          <a:xfrm flipH="1" flipV="1">
            <a:off x="11464239" y="460950"/>
            <a:ext cx="55902" cy="439425"/>
          </a:xfrm>
          <a:prstGeom prst="line">
            <a:avLst/>
          </a:prstGeom>
          <a:ln w="12268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R outcoupled 4-3"/>
          <p:cNvCxnSpPr/>
          <p:nvPr/>
        </p:nvCxnSpPr>
        <p:spPr>
          <a:xfrm flipV="1">
            <a:off x="11597817" y="578761"/>
            <a:ext cx="207413" cy="333223"/>
          </a:xfrm>
          <a:prstGeom prst="line">
            <a:avLst/>
          </a:prstGeom>
          <a:ln w="12268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 ohmic loss 1L"/>
          <p:cNvSpPr/>
          <p:nvPr/>
        </p:nvSpPr>
        <p:spPr>
          <a:xfrm>
            <a:off x="8074644" y="1694965"/>
            <a:ext cx="71693" cy="24510"/>
          </a:xfrm>
          <a:custGeom>
            <a:avLst/>
            <a:gdLst/>
            <a:ahLst/>
            <a:cxnLst/>
            <a:rect l="l" t="t" r="r" b="b"/>
            <a:pathLst>
              <a:path w="71693" h="24510">
                <a:moveTo>
                  <a:pt x="71693" y="12203"/>
                </a:moveTo>
                <a:lnTo>
                  <a:pt x="70199" y="16159"/>
                </a:lnTo>
                <a:lnTo>
                  <a:pt x="68706" y="19695"/>
                </a:lnTo>
                <a:lnTo>
                  <a:pt x="67212" y="22436"/>
                </a:lnTo>
                <a:lnTo>
                  <a:pt x="65719" y="24091"/>
                </a:lnTo>
                <a:lnTo>
                  <a:pt x="64225" y="24484"/>
                </a:lnTo>
                <a:lnTo>
                  <a:pt x="62731" y="23574"/>
                </a:lnTo>
                <a:lnTo>
                  <a:pt x="61238" y="21456"/>
                </a:lnTo>
                <a:lnTo>
                  <a:pt x="59744" y="18356"/>
                </a:lnTo>
                <a:lnTo>
                  <a:pt x="58251" y="14604"/>
                </a:lnTo>
                <a:lnTo>
                  <a:pt x="56757" y="10596"/>
                </a:lnTo>
                <a:lnTo>
                  <a:pt x="55263" y="6759"/>
                </a:lnTo>
                <a:lnTo>
                  <a:pt x="53770" y="3500"/>
                </a:lnTo>
                <a:lnTo>
                  <a:pt x="52276" y="1164"/>
                </a:lnTo>
                <a:lnTo>
                  <a:pt x="50782" y="0"/>
                </a:lnTo>
                <a:lnTo>
                  <a:pt x="49289" y="131"/>
                </a:lnTo>
                <a:lnTo>
                  <a:pt x="47795" y="1544"/>
                </a:lnTo>
                <a:lnTo>
                  <a:pt x="46302" y="4087"/>
                </a:lnTo>
                <a:lnTo>
                  <a:pt x="44808" y="7493"/>
                </a:lnTo>
                <a:lnTo>
                  <a:pt x="43314" y="11398"/>
                </a:lnTo>
                <a:lnTo>
                  <a:pt x="41821" y="15388"/>
                </a:lnTo>
                <a:lnTo>
                  <a:pt x="40327" y="19040"/>
                </a:lnTo>
                <a:lnTo>
                  <a:pt x="38834" y="21967"/>
                </a:lnTo>
                <a:lnTo>
                  <a:pt x="37340" y="23857"/>
                </a:lnTo>
                <a:lnTo>
                  <a:pt x="35846" y="24510"/>
                </a:lnTo>
                <a:lnTo>
                  <a:pt x="34353" y="23857"/>
                </a:lnTo>
                <a:lnTo>
                  <a:pt x="32859" y="21967"/>
                </a:lnTo>
                <a:lnTo>
                  <a:pt x="31366" y="19040"/>
                </a:lnTo>
                <a:lnTo>
                  <a:pt x="29872" y="15388"/>
                </a:lnTo>
                <a:lnTo>
                  <a:pt x="28378" y="11398"/>
                </a:lnTo>
                <a:lnTo>
                  <a:pt x="26885" y="7493"/>
                </a:lnTo>
                <a:lnTo>
                  <a:pt x="25391" y="4087"/>
                </a:lnTo>
                <a:lnTo>
                  <a:pt x="23897" y="1544"/>
                </a:lnTo>
                <a:lnTo>
                  <a:pt x="22404" y="131"/>
                </a:lnTo>
                <a:lnTo>
                  <a:pt x="20910" y="0"/>
                </a:lnTo>
                <a:lnTo>
                  <a:pt x="19417" y="1164"/>
                </a:lnTo>
                <a:lnTo>
                  <a:pt x="17923" y="3500"/>
                </a:lnTo>
                <a:lnTo>
                  <a:pt x="16429" y="6759"/>
                </a:lnTo>
                <a:lnTo>
                  <a:pt x="14936" y="10596"/>
                </a:lnTo>
                <a:lnTo>
                  <a:pt x="13442" y="14604"/>
                </a:lnTo>
                <a:lnTo>
                  <a:pt x="11949" y="18356"/>
                </a:lnTo>
                <a:lnTo>
                  <a:pt x="10455" y="21456"/>
                </a:lnTo>
                <a:lnTo>
                  <a:pt x="8961" y="23574"/>
                </a:lnTo>
                <a:lnTo>
                  <a:pt x="7468" y="24484"/>
                </a:lnTo>
                <a:lnTo>
                  <a:pt x="5974" y="24091"/>
                </a:lnTo>
                <a:lnTo>
                  <a:pt x="4481" y="22436"/>
                </a:lnTo>
                <a:lnTo>
                  <a:pt x="2987" y="19695"/>
                </a:lnTo>
                <a:lnTo>
                  <a:pt x="1493" y="16159"/>
                </a:lnTo>
                <a:lnTo>
                  <a:pt x="0" y="12203"/>
                </a:lnTo>
              </a:path>
            </a:pathLst>
          </a:custGeom>
          <a:noFill/>
          <a:ln w="9318">
            <a:solidFill>
              <a:srgbClr val="E64B35">
                <a:alpha val="53869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 ohmic loss 1R"/>
          <p:cNvSpPr/>
          <p:nvPr/>
        </p:nvSpPr>
        <p:spPr>
          <a:xfrm>
            <a:off x="8194664" y="1694965"/>
            <a:ext cx="71693" cy="24510"/>
          </a:xfrm>
          <a:custGeom>
            <a:avLst/>
            <a:gdLst/>
            <a:ahLst/>
            <a:cxnLst/>
            <a:rect l="l" t="t" r="r" b="b"/>
            <a:pathLst>
              <a:path w="71693" h="24510">
                <a:moveTo>
                  <a:pt x="0" y="12203"/>
                </a:moveTo>
                <a:lnTo>
                  <a:pt x="1493" y="16159"/>
                </a:lnTo>
                <a:lnTo>
                  <a:pt x="2987" y="19695"/>
                </a:lnTo>
                <a:lnTo>
                  <a:pt x="4480" y="22436"/>
                </a:lnTo>
                <a:lnTo>
                  <a:pt x="5974" y="24091"/>
                </a:lnTo>
                <a:lnTo>
                  <a:pt x="7468" y="24484"/>
                </a:lnTo>
                <a:lnTo>
                  <a:pt x="8961" y="23574"/>
                </a:lnTo>
                <a:lnTo>
                  <a:pt x="10455" y="21456"/>
                </a:lnTo>
                <a:lnTo>
                  <a:pt x="11949" y="18356"/>
                </a:lnTo>
                <a:lnTo>
                  <a:pt x="13442" y="14604"/>
                </a:lnTo>
                <a:lnTo>
                  <a:pt x="14936" y="10596"/>
                </a:lnTo>
                <a:lnTo>
                  <a:pt x="16429" y="6759"/>
                </a:lnTo>
                <a:lnTo>
                  <a:pt x="17923" y="3500"/>
                </a:lnTo>
                <a:lnTo>
                  <a:pt x="19417" y="1164"/>
                </a:lnTo>
                <a:lnTo>
                  <a:pt x="20910" y="0"/>
                </a:lnTo>
                <a:lnTo>
                  <a:pt x="22404" y="131"/>
                </a:lnTo>
                <a:lnTo>
                  <a:pt x="23897" y="1544"/>
                </a:lnTo>
                <a:lnTo>
                  <a:pt x="25391" y="4087"/>
                </a:lnTo>
                <a:lnTo>
                  <a:pt x="26885" y="7493"/>
                </a:lnTo>
                <a:lnTo>
                  <a:pt x="28378" y="11398"/>
                </a:lnTo>
                <a:lnTo>
                  <a:pt x="29872" y="15388"/>
                </a:lnTo>
                <a:lnTo>
                  <a:pt x="31365" y="19040"/>
                </a:lnTo>
                <a:lnTo>
                  <a:pt x="32859" y="21967"/>
                </a:lnTo>
                <a:lnTo>
                  <a:pt x="34353" y="23857"/>
                </a:lnTo>
                <a:lnTo>
                  <a:pt x="35846" y="24510"/>
                </a:lnTo>
                <a:lnTo>
                  <a:pt x="37340" y="23857"/>
                </a:lnTo>
                <a:lnTo>
                  <a:pt x="38834" y="21967"/>
                </a:lnTo>
                <a:lnTo>
                  <a:pt x="40327" y="19040"/>
                </a:lnTo>
                <a:lnTo>
                  <a:pt x="41821" y="15388"/>
                </a:lnTo>
                <a:lnTo>
                  <a:pt x="43314" y="11398"/>
                </a:lnTo>
                <a:lnTo>
                  <a:pt x="44808" y="7493"/>
                </a:lnTo>
                <a:lnTo>
                  <a:pt x="46302" y="4087"/>
                </a:lnTo>
                <a:lnTo>
                  <a:pt x="47795" y="1544"/>
                </a:lnTo>
                <a:lnTo>
                  <a:pt x="49289" y="131"/>
                </a:lnTo>
                <a:lnTo>
                  <a:pt x="50782" y="0"/>
                </a:lnTo>
                <a:lnTo>
                  <a:pt x="52276" y="1164"/>
                </a:lnTo>
                <a:lnTo>
                  <a:pt x="53770" y="3500"/>
                </a:lnTo>
                <a:lnTo>
                  <a:pt x="55263" y="6759"/>
                </a:lnTo>
                <a:lnTo>
                  <a:pt x="56757" y="10596"/>
                </a:lnTo>
                <a:lnTo>
                  <a:pt x="58250" y="14604"/>
                </a:lnTo>
                <a:lnTo>
                  <a:pt x="59744" y="18356"/>
                </a:lnTo>
                <a:lnTo>
                  <a:pt x="61238" y="21456"/>
                </a:lnTo>
                <a:lnTo>
                  <a:pt x="62731" y="23574"/>
                </a:lnTo>
                <a:lnTo>
                  <a:pt x="64225" y="24484"/>
                </a:lnTo>
                <a:lnTo>
                  <a:pt x="65718" y="24091"/>
                </a:lnTo>
                <a:lnTo>
                  <a:pt x="67212" y="22436"/>
                </a:lnTo>
                <a:lnTo>
                  <a:pt x="68706" y="19695"/>
                </a:lnTo>
                <a:lnTo>
                  <a:pt x="70199" y="16159"/>
                </a:lnTo>
                <a:lnTo>
                  <a:pt x="71693" y="12203"/>
                </a:lnTo>
              </a:path>
            </a:pathLst>
          </a:custGeom>
          <a:noFill/>
          <a:ln w="9318">
            <a:solidFill>
              <a:srgbClr val="E64B35">
                <a:alpha val="53869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 absorption burst 1"/>
          <p:cNvSpPr/>
          <p:nvPr/>
        </p:nvSpPr>
        <p:spPr>
          <a:xfrm>
            <a:off x="8140730" y="1711040"/>
            <a:ext cx="59541" cy="59541"/>
          </a:xfrm>
          <a:prstGeom prst="star10">
            <a:avLst>
              <a:gd name="adj" fmla="val 40000"/>
              <a:gd name="hf" fmla="val 105146"/>
            </a:avLst>
          </a:prstGeom>
          <a:solidFill>
            <a:srgbClr val="FBDCD6">
              <a:alpha val="53869"/>
            </a:srgbClr>
          </a:solidFill>
          <a:ln w="5607">
            <a:solidFill>
              <a:srgbClr val="E64B35">
                <a:alpha val="53869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 ohmic loss 2L"/>
          <p:cNvSpPr/>
          <p:nvPr/>
        </p:nvSpPr>
        <p:spPr>
          <a:xfrm>
            <a:off x="9428059" y="1695313"/>
            <a:ext cx="66681" cy="23812"/>
          </a:xfrm>
          <a:custGeom>
            <a:avLst/>
            <a:gdLst/>
            <a:ahLst/>
            <a:cxnLst/>
            <a:rect l="l" t="t" r="r" b="b"/>
            <a:pathLst>
              <a:path w="66681" h="23812">
                <a:moveTo>
                  <a:pt x="66681" y="11855"/>
                </a:moveTo>
                <a:lnTo>
                  <a:pt x="65292" y="15698"/>
                </a:lnTo>
                <a:lnTo>
                  <a:pt x="63903" y="19134"/>
                </a:lnTo>
                <a:lnTo>
                  <a:pt x="62514" y="21796"/>
                </a:lnTo>
                <a:lnTo>
                  <a:pt x="61125" y="23404"/>
                </a:lnTo>
                <a:lnTo>
                  <a:pt x="59735" y="23786"/>
                </a:lnTo>
                <a:lnTo>
                  <a:pt x="58346" y="22901"/>
                </a:lnTo>
                <a:lnTo>
                  <a:pt x="56957" y="20844"/>
                </a:lnTo>
                <a:lnTo>
                  <a:pt x="55568" y="17833"/>
                </a:lnTo>
                <a:lnTo>
                  <a:pt x="54179" y="14187"/>
                </a:lnTo>
                <a:lnTo>
                  <a:pt x="52789" y="10294"/>
                </a:lnTo>
                <a:lnTo>
                  <a:pt x="51400" y="6566"/>
                </a:lnTo>
                <a:lnTo>
                  <a:pt x="50011" y="3400"/>
                </a:lnTo>
                <a:lnTo>
                  <a:pt x="48622" y="1131"/>
                </a:lnTo>
                <a:lnTo>
                  <a:pt x="47233" y="0"/>
                </a:lnTo>
                <a:lnTo>
                  <a:pt x="45843" y="127"/>
                </a:lnTo>
                <a:lnTo>
                  <a:pt x="44454" y="1499"/>
                </a:lnTo>
                <a:lnTo>
                  <a:pt x="43065" y="3971"/>
                </a:lnTo>
                <a:lnTo>
                  <a:pt x="41676" y="7279"/>
                </a:lnTo>
                <a:lnTo>
                  <a:pt x="40287" y="11073"/>
                </a:lnTo>
                <a:lnTo>
                  <a:pt x="38898" y="14949"/>
                </a:lnTo>
                <a:lnTo>
                  <a:pt x="37508" y="18498"/>
                </a:lnTo>
                <a:lnTo>
                  <a:pt x="36119" y="21341"/>
                </a:lnTo>
                <a:lnTo>
                  <a:pt x="34730" y="23177"/>
                </a:lnTo>
                <a:lnTo>
                  <a:pt x="33341" y="23812"/>
                </a:lnTo>
                <a:lnTo>
                  <a:pt x="31952" y="23177"/>
                </a:lnTo>
                <a:lnTo>
                  <a:pt x="30562" y="21341"/>
                </a:lnTo>
                <a:lnTo>
                  <a:pt x="29173" y="18498"/>
                </a:lnTo>
                <a:lnTo>
                  <a:pt x="27784" y="14949"/>
                </a:lnTo>
                <a:lnTo>
                  <a:pt x="26395" y="11073"/>
                </a:lnTo>
                <a:lnTo>
                  <a:pt x="25006" y="7279"/>
                </a:lnTo>
                <a:lnTo>
                  <a:pt x="23616" y="3971"/>
                </a:lnTo>
                <a:lnTo>
                  <a:pt x="22227" y="1499"/>
                </a:lnTo>
                <a:lnTo>
                  <a:pt x="20838" y="127"/>
                </a:lnTo>
                <a:lnTo>
                  <a:pt x="19449" y="0"/>
                </a:lnTo>
                <a:lnTo>
                  <a:pt x="18060" y="1131"/>
                </a:lnTo>
                <a:lnTo>
                  <a:pt x="16670" y="3400"/>
                </a:lnTo>
                <a:lnTo>
                  <a:pt x="15281" y="6566"/>
                </a:lnTo>
                <a:lnTo>
                  <a:pt x="13892" y="10294"/>
                </a:lnTo>
                <a:lnTo>
                  <a:pt x="12503" y="14187"/>
                </a:lnTo>
                <a:lnTo>
                  <a:pt x="11114" y="17833"/>
                </a:lnTo>
                <a:lnTo>
                  <a:pt x="9724" y="20844"/>
                </a:lnTo>
                <a:lnTo>
                  <a:pt x="8335" y="22901"/>
                </a:lnTo>
                <a:lnTo>
                  <a:pt x="6946" y="23786"/>
                </a:lnTo>
                <a:lnTo>
                  <a:pt x="5557" y="23404"/>
                </a:lnTo>
                <a:lnTo>
                  <a:pt x="4168" y="21796"/>
                </a:lnTo>
                <a:lnTo>
                  <a:pt x="2779" y="19134"/>
                </a:lnTo>
                <a:lnTo>
                  <a:pt x="1389" y="15698"/>
                </a:lnTo>
                <a:lnTo>
                  <a:pt x="0" y="11855"/>
                </a:lnTo>
              </a:path>
            </a:pathLst>
          </a:custGeom>
          <a:noFill/>
          <a:ln w="8782">
            <a:solidFill>
              <a:srgbClr val="E64B35">
                <a:alpha val="52627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 ohmic loss 2R"/>
          <p:cNvSpPr/>
          <p:nvPr/>
        </p:nvSpPr>
        <p:spPr>
          <a:xfrm>
            <a:off x="9537702" y="1695313"/>
            <a:ext cx="66681" cy="23812"/>
          </a:xfrm>
          <a:custGeom>
            <a:avLst/>
            <a:gdLst/>
            <a:ahLst/>
            <a:cxnLst/>
            <a:rect l="l" t="t" r="r" b="b"/>
            <a:pathLst>
              <a:path w="66681" h="23812">
                <a:moveTo>
                  <a:pt x="0" y="11855"/>
                </a:moveTo>
                <a:lnTo>
                  <a:pt x="1389" y="15698"/>
                </a:lnTo>
                <a:lnTo>
                  <a:pt x="2778" y="19134"/>
                </a:lnTo>
                <a:lnTo>
                  <a:pt x="4167" y="21796"/>
                </a:lnTo>
                <a:lnTo>
                  <a:pt x="5557" y="23404"/>
                </a:lnTo>
                <a:lnTo>
                  <a:pt x="6946" y="23786"/>
                </a:lnTo>
                <a:lnTo>
                  <a:pt x="8335" y="22901"/>
                </a:lnTo>
                <a:lnTo>
                  <a:pt x="9724" y="20844"/>
                </a:lnTo>
                <a:lnTo>
                  <a:pt x="11113" y="17833"/>
                </a:lnTo>
                <a:lnTo>
                  <a:pt x="12503" y="14187"/>
                </a:lnTo>
                <a:lnTo>
                  <a:pt x="13892" y="10294"/>
                </a:lnTo>
                <a:lnTo>
                  <a:pt x="15281" y="6566"/>
                </a:lnTo>
                <a:lnTo>
                  <a:pt x="16670" y="3400"/>
                </a:lnTo>
                <a:lnTo>
                  <a:pt x="18059" y="1131"/>
                </a:lnTo>
                <a:lnTo>
                  <a:pt x="19448" y="0"/>
                </a:lnTo>
                <a:lnTo>
                  <a:pt x="20838" y="127"/>
                </a:lnTo>
                <a:lnTo>
                  <a:pt x="22227" y="1499"/>
                </a:lnTo>
                <a:lnTo>
                  <a:pt x="23616" y="3971"/>
                </a:lnTo>
                <a:lnTo>
                  <a:pt x="25005" y="7279"/>
                </a:lnTo>
                <a:lnTo>
                  <a:pt x="26394" y="11073"/>
                </a:lnTo>
                <a:lnTo>
                  <a:pt x="27784" y="14949"/>
                </a:lnTo>
                <a:lnTo>
                  <a:pt x="29173" y="18498"/>
                </a:lnTo>
                <a:lnTo>
                  <a:pt x="30562" y="21341"/>
                </a:lnTo>
                <a:lnTo>
                  <a:pt x="31951" y="23177"/>
                </a:lnTo>
                <a:lnTo>
                  <a:pt x="33340" y="23812"/>
                </a:lnTo>
                <a:lnTo>
                  <a:pt x="34730" y="23177"/>
                </a:lnTo>
                <a:lnTo>
                  <a:pt x="36119" y="21341"/>
                </a:lnTo>
                <a:lnTo>
                  <a:pt x="37508" y="18498"/>
                </a:lnTo>
                <a:lnTo>
                  <a:pt x="38897" y="14949"/>
                </a:lnTo>
                <a:lnTo>
                  <a:pt x="40286" y="11073"/>
                </a:lnTo>
                <a:lnTo>
                  <a:pt x="41676" y="7279"/>
                </a:lnTo>
                <a:lnTo>
                  <a:pt x="43065" y="3971"/>
                </a:lnTo>
                <a:lnTo>
                  <a:pt x="44454" y="1499"/>
                </a:lnTo>
                <a:lnTo>
                  <a:pt x="45843" y="127"/>
                </a:lnTo>
                <a:lnTo>
                  <a:pt x="47232" y="0"/>
                </a:lnTo>
                <a:lnTo>
                  <a:pt x="48622" y="1131"/>
                </a:lnTo>
                <a:lnTo>
                  <a:pt x="50011" y="3400"/>
                </a:lnTo>
                <a:lnTo>
                  <a:pt x="51400" y="6566"/>
                </a:lnTo>
                <a:lnTo>
                  <a:pt x="52789" y="10294"/>
                </a:lnTo>
                <a:lnTo>
                  <a:pt x="54178" y="14187"/>
                </a:lnTo>
                <a:lnTo>
                  <a:pt x="55567" y="17833"/>
                </a:lnTo>
                <a:lnTo>
                  <a:pt x="56957" y="20844"/>
                </a:lnTo>
                <a:lnTo>
                  <a:pt x="58346" y="22901"/>
                </a:lnTo>
                <a:lnTo>
                  <a:pt x="59735" y="23786"/>
                </a:lnTo>
                <a:lnTo>
                  <a:pt x="61124" y="23404"/>
                </a:lnTo>
                <a:lnTo>
                  <a:pt x="62513" y="21796"/>
                </a:lnTo>
                <a:lnTo>
                  <a:pt x="63903" y="19134"/>
                </a:lnTo>
                <a:lnTo>
                  <a:pt x="65292" y="15698"/>
                </a:lnTo>
                <a:lnTo>
                  <a:pt x="66681" y="11855"/>
                </a:lnTo>
              </a:path>
            </a:pathLst>
          </a:custGeom>
          <a:noFill/>
          <a:ln w="8782">
            <a:solidFill>
              <a:srgbClr val="E64B35">
                <a:alpha val="52627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 absorption burst 2"/>
          <p:cNvSpPr/>
          <p:nvPr/>
        </p:nvSpPr>
        <p:spPr>
          <a:xfrm>
            <a:off x="9489133" y="1713723"/>
            <a:ext cx="54176" cy="54176"/>
          </a:xfrm>
          <a:prstGeom prst="star10">
            <a:avLst>
              <a:gd name="adj" fmla="val 40000"/>
              <a:gd name="hf" fmla="val 105146"/>
            </a:avLst>
          </a:prstGeom>
          <a:solidFill>
            <a:srgbClr val="FBDCD6">
              <a:alpha val="52627"/>
            </a:srgbClr>
          </a:solidFill>
          <a:ln w="5607">
            <a:solidFill>
              <a:srgbClr val="E64B35">
                <a:alpha val="52627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 ohmic loss 3L"/>
          <p:cNvSpPr/>
          <p:nvPr/>
        </p:nvSpPr>
        <p:spPr>
          <a:xfrm>
            <a:off x="10779311" y="1695549"/>
            <a:ext cx="63277" cy="23337"/>
          </a:xfrm>
          <a:custGeom>
            <a:avLst/>
            <a:gdLst/>
            <a:ahLst/>
            <a:cxnLst/>
            <a:rect l="l" t="t" r="r" b="b"/>
            <a:pathLst>
              <a:path w="63277" h="23337">
                <a:moveTo>
                  <a:pt x="63277" y="11619"/>
                </a:moveTo>
                <a:lnTo>
                  <a:pt x="61959" y="15385"/>
                </a:lnTo>
                <a:lnTo>
                  <a:pt x="60640" y="18752"/>
                </a:lnTo>
                <a:lnTo>
                  <a:pt x="59322" y="21362"/>
                </a:lnTo>
                <a:lnTo>
                  <a:pt x="58004" y="22938"/>
                </a:lnTo>
                <a:lnTo>
                  <a:pt x="56686" y="23312"/>
                </a:lnTo>
                <a:lnTo>
                  <a:pt x="55367" y="22445"/>
                </a:lnTo>
                <a:lnTo>
                  <a:pt x="54049" y="20429"/>
                </a:lnTo>
                <a:lnTo>
                  <a:pt x="52731" y="17478"/>
                </a:lnTo>
                <a:lnTo>
                  <a:pt x="51412" y="13905"/>
                </a:lnTo>
                <a:lnTo>
                  <a:pt x="50094" y="10089"/>
                </a:lnTo>
                <a:lnTo>
                  <a:pt x="48776" y="6435"/>
                </a:lnTo>
                <a:lnTo>
                  <a:pt x="47458" y="3332"/>
                </a:lnTo>
                <a:lnTo>
                  <a:pt x="46139" y="1108"/>
                </a:lnTo>
                <a:lnTo>
                  <a:pt x="44821" y="0"/>
                </a:lnTo>
                <a:lnTo>
                  <a:pt x="43503" y="125"/>
                </a:lnTo>
                <a:lnTo>
                  <a:pt x="42185" y="1470"/>
                </a:lnTo>
                <a:lnTo>
                  <a:pt x="40866" y="3892"/>
                </a:lnTo>
                <a:lnTo>
                  <a:pt x="39548" y="7134"/>
                </a:lnTo>
                <a:lnTo>
                  <a:pt x="38230" y="10852"/>
                </a:lnTo>
                <a:lnTo>
                  <a:pt x="36911" y="14652"/>
                </a:lnTo>
                <a:lnTo>
                  <a:pt x="35593" y="18129"/>
                </a:lnTo>
                <a:lnTo>
                  <a:pt x="34275" y="20916"/>
                </a:lnTo>
                <a:lnTo>
                  <a:pt x="32957" y="22715"/>
                </a:lnTo>
                <a:lnTo>
                  <a:pt x="31638" y="23337"/>
                </a:lnTo>
                <a:lnTo>
                  <a:pt x="30320" y="22715"/>
                </a:lnTo>
                <a:lnTo>
                  <a:pt x="29002" y="20916"/>
                </a:lnTo>
                <a:lnTo>
                  <a:pt x="27684" y="18129"/>
                </a:lnTo>
                <a:lnTo>
                  <a:pt x="26365" y="14652"/>
                </a:lnTo>
                <a:lnTo>
                  <a:pt x="25047" y="10852"/>
                </a:lnTo>
                <a:lnTo>
                  <a:pt x="23729" y="7134"/>
                </a:lnTo>
                <a:lnTo>
                  <a:pt x="22410" y="3892"/>
                </a:lnTo>
                <a:lnTo>
                  <a:pt x="21092" y="1470"/>
                </a:lnTo>
                <a:lnTo>
                  <a:pt x="19774" y="125"/>
                </a:lnTo>
                <a:lnTo>
                  <a:pt x="18456" y="0"/>
                </a:lnTo>
                <a:lnTo>
                  <a:pt x="17137" y="1108"/>
                </a:lnTo>
                <a:lnTo>
                  <a:pt x="15819" y="3332"/>
                </a:lnTo>
                <a:lnTo>
                  <a:pt x="14501" y="6435"/>
                </a:lnTo>
                <a:lnTo>
                  <a:pt x="13182" y="10089"/>
                </a:lnTo>
                <a:lnTo>
                  <a:pt x="11864" y="13905"/>
                </a:lnTo>
                <a:lnTo>
                  <a:pt x="10546" y="17478"/>
                </a:lnTo>
                <a:lnTo>
                  <a:pt x="9228" y="20429"/>
                </a:lnTo>
                <a:lnTo>
                  <a:pt x="7909" y="22445"/>
                </a:lnTo>
                <a:lnTo>
                  <a:pt x="6591" y="23312"/>
                </a:lnTo>
                <a:lnTo>
                  <a:pt x="5273" y="22938"/>
                </a:lnTo>
                <a:lnTo>
                  <a:pt x="3955" y="21362"/>
                </a:lnTo>
                <a:lnTo>
                  <a:pt x="2636" y="18752"/>
                </a:lnTo>
                <a:lnTo>
                  <a:pt x="1318" y="15385"/>
                </a:lnTo>
                <a:lnTo>
                  <a:pt x="0" y="11619"/>
                </a:lnTo>
              </a:path>
            </a:pathLst>
          </a:custGeom>
          <a:noFill/>
          <a:ln w="8357">
            <a:solidFill>
              <a:srgbClr val="E64B35">
                <a:alpha val="51784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 ohmic loss 3R"/>
          <p:cNvSpPr/>
          <p:nvPr/>
        </p:nvSpPr>
        <p:spPr>
          <a:xfrm>
            <a:off x="10881296" y="1695549"/>
            <a:ext cx="63277" cy="23337"/>
          </a:xfrm>
          <a:custGeom>
            <a:avLst/>
            <a:gdLst/>
            <a:ahLst/>
            <a:cxnLst/>
            <a:rect l="l" t="t" r="r" b="b"/>
            <a:pathLst>
              <a:path w="63277" h="23337">
                <a:moveTo>
                  <a:pt x="0" y="11619"/>
                </a:moveTo>
                <a:lnTo>
                  <a:pt x="1318" y="15385"/>
                </a:lnTo>
                <a:lnTo>
                  <a:pt x="2636" y="18752"/>
                </a:lnTo>
                <a:lnTo>
                  <a:pt x="3955" y="21362"/>
                </a:lnTo>
                <a:lnTo>
                  <a:pt x="5273" y="22938"/>
                </a:lnTo>
                <a:lnTo>
                  <a:pt x="6591" y="23312"/>
                </a:lnTo>
                <a:lnTo>
                  <a:pt x="7909" y="22445"/>
                </a:lnTo>
                <a:lnTo>
                  <a:pt x="9228" y="20429"/>
                </a:lnTo>
                <a:lnTo>
                  <a:pt x="10546" y="17478"/>
                </a:lnTo>
                <a:lnTo>
                  <a:pt x="11864" y="13905"/>
                </a:lnTo>
                <a:lnTo>
                  <a:pt x="13182" y="10089"/>
                </a:lnTo>
                <a:lnTo>
                  <a:pt x="14501" y="6435"/>
                </a:lnTo>
                <a:lnTo>
                  <a:pt x="15819" y="3332"/>
                </a:lnTo>
                <a:lnTo>
                  <a:pt x="17137" y="1108"/>
                </a:lnTo>
                <a:lnTo>
                  <a:pt x="18456" y="0"/>
                </a:lnTo>
                <a:lnTo>
                  <a:pt x="19774" y="125"/>
                </a:lnTo>
                <a:lnTo>
                  <a:pt x="21092" y="1470"/>
                </a:lnTo>
                <a:lnTo>
                  <a:pt x="22410" y="3892"/>
                </a:lnTo>
                <a:lnTo>
                  <a:pt x="23729" y="7134"/>
                </a:lnTo>
                <a:lnTo>
                  <a:pt x="25047" y="10852"/>
                </a:lnTo>
                <a:lnTo>
                  <a:pt x="26365" y="14652"/>
                </a:lnTo>
                <a:lnTo>
                  <a:pt x="27684" y="18129"/>
                </a:lnTo>
                <a:lnTo>
                  <a:pt x="29002" y="20916"/>
                </a:lnTo>
                <a:lnTo>
                  <a:pt x="30320" y="22715"/>
                </a:lnTo>
                <a:lnTo>
                  <a:pt x="31638" y="23337"/>
                </a:lnTo>
                <a:lnTo>
                  <a:pt x="32957" y="22715"/>
                </a:lnTo>
                <a:lnTo>
                  <a:pt x="34275" y="20916"/>
                </a:lnTo>
                <a:lnTo>
                  <a:pt x="35593" y="18129"/>
                </a:lnTo>
                <a:lnTo>
                  <a:pt x="36911" y="14652"/>
                </a:lnTo>
                <a:lnTo>
                  <a:pt x="38230" y="10852"/>
                </a:lnTo>
                <a:lnTo>
                  <a:pt x="39548" y="7134"/>
                </a:lnTo>
                <a:lnTo>
                  <a:pt x="40866" y="3892"/>
                </a:lnTo>
                <a:lnTo>
                  <a:pt x="42185" y="1470"/>
                </a:lnTo>
                <a:lnTo>
                  <a:pt x="43503" y="125"/>
                </a:lnTo>
                <a:lnTo>
                  <a:pt x="44821" y="0"/>
                </a:lnTo>
                <a:lnTo>
                  <a:pt x="46139" y="1108"/>
                </a:lnTo>
                <a:lnTo>
                  <a:pt x="47458" y="3332"/>
                </a:lnTo>
                <a:lnTo>
                  <a:pt x="48776" y="6435"/>
                </a:lnTo>
                <a:lnTo>
                  <a:pt x="50094" y="10089"/>
                </a:lnTo>
                <a:lnTo>
                  <a:pt x="51412" y="13905"/>
                </a:lnTo>
                <a:lnTo>
                  <a:pt x="52731" y="17478"/>
                </a:lnTo>
                <a:lnTo>
                  <a:pt x="54049" y="20429"/>
                </a:lnTo>
                <a:lnTo>
                  <a:pt x="55367" y="22445"/>
                </a:lnTo>
                <a:lnTo>
                  <a:pt x="56686" y="23312"/>
                </a:lnTo>
                <a:lnTo>
                  <a:pt x="58004" y="22938"/>
                </a:lnTo>
                <a:lnTo>
                  <a:pt x="59322" y="21362"/>
                </a:lnTo>
                <a:lnTo>
                  <a:pt x="60640" y="18752"/>
                </a:lnTo>
                <a:lnTo>
                  <a:pt x="61959" y="15385"/>
                </a:lnTo>
                <a:lnTo>
                  <a:pt x="63277" y="11619"/>
                </a:lnTo>
              </a:path>
            </a:pathLst>
          </a:custGeom>
          <a:noFill/>
          <a:ln w="8357">
            <a:solidFill>
              <a:srgbClr val="E64B35">
                <a:alpha val="51784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 absorption burst 3"/>
          <p:cNvSpPr/>
          <p:nvPr/>
        </p:nvSpPr>
        <p:spPr>
          <a:xfrm>
            <a:off x="10836981" y="1715850"/>
            <a:ext cx="49922" cy="49922"/>
          </a:xfrm>
          <a:prstGeom prst="star10">
            <a:avLst>
              <a:gd name="adj" fmla="val 40000"/>
              <a:gd name="hf" fmla="val 105146"/>
            </a:avLst>
          </a:prstGeom>
          <a:solidFill>
            <a:srgbClr val="FBDCD6">
              <a:alpha val="51784"/>
            </a:srgbClr>
          </a:solidFill>
          <a:ln w="5607">
            <a:solidFill>
              <a:srgbClr val="E64B35">
                <a:alpha val="51784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 emitter"/>
          <p:cNvSpPr/>
          <p:nvPr/>
        </p:nvSpPr>
        <p:spPr>
          <a:xfrm>
            <a:off x="6827583" y="1642685"/>
            <a:ext cx="95322" cy="95322"/>
          </a:xfrm>
          <a:prstGeom prst="star8">
            <a:avLst>
              <a:gd name="adj" fmla="val 40000"/>
            </a:avLst>
          </a:prstGeom>
          <a:solidFill>
            <a:srgbClr val="E8901F"/>
          </a:solidFill>
          <a:ln w="5607">
            <a:solidFill>
              <a:srgbClr val="6F43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 emitter core"/>
          <p:cNvSpPr/>
          <p:nvPr/>
        </p:nvSpPr>
        <p:spPr>
          <a:xfrm>
            <a:off x="6861787" y="1676889"/>
            <a:ext cx="26914" cy="26914"/>
          </a:xfrm>
          <a:prstGeom prst="ellipse">
            <a:avLst/>
          </a:prstGeom>
          <a:solidFill>
            <a:srgbClr val="FFF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itle left"/>
          <p:cNvSpPr txBox="1"/>
          <p:nvPr/>
        </p:nvSpPr>
        <p:spPr>
          <a:xfrm>
            <a:off x="1834398" y="62360"/>
            <a:ext cx="3925019" cy="28260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27" b="1">
                <a:solidFill>
                  <a:srgbClr val="1A1A1A"/>
                </a:solidFill>
                <a:latin typeface="Arial"/>
              </a:rPr>
              <a:t>Conventional OLED + outcoupling structure</a:t>
            </a:r>
          </a:p>
        </p:txBody>
      </p:sp>
      <p:sp>
        <p:nvSpPr>
          <p:cNvPr id="115" name="subtitle left"/>
          <p:cNvSpPr txBox="1"/>
          <p:nvPr/>
        </p:nvSpPr>
        <p:spPr>
          <a:xfrm>
            <a:off x="2114757" y="240108"/>
            <a:ext cx="3364302" cy="21531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06" b="0">
                <a:solidFill>
                  <a:srgbClr val="55585C"/>
                </a:solidFill>
                <a:latin typeface="Arial"/>
              </a:rPr>
              <a:t>large absorption per round trip — the beam dies out within a few passes</a:t>
            </a:r>
          </a:p>
        </p:txBody>
      </p:sp>
      <p:sp>
        <p:nvSpPr>
          <p:cNvPr id="116" name="title right"/>
          <p:cNvSpPr txBox="1"/>
          <p:nvPr/>
        </p:nvSpPr>
        <p:spPr>
          <a:xfrm>
            <a:off x="7217281" y="62360"/>
            <a:ext cx="3925019" cy="28260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27" b="1">
                <a:solidFill>
                  <a:srgbClr val="1A1A1A"/>
                </a:solidFill>
                <a:latin typeface="Arial"/>
              </a:rPr>
              <a:t>Designed by the proposed design rule</a:t>
            </a:r>
          </a:p>
        </p:txBody>
      </p:sp>
      <p:sp>
        <p:nvSpPr>
          <p:cNvPr id="117" name="subtitle right"/>
          <p:cNvSpPr txBox="1"/>
          <p:nvPr/>
        </p:nvSpPr>
        <p:spPr>
          <a:xfrm>
            <a:off x="7497640" y="240108"/>
            <a:ext cx="3364302" cy="21531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06" b="0">
                <a:solidFill>
                  <a:srgbClr val="55585C"/>
                </a:solidFill>
                <a:latin typeface="Arial"/>
              </a:rPr>
              <a:t>absorption suppressed — intensity survives many round trips</a:t>
            </a:r>
          </a:p>
        </p:txBody>
      </p:sp>
      <p:sp>
        <p:nvSpPr>
          <p:cNvPr id="118" name="key: Outcoupling structure"/>
          <p:cNvSpPr txBox="1"/>
          <p:nvPr/>
        </p:nvSpPr>
        <p:spPr>
          <a:xfrm>
            <a:off x="-66432" y="834916"/>
            <a:ext cx="1233577" cy="18840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18" b="0">
                <a:solidFill>
                  <a:srgbClr val="55585C"/>
                </a:solidFill>
                <a:latin typeface="Arial"/>
              </a:rPr>
              <a:t>Outcoupling structure</a:t>
            </a:r>
          </a:p>
        </p:txBody>
      </p:sp>
      <p:cxnSp>
        <p:nvCxnSpPr>
          <p:cNvPr id="119" name="key leader: Outcoupling structure"/>
          <p:cNvCxnSpPr/>
          <p:nvPr/>
        </p:nvCxnSpPr>
        <p:spPr>
          <a:xfrm>
            <a:off x="1200788" y="927771"/>
            <a:ext cx="44858" cy="11214"/>
          </a:xfrm>
          <a:prstGeom prst="line">
            <a:avLst/>
          </a:prstGeom>
          <a:ln w="5046">
            <a:solidFill>
              <a:srgbClr val="9AA0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key: Glass substrate"/>
          <p:cNvSpPr txBox="1"/>
          <p:nvPr/>
        </p:nvSpPr>
        <p:spPr>
          <a:xfrm>
            <a:off x="-66432" y="1238632"/>
            <a:ext cx="1233577" cy="18840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18" b="0">
                <a:solidFill>
                  <a:srgbClr val="55585C"/>
                </a:solidFill>
                <a:latin typeface="Arial"/>
              </a:rPr>
              <a:t>Glass substrate</a:t>
            </a:r>
          </a:p>
        </p:txBody>
      </p:sp>
      <p:cxnSp>
        <p:nvCxnSpPr>
          <p:cNvPr id="121" name="key leader: Glass substrate"/>
          <p:cNvCxnSpPr/>
          <p:nvPr/>
        </p:nvCxnSpPr>
        <p:spPr>
          <a:xfrm flipV="1">
            <a:off x="1200788" y="1309058"/>
            <a:ext cx="44858" cy="22429"/>
          </a:xfrm>
          <a:prstGeom prst="line">
            <a:avLst/>
          </a:prstGeom>
          <a:ln w="5046">
            <a:solidFill>
              <a:srgbClr val="9AA0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key: TCO anode"/>
          <p:cNvSpPr txBox="1"/>
          <p:nvPr/>
        </p:nvSpPr>
        <p:spPr>
          <a:xfrm>
            <a:off x="-66432" y="1468526"/>
            <a:ext cx="1233577" cy="18840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18" b="0">
                <a:solidFill>
                  <a:srgbClr val="55585C"/>
                </a:solidFill>
                <a:latin typeface="Arial"/>
              </a:rPr>
              <a:t>TCO anode</a:t>
            </a:r>
          </a:p>
        </p:txBody>
      </p:sp>
      <p:cxnSp>
        <p:nvCxnSpPr>
          <p:cNvPr id="123" name="key leader: TCO anode"/>
          <p:cNvCxnSpPr/>
          <p:nvPr/>
        </p:nvCxnSpPr>
        <p:spPr>
          <a:xfrm>
            <a:off x="1200788" y="1561381"/>
            <a:ext cx="44858" cy="33643"/>
          </a:xfrm>
          <a:prstGeom prst="line">
            <a:avLst/>
          </a:prstGeom>
          <a:ln w="5046">
            <a:solidFill>
              <a:srgbClr val="9AA0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key: Organic layers"/>
          <p:cNvSpPr txBox="1"/>
          <p:nvPr/>
        </p:nvSpPr>
        <p:spPr>
          <a:xfrm>
            <a:off x="-66432" y="1631134"/>
            <a:ext cx="1233577" cy="18840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18" b="0">
                <a:solidFill>
                  <a:srgbClr val="55585C"/>
                </a:solidFill>
                <a:latin typeface="Arial"/>
              </a:rPr>
              <a:t>Organic layers</a:t>
            </a:r>
          </a:p>
        </p:txBody>
      </p:sp>
      <p:cxnSp>
        <p:nvCxnSpPr>
          <p:cNvPr id="125" name="key leader: Organic layers"/>
          <p:cNvCxnSpPr/>
          <p:nvPr/>
        </p:nvCxnSpPr>
        <p:spPr>
          <a:xfrm flipV="1">
            <a:off x="1200788" y="1690346"/>
            <a:ext cx="44858" cy="33643"/>
          </a:xfrm>
          <a:prstGeom prst="line">
            <a:avLst/>
          </a:prstGeom>
          <a:ln w="5046">
            <a:solidFill>
              <a:srgbClr val="9AA0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key: Metal cathode"/>
          <p:cNvSpPr txBox="1"/>
          <p:nvPr/>
        </p:nvSpPr>
        <p:spPr>
          <a:xfrm>
            <a:off x="-66432" y="1776921"/>
            <a:ext cx="1233577" cy="18840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618" b="0">
                <a:solidFill>
                  <a:srgbClr val="55585C"/>
                </a:solidFill>
                <a:latin typeface="Arial"/>
              </a:rPr>
              <a:t>Metal cathode</a:t>
            </a:r>
          </a:p>
        </p:txBody>
      </p:sp>
      <p:cxnSp>
        <p:nvCxnSpPr>
          <p:cNvPr id="127" name="key leader: Metal cathode"/>
          <p:cNvCxnSpPr/>
          <p:nvPr/>
        </p:nvCxnSpPr>
        <p:spPr>
          <a:xfrm flipV="1">
            <a:off x="1200788" y="1852954"/>
            <a:ext cx="44858" cy="16821"/>
          </a:xfrm>
          <a:prstGeom prst="line">
            <a:avLst/>
          </a:prstGeom>
          <a:ln w="5046">
            <a:solidFill>
              <a:srgbClr val="9AA0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legend ray"/>
          <p:cNvCxnSpPr/>
          <p:nvPr/>
        </p:nvCxnSpPr>
        <p:spPr>
          <a:xfrm>
            <a:off x="3752051" y="2396849"/>
            <a:ext cx="358858" cy="0"/>
          </a:xfrm>
          <a:prstGeom prst="line">
            <a:avLst/>
          </a:prstGeom>
          <a:ln w="34764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legend ray text"/>
          <p:cNvSpPr txBox="1"/>
          <p:nvPr/>
        </p:nvSpPr>
        <p:spPr>
          <a:xfrm>
            <a:off x="4189410" y="2295360"/>
            <a:ext cx="2242868" cy="20185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662" b="0">
                <a:solidFill>
                  <a:srgbClr val="55585C"/>
                </a:solidFill>
                <a:latin typeface="Arial"/>
              </a:rPr>
              <a:t>Light ray  (line width ∝ optical power)</a:t>
            </a:r>
          </a:p>
        </p:txBody>
      </p:sp>
      <p:sp>
        <p:nvSpPr>
          <p:cNvPr id="130" name="legend emitter"/>
          <p:cNvSpPr/>
          <p:nvPr/>
        </p:nvSpPr>
        <p:spPr>
          <a:xfrm>
            <a:off x="6104258" y="2337974"/>
            <a:ext cx="95322" cy="95322"/>
          </a:xfrm>
          <a:prstGeom prst="star8">
            <a:avLst>
              <a:gd name="adj" fmla="val 40000"/>
            </a:avLst>
          </a:prstGeom>
          <a:solidFill>
            <a:srgbClr val="E8901F"/>
          </a:solidFill>
          <a:ln w="5607">
            <a:solidFill>
              <a:srgbClr val="6F43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legend emission text"/>
          <p:cNvSpPr txBox="1"/>
          <p:nvPr/>
        </p:nvSpPr>
        <p:spPr>
          <a:xfrm>
            <a:off x="6252848" y="2295360"/>
            <a:ext cx="1682151" cy="20185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662" b="0">
                <a:solidFill>
                  <a:srgbClr val="55585C"/>
                </a:solidFill>
                <a:latin typeface="Arial"/>
              </a:rPr>
              <a:t>Exciton emission</a:t>
            </a:r>
          </a:p>
        </p:txBody>
      </p:sp>
      <p:sp>
        <p:nvSpPr>
          <p:cNvPr id="132" name="legend loss"/>
          <p:cNvSpPr/>
          <p:nvPr/>
        </p:nvSpPr>
        <p:spPr>
          <a:xfrm>
            <a:off x="7441568" y="2366734"/>
            <a:ext cx="314002" cy="37965"/>
          </a:xfrm>
          <a:custGeom>
            <a:avLst/>
            <a:gdLst/>
            <a:ahLst/>
            <a:cxnLst/>
            <a:rect l="l" t="t" r="r" b="b"/>
            <a:pathLst>
              <a:path w="314002" h="37965">
                <a:moveTo>
                  <a:pt x="0" y="18901"/>
                </a:moveTo>
                <a:lnTo>
                  <a:pt x="6542" y="25029"/>
                </a:lnTo>
                <a:lnTo>
                  <a:pt x="13084" y="30507"/>
                </a:lnTo>
                <a:lnTo>
                  <a:pt x="19625" y="34753"/>
                </a:lnTo>
                <a:lnTo>
                  <a:pt x="26167" y="37316"/>
                </a:lnTo>
                <a:lnTo>
                  <a:pt x="32709" y="37925"/>
                </a:lnTo>
                <a:lnTo>
                  <a:pt x="39250" y="36514"/>
                </a:lnTo>
                <a:lnTo>
                  <a:pt x="45792" y="33234"/>
                </a:lnTo>
                <a:lnTo>
                  <a:pt x="52334" y="28433"/>
                </a:lnTo>
                <a:lnTo>
                  <a:pt x="58876" y="22620"/>
                </a:lnTo>
                <a:lnTo>
                  <a:pt x="65417" y="16413"/>
                </a:lnTo>
                <a:lnTo>
                  <a:pt x="71959" y="10469"/>
                </a:lnTo>
                <a:lnTo>
                  <a:pt x="78501" y="5421"/>
                </a:lnTo>
                <a:lnTo>
                  <a:pt x="85042" y="1803"/>
                </a:lnTo>
                <a:lnTo>
                  <a:pt x="91584" y="0"/>
                </a:lnTo>
                <a:lnTo>
                  <a:pt x="98126" y="203"/>
                </a:lnTo>
                <a:lnTo>
                  <a:pt x="104667" y="2391"/>
                </a:lnTo>
                <a:lnTo>
                  <a:pt x="111209" y="6331"/>
                </a:lnTo>
                <a:lnTo>
                  <a:pt x="117751" y="11605"/>
                </a:lnTo>
                <a:lnTo>
                  <a:pt x="124293" y="17654"/>
                </a:lnTo>
                <a:lnTo>
                  <a:pt x="130834" y="23835"/>
                </a:lnTo>
                <a:lnTo>
                  <a:pt x="137376" y="29493"/>
                </a:lnTo>
                <a:lnTo>
                  <a:pt x="143918" y="34026"/>
                </a:lnTo>
                <a:lnTo>
                  <a:pt x="150459" y="36954"/>
                </a:lnTo>
                <a:lnTo>
                  <a:pt x="157001" y="37965"/>
                </a:lnTo>
                <a:lnTo>
                  <a:pt x="163543" y="36954"/>
                </a:lnTo>
                <a:lnTo>
                  <a:pt x="170084" y="34026"/>
                </a:lnTo>
                <a:lnTo>
                  <a:pt x="176626" y="29493"/>
                </a:lnTo>
                <a:lnTo>
                  <a:pt x="183168" y="23835"/>
                </a:lnTo>
                <a:lnTo>
                  <a:pt x="189710" y="17654"/>
                </a:lnTo>
                <a:lnTo>
                  <a:pt x="196251" y="11605"/>
                </a:lnTo>
                <a:lnTo>
                  <a:pt x="202793" y="6331"/>
                </a:lnTo>
                <a:lnTo>
                  <a:pt x="209335" y="2391"/>
                </a:lnTo>
                <a:lnTo>
                  <a:pt x="215876" y="203"/>
                </a:lnTo>
                <a:lnTo>
                  <a:pt x="222418" y="0"/>
                </a:lnTo>
                <a:lnTo>
                  <a:pt x="228960" y="1803"/>
                </a:lnTo>
                <a:lnTo>
                  <a:pt x="235501" y="5421"/>
                </a:lnTo>
                <a:lnTo>
                  <a:pt x="242043" y="10469"/>
                </a:lnTo>
                <a:lnTo>
                  <a:pt x="248585" y="16413"/>
                </a:lnTo>
                <a:lnTo>
                  <a:pt x="255126" y="22620"/>
                </a:lnTo>
                <a:lnTo>
                  <a:pt x="261668" y="28433"/>
                </a:lnTo>
                <a:lnTo>
                  <a:pt x="268210" y="33234"/>
                </a:lnTo>
                <a:lnTo>
                  <a:pt x="274752" y="36514"/>
                </a:lnTo>
                <a:lnTo>
                  <a:pt x="281293" y="37925"/>
                </a:lnTo>
                <a:lnTo>
                  <a:pt x="287835" y="37316"/>
                </a:lnTo>
                <a:lnTo>
                  <a:pt x="294377" y="34753"/>
                </a:lnTo>
                <a:lnTo>
                  <a:pt x="300918" y="30507"/>
                </a:lnTo>
                <a:lnTo>
                  <a:pt x="307460" y="25029"/>
                </a:lnTo>
                <a:lnTo>
                  <a:pt x="314002" y="18901"/>
                </a:lnTo>
              </a:path>
            </a:pathLst>
          </a:custGeom>
          <a:noFill/>
          <a:ln w="12336">
            <a:solidFill>
              <a:srgbClr val="E64B35">
                <a:alpha val="95000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legend loss text"/>
          <p:cNvSpPr txBox="1"/>
          <p:nvPr/>
        </p:nvSpPr>
        <p:spPr>
          <a:xfrm>
            <a:off x="7867713" y="2295360"/>
            <a:ext cx="2579298" cy="20185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662" b="0">
                <a:solidFill>
                  <a:srgbClr val="55585C"/>
                </a:solidFill>
                <a:latin typeface="Arial"/>
              </a:rPr>
              <a:t>Absorption loss  (ohmic at the metal, TCO)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