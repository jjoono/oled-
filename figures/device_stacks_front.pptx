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 reflector + MLA film / Glass + Microlens array film left"/>
          <p:cNvSpPr/>
          <p:nvPr/>
        </p:nvSpPr>
        <p:spPr>
          <a:xfrm>
            <a:off x="1197399" y="4367870"/>
            <a:ext cx="195938" cy="574751"/>
          </a:xfrm>
          <a:custGeom>
            <a:avLst/>
            <a:gdLst/>
            <a:ahLst/>
            <a:cxnLst/>
            <a:rect l="l" t="t" r="r" b="b"/>
            <a:pathLst>
              <a:path w="195938" h="574751">
                <a:moveTo>
                  <a:pt x="195938" y="574751"/>
                </a:moveTo>
                <a:lnTo>
                  <a:pt x="0" y="400584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 reflector + MLA film / Glass + Microlens array film right"/>
          <p:cNvSpPr/>
          <p:nvPr/>
        </p:nvSpPr>
        <p:spPr>
          <a:xfrm>
            <a:off x="4005843" y="4367870"/>
            <a:ext cx="195938" cy="574751"/>
          </a:xfrm>
          <a:custGeom>
            <a:avLst/>
            <a:gdLst/>
            <a:ahLst/>
            <a:cxnLst/>
            <a:rect l="l" t="t" r="r" b="b"/>
            <a:pathLst>
              <a:path w="195938" h="574751">
                <a:moveTo>
                  <a:pt x="0" y="574751"/>
                </a:moveTo>
                <a:lnTo>
                  <a:pt x="195938" y="400584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 reflector + MLA film / Glass + Microlens array film front"/>
          <p:cNvSpPr/>
          <p:nvPr/>
        </p:nvSpPr>
        <p:spPr>
          <a:xfrm>
            <a:off x="1393337" y="4542037"/>
            <a:ext cx="2612506" cy="481720"/>
          </a:xfrm>
          <a:custGeom>
            <a:avLst/>
            <a:gdLst/>
            <a:ahLst/>
            <a:cxnLst/>
            <a:rect l="l" t="t" r="r" b="b"/>
            <a:pathLst>
              <a:path w="2612506" h="481720">
                <a:moveTo>
                  <a:pt x="0" y="0"/>
                </a:moveTo>
                <a:lnTo>
                  <a:pt x="2612506" y="0"/>
                </a:lnTo>
                <a:lnTo>
                  <a:pt x="2612506" y="400584"/>
                </a:lnTo>
                <a:lnTo>
                  <a:pt x="2594363" y="451899"/>
                </a:lnTo>
                <a:lnTo>
                  <a:pt x="2576221" y="468467"/>
                </a:lnTo>
                <a:lnTo>
                  <a:pt x="2558078" y="477556"/>
                </a:lnTo>
                <a:lnTo>
                  <a:pt x="2539936" y="481720"/>
                </a:lnTo>
                <a:lnTo>
                  <a:pt x="2521794" y="481720"/>
                </a:lnTo>
                <a:lnTo>
                  <a:pt x="2503651" y="477556"/>
                </a:lnTo>
                <a:lnTo>
                  <a:pt x="2485509" y="468467"/>
                </a:lnTo>
                <a:lnTo>
                  <a:pt x="2467366" y="451899"/>
                </a:lnTo>
                <a:lnTo>
                  <a:pt x="2449224" y="400584"/>
                </a:lnTo>
                <a:lnTo>
                  <a:pt x="2449224" y="400584"/>
                </a:lnTo>
                <a:lnTo>
                  <a:pt x="2431082" y="451899"/>
                </a:lnTo>
                <a:lnTo>
                  <a:pt x="2412939" y="468467"/>
                </a:lnTo>
                <a:lnTo>
                  <a:pt x="2394797" y="477556"/>
                </a:lnTo>
                <a:lnTo>
                  <a:pt x="2376654" y="481720"/>
                </a:lnTo>
                <a:lnTo>
                  <a:pt x="2358512" y="481720"/>
                </a:lnTo>
                <a:lnTo>
                  <a:pt x="2340370" y="477556"/>
                </a:lnTo>
                <a:lnTo>
                  <a:pt x="2322227" y="468467"/>
                </a:lnTo>
                <a:lnTo>
                  <a:pt x="2304085" y="451899"/>
                </a:lnTo>
                <a:lnTo>
                  <a:pt x="2285942" y="400584"/>
                </a:lnTo>
                <a:lnTo>
                  <a:pt x="2285942" y="400584"/>
                </a:lnTo>
                <a:lnTo>
                  <a:pt x="2267800" y="451899"/>
                </a:lnTo>
                <a:lnTo>
                  <a:pt x="2249658" y="468467"/>
                </a:lnTo>
                <a:lnTo>
                  <a:pt x="2231515" y="477556"/>
                </a:lnTo>
                <a:lnTo>
                  <a:pt x="2213373" y="481720"/>
                </a:lnTo>
                <a:lnTo>
                  <a:pt x="2195230" y="481720"/>
                </a:lnTo>
                <a:lnTo>
                  <a:pt x="2177088" y="477556"/>
                </a:lnTo>
                <a:lnTo>
                  <a:pt x="2158946" y="468467"/>
                </a:lnTo>
                <a:lnTo>
                  <a:pt x="2140803" y="451899"/>
                </a:lnTo>
                <a:lnTo>
                  <a:pt x="2122661" y="400584"/>
                </a:lnTo>
                <a:lnTo>
                  <a:pt x="2122661" y="400584"/>
                </a:lnTo>
                <a:lnTo>
                  <a:pt x="2104518" y="451899"/>
                </a:lnTo>
                <a:lnTo>
                  <a:pt x="2086376" y="468467"/>
                </a:lnTo>
                <a:lnTo>
                  <a:pt x="2068234" y="477556"/>
                </a:lnTo>
                <a:lnTo>
                  <a:pt x="2050091" y="481720"/>
                </a:lnTo>
                <a:lnTo>
                  <a:pt x="2031949" y="481720"/>
                </a:lnTo>
                <a:lnTo>
                  <a:pt x="2013806" y="477556"/>
                </a:lnTo>
                <a:lnTo>
                  <a:pt x="1995664" y="468467"/>
                </a:lnTo>
                <a:lnTo>
                  <a:pt x="1977522" y="451899"/>
                </a:lnTo>
                <a:lnTo>
                  <a:pt x="1959379" y="400584"/>
                </a:lnTo>
                <a:lnTo>
                  <a:pt x="1959379" y="400584"/>
                </a:lnTo>
                <a:lnTo>
                  <a:pt x="1941237" y="451899"/>
                </a:lnTo>
                <a:lnTo>
                  <a:pt x="1923094" y="468467"/>
                </a:lnTo>
                <a:lnTo>
                  <a:pt x="1904952" y="477556"/>
                </a:lnTo>
                <a:lnTo>
                  <a:pt x="1886810" y="481720"/>
                </a:lnTo>
                <a:lnTo>
                  <a:pt x="1868667" y="481720"/>
                </a:lnTo>
                <a:lnTo>
                  <a:pt x="1850525" y="477556"/>
                </a:lnTo>
                <a:lnTo>
                  <a:pt x="1832382" y="468467"/>
                </a:lnTo>
                <a:lnTo>
                  <a:pt x="1814240" y="451899"/>
                </a:lnTo>
                <a:lnTo>
                  <a:pt x="1796097" y="400584"/>
                </a:lnTo>
                <a:lnTo>
                  <a:pt x="1796097" y="400584"/>
                </a:lnTo>
                <a:lnTo>
                  <a:pt x="1777955" y="451899"/>
                </a:lnTo>
                <a:lnTo>
                  <a:pt x="1759813" y="468467"/>
                </a:lnTo>
                <a:lnTo>
                  <a:pt x="1741670" y="477556"/>
                </a:lnTo>
                <a:lnTo>
                  <a:pt x="1723528" y="481720"/>
                </a:lnTo>
                <a:lnTo>
                  <a:pt x="1705385" y="481720"/>
                </a:lnTo>
                <a:lnTo>
                  <a:pt x="1687243" y="477556"/>
                </a:lnTo>
                <a:lnTo>
                  <a:pt x="1669101" y="468467"/>
                </a:lnTo>
                <a:lnTo>
                  <a:pt x="1650958" y="451899"/>
                </a:lnTo>
                <a:lnTo>
                  <a:pt x="1632816" y="400584"/>
                </a:lnTo>
                <a:lnTo>
                  <a:pt x="1632816" y="400584"/>
                </a:lnTo>
                <a:lnTo>
                  <a:pt x="1614673" y="451899"/>
                </a:lnTo>
                <a:lnTo>
                  <a:pt x="1596531" y="468467"/>
                </a:lnTo>
                <a:lnTo>
                  <a:pt x="1578389" y="477556"/>
                </a:lnTo>
                <a:lnTo>
                  <a:pt x="1560246" y="481720"/>
                </a:lnTo>
                <a:lnTo>
                  <a:pt x="1542104" y="481720"/>
                </a:lnTo>
                <a:lnTo>
                  <a:pt x="1523961" y="477556"/>
                </a:lnTo>
                <a:lnTo>
                  <a:pt x="1505819" y="468467"/>
                </a:lnTo>
                <a:lnTo>
                  <a:pt x="1487677" y="451899"/>
                </a:lnTo>
                <a:lnTo>
                  <a:pt x="1469534" y="400584"/>
                </a:lnTo>
                <a:lnTo>
                  <a:pt x="1469534" y="400584"/>
                </a:lnTo>
                <a:lnTo>
                  <a:pt x="1451392" y="451899"/>
                </a:lnTo>
                <a:lnTo>
                  <a:pt x="1433249" y="468467"/>
                </a:lnTo>
                <a:lnTo>
                  <a:pt x="1415107" y="477556"/>
                </a:lnTo>
                <a:lnTo>
                  <a:pt x="1396965" y="481720"/>
                </a:lnTo>
                <a:lnTo>
                  <a:pt x="1378822" y="481720"/>
                </a:lnTo>
                <a:lnTo>
                  <a:pt x="1360680" y="477556"/>
                </a:lnTo>
                <a:lnTo>
                  <a:pt x="1342537" y="468467"/>
                </a:lnTo>
                <a:lnTo>
                  <a:pt x="1324395" y="451899"/>
                </a:lnTo>
                <a:lnTo>
                  <a:pt x="1306253" y="400584"/>
                </a:lnTo>
                <a:lnTo>
                  <a:pt x="1306253" y="400584"/>
                </a:lnTo>
                <a:lnTo>
                  <a:pt x="1288110" y="451899"/>
                </a:lnTo>
                <a:lnTo>
                  <a:pt x="1269968" y="468467"/>
                </a:lnTo>
                <a:lnTo>
                  <a:pt x="1251825" y="477556"/>
                </a:lnTo>
                <a:lnTo>
                  <a:pt x="1233683" y="481720"/>
                </a:lnTo>
                <a:lnTo>
                  <a:pt x="1215541" y="481720"/>
                </a:lnTo>
                <a:lnTo>
                  <a:pt x="1197398" y="477556"/>
                </a:lnTo>
                <a:lnTo>
                  <a:pt x="1179256" y="468467"/>
                </a:lnTo>
                <a:lnTo>
                  <a:pt x="1161113" y="451899"/>
                </a:lnTo>
                <a:lnTo>
                  <a:pt x="1142971" y="400584"/>
                </a:lnTo>
                <a:lnTo>
                  <a:pt x="1142971" y="400584"/>
                </a:lnTo>
                <a:lnTo>
                  <a:pt x="1124829" y="451899"/>
                </a:lnTo>
                <a:lnTo>
                  <a:pt x="1106686" y="468467"/>
                </a:lnTo>
                <a:lnTo>
                  <a:pt x="1088544" y="477556"/>
                </a:lnTo>
                <a:lnTo>
                  <a:pt x="1070401" y="481720"/>
                </a:lnTo>
                <a:lnTo>
                  <a:pt x="1052259" y="481720"/>
                </a:lnTo>
                <a:lnTo>
                  <a:pt x="1034117" y="477556"/>
                </a:lnTo>
                <a:lnTo>
                  <a:pt x="1015974" y="468467"/>
                </a:lnTo>
                <a:lnTo>
                  <a:pt x="997832" y="451899"/>
                </a:lnTo>
                <a:lnTo>
                  <a:pt x="979689" y="400584"/>
                </a:lnTo>
                <a:lnTo>
                  <a:pt x="979689" y="400584"/>
                </a:lnTo>
                <a:lnTo>
                  <a:pt x="961547" y="451899"/>
                </a:lnTo>
                <a:lnTo>
                  <a:pt x="943405" y="468467"/>
                </a:lnTo>
                <a:lnTo>
                  <a:pt x="925262" y="477556"/>
                </a:lnTo>
                <a:lnTo>
                  <a:pt x="907120" y="481720"/>
                </a:lnTo>
                <a:lnTo>
                  <a:pt x="888977" y="481720"/>
                </a:lnTo>
                <a:lnTo>
                  <a:pt x="870835" y="477556"/>
                </a:lnTo>
                <a:lnTo>
                  <a:pt x="852693" y="468467"/>
                </a:lnTo>
                <a:lnTo>
                  <a:pt x="834550" y="451899"/>
                </a:lnTo>
                <a:lnTo>
                  <a:pt x="816408" y="400584"/>
                </a:lnTo>
                <a:lnTo>
                  <a:pt x="816408" y="400584"/>
                </a:lnTo>
                <a:lnTo>
                  <a:pt x="798265" y="451899"/>
                </a:lnTo>
                <a:lnTo>
                  <a:pt x="780123" y="468467"/>
                </a:lnTo>
                <a:lnTo>
                  <a:pt x="761981" y="477556"/>
                </a:lnTo>
                <a:lnTo>
                  <a:pt x="743838" y="481720"/>
                </a:lnTo>
                <a:lnTo>
                  <a:pt x="725696" y="481720"/>
                </a:lnTo>
                <a:lnTo>
                  <a:pt x="707553" y="477556"/>
                </a:lnTo>
                <a:lnTo>
                  <a:pt x="689411" y="468467"/>
                </a:lnTo>
                <a:lnTo>
                  <a:pt x="671268" y="451899"/>
                </a:lnTo>
                <a:lnTo>
                  <a:pt x="653126" y="400584"/>
                </a:lnTo>
                <a:lnTo>
                  <a:pt x="653126" y="400584"/>
                </a:lnTo>
                <a:lnTo>
                  <a:pt x="634984" y="451899"/>
                </a:lnTo>
                <a:lnTo>
                  <a:pt x="616841" y="468467"/>
                </a:lnTo>
                <a:lnTo>
                  <a:pt x="598699" y="477556"/>
                </a:lnTo>
                <a:lnTo>
                  <a:pt x="580556" y="481720"/>
                </a:lnTo>
                <a:lnTo>
                  <a:pt x="562414" y="481720"/>
                </a:lnTo>
                <a:lnTo>
                  <a:pt x="544272" y="477556"/>
                </a:lnTo>
                <a:lnTo>
                  <a:pt x="526129" y="468467"/>
                </a:lnTo>
                <a:lnTo>
                  <a:pt x="507987" y="451899"/>
                </a:lnTo>
                <a:lnTo>
                  <a:pt x="489844" y="400584"/>
                </a:lnTo>
                <a:lnTo>
                  <a:pt x="489844" y="400584"/>
                </a:lnTo>
                <a:lnTo>
                  <a:pt x="471702" y="451899"/>
                </a:lnTo>
                <a:lnTo>
                  <a:pt x="453560" y="468467"/>
                </a:lnTo>
                <a:lnTo>
                  <a:pt x="435417" y="477556"/>
                </a:lnTo>
                <a:lnTo>
                  <a:pt x="417275" y="481720"/>
                </a:lnTo>
                <a:lnTo>
                  <a:pt x="399132" y="481720"/>
                </a:lnTo>
                <a:lnTo>
                  <a:pt x="380990" y="477556"/>
                </a:lnTo>
                <a:lnTo>
                  <a:pt x="362848" y="468467"/>
                </a:lnTo>
                <a:lnTo>
                  <a:pt x="344705" y="451899"/>
                </a:lnTo>
                <a:lnTo>
                  <a:pt x="326563" y="400584"/>
                </a:lnTo>
                <a:lnTo>
                  <a:pt x="326563" y="400584"/>
                </a:lnTo>
                <a:lnTo>
                  <a:pt x="308420" y="451899"/>
                </a:lnTo>
                <a:lnTo>
                  <a:pt x="290278" y="468467"/>
                </a:lnTo>
                <a:lnTo>
                  <a:pt x="272136" y="477556"/>
                </a:lnTo>
                <a:lnTo>
                  <a:pt x="253993" y="481720"/>
                </a:lnTo>
                <a:lnTo>
                  <a:pt x="235851" y="481720"/>
                </a:lnTo>
                <a:lnTo>
                  <a:pt x="217708" y="477556"/>
                </a:lnTo>
                <a:lnTo>
                  <a:pt x="199566" y="468467"/>
                </a:lnTo>
                <a:lnTo>
                  <a:pt x="181424" y="451899"/>
                </a:lnTo>
                <a:lnTo>
                  <a:pt x="163281" y="400584"/>
                </a:lnTo>
                <a:lnTo>
                  <a:pt x="163281" y="400584"/>
                </a:lnTo>
                <a:lnTo>
                  <a:pt x="145139" y="451899"/>
                </a:lnTo>
                <a:lnTo>
                  <a:pt x="126996" y="468467"/>
                </a:lnTo>
                <a:lnTo>
                  <a:pt x="108854" y="477556"/>
                </a:lnTo>
                <a:lnTo>
                  <a:pt x="90712" y="481720"/>
                </a:lnTo>
                <a:lnTo>
                  <a:pt x="72569" y="481720"/>
                </a:lnTo>
                <a:lnTo>
                  <a:pt x="54427" y="477556"/>
                </a:lnTo>
                <a:lnTo>
                  <a:pt x="36284" y="468467"/>
                </a:lnTo>
                <a:lnTo>
                  <a:pt x="18142" y="451899"/>
                </a:lnTo>
                <a:lnTo>
                  <a:pt x="0" y="400584"/>
                </a:lnTo>
                <a:close/>
              </a:path>
            </a:pathLst>
          </a:custGeom>
          <a:solidFill>
            <a:srgbClr val="CFE4F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 reflector + MLA film / Glass + Microlens array film label"/>
          <p:cNvSpPr txBox="1"/>
          <p:nvPr/>
        </p:nvSpPr>
        <p:spPr>
          <a:xfrm>
            <a:off x="1463003" y="457817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D62828"/>
                </a:solidFill>
                <a:latin typeface="Arial"/>
              </a:rPr>
              <a:t>Glass + Microlens array film</a:t>
            </a:r>
          </a:p>
        </p:txBody>
      </p:sp>
      <p:sp>
        <p:nvSpPr>
          <p:cNvPr id="6" name="Ag reflector + MLA film / ITO [150] left"/>
          <p:cNvSpPr/>
          <p:nvPr/>
        </p:nvSpPr>
        <p:spPr>
          <a:xfrm>
            <a:off x="1197399" y="4080494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195938" y="461543"/>
                </a:moveTo>
                <a:lnTo>
                  <a:pt x="0" y="287376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 reflector + MLA film / ITO [150] right"/>
          <p:cNvSpPr/>
          <p:nvPr/>
        </p:nvSpPr>
        <p:spPr>
          <a:xfrm>
            <a:off x="4005843" y="4080494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0" y="461543"/>
                </a:moveTo>
                <a:lnTo>
                  <a:pt x="195938" y="287376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g reflector + MLA film / ITO [150] front"/>
          <p:cNvSpPr/>
          <p:nvPr/>
        </p:nvSpPr>
        <p:spPr>
          <a:xfrm>
            <a:off x="1393337" y="4254661"/>
            <a:ext cx="2612506" cy="287376"/>
          </a:xfrm>
          <a:custGeom>
            <a:avLst/>
            <a:gdLst/>
            <a:ahLst/>
            <a:cxnLst/>
            <a:rect l="l" t="t" r="r" b="b"/>
            <a:pathLst>
              <a:path w="2612506" h="287376">
                <a:moveTo>
                  <a:pt x="0" y="0"/>
                </a:moveTo>
                <a:lnTo>
                  <a:pt x="2612506" y="0"/>
                </a:lnTo>
                <a:lnTo>
                  <a:pt x="2612506" y="287376"/>
                </a:lnTo>
                <a:lnTo>
                  <a:pt x="0" y="287376"/>
                </a:lnTo>
                <a:close/>
              </a:path>
            </a:pathLst>
          </a:custGeom>
          <a:solidFill>
            <a:srgbClr val="7FD3E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 reflector + MLA film / ITO [150] label"/>
          <p:cNvSpPr txBox="1"/>
          <p:nvPr/>
        </p:nvSpPr>
        <p:spPr>
          <a:xfrm>
            <a:off x="1463003" y="423419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ITO [150]</a:t>
            </a:r>
          </a:p>
        </p:txBody>
      </p:sp>
      <p:sp>
        <p:nvSpPr>
          <p:cNvPr id="10" name="Ag reflector + MLA film / HATCN/TAPC [5/55] 3 pairs left"/>
          <p:cNvSpPr/>
          <p:nvPr/>
        </p:nvSpPr>
        <p:spPr>
          <a:xfrm>
            <a:off x="1197399" y="3793119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195938" y="461542"/>
                </a:moveTo>
                <a:lnTo>
                  <a:pt x="0" y="287375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CFBB9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 reflector + MLA film / HATCN/TAPC [5/55] 3 pairs right"/>
          <p:cNvSpPr/>
          <p:nvPr/>
        </p:nvSpPr>
        <p:spPr>
          <a:xfrm>
            <a:off x="4005843" y="3793119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0" y="461542"/>
                </a:moveTo>
                <a:lnTo>
                  <a:pt x="195938" y="287375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CFBB9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g reflector + MLA film / HATCN/TAPC [5/55] 3 pairs front"/>
          <p:cNvSpPr/>
          <p:nvPr/>
        </p:nvSpPr>
        <p:spPr>
          <a:xfrm>
            <a:off x="1393337" y="3967286"/>
            <a:ext cx="2612506" cy="287375"/>
          </a:xfrm>
          <a:custGeom>
            <a:avLst/>
            <a:gdLst/>
            <a:ahLst/>
            <a:cxnLst/>
            <a:rect l="l" t="t" r="r" b="b"/>
            <a:pathLst>
              <a:path w="2612506" h="287375">
                <a:moveTo>
                  <a:pt x="0" y="0"/>
                </a:moveTo>
                <a:lnTo>
                  <a:pt x="2612506" y="0"/>
                </a:lnTo>
                <a:lnTo>
                  <a:pt x="2612506" y="287375"/>
                </a:lnTo>
                <a:lnTo>
                  <a:pt x="0" y="287375"/>
                </a:lnTo>
                <a:close/>
              </a:path>
            </a:pathLst>
          </a:custGeom>
          <a:solidFill>
            <a:srgbClr val="F6DFA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g reflector + MLA film / HATCN/TAPC [5/55] 3 pairs label"/>
          <p:cNvSpPr txBox="1"/>
          <p:nvPr/>
        </p:nvSpPr>
        <p:spPr>
          <a:xfrm>
            <a:off x="1463003" y="3946821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HATCN/TAPC [5/55] 3 pairs</a:t>
            </a:r>
          </a:p>
        </p:txBody>
      </p:sp>
      <p:sp>
        <p:nvSpPr>
          <p:cNvPr id="14" name="Ag reflector + MLA film / TCTA [10] left"/>
          <p:cNvSpPr/>
          <p:nvPr/>
        </p:nvSpPr>
        <p:spPr>
          <a:xfrm>
            <a:off x="1197399" y="3514451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195938" y="452835"/>
                </a:moveTo>
                <a:lnTo>
                  <a:pt x="0" y="278668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g reflector + MLA film / TCTA [10] right"/>
          <p:cNvSpPr/>
          <p:nvPr/>
        </p:nvSpPr>
        <p:spPr>
          <a:xfrm>
            <a:off x="4005843" y="3514451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0" y="452835"/>
                </a:moveTo>
                <a:lnTo>
                  <a:pt x="195938" y="278668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 reflector + MLA film / TCTA [10] front"/>
          <p:cNvSpPr/>
          <p:nvPr/>
        </p:nvSpPr>
        <p:spPr>
          <a:xfrm>
            <a:off x="1393337" y="3688618"/>
            <a:ext cx="2612506" cy="278668"/>
          </a:xfrm>
          <a:custGeom>
            <a:avLst/>
            <a:gdLst/>
            <a:ahLst/>
            <a:cxnLst/>
            <a:rect l="l" t="t" r="r" b="b"/>
            <a:pathLst>
              <a:path w="2612506" h="278668">
                <a:moveTo>
                  <a:pt x="0" y="0"/>
                </a:moveTo>
                <a:lnTo>
                  <a:pt x="2612506" y="0"/>
                </a:lnTo>
                <a:lnTo>
                  <a:pt x="2612506" y="278668"/>
                </a:lnTo>
                <a:lnTo>
                  <a:pt x="0" y="278668"/>
                </a:lnTo>
                <a:close/>
              </a:path>
            </a:pathLst>
          </a:custGeom>
          <a:solidFill>
            <a:srgbClr val="F0B860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g reflector + MLA film / TCTA [10] label"/>
          <p:cNvSpPr txBox="1"/>
          <p:nvPr/>
        </p:nvSpPr>
        <p:spPr>
          <a:xfrm>
            <a:off x="1463003" y="3663800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TCTA [10]</a:t>
            </a:r>
          </a:p>
        </p:txBody>
      </p:sp>
      <p:sp>
        <p:nvSpPr>
          <p:cNvPr id="18" name="Ag reflector + MLA film / TCTA:B3PyMPM:Irppy₂acac [25] left"/>
          <p:cNvSpPr/>
          <p:nvPr/>
        </p:nvSpPr>
        <p:spPr>
          <a:xfrm>
            <a:off x="1197399" y="3200951"/>
            <a:ext cx="195938" cy="487667"/>
          </a:xfrm>
          <a:custGeom>
            <a:avLst/>
            <a:gdLst/>
            <a:ahLst/>
            <a:cxnLst/>
            <a:rect l="l" t="t" r="r" b="b"/>
            <a:pathLst>
              <a:path w="195938" h="487667">
                <a:moveTo>
                  <a:pt x="195938" y="487667"/>
                </a:moveTo>
                <a:lnTo>
                  <a:pt x="0" y="313500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 reflector + MLA film / TCTA:B3PyMPM:Irppy₂acac [25] right"/>
          <p:cNvSpPr/>
          <p:nvPr/>
        </p:nvSpPr>
        <p:spPr>
          <a:xfrm>
            <a:off x="4005843" y="3200951"/>
            <a:ext cx="195938" cy="487667"/>
          </a:xfrm>
          <a:custGeom>
            <a:avLst/>
            <a:gdLst/>
            <a:ahLst/>
            <a:cxnLst/>
            <a:rect l="l" t="t" r="r" b="b"/>
            <a:pathLst>
              <a:path w="195938" h="487667">
                <a:moveTo>
                  <a:pt x="0" y="487667"/>
                </a:moveTo>
                <a:lnTo>
                  <a:pt x="195938" y="313500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g reflector + MLA film / TCTA:B3PyMPM:Irppy₂acac [25] front"/>
          <p:cNvSpPr/>
          <p:nvPr/>
        </p:nvSpPr>
        <p:spPr>
          <a:xfrm>
            <a:off x="1393337" y="3375118"/>
            <a:ext cx="2612506" cy="313500"/>
          </a:xfrm>
          <a:custGeom>
            <a:avLst/>
            <a:gdLst/>
            <a:ahLst/>
            <a:cxnLst/>
            <a:rect l="l" t="t" r="r" b="b"/>
            <a:pathLst>
              <a:path w="2612506" h="313500">
                <a:moveTo>
                  <a:pt x="0" y="0"/>
                </a:moveTo>
                <a:lnTo>
                  <a:pt x="2612506" y="0"/>
                </a:lnTo>
                <a:lnTo>
                  <a:pt x="2612506" y="313500"/>
                </a:lnTo>
                <a:lnTo>
                  <a:pt x="0" y="313500"/>
                </a:lnTo>
                <a:close/>
              </a:path>
            </a:pathLst>
          </a:custGeom>
          <a:solidFill>
            <a:srgbClr val="B23A3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g reflector + MLA film / TCTA:B3PyMPM:Irppy₂acac [25] label"/>
          <p:cNvSpPr txBox="1"/>
          <p:nvPr/>
        </p:nvSpPr>
        <p:spPr>
          <a:xfrm>
            <a:off x="1463003" y="3367716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F2F5F8"/>
                </a:solidFill>
                <a:latin typeface="Arial"/>
              </a:rPr>
              <a:t>TCTA:B3PyMPM:Irppy</a:t>
            </a:r>
            <a:r>
              <a:rPr sz="994" b="0" baseline="-25000">
                <a:solidFill>
                  <a:srgbClr val="F2F5F8"/>
                </a:solidFill>
                <a:latin typeface="Arial"/>
              </a:rPr>
              <a:t>2</a:t>
            </a:r>
            <a:r>
              <a:rPr sz="994" b="0">
                <a:solidFill>
                  <a:srgbClr val="F2F5F8"/>
                </a:solidFill>
                <a:latin typeface="Arial"/>
              </a:rPr>
              <a:t>acac [25]</a:t>
            </a:r>
          </a:p>
        </p:txBody>
      </p:sp>
      <p:sp>
        <p:nvSpPr>
          <p:cNvPr id="22" name="Ag reflector + MLA film / B3PyMPM [50] left"/>
          <p:cNvSpPr/>
          <p:nvPr/>
        </p:nvSpPr>
        <p:spPr>
          <a:xfrm>
            <a:off x="1197399" y="2913575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195938" y="461543"/>
                </a:moveTo>
                <a:lnTo>
                  <a:pt x="0" y="287376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g reflector + MLA film / B3PyMPM [50] right"/>
          <p:cNvSpPr/>
          <p:nvPr/>
        </p:nvSpPr>
        <p:spPr>
          <a:xfrm>
            <a:off x="4005843" y="2913575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0" y="461543"/>
                </a:moveTo>
                <a:lnTo>
                  <a:pt x="195938" y="287376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g reflector + MLA film / B3PyMPM [50] front"/>
          <p:cNvSpPr/>
          <p:nvPr/>
        </p:nvSpPr>
        <p:spPr>
          <a:xfrm>
            <a:off x="1393337" y="3087742"/>
            <a:ext cx="2612506" cy="287376"/>
          </a:xfrm>
          <a:custGeom>
            <a:avLst/>
            <a:gdLst/>
            <a:ahLst/>
            <a:cxnLst/>
            <a:rect l="l" t="t" r="r" b="b"/>
            <a:pathLst>
              <a:path w="2612506" h="287376">
                <a:moveTo>
                  <a:pt x="0" y="0"/>
                </a:moveTo>
                <a:lnTo>
                  <a:pt x="2612506" y="0"/>
                </a:lnTo>
                <a:lnTo>
                  <a:pt x="2612506" y="287376"/>
                </a:lnTo>
                <a:lnTo>
                  <a:pt x="0" y="287376"/>
                </a:lnTo>
                <a:close/>
              </a:path>
            </a:pathLst>
          </a:custGeom>
          <a:solidFill>
            <a:srgbClr val="7F9AD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 reflector + MLA film / B3PyMPM [50] label"/>
          <p:cNvSpPr txBox="1"/>
          <p:nvPr/>
        </p:nvSpPr>
        <p:spPr>
          <a:xfrm>
            <a:off x="1463003" y="306727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B3PyMPM [50]</a:t>
            </a:r>
          </a:p>
        </p:txBody>
      </p:sp>
      <p:sp>
        <p:nvSpPr>
          <p:cNvPr id="26" name="Ag reflector + MLA film / B3PyMPM:Cs₂CO₃ [5] left"/>
          <p:cNvSpPr/>
          <p:nvPr/>
        </p:nvSpPr>
        <p:spPr>
          <a:xfrm>
            <a:off x="1197399" y="2634908"/>
            <a:ext cx="195938" cy="452834"/>
          </a:xfrm>
          <a:custGeom>
            <a:avLst/>
            <a:gdLst/>
            <a:ahLst/>
            <a:cxnLst/>
            <a:rect l="l" t="t" r="r" b="b"/>
            <a:pathLst>
              <a:path w="195938" h="452834">
                <a:moveTo>
                  <a:pt x="195938" y="452834"/>
                </a:moveTo>
                <a:lnTo>
                  <a:pt x="0" y="278667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3A518D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g reflector + MLA film / B3PyMPM:Cs₂CO₃ [5] right"/>
          <p:cNvSpPr/>
          <p:nvPr/>
        </p:nvSpPr>
        <p:spPr>
          <a:xfrm>
            <a:off x="4005843" y="2634908"/>
            <a:ext cx="195938" cy="452834"/>
          </a:xfrm>
          <a:custGeom>
            <a:avLst/>
            <a:gdLst/>
            <a:ahLst/>
            <a:cxnLst/>
            <a:rect l="l" t="t" r="r" b="b"/>
            <a:pathLst>
              <a:path w="195938" h="452834">
                <a:moveTo>
                  <a:pt x="0" y="452834"/>
                </a:moveTo>
                <a:lnTo>
                  <a:pt x="195938" y="278667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3A518D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 reflector + MLA film / B3PyMPM:Cs₂CO₃ [5] front"/>
          <p:cNvSpPr/>
          <p:nvPr/>
        </p:nvSpPr>
        <p:spPr>
          <a:xfrm>
            <a:off x="1393337" y="2809075"/>
            <a:ext cx="2612506" cy="278667"/>
          </a:xfrm>
          <a:custGeom>
            <a:avLst/>
            <a:gdLst/>
            <a:ahLst/>
            <a:cxnLst/>
            <a:rect l="l" t="t" r="r" b="b"/>
            <a:pathLst>
              <a:path w="2612506" h="278667">
                <a:moveTo>
                  <a:pt x="0" y="0"/>
                </a:moveTo>
                <a:lnTo>
                  <a:pt x="2612506" y="0"/>
                </a:lnTo>
                <a:lnTo>
                  <a:pt x="2612506" y="278667"/>
                </a:lnTo>
                <a:lnTo>
                  <a:pt x="0" y="278667"/>
                </a:lnTo>
                <a:close/>
              </a:path>
            </a:pathLst>
          </a:custGeom>
          <a:solidFill>
            <a:srgbClr val="4560A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g reflector + MLA film / B3PyMPM:Cs₂CO₃ [5] label"/>
          <p:cNvSpPr txBox="1"/>
          <p:nvPr/>
        </p:nvSpPr>
        <p:spPr>
          <a:xfrm>
            <a:off x="1463003" y="2784256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F2F5F8"/>
                </a:solidFill>
                <a:latin typeface="Arial"/>
              </a:rPr>
              <a:t>B3PyMPM:Cs</a:t>
            </a:r>
            <a:r>
              <a:rPr sz="994" b="0" baseline="-25000">
                <a:solidFill>
                  <a:srgbClr val="F2F5F8"/>
                </a:solidFill>
                <a:latin typeface="Arial"/>
              </a:rPr>
              <a:t>2</a:t>
            </a:r>
            <a:r>
              <a:rPr sz="994" b="0">
                <a:solidFill>
                  <a:srgbClr val="F2F5F8"/>
                </a:solidFill>
                <a:latin typeface="Arial"/>
              </a:rPr>
              <a:t>CO</a:t>
            </a:r>
            <a:r>
              <a:rPr sz="994" b="0" baseline="-25000">
                <a:solidFill>
                  <a:srgbClr val="F2F5F8"/>
                </a:solidFill>
                <a:latin typeface="Arial"/>
              </a:rPr>
              <a:t>3</a:t>
            </a:r>
            <a:r>
              <a:rPr sz="994" b="0">
                <a:solidFill>
                  <a:srgbClr val="F2F5F8"/>
                </a:solidFill>
                <a:latin typeface="Arial"/>
              </a:rPr>
              <a:t> [5]</a:t>
            </a:r>
          </a:p>
        </p:txBody>
      </p:sp>
      <p:sp>
        <p:nvSpPr>
          <p:cNvPr id="30" name="Ag reflector + MLA film / Ag [100] left"/>
          <p:cNvSpPr/>
          <p:nvPr/>
        </p:nvSpPr>
        <p:spPr>
          <a:xfrm>
            <a:off x="1197399" y="2356240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195938" y="452835"/>
                </a:moveTo>
                <a:lnTo>
                  <a:pt x="0" y="278668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A9ADB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g reflector + MLA film / Ag [100] right"/>
          <p:cNvSpPr/>
          <p:nvPr/>
        </p:nvSpPr>
        <p:spPr>
          <a:xfrm>
            <a:off x="4005843" y="2356240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0" y="452835"/>
                </a:moveTo>
                <a:lnTo>
                  <a:pt x="195938" y="278668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A9ADB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g reflector + MLA film / Ag [100] front"/>
          <p:cNvSpPr/>
          <p:nvPr/>
        </p:nvSpPr>
        <p:spPr>
          <a:xfrm>
            <a:off x="1393337" y="2530407"/>
            <a:ext cx="2612506" cy="278668"/>
          </a:xfrm>
          <a:custGeom>
            <a:avLst/>
            <a:gdLst/>
            <a:ahLst/>
            <a:cxnLst/>
            <a:rect l="l" t="t" r="r" b="b"/>
            <a:pathLst>
              <a:path w="2612506" h="278668">
                <a:moveTo>
                  <a:pt x="0" y="0"/>
                </a:moveTo>
                <a:lnTo>
                  <a:pt x="2612506" y="0"/>
                </a:lnTo>
                <a:lnTo>
                  <a:pt x="2612506" y="278668"/>
                </a:lnTo>
                <a:lnTo>
                  <a:pt x="0" y="278668"/>
                </a:lnTo>
                <a:close/>
              </a:path>
            </a:pathLst>
          </a:custGeom>
          <a:solidFill>
            <a:srgbClr val="C9CED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g reflector + MLA film / Ag [100] label"/>
          <p:cNvSpPr txBox="1"/>
          <p:nvPr/>
        </p:nvSpPr>
        <p:spPr>
          <a:xfrm>
            <a:off x="1463003" y="2505589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Ag [100]</a:t>
            </a:r>
          </a:p>
        </p:txBody>
      </p:sp>
      <p:sp>
        <p:nvSpPr>
          <p:cNvPr id="34" name="Ag reflector + MLA film / Nanolaminate left"/>
          <p:cNvSpPr/>
          <p:nvPr/>
        </p:nvSpPr>
        <p:spPr>
          <a:xfrm>
            <a:off x="1197399" y="2068865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195938" y="461542"/>
                </a:moveTo>
                <a:lnTo>
                  <a:pt x="0" y="287375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B6C1B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g reflector + MLA film / Nanolaminate right"/>
          <p:cNvSpPr/>
          <p:nvPr/>
        </p:nvSpPr>
        <p:spPr>
          <a:xfrm>
            <a:off x="4005843" y="2068865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0" y="461542"/>
                </a:moveTo>
                <a:lnTo>
                  <a:pt x="195938" y="287375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B6C1B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g reflector + MLA film / Nanolaminate front"/>
          <p:cNvSpPr/>
          <p:nvPr/>
        </p:nvSpPr>
        <p:spPr>
          <a:xfrm>
            <a:off x="1393337" y="2243032"/>
            <a:ext cx="2612506" cy="287375"/>
          </a:xfrm>
          <a:custGeom>
            <a:avLst/>
            <a:gdLst/>
            <a:ahLst/>
            <a:cxnLst/>
            <a:rect l="l" t="t" r="r" b="b"/>
            <a:pathLst>
              <a:path w="2612506" h="287375">
                <a:moveTo>
                  <a:pt x="0" y="0"/>
                </a:moveTo>
                <a:lnTo>
                  <a:pt x="2612506" y="0"/>
                </a:lnTo>
                <a:lnTo>
                  <a:pt x="2612506" y="287375"/>
                </a:lnTo>
                <a:lnTo>
                  <a:pt x="0" y="287375"/>
                </a:lnTo>
                <a:close/>
              </a:path>
            </a:pathLst>
          </a:custGeom>
          <a:solidFill>
            <a:srgbClr val="D9E6E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g reflector + MLA film / Nanolaminate label"/>
          <p:cNvSpPr txBox="1"/>
          <p:nvPr/>
        </p:nvSpPr>
        <p:spPr>
          <a:xfrm>
            <a:off x="1463003" y="222256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Nanolaminate</a:t>
            </a:r>
          </a:p>
        </p:txBody>
      </p:sp>
      <p:sp>
        <p:nvSpPr>
          <p:cNvPr id="38" name="Ag reflector + MLA film / Parylene-C [3000] left"/>
          <p:cNvSpPr/>
          <p:nvPr/>
        </p:nvSpPr>
        <p:spPr>
          <a:xfrm>
            <a:off x="1197399" y="1720531"/>
            <a:ext cx="195938" cy="522501"/>
          </a:xfrm>
          <a:custGeom>
            <a:avLst/>
            <a:gdLst/>
            <a:ahLst/>
            <a:cxnLst/>
            <a:rect l="l" t="t" r="r" b="b"/>
            <a:pathLst>
              <a:path w="195938" h="522501">
                <a:moveTo>
                  <a:pt x="195938" y="522501"/>
                </a:moveTo>
                <a:lnTo>
                  <a:pt x="0" y="348334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BEB9C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g reflector + MLA film / Parylene-C [3000] right"/>
          <p:cNvSpPr/>
          <p:nvPr/>
        </p:nvSpPr>
        <p:spPr>
          <a:xfrm>
            <a:off x="4005843" y="1720531"/>
            <a:ext cx="195938" cy="522501"/>
          </a:xfrm>
          <a:custGeom>
            <a:avLst/>
            <a:gdLst/>
            <a:ahLst/>
            <a:cxnLst/>
            <a:rect l="l" t="t" r="r" b="b"/>
            <a:pathLst>
              <a:path w="195938" h="522501">
                <a:moveTo>
                  <a:pt x="0" y="522501"/>
                </a:moveTo>
                <a:lnTo>
                  <a:pt x="195938" y="348334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BEB9C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g reflector + MLA film / Parylene-C [3000] front"/>
          <p:cNvSpPr/>
          <p:nvPr/>
        </p:nvSpPr>
        <p:spPr>
          <a:xfrm>
            <a:off x="1393337" y="1894698"/>
            <a:ext cx="2612506" cy="348334"/>
          </a:xfrm>
          <a:custGeom>
            <a:avLst/>
            <a:gdLst/>
            <a:ahLst/>
            <a:cxnLst/>
            <a:rect l="l" t="t" r="r" b="b"/>
            <a:pathLst>
              <a:path w="2612506" h="348334">
                <a:moveTo>
                  <a:pt x="0" y="0"/>
                </a:moveTo>
                <a:lnTo>
                  <a:pt x="2612506" y="0"/>
                </a:lnTo>
                <a:lnTo>
                  <a:pt x="2612506" y="348334"/>
                </a:lnTo>
                <a:lnTo>
                  <a:pt x="0" y="348334"/>
                </a:lnTo>
                <a:close/>
              </a:path>
            </a:pathLst>
          </a:custGeom>
          <a:solidFill>
            <a:srgbClr val="E2DCEF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g reflector + MLA film / Parylene-C [3000] label"/>
          <p:cNvSpPr txBox="1"/>
          <p:nvPr/>
        </p:nvSpPr>
        <p:spPr>
          <a:xfrm>
            <a:off x="1463003" y="1904712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D62828"/>
                </a:solidFill>
                <a:latin typeface="Arial"/>
              </a:rPr>
              <a:t>Parylene-C [3000]</a:t>
            </a:r>
          </a:p>
        </p:txBody>
      </p:sp>
      <p:sp>
        <p:nvSpPr>
          <p:cNvPr id="42" name="Ag reflector + MLA film / MoOx [5] + Ag reflector [100] left"/>
          <p:cNvSpPr/>
          <p:nvPr/>
        </p:nvSpPr>
        <p:spPr>
          <a:xfrm>
            <a:off x="1197399" y="1424447"/>
            <a:ext cx="195938" cy="470251"/>
          </a:xfrm>
          <a:custGeom>
            <a:avLst/>
            <a:gdLst/>
            <a:ahLst/>
            <a:cxnLst/>
            <a:rect l="l" t="t" r="r" b="b"/>
            <a:pathLst>
              <a:path w="195938" h="470251">
                <a:moveTo>
                  <a:pt x="195938" y="470251"/>
                </a:moveTo>
                <a:lnTo>
                  <a:pt x="0" y="296084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81878D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g reflector + MLA film / MoOx [5] + Ag reflector [100] right"/>
          <p:cNvSpPr/>
          <p:nvPr/>
        </p:nvSpPr>
        <p:spPr>
          <a:xfrm>
            <a:off x="4005843" y="1424447"/>
            <a:ext cx="195938" cy="470251"/>
          </a:xfrm>
          <a:custGeom>
            <a:avLst/>
            <a:gdLst/>
            <a:ahLst/>
            <a:cxnLst/>
            <a:rect l="l" t="t" r="r" b="b"/>
            <a:pathLst>
              <a:path w="195938" h="470251">
                <a:moveTo>
                  <a:pt x="0" y="470251"/>
                </a:moveTo>
                <a:lnTo>
                  <a:pt x="195938" y="296084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81878D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g reflector + MLA film / MoOx [5] + Ag reflector [100] top"/>
          <p:cNvSpPr/>
          <p:nvPr/>
        </p:nvSpPr>
        <p:spPr>
          <a:xfrm>
            <a:off x="1197399" y="1424447"/>
            <a:ext cx="3004382" cy="174167"/>
          </a:xfrm>
          <a:custGeom>
            <a:avLst/>
            <a:gdLst/>
            <a:ahLst/>
            <a:cxnLst/>
            <a:rect l="l" t="t" r="r" b="b"/>
            <a:pathLst>
              <a:path w="3004382" h="174167">
                <a:moveTo>
                  <a:pt x="195938" y="174167"/>
                </a:moveTo>
                <a:lnTo>
                  <a:pt x="2808444" y="174167"/>
                </a:lnTo>
                <a:lnTo>
                  <a:pt x="300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B1B9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g reflector + MLA film / MoOx [5] + Ag reflector [100] front"/>
          <p:cNvSpPr/>
          <p:nvPr/>
        </p:nvSpPr>
        <p:spPr>
          <a:xfrm>
            <a:off x="1393337" y="1598614"/>
            <a:ext cx="2612506" cy="296084"/>
          </a:xfrm>
          <a:custGeom>
            <a:avLst/>
            <a:gdLst/>
            <a:ahLst/>
            <a:cxnLst/>
            <a:rect l="l" t="t" r="r" b="b"/>
            <a:pathLst>
              <a:path w="2612506" h="296084">
                <a:moveTo>
                  <a:pt x="0" y="0"/>
                </a:moveTo>
                <a:lnTo>
                  <a:pt x="2612506" y="0"/>
                </a:lnTo>
                <a:lnTo>
                  <a:pt x="2612506" y="296084"/>
                </a:lnTo>
                <a:lnTo>
                  <a:pt x="0" y="296084"/>
                </a:lnTo>
                <a:close/>
              </a:path>
            </a:pathLst>
          </a:custGeom>
          <a:solidFill>
            <a:srgbClr val="9AA1A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g reflector + MLA film / MoOx [5] + Ag reflector [100] label"/>
          <p:cNvSpPr txBox="1"/>
          <p:nvPr/>
        </p:nvSpPr>
        <p:spPr>
          <a:xfrm>
            <a:off x="1463003" y="1582503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D62828"/>
                </a:solidFill>
                <a:latin typeface="Arial"/>
              </a:rPr>
              <a:t>MoOx [5] + Ag reflector [100]</a:t>
            </a:r>
          </a:p>
        </p:txBody>
      </p:sp>
      <p:sp>
        <p:nvSpPr>
          <p:cNvPr id="47" name="Ag reflector + MLA film title"/>
          <p:cNvSpPr txBox="1"/>
          <p:nvPr/>
        </p:nvSpPr>
        <p:spPr>
          <a:xfrm>
            <a:off x="435418" y="669432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Ag reflector + MLA film</a:t>
            </a:r>
          </a:p>
        </p:txBody>
      </p:sp>
      <p:cxnSp>
        <p:nvCxnSpPr>
          <p:cNvPr id="48" name="bottom emission"/>
          <p:cNvCxnSpPr/>
          <p:nvPr/>
        </p:nvCxnSpPr>
        <p:spPr>
          <a:xfrm flipH="1">
            <a:off x="1950671" y="5059096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bottom emission"/>
          <p:cNvCxnSpPr/>
          <p:nvPr/>
        </p:nvCxnSpPr>
        <p:spPr>
          <a:xfrm>
            <a:off x="2699590" y="5059096"/>
            <a:ext cx="0" cy="644418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bottom emission"/>
          <p:cNvCxnSpPr/>
          <p:nvPr/>
        </p:nvCxnSpPr>
        <p:spPr>
          <a:xfrm>
            <a:off x="2954222" y="5059096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mission label"/>
          <p:cNvSpPr txBox="1"/>
          <p:nvPr/>
        </p:nvSpPr>
        <p:spPr>
          <a:xfrm>
            <a:off x="1393337" y="5824124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  <p:sp>
        <p:nvSpPr>
          <p:cNvPr id="52" name="DBR + MLA substrate / MLA substrate (n = 1.77) left"/>
          <p:cNvSpPr/>
          <p:nvPr/>
        </p:nvSpPr>
        <p:spPr>
          <a:xfrm>
            <a:off x="6683661" y="4367870"/>
            <a:ext cx="195938" cy="574751"/>
          </a:xfrm>
          <a:custGeom>
            <a:avLst/>
            <a:gdLst/>
            <a:ahLst/>
            <a:cxnLst/>
            <a:rect l="l" t="t" r="r" b="b"/>
            <a:pathLst>
              <a:path w="195938" h="574751">
                <a:moveTo>
                  <a:pt x="195938" y="574751"/>
                </a:moveTo>
                <a:lnTo>
                  <a:pt x="0" y="400584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BR + MLA substrate / MLA substrate (n = 1.77) right"/>
          <p:cNvSpPr/>
          <p:nvPr/>
        </p:nvSpPr>
        <p:spPr>
          <a:xfrm>
            <a:off x="9492105" y="4367870"/>
            <a:ext cx="195938" cy="574751"/>
          </a:xfrm>
          <a:custGeom>
            <a:avLst/>
            <a:gdLst/>
            <a:ahLst/>
            <a:cxnLst/>
            <a:rect l="l" t="t" r="r" b="b"/>
            <a:pathLst>
              <a:path w="195938" h="574751">
                <a:moveTo>
                  <a:pt x="0" y="574751"/>
                </a:moveTo>
                <a:lnTo>
                  <a:pt x="195938" y="400584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AEC0C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BR + MLA substrate / MLA substrate (n = 1.77) front"/>
          <p:cNvSpPr/>
          <p:nvPr/>
        </p:nvSpPr>
        <p:spPr>
          <a:xfrm>
            <a:off x="6879599" y="4542037"/>
            <a:ext cx="2612506" cy="481720"/>
          </a:xfrm>
          <a:custGeom>
            <a:avLst/>
            <a:gdLst/>
            <a:ahLst/>
            <a:cxnLst/>
            <a:rect l="l" t="t" r="r" b="b"/>
            <a:pathLst>
              <a:path w="2612506" h="481720">
                <a:moveTo>
                  <a:pt x="0" y="0"/>
                </a:moveTo>
                <a:lnTo>
                  <a:pt x="2612506" y="0"/>
                </a:lnTo>
                <a:lnTo>
                  <a:pt x="2612506" y="400584"/>
                </a:lnTo>
                <a:lnTo>
                  <a:pt x="2594364" y="451899"/>
                </a:lnTo>
                <a:lnTo>
                  <a:pt x="2576222" y="468467"/>
                </a:lnTo>
                <a:lnTo>
                  <a:pt x="2558079" y="477556"/>
                </a:lnTo>
                <a:lnTo>
                  <a:pt x="2539937" y="481720"/>
                </a:lnTo>
                <a:lnTo>
                  <a:pt x="2521794" y="481720"/>
                </a:lnTo>
                <a:lnTo>
                  <a:pt x="2503652" y="477556"/>
                </a:lnTo>
                <a:lnTo>
                  <a:pt x="2485510" y="468467"/>
                </a:lnTo>
                <a:lnTo>
                  <a:pt x="2467367" y="451899"/>
                </a:lnTo>
                <a:lnTo>
                  <a:pt x="2449225" y="400584"/>
                </a:lnTo>
                <a:lnTo>
                  <a:pt x="2449225" y="400584"/>
                </a:lnTo>
                <a:lnTo>
                  <a:pt x="2431082" y="451899"/>
                </a:lnTo>
                <a:lnTo>
                  <a:pt x="2412940" y="468467"/>
                </a:lnTo>
                <a:lnTo>
                  <a:pt x="2394798" y="477556"/>
                </a:lnTo>
                <a:lnTo>
                  <a:pt x="2376655" y="481720"/>
                </a:lnTo>
                <a:lnTo>
                  <a:pt x="2358513" y="481720"/>
                </a:lnTo>
                <a:lnTo>
                  <a:pt x="2340370" y="477556"/>
                </a:lnTo>
                <a:lnTo>
                  <a:pt x="2322228" y="468467"/>
                </a:lnTo>
                <a:lnTo>
                  <a:pt x="2304086" y="451899"/>
                </a:lnTo>
                <a:lnTo>
                  <a:pt x="2285943" y="400584"/>
                </a:lnTo>
                <a:lnTo>
                  <a:pt x="2285943" y="400584"/>
                </a:lnTo>
                <a:lnTo>
                  <a:pt x="2267801" y="451899"/>
                </a:lnTo>
                <a:lnTo>
                  <a:pt x="2249658" y="468467"/>
                </a:lnTo>
                <a:lnTo>
                  <a:pt x="2231516" y="477556"/>
                </a:lnTo>
                <a:lnTo>
                  <a:pt x="2213374" y="481720"/>
                </a:lnTo>
                <a:lnTo>
                  <a:pt x="2195231" y="481720"/>
                </a:lnTo>
                <a:lnTo>
                  <a:pt x="2177089" y="477556"/>
                </a:lnTo>
                <a:lnTo>
                  <a:pt x="2158946" y="468467"/>
                </a:lnTo>
                <a:lnTo>
                  <a:pt x="2140804" y="451899"/>
                </a:lnTo>
                <a:lnTo>
                  <a:pt x="2122662" y="400584"/>
                </a:lnTo>
                <a:lnTo>
                  <a:pt x="2122662" y="400584"/>
                </a:lnTo>
                <a:lnTo>
                  <a:pt x="2104519" y="451899"/>
                </a:lnTo>
                <a:lnTo>
                  <a:pt x="2086377" y="468467"/>
                </a:lnTo>
                <a:lnTo>
                  <a:pt x="2068234" y="477556"/>
                </a:lnTo>
                <a:lnTo>
                  <a:pt x="2050092" y="481720"/>
                </a:lnTo>
                <a:lnTo>
                  <a:pt x="2031949" y="481720"/>
                </a:lnTo>
                <a:lnTo>
                  <a:pt x="2013807" y="477556"/>
                </a:lnTo>
                <a:lnTo>
                  <a:pt x="1995665" y="468467"/>
                </a:lnTo>
                <a:lnTo>
                  <a:pt x="1977522" y="451899"/>
                </a:lnTo>
                <a:lnTo>
                  <a:pt x="1959380" y="400584"/>
                </a:lnTo>
                <a:lnTo>
                  <a:pt x="1959380" y="400584"/>
                </a:lnTo>
                <a:lnTo>
                  <a:pt x="1941237" y="451899"/>
                </a:lnTo>
                <a:lnTo>
                  <a:pt x="1923095" y="468467"/>
                </a:lnTo>
                <a:lnTo>
                  <a:pt x="1904953" y="477556"/>
                </a:lnTo>
                <a:lnTo>
                  <a:pt x="1886810" y="481720"/>
                </a:lnTo>
                <a:lnTo>
                  <a:pt x="1868668" y="481720"/>
                </a:lnTo>
                <a:lnTo>
                  <a:pt x="1850525" y="477556"/>
                </a:lnTo>
                <a:lnTo>
                  <a:pt x="1832383" y="468467"/>
                </a:lnTo>
                <a:lnTo>
                  <a:pt x="1814241" y="451899"/>
                </a:lnTo>
                <a:lnTo>
                  <a:pt x="1796098" y="400584"/>
                </a:lnTo>
                <a:lnTo>
                  <a:pt x="1796098" y="400584"/>
                </a:lnTo>
                <a:lnTo>
                  <a:pt x="1777956" y="451899"/>
                </a:lnTo>
                <a:lnTo>
                  <a:pt x="1759813" y="468467"/>
                </a:lnTo>
                <a:lnTo>
                  <a:pt x="1741671" y="477556"/>
                </a:lnTo>
                <a:lnTo>
                  <a:pt x="1723529" y="481720"/>
                </a:lnTo>
                <a:lnTo>
                  <a:pt x="1705386" y="481720"/>
                </a:lnTo>
                <a:lnTo>
                  <a:pt x="1687244" y="477556"/>
                </a:lnTo>
                <a:lnTo>
                  <a:pt x="1669101" y="468467"/>
                </a:lnTo>
                <a:lnTo>
                  <a:pt x="1650959" y="451899"/>
                </a:lnTo>
                <a:lnTo>
                  <a:pt x="1632817" y="400584"/>
                </a:lnTo>
                <a:lnTo>
                  <a:pt x="1632817" y="400584"/>
                </a:lnTo>
                <a:lnTo>
                  <a:pt x="1614674" y="451899"/>
                </a:lnTo>
                <a:lnTo>
                  <a:pt x="1596532" y="468467"/>
                </a:lnTo>
                <a:lnTo>
                  <a:pt x="1578389" y="477556"/>
                </a:lnTo>
                <a:lnTo>
                  <a:pt x="1560247" y="481720"/>
                </a:lnTo>
                <a:lnTo>
                  <a:pt x="1542105" y="481720"/>
                </a:lnTo>
                <a:lnTo>
                  <a:pt x="1523962" y="477556"/>
                </a:lnTo>
                <a:lnTo>
                  <a:pt x="1505820" y="468467"/>
                </a:lnTo>
                <a:lnTo>
                  <a:pt x="1487677" y="451899"/>
                </a:lnTo>
                <a:lnTo>
                  <a:pt x="1469535" y="400584"/>
                </a:lnTo>
                <a:lnTo>
                  <a:pt x="1469535" y="400584"/>
                </a:lnTo>
                <a:lnTo>
                  <a:pt x="1451393" y="451899"/>
                </a:lnTo>
                <a:lnTo>
                  <a:pt x="1433250" y="468467"/>
                </a:lnTo>
                <a:lnTo>
                  <a:pt x="1415108" y="477556"/>
                </a:lnTo>
                <a:lnTo>
                  <a:pt x="1396965" y="481720"/>
                </a:lnTo>
                <a:lnTo>
                  <a:pt x="1378823" y="481720"/>
                </a:lnTo>
                <a:lnTo>
                  <a:pt x="1360681" y="477556"/>
                </a:lnTo>
                <a:lnTo>
                  <a:pt x="1342538" y="468467"/>
                </a:lnTo>
                <a:lnTo>
                  <a:pt x="1324396" y="451899"/>
                </a:lnTo>
                <a:lnTo>
                  <a:pt x="1306253" y="400584"/>
                </a:lnTo>
                <a:lnTo>
                  <a:pt x="1306253" y="400584"/>
                </a:lnTo>
                <a:lnTo>
                  <a:pt x="1288111" y="451899"/>
                </a:lnTo>
                <a:lnTo>
                  <a:pt x="1269969" y="468467"/>
                </a:lnTo>
                <a:lnTo>
                  <a:pt x="1251826" y="477556"/>
                </a:lnTo>
                <a:lnTo>
                  <a:pt x="1233684" y="481720"/>
                </a:lnTo>
                <a:lnTo>
                  <a:pt x="1215541" y="481720"/>
                </a:lnTo>
                <a:lnTo>
                  <a:pt x="1197399" y="477556"/>
                </a:lnTo>
                <a:lnTo>
                  <a:pt x="1179257" y="468467"/>
                </a:lnTo>
                <a:lnTo>
                  <a:pt x="1161114" y="451899"/>
                </a:lnTo>
                <a:lnTo>
                  <a:pt x="1142972" y="400584"/>
                </a:lnTo>
                <a:lnTo>
                  <a:pt x="1142972" y="400584"/>
                </a:lnTo>
                <a:lnTo>
                  <a:pt x="1124829" y="451899"/>
                </a:lnTo>
                <a:lnTo>
                  <a:pt x="1106687" y="468467"/>
                </a:lnTo>
                <a:lnTo>
                  <a:pt x="1088545" y="477556"/>
                </a:lnTo>
                <a:lnTo>
                  <a:pt x="1070402" y="481720"/>
                </a:lnTo>
                <a:lnTo>
                  <a:pt x="1052260" y="481720"/>
                </a:lnTo>
                <a:lnTo>
                  <a:pt x="1034117" y="477556"/>
                </a:lnTo>
                <a:lnTo>
                  <a:pt x="1015975" y="468467"/>
                </a:lnTo>
                <a:lnTo>
                  <a:pt x="997833" y="451899"/>
                </a:lnTo>
                <a:lnTo>
                  <a:pt x="979690" y="400584"/>
                </a:lnTo>
                <a:lnTo>
                  <a:pt x="979690" y="400584"/>
                </a:lnTo>
                <a:lnTo>
                  <a:pt x="961548" y="451899"/>
                </a:lnTo>
                <a:lnTo>
                  <a:pt x="943405" y="468467"/>
                </a:lnTo>
                <a:lnTo>
                  <a:pt x="925263" y="477556"/>
                </a:lnTo>
                <a:lnTo>
                  <a:pt x="907120" y="481720"/>
                </a:lnTo>
                <a:lnTo>
                  <a:pt x="888978" y="481720"/>
                </a:lnTo>
                <a:lnTo>
                  <a:pt x="870836" y="477556"/>
                </a:lnTo>
                <a:lnTo>
                  <a:pt x="852693" y="468467"/>
                </a:lnTo>
                <a:lnTo>
                  <a:pt x="834551" y="451899"/>
                </a:lnTo>
                <a:lnTo>
                  <a:pt x="816408" y="400584"/>
                </a:lnTo>
                <a:lnTo>
                  <a:pt x="816408" y="400584"/>
                </a:lnTo>
                <a:lnTo>
                  <a:pt x="798266" y="451899"/>
                </a:lnTo>
                <a:lnTo>
                  <a:pt x="780124" y="468467"/>
                </a:lnTo>
                <a:lnTo>
                  <a:pt x="761981" y="477556"/>
                </a:lnTo>
                <a:lnTo>
                  <a:pt x="743839" y="481720"/>
                </a:lnTo>
                <a:lnTo>
                  <a:pt x="725696" y="481720"/>
                </a:lnTo>
                <a:lnTo>
                  <a:pt x="707554" y="477556"/>
                </a:lnTo>
                <a:lnTo>
                  <a:pt x="689412" y="468467"/>
                </a:lnTo>
                <a:lnTo>
                  <a:pt x="671269" y="451899"/>
                </a:lnTo>
                <a:lnTo>
                  <a:pt x="653127" y="400584"/>
                </a:lnTo>
                <a:lnTo>
                  <a:pt x="653127" y="400584"/>
                </a:lnTo>
                <a:lnTo>
                  <a:pt x="634984" y="451899"/>
                </a:lnTo>
                <a:lnTo>
                  <a:pt x="616842" y="468467"/>
                </a:lnTo>
                <a:lnTo>
                  <a:pt x="598700" y="477556"/>
                </a:lnTo>
                <a:lnTo>
                  <a:pt x="580557" y="481720"/>
                </a:lnTo>
                <a:lnTo>
                  <a:pt x="562415" y="481720"/>
                </a:lnTo>
                <a:lnTo>
                  <a:pt x="544272" y="477556"/>
                </a:lnTo>
                <a:lnTo>
                  <a:pt x="526130" y="468467"/>
                </a:lnTo>
                <a:lnTo>
                  <a:pt x="507988" y="451899"/>
                </a:lnTo>
                <a:lnTo>
                  <a:pt x="489845" y="400584"/>
                </a:lnTo>
                <a:lnTo>
                  <a:pt x="489845" y="400584"/>
                </a:lnTo>
                <a:lnTo>
                  <a:pt x="471703" y="451899"/>
                </a:lnTo>
                <a:lnTo>
                  <a:pt x="453560" y="468467"/>
                </a:lnTo>
                <a:lnTo>
                  <a:pt x="435418" y="477556"/>
                </a:lnTo>
                <a:lnTo>
                  <a:pt x="417276" y="481720"/>
                </a:lnTo>
                <a:lnTo>
                  <a:pt x="399133" y="481720"/>
                </a:lnTo>
                <a:lnTo>
                  <a:pt x="380991" y="477556"/>
                </a:lnTo>
                <a:lnTo>
                  <a:pt x="362848" y="468467"/>
                </a:lnTo>
                <a:lnTo>
                  <a:pt x="344706" y="451899"/>
                </a:lnTo>
                <a:lnTo>
                  <a:pt x="326564" y="400584"/>
                </a:lnTo>
                <a:lnTo>
                  <a:pt x="326564" y="400584"/>
                </a:lnTo>
                <a:lnTo>
                  <a:pt x="308421" y="451899"/>
                </a:lnTo>
                <a:lnTo>
                  <a:pt x="290279" y="468467"/>
                </a:lnTo>
                <a:lnTo>
                  <a:pt x="272136" y="477556"/>
                </a:lnTo>
                <a:lnTo>
                  <a:pt x="253994" y="481720"/>
                </a:lnTo>
                <a:lnTo>
                  <a:pt x="235852" y="481720"/>
                </a:lnTo>
                <a:lnTo>
                  <a:pt x="217709" y="477556"/>
                </a:lnTo>
                <a:lnTo>
                  <a:pt x="199567" y="468467"/>
                </a:lnTo>
                <a:lnTo>
                  <a:pt x="181424" y="451899"/>
                </a:lnTo>
                <a:lnTo>
                  <a:pt x="163282" y="400584"/>
                </a:lnTo>
                <a:lnTo>
                  <a:pt x="163282" y="400584"/>
                </a:lnTo>
                <a:lnTo>
                  <a:pt x="145140" y="451899"/>
                </a:lnTo>
                <a:lnTo>
                  <a:pt x="126997" y="468467"/>
                </a:lnTo>
                <a:lnTo>
                  <a:pt x="108855" y="477556"/>
                </a:lnTo>
                <a:lnTo>
                  <a:pt x="90712" y="481720"/>
                </a:lnTo>
                <a:lnTo>
                  <a:pt x="72570" y="481720"/>
                </a:lnTo>
                <a:lnTo>
                  <a:pt x="54428" y="477556"/>
                </a:lnTo>
                <a:lnTo>
                  <a:pt x="36285" y="468467"/>
                </a:lnTo>
                <a:lnTo>
                  <a:pt x="18143" y="451899"/>
                </a:lnTo>
                <a:lnTo>
                  <a:pt x="0" y="400584"/>
                </a:lnTo>
                <a:close/>
              </a:path>
            </a:pathLst>
          </a:custGeom>
          <a:solidFill>
            <a:srgbClr val="CFE4F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BR + MLA substrate / MLA substrate (n = 1.77) label"/>
          <p:cNvSpPr txBox="1"/>
          <p:nvPr/>
        </p:nvSpPr>
        <p:spPr>
          <a:xfrm>
            <a:off x="6949266" y="457817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MLA substrate (n = 1.77)</a:t>
            </a:r>
          </a:p>
        </p:txBody>
      </p:sp>
      <p:sp>
        <p:nvSpPr>
          <p:cNvPr id="56" name="DBR + MLA substrate / IZO left"/>
          <p:cNvSpPr/>
          <p:nvPr/>
        </p:nvSpPr>
        <p:spPr>
          <a:xfrm>
            <a:off x="6683661" y="4080494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195938" y="461543"/>
                </a:moveTo>
                <a:lnTo>
                  <a:pt x="0" y="287376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BR + MLA substrate / IZO right"/>
          <p:cNvSpPr/>
          <p:nvPr/>
        </p:nvSpPr>
        <p:spPr>
          <a:xfrm>
            <a:off x="9492105" y="4080494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0" y="461543"/>
                </a:moveTo>
                <a:lnTo>
                  <a:pt x="195938" y="287376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B1C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BR + MLA substrate / IZO front"/>
          <p:cNvSpPr/>
          <p:nvPr/>
        </p:nvSpPr>
        <p:spPr>
          <a:xfrm>
            <a:off x="6879599" y="4254661"/>
            <a:ext cx="2612506" cy="287376"/>
          </a:xfrm>
          <a:custGeom>
            <a:avLst/>
            <a:gdLst/>
            <a:ahLst/>
            <a:cxnLst/>
            <a:rect l="l" t="t" r="r" b="b"/>
            <a:pathLst>
              <a:path w="2612506" h="287376">
                <a:moveTo>
                  <a:pt x="0" y="0"/>
                </a:moveTo>
                <a:lnTo>
                  <a:pt x="2612506" y="0"/>
                </a:lnTo>
                <a:lnTo>
                  <a:pt x="2612506" y="287376"/>
                </a:lnTo>
                <a:lnTo>
                  <a:pt x="0" y="287376"/>
                </a:lnTo>
                <a:close/>
              </a:path>
            </a:pathLst>
          </a:custGeom>
          <a:solidFill>
            <a:srgbClr val="7FD3E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BR + MLA substrate / IZO label"/>
          <p:cNvSpPr txBox="1"/>
          <p:nvPr/>
        </p:nvSpPr>
        <p:spPr>
          <a:xfrm>
            <a:off x="6949266" y="423419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IZO</a:t>
            </a:r>
          </a:p>
        </p:txBody>
      </p:sp>
      <p:sp>
        <p:nvSpPr>
          <p:cNvPr id="60" name="DBR + MLA substrate / TAPC/HAT-CN/TAPC/HAT-CN left"/>
          <p:cNvSpPr/>
          <p:nvPr/>
        </p:nvSpPr>
        <p:spPr>
          <a:xfrm>
            <a:off x="6683661" y="3793119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195938" y="461542"/>
                </a:moveTo>
                <a:lnTo>
                  <a:pt x="0" y="287375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CFBB9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BR + MLA substrate / TAPC/HAT-CN/TAPC/HAT-CN right"/>
          <p:cNvSpPr/>
          <p:nvPr/>
        </p:nvSpPr>
        <p:spPr>
          <a:xfrm>
            <a:off x="9492105" y="3793119"/>
            <a:ext cx="195938" cy="461542"/>
          </a:xfrm>
          <a:custGeom>
            <a:avLst/>
            <a:gdLst/>
            <a:ahLst/>
            <a:cxnLst/>
            <a:rect l="l" t="t" r="r" b="b"/>
            <a:pathLst>
              <a:path w="195938" h="461542">
                <a:moveTo>
                  <a:pt x="0" y="461542"/>
                </a:moveTo>
                <a:lnTo>
                  <a:pt x="195938" y="287375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CFBB9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BR + MLA substrate / TAPC/HAT-CN/TAPC/HAT-CN front"/>
          <p:cNvSpPr/>
          <p:nvPr/>
        </p:nvSpPr>
        <p:spPr>
          <a:xfrm>
            <a:off x="6879599" y="3967286"/>
            <a:ext cx="2612506" cy="287375"/>
          </a:xfrm>
          <a:custGeom>
            <a:avLst/>
            <a:gdLst/>
            <a:ahLst/>
            <a:cxnLst/>
            <a:rect l="l" t="t" r="r" b="b"/>
            <a:pathLst>
              <a:path w="2612506" h="287375">
                <a:moveTo>
                  <a:pt x="0" y="0"/>
                </a:moveTo>
                <a:lnTo>
                  <a:pt x="2612506" y="0"/>
                </a:lnTo>
                <a:lnTo>
                  <a:pt x="2612506" y="287375"/>
                </a:lnTo>
                <a:lnTo>
                  <a:pt x="0" y="287375"/>
                </a:lnTo>
                <a:close/>
              </a:path>
            </a:pathLst>
          </a:custGeom>
          <a:solidFill>
            <a:srgbClr val="F6DFAE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BR + MLA substrate / TAPC/HAT-CN/TAPC/HAT-CN label"/>
          <p:cNvSpPr txBox="1"/>
          <p:nvPr/>
        </p:nvSpPr>
        <p:spPr>
          <a:xfrm>
            <a:off x="6949266" y="3946821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TAPC/HAT-CN/TAPC/HAT-CN</a:t>
            </a:r>
          </a:p>
        </p:txBody>
      </p:sp>
      <p:sp>
        <p:nvSpPr>
          <p:cNvPr id="64" name="DBR + MLA substrate / TCTA left"/>
          <p:cNvSpPr/>
          <p:nvPr/>
        </p:nvSpPr>
        <p:spPr>
          <a:xfrm>
            <a:off x="6683661" y="3514451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195938" y="452835"/>
                </a:moveTo>
                <a:lnTo>
                  <a:pt x="0" y="278668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BR + MLA substrate / TCTA right"/>
          <p:cNvSpPr/>
          <p:nvPr/>
        </p:nvSpPr>
        <p:spPr>
          <a:xfrm>
            <a:off x="9492105" y="3514451"/>
            <a:ext cx="195938" cy="452835"/>
          </a:xfrm>
          <a:custGeom>
            <a:avLst/>
            <a:gdLst/>
            <a:ahLst/>
            <a:cxnLst/>
            <a:rect l="l" t="t" r="r" b="b"/>
            <a:pathLst>
              <a:path w="195938" h="452835">
                <a:moveTo>
                  <a:pt x="0" y="452835"/>
                </a:moveTo>
                <a:lnTo>
                  <a:pt x="195938" y="278668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CA9B5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BR + MLA substrate / TCTA front"/>
          <p:cNvSpPr/>
          <p:nvPr/>
        </p:nvSpPr>
        <p:spPr>
          <a:xfrm>
            <a:off x="6879599" y="3688618"/>
            <a:ext cx="2612506" cy="278668"/>
          </a:xfrm>
          <a:custGeom>
            <a:avLst/>
            <a:gdLst/>
            <a:ahLst/>
            <a:cxnLst/>
            <a:rect l="l" t="t" r="r" b="b"/>
            <a:pathLst>
              <a:path w="2612506" h="278668">
                <a:moveTo>
                  <a:pt x="0" y="0"/>
                </a:moveTo>
                <a:lnTo>
                  <a:pt x="2612506" y="0"/>
                </a:lnTo>
                <a:lnTo>
                  <a:pt x="2612506" y="278668"/>
                </a:lnTo>
                <a:lnTo>
                  <a:pt x="0" y="278668"/>
                </a:lnTo>
                <a:close/>
              </a:path>
            </a:pathLst>
          </a:custGeom>
          <a:solidFill>
            <a:srgbClr val="F0B860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BR + MLA substrate / TCTA label"/>
          <p:cNvSpPr txBox="1"/>
          <p:nvPr/>
        </p:nvSpPr>
        <p:spPr>
          <a:xfrm>
            <a:off x="6949266" y="3663800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TCTA</a:t>
            </a:r>
          </a:p>
        </p:txBody>
      </p:sp>
      <p:sp>
        <p:nvSpPr>
          <p:cNvPr id="68" name="DBR + MLA substrate / TCTA:B3PyMPM:Ir(dmppy-ph)₂tmd left"/>
          <p:cNvSpPr/>
          <p:nvPr/>
        </p:nvSpPr>
        <p:spPr>
          <a:xfrm>
            <a:off x="6683661" y="3200951"/>
            <a:ext cx="195938" cy="487667"/>
          </a:xfrm>
          <a:custGeom>
            <a:avLst/>
            <a:gdLst/>
            <a:ahLst/>
            <a:cxnLst/>
            <a:rect l="l" t="t" r="r" b="b"/>
            <a:pathLst>
              <a:path w="195938" h="487667">
                <a:moveTo>
                  <a:pt x="195938" y="487667"/>
                </a:moveTo>
                <a:lnTo>
                  <a:pt x="0" y="313500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BR + MLA substrate / TCTA:B3PyMPM:Ir(dmppy-ph)₂tmd right"/>
          <p:cNvSpPr/>
          <p:nvPr/>
        </p:nvSpPr>
        <p:spPr>
          <a:xfrm>
            <a:off x="9492105" y="3200951"/>
            <a:ext cx="195938" cy="487667"/>
          </a:xfrm>
          <a:custGeom>
            <a:avLst/>
            <a:gdLst/>
            <a:ahLst/>
            <a:cxnLst/>
            <a:rect l="l" t="t" r="r" b="b"/>
            <a:pathLst>
              <a:path w="195938" h="487667">
                <a:moveTo>
                  <a:pt x="0" y="487667"/>
                </a:moveTo>
                <a:lnTo>
                  <a:pt x="195938" y="313500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963131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BR + MLA substrate / TCTA:B3PyMPM:Ir(dmppy-ph)₂tmd front"/>
          <p:cNvSpPr/>
          <p:nvPr/>
        </p:nvSpPr>
        <p:spPr>
          <a:xfrm>
            <a:off x="6879599" y="3375118"/>
            <a:ext cx="2612506" cy="313500"/>
          </a:xfrm>
          <a:custGeom>
            <a:avLst/>
            <a:gdLst/>
            <a:ahLst/>
            <a:cxnLst/>
            <a:rect l="l" t="t" r="r" b="b"/>
            <a:pathLst>
              <a:path w="2612506" h="313500">
                <a:moveTo>
                  <a:pt x="0" y="0"/>
                </a:moveTo>
                <a:lnTo>
                  <a:pt x="2612506" y="0"/>
                </a:lnTo>
                <a:lnTo>
                  <a:pt x="2612506" y="313500"/>
                </a:lnTo>
                <a:lnTo>
                  <a:pt x="0" y="313500"/>
                </a:lnTo>
                <a:close/>
              </a:path>
            </a:pathLst>
          </a:custGeom>
          <a:solidFill>
            <a:srgbClr val="B23A3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BR + MLA substrate / TCTA:B3PyMPM:Ir(dmppy-ph)₂tmd label"/>
          <p:cNvSpPr txBox="1"/>
          <p:nvPr/>
        </p:nvSpPr>
        <p:spPr>
          <a:xfrm>
            <a:off x="6949266" y="3367716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F2F5F8"/>
                </a:solidFill>
                <a:latin typeface="Arial"/>
              </a:rPr>
              <a:t>TCTA:B3PyMPM:Ir(dmppy-ph)</a:t>
            </a:r>
            <a:r>
              <a:rPr sz="994" b="0" baseline="-25000">
                <a:solidFill>
                  <a:srgbClr val="F2F5F8"/>
                </a:solidFill>
                <a:latin typeface="Arial"/>
              </a:rPr>
              <a:t>2</a:t>
            </a:r>
            <a:r>
              <a:rPr sz="994" b="0">
                <a:solidFill>
                  <a:srgbClr val="F2F5F8"/>
                </a:solidFill>
                <a:latin typeface="Arial"/>
              </a:rPr>
              <a:t>tmd</a:t>
            </a:r>
          </a:p>
        </p:txBody>
      </p:sp>
      <p:sp>
        <p:nvSpPr>
          <p:cNvPr id="72" name="DBR + MLA substrate / B3PyMPM left"/>
          <p:cNvSpPr/>
          <p:nvPr/>
        </p:nvSpPr>
        <p:spPr>
          <a:xfrm>
            <a:off x="6683661" y="2913575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195938" y="461543"/>
                </a:moveTo>
                <a:lnTo>
                  <a:pt x="0" y="287376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BR + MLA substrate / B3PyMPM right"/>
          <p:cNvSpPr/>
          <p:nvPr/>
        </p:nvSpPr>
        <p:spPr>
          <a:xfrm>
            <a:off x="9492105" y="2913575"/>
            <a:ext cx="195938" cy="461543"/>
          </a:xfrm>
          <a:custGeom>
            <a:avLst/>
            <a:gdLst/>
            <a:ahLst/>
            <a:cxnLst/>
            <a:rect l="l" t="t" r="r" b="b"/>
            <a:pathLst>
              <a:path w="195938" h="461543">
                <a:moveTo>
                  <a:pt x="0" y="461543"/>
                </a:moveTo>
                <a:lnTo>
                  <a:pt x="195938" y="287376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6B81B7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BR + MLA substrate / B3PyMPM front"/>
          <p:cNvSpPr/>
          <p:nvPr/>
        </p:nvSpPr>
        <p:spPr>
          <a:xfrm>
            <a:off x="6879599" y="3087742"/>
            <a:ext cx="2612506" cy="287376"/>
          </a:xfrm>
          <a:custGeom>
            <a:avLst/>
            <a:gdLst/>
            <a:ahLst/>
            <a:cxnLst/>
            <a:rect l="l" t="t" r="r" b="b"/>
            <a:pathLst>
              <a:path w="2612506" h="287376">
                <a:moveTo>
                  <a:pt x="0" y="0"/>
                </a:moveTo>
                <a:lnTo>
                  <a:pt x="2612506" y="0"/>
                </a:lnTo>
                <a:lnTo>
                  <a:pt x="2612506" y="287376"/>
                </a:lnTo>
                <a:lnTo>
                  <a:pt x="0" y="287376"/>
                </a:lnTo>
                <a:close/>
              </a:path>
            </a:pathLst>
          </a:custGeom>
          <a:solidFill>
            <a:srgbClr val="7F9ADA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BR + MLA substrate / B3PyMPM label"/>
          <p:cNvSpPr txBox="1"/>
          <p:nvPr/>
        </p:nvSpPr>
        <p:spPr>
          <a:xfrm>
            <a:off x="6949266" y="306727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B3PyMPM</a:t>
            </a:r>
          </a:p>
        </p:txBody>
      </p:sp>
      <p:sp>
        <p:nvSpPr>
          <p:cNvPr id="76" name="DBR + MLA substrate / Al/Liq left"/>
          <p:cNvSpPr/>
          <p:nvPr/>
        </p:nvSpPr>
        <p:spPr>
          <a:xfrm>
            <a:off x="6683661" y="2634908"/>
            <a:ext cx="195938" cy="452834"/>
          </a:xfrm>
          <a:custGeom>
            <a:avLst/>
            <a:gdLst/>
            <a:ahLst/>
            <a:cxnLst/>
            <a:rect l="l" t="t" r="r" b="b"/>
            <a:pathLst>
              <a:path w="195938" h="452834">
                <a:moveTo>
                  <a:pt x="195938" y="452834"/>
                </a:moveTo>
                <a:lnTo>
                  <a:pt x="0" y="278667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9BA0A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BR + MLA substrate / Al/Liq right"/>
          <p:cNvSpPr/>
          <p:nvPr/>
        </p:nvSpPr>
        <p:spPr>
          <a:xfrm>
            <a:off x="9492105" y="2634908"/>
            <a:ext cx="195938" cy="452834"/>
          </a:xfrm>
          <a:custGeom>
            <a:avLst/>
            <a:gdLst/>
            <a:ahLst/>
            <a:cxnLst/>
            <a:rect l="l" t="t" r="r" b="b"/>
            <a:pathLst>
              <a:path w="195938" h="452834">
                <a:moveTo>
                  <a:pt x="0" y="452834"/>
                </a:moveTo>
                <a:lnTo>
                  <a:pt x="195938" y="278667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9BA0A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BR + MLA substrate / Al/Liq front"/>
          <p:cNvSpPr/>
          <p:nvPr/>
        </p:nvSpPr>
        <p:spPr>
          <a:xfrm>
            <a:off x="6879599" y="2809075"/>
            <a:ext cx="2612506" cy="278667"/>
          </a:xfrm>
          <a:custGeom>
            <a:avLst/>
            <a:gdLst/>
            <a:ahLst/>
            <a:cxnLst/>
            <a:rect l="l" t="t" r="r" b="b"/>
            <a:pathLst>
              <a:path w="2612506" h="278667">
                <a:moveTo>
                  <a:pt x="0" y="0"/>
                </a:moveTo>
                <a:lnTo>
                  <a:pt x="2612506" y="0"/>
                </a:lnTo>
                <a:lnTo>
                  <a:pt x="2612506" y="278667"/>
                </a:lnTo>
                <a:lnTo>
                  <a:pt x="0" y="278667"/>
                </a:lnTo>
                <a:close/>
              </a:path>
            </a:pathLst>
          </a:custGeom>
          <a:solidFill>
            <a:srgbClr val="B9BFC5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BR + MLA substrate / Al/Liq label"/>
          <p:cNvSpPr txBox="1"/>
          <p:nvPr/>
        </p:nvSpPr>
        <p:spPr>
          <a:xfrm>
            <a:off x="6949266" y="2784256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1B2026"/>
                </a:solidFill>
                <a:latin typeface="Arial"/>
              </a:rPr>
              <a:t>Al/Liq</a:t>
            </a:r>
          </a:p>
        </p:txBody>
      </p:sp>
      <p:sp>
        <p:nvSpPr>
          <p:cNvPr id="80" name="DBR + MLA substrate / DBR pair 1 left"/>
          <p:cNvSpPr/>
          <p:nvPr/>
        </p:nvSpPr>
        <p:spPr>
          <a:xfrm>
            <a:off x="6683661" y="2576126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195938" y="232949"/>
                </a:moveTo>
                <a:lnTo>
                  <a:pt x="0" y="58782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BR + MLA substrate / DBR pair 1 right"/>
          <p:cNvSpPr/>
          <p:nvPr/>
        </p:nvSpPr>
        <p:spPr>
          <a:xfrm>
            <a:off x="9492105" y="2576126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0" y="232949"/>
                </a:moveTo>
                <a:lnTo>
                  <a:pt x="195938" y="58782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BR + MLA substrate / DBR pair 1 front"/>
          <p:cNvSpPr/>
          <p:nvPr/>
        </p:nvSpPr>
        <p:spPr>
          <a:xfrm>
            <a:off x="6879599" y="2750293"/>
            <a:ext cx="2612506" cy="58782"/>
          </a:xfrm>
          <a:custGeom>
            <a:avLst/>
            <a:gdLst/>
            <a:ahLst/>
            <a:cxnLst/>
            <a:rect l="l" t="t" r="r" b="b"/>
            <a:pathLst>
              <a:path w="2612506" h="58782">
                <a:moveTo>
                  <a:pt x="0" y="0"/>
                </a:moveTo>
                <a:lnTo>
                  <a:pt x="2612506" y="0"/>
                </a:lnTo>
                <a:lnTo>
                  <a:pt x="2612506" y="58782"/>
                </a:lnTo>
                <a:lnTo>
                  <a:pt x="0" y="58782"/>
                </a:lnTo>
                <a:close/>
              </a:path>
            </a:pathLst>
          </a:custGeom>
          <a:solidFill>
            <a:srgbClr val="A0282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BR + MLA substrate / DBR pair 1 left"/>
          <p:cNvSpPr/>
          <p:nvPr/>
        </p:nvSpPr>
        <p:spPr>
          <a:xfrm>
            <a:off x="6683661" y="2517345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195938" y="232948"/>
                </a:moveTo>
                <a:lnTo>
                  <a:pt x="0" y="58781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BR + MLA substrate / DBR pair 1 right"/>
          <p:cNvSpPr/>
          <p:nvPr/>
        </p:nvSpPr>
        <p:spPr>
          <a:xfrm>
            <a:off x="9492105" y="2517345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0" y="232948"/>
                </a:moveTo>
                <a:lnTo>
                  <a:pt x="195938" y="58781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BR + MLA substrate / DBR pair 1 front"/>
          <p:cNvSpPr/>
          <p:nvPr/>
        </p:nvSpPr>
        <p:spPr>
          <a:xfrm>
            <a:off x="6879599" y="2691512"/>
            <a:ext cx="2612506" cy="58781"/>
          </a:xfrm>
          <a:custGeom>
            <a:avLst/>
            <a:gdLst/>
            <a:ahLst/>
            <a:cxnLst/>
            <a:rect l="l" t="t" r="r" b="b"/>
            <a:pathLst>
              <a:path w="2612506" h="58781">
                <a:moveTo>
                  <a:pt x="0" y="0"/>
                </a:moveTo>
                <a:lnTo>
                  <a:pt x="2612506" y="0"/>
                </a:lnTo>
                <a:lnTo>
                  <a:pt x="2612506" y="58781"/>
                </a:lnTo>
                <a:lnTo>
                  <a:pt x="0" y="58781"/>
                </a:lnTo>
                <a:close/>
              </a:path>
            </a:pathLst>
          </a:custGeom>
          <a:solidFill>
            <a:srgbClr val="2B2F3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BR + MLA substrate / DBR pair 2 left"/>
          <p:cNvSpPr/>
          <p:nvPr/>
        </p:nvSpPr>
        <p:spPr>
          <a:xfrm>
            <a:off x="6683661" y="2458564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195938" y="232948"/>
                </a:moveTo>
                <a:lnTo>
                  <a:pt x="0" y="58781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BR + MLA substrate / DBR pair 2 right"/>
          <p:cNvSpPr/>
          <p:nvPr/>
        </p:nvSpPr>
        <p:spPr>
          <a:xfrm>
            <a:off x="9492105" y="2458564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0" y="232948"/>
                </a:moveTo>
                <a:lnTo>
                  <a:pt x="195938" y="58781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BR + MLA substrate / DBR pair 2 front"/>
          <p:cNvSpPr/>
          <p:nvPr/>
        </p:nvSpPr>
        <p:spPr>
          <a:xfrm>
            <a:off x="6879599" y="2632731"/>
            <a:ext cx="2612506" cy="58781"/>
          </a:xfrm>
          <a:custGeom>
            <a:avLst/>
            <a:gdLst/>
            <a:ahLst/>
            <a:cxnLst/>
            <a:rect l="l" t="t" r="r" b="b"/>
            <a:pathLst>
              <a:path w="2612506" h="58781">
                <a:moveTo>
                  <a:pt x="0" y="0"/>
                </a:moveTo>
                <a:lnTo>
                  <a:pt x="2612506" y="0"/>
                </a:lnTo>
                <a:lnTo>
                  <a:pt x="2612506" y="58781"/>
                </a:lnTo>
                <a:lnTo>
                  <a:pt x="0" y="58781"/>
                </a:lnTo>
                <a:close/>
              </a:path>
            </a:pathLst>
          </a:custGeom>
          <a:solidFill>
            <a:srgbClr val="A0282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BR + MLA substrate / DBR pair 2 left"/>
          <p:cNvSpPr/>
          <p:nvPr/>
        </p:nvSpPr>
        <p:spPr>
          <a:xfrm>
            <a:off x="6683661" y="2399782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195938" y="232949"/>
                </a:moveTo>
                <a:lnTo>
                  <a:pt x="0" y="58782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BR + MLA substrate / DBR pair 2 right"/>
          <p:cNvSpPr/>
          <p:nvPr/>
        </p:nvSpPr>
        <p:spPr>
          <a:xfrm>
            <a:off x="9492105" y="2399782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0" y="232949"/>
                </a:moveTo>
                <a:lnTo>
                  <a:pt x="195938" y="58782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BR + MLA substrate / DBR pair 2 front"/>
          <p:cNvSpPr/>
          <p:nvPr/>
        </p:nvSpPr>
        <p:spPr>
          <a:xfrm>
            <a:off x="6879599" y="2573949"/>
            <a:ext cx="2612506" cy="58782"/>
          </a:xfrm>
          <a:custGeom>
            <a:avLst/>
            <a:gdLst/>
            <a:ahLst/>
            <a:cxnLst/>
            <a:rect l="l" t="t" r="r" b="b"/>
            <a:pathLst>
              <a:path w="2612506" h="58782">
                <a:moveTo>
                  <a:pt x="0" y="0"/>
                </a:moveTo>
                <a:lnTo>
                  <a:pt x="2612506" y="0"/>
                </a:lnTo>
                <a:lnTo>
                  <a:pt x="2612506" y="58782"/>
                </a:lnTo>
                <a:lnTo>
                  <a:pt x="0" y="58782"/>
                </a:lnTo>
                <a:close/>
              </a:path>
            </a:pathLst>
          </a:custGeom>
          <a:solidFill>
            <a:srgbClr val="2B2F3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BR + MLA substrate / DBR pair 3 left"/>
          <p:cNvSpPr/>
          <p:nvPr/>
        </p:nvSpPr>
        <p:spPr>
          <a:xfrm>
            <a:off x="6683661" y="2341001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195938" y="232948"/>
                </a:moveTo>
                <a:lnTo>
                  <a:pt x="0" y="58781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BR + MLA substrate / DBR pair 3 right"/>
          <p:cNvSpPr/>
          <p:nvPr/>
        </p:nvSpPr>
        <p:spPr>
          <a:xfrm>
            <a:off x="9492105" y="2341001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0" y="232948"/>
                </a:moveTo>
                <a:lnTo>
                  <a:pt x="195938" y="58781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BR + MLA substrate / DBR pair 3 front"/>
          <p:cNvSpPr/>
          <p:nvPr/>
        </p:nvSpPr>
        <p:spPr>
          <a:xfrm>
            <a:off x="6879599" y="2515168"/>
            <a:ext cx="2612506" cy="58781"/>
          </a:xfrm>
          <a:custGeom>
            <a:avLst/>
            <a:gdLst/>
            <a:ahLst/>
            <a:cxnLst/>
            <a:rect l="l" t="t" r="r" b="b"/>
            <a:pathLst>
              <a:path w="2612506" h="58781">
                <a:moveTo>
                  <a:pt x="0" y="0"/>
                </a:moveTo>
                <a:lnTo>
                  <a:pt x="2612506" y="0"/>
                </a:lnTo>
                <a:lnTo>
                  <a:pt x="2612506" y="58781"/>
                </a:lnTo>
                <a:lnTo>
                  <a:pt x="0" y="58781"/>
                </a:lnTo>
                <a:close/>
              </a:path>
            </a:pathLst>
          </a:custGeom>
          <a:solidFill>
            <a:srgbClr val="A0282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BR + MLA substrate / DBR pair 3 left"/>
          <p:cNvSpPr/>
          <p:nvPr/>
        </p:nvSpPr>
        <p:spPr>
          <a:xfrm>
            <a:off x="6683661" y="2282219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195938" y="232949"/>
                </a:moveTo>
                <a:lnTo>
                  <a:pt x="0" y="58782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BR + MLA substrate / DBR pair 3 right"/>
          <p:cNvSpPr/>
          <p:nvPr/>
        </p:nvSpPr>
        <p:spPr>
          <a:xfrm>
            <a:off x="9492105" y="2282219"/>
            <a:ext cx="195938" cy="232949"/>
          </a:xfrm>
          <a:custGeom>
            <a:avLst/>
            <a:gdLst/>
            <a:ahLst/>
            <a:cxnLst/>
            <a:rect l="l" t="t" r="r" b="b"/>
            <a:pathLst>
              <a:path w="195938" h="232949">
                <a:moveTo>
                  <a:pt x="0" y="232949"/>
                </a:moveTo>
                <a:lnTo>
                  <a:pt x="195938" y="58782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BR + MLA substrate / DBR pair 3 front"/>
          <p:cNvSpPr/>
          <p:nvPr/>
        </p:nvSpPr>
        <p:spPr>
          <a:xfrm>
            <a:off x="6879599" y="2456386"/>
            <a:ext cx="2612506" cy="58782"/>
          </a:xfrm>
          <a:custGeom>
            <a:avLst/>
            <a:gdLst/>
            <a:ahLst/>
            <a:cxnLst/>
            <a:rect l="l" t="t" r="r" b="b"/>
            <a:pathLst>
              <a:path w="2612506" h="58782">
                <a:moveTo>
                  <a:pt x="0" y="0"/>
                </a:moveTo>
                <a:lnTo>
                  <a:pt x="2612506" y="0"/>
                </a:lnTo>
                <a:lnTo>
                  <a:pt x="2612506" y="58782"/>
                </a:lnTo>
                <a:lnTo>
                  <a:pt x="0" y="58782"/>
                </a:lnTo>
                <a:close/>
              </a:path>
            </a:pathLst>
          </a:custGeom>
          <a:solidFill>
            <a:srgbClr val="2B2F3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BR + MLA substrate / DBR pair 4 left"/>
          <p:cNvSpPr/>
          <p:nvPr/>
        </p:nvSpPr>
        <p:spPr>
          <a:xfrm>
            <a:off x="6683661" y="2223438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195938" y="232948"/>
                </a:moveTo>
                <a:lnTo>
                  <a:pt x="0" y="58781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BR + MLA substrate / DBR pair 4 right"/>
          <p:cNvSpPr/>
          <p:nvPr/>
        </p:nvSpPr>
        <p:spPr>
          <a:xfrm>
            <a:off x="9492105" y="2223438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0" y="232948"/>
                </a:moveTo>
                <a:lnTo>
                  <a:pt x="195938" y="58781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862222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BR + MLA substrate / DBR pair 4 front"/>
          <p:cNvSpPr/>
          <p:nvPr/>
        </p:nvSpPr>
        <p:spPr>
          <a:xfrm>
            <a:off x="6879599" y="2397605"/>
            <a:ext cx="2612506" cy="58781"/>
          </a:xfrm>
          <a:custGeom>
            <a:avLst/>
            <a:gdLst/>
            <a:ahLst/>
            <a:cxnLst/>
            <a:rect l="l" t="t" r="r" b="b"/>
            <a:pathLst>
              <a:path w="2612506" h="58781">
                <a:moveTo>
                  <a:pt x="0" y="0"/>
                </a:moveTo>
                <a:lnTo>
                  <a:pt x="2612506" y="0"/>
                </a:lnTo>
                <a:lnTo>
                  <a:pt x="2612506" y="58781"/>
                </a:lnTo>
                <a:lnTo>
                  <a:pt x="0" y="58781"/>
                </a:lnTo>
                <a:close/>
              </a:path>
            </a:pathLst>
          </a:custGeom>
          <a:solidFill>
            <a:srgbClr val="A0282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BR + MLA substrate / DBR pair 4 left"/>
          <p:cNvSpPr/>
          <p:nvPr/>
        </p:nvSpPr>
        <p:spPr>
          <a:xfrm>
            <a:off x="6683661" y="2164657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195938" y="232948"/>
                </a:moveTo>
                <a:lnTo>
                  <a:pt x="0" y="58781"/>
                </a:lnTo>
                <a:lnTo>
                  <a:pt x="0" y="0"/>
                </a:lnTo>
                <a:lnTo>
                  <a:pt x="195938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BR + MLA substrate / DBR pair 4 right"/>
          <p:cNvSpPr/>
          <p:nvPr/>
        </p:nvSpPr>
        <p:spPr>
          <a:xfrm>
            <a:off x="9492105" y="2164657"/>
            <a:ext cx="195938" cy="232948"/>
          </a:xfrm>
          <a:custGeom>
            <a:avLst/>
            <a:gdLst/>
            <a:ahLst/>
            <a:cxnLst/>
            <a:rect l="l" t="t" r="r" b="b"/>
            <a:pathLst>
              <a:path w="195938" h="232948">
                <a:moveTo>
                  <a:pt x="0" y="232948"/>
                </a:moveTo>
                <a:lnTo>
                  <a:pt x="195938" y="58781"/>
                </a:lnTo>
                <a:lnTo>
                  <a:pt x="195938" y="0"/>
                </a:lnTo>
                <a:lnTo>
                  <a:pt x="0" y="174167"/>
                </a:lnTo>
                <a:close/>
              </a:path>
            </a:pathLst>
          </a:custGeom>
          <a:solidFill>
            <a:srgbClr val="24272B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BR + MLA substrate / DBR pair 4 top"/>
          <p:cNvSpPr/>
          <p:nvPr/>
        </p:nvSpPr>
        <p:spPr>
          <a:xfrm>
            <a:off x="6683661" y="2164657"/>
            <a:ext cx="3004382" cy="174167"/>
          </a:xfrm>
          <a:custGeom>
            <a:avLst/>
            <a:gdLst/>
            <a:ahLst/>
            <a:cxnLst/>
            <a:rect l="l" t="t" r="r" b="b"/>
            <a:pathLst>
              <a:path w="3004382" h="174167">
                <a:moveTo>
                  <a:pt x="195938" y="174167"/>
                </a:moveTo>
                <a:lnTo>
                  <a:pt x="2808444" y="174167"/>
                </a:lnTo>
                <a:lnTo>
                  <a:pt x="30043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3438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BR + MLA substrate / DBR pair 4 front"/>
          <p:cNvSpPr/>
          <p:nvPr/>
        </p:nvSpPr>
        <p:spPr>
          <a:xfrm>
            <a:off x="6879599" y="2338824"/>
            <a:ext cx="2612506" cy="58781"/>
          </a:xfrm>
          <a:custGeom>
            <a:avLst/>
            <a:gdLst/>
            <a:ahLst/>
            <a:cxnLst/>
            <a:rect l="l" t="t" r="r" b="b"/>
            <a:pathLst>
              <a:path w="2612506" h="58781">
                <a:moveTo>
                  <a:pt x="0" y="0"/>
                </a:moveTo>
                <a:lnTo>
                  <a:pt x="2612506" y="0"/>
                </a:lnTo>
                <a:lnTo>
                  <a:pt x="2612506" y="58781"/>
                </a:lnTo>
                <a:lnTo>
                  <a:pt x="0" y="58781"/>
                </a:lnTo>
                <a:close/>
              </a:path>
            </a:pathLst>
          </a:custGeom>
          <a:solidFill>
            <a:srgbClr val="2B2F33"/>
          </a:solidFill>
          <a:ln w="9525">
            <a:solidFill>
              <a:srgbClr val="5D66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BR + MLA substrate / DBR label"/>
          <p:cNvSpPr txBox="1"/>
          <p:nvPr/>
        </p:nvSpPr>
        <p:spPr>
          <a:xfrm>
            <a:off x="6949266" y="2409797"/>
            <a:ext cx="2473172" cy="3283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94" b="0">
                <a:solidFill>
                  <a:srgbClr val="F2F5F8"/>
                </a:solidFill>
                <a:latin typeface="Arial"/>
              </a:rPr>
              <a:t>DBR</a:t>
            </a:r>
          </a:p>
        </p:txBody>
      </p:sp>
      <p:sp>
        <p:nvSpPr>
          <p:cNvPr id="106" name="DBR + MLA substrate title"/>
          <p:cNvSpPr txBox="1"/>
          <p:nvPr/>
        </p:nvSpPr>
        <p:spPr>
          <a:xfrm>
            <a:off x="5921680" y="669432"/>
            <a:ext cx="4528344" cy="43019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2" b="1">
                <a:solidFill>
                  <a:srgbClr val="1B2026"/>
                </a:solidFill>
                <a:latin typeface="Arial"/>
              </a:rPr>
              <a:t>DBR + MLA substrate</a:t>
            </a:r>
          </a:p>
        </p:txBody>
      </p:sp>
      <p:cxnSp>
        <p:nvCxnSpPr>
          <p:cNvPr id="107" name="bottom emission"/>
          <p:cNvCxnSpPr/>
          <p:nvPr/>
        </p:nvCxnSpPr>
        <p:spPr>
          <a:xfrm flipH="1">
            <a:off x="7436934" y="5059096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bottom emission"/>
          <p:cNvCxnSpPr/>
          <p:nvPr/>
        </p:nvCxnSpPr>
        <p:spPr>
          <a:xfrm>
            <a:off x="8185852" y="5059096"/>
            <a:ext cx="0" cy="644418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bottom emission"/>
          <p:cNvCxnSpPr/>
          <p:nvPr/>
        </p:nvCxnSpPr>
        <p:spPr>
          <a:xfrm>
            <a:off x="8440485" y="5059096"/>
            <a:ext cx="494286" cy="505084"/>
          </a:xfrm>
          <a:prstGeom prst="line">
            <a:avLst/>
          </a:prstGeom>
          <a:ln w="22642">
            <a:solidFill>
              <a:srgbClr val="2E9E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emission label"/>
          <p:cNvSpPr txBox="1"/>
          <p:nvPr/>
        </p:nvSpPr>
        <p:spPr>
          <a:xfrm>
            <a:off x="6879599" y="5824124"/>
            <a:ext cx="2612506" cy="3509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62" b="0">
                <a:solidFill>
                  <a:srgbClr val="2E9E4F"/>
                </a:solidFill>
                <a:latin typeface="Arial"/>
              </a:rPr>
              <a:t>Bottom emission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