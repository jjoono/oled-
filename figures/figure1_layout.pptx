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ventional lens 01"/>
          <p:cNvSpPr/>
          <p:nvPr/>
        </p:nvSpPr>
        <p:spPr>
          <a:xfrm>
            <a:off x="304800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conventional lens 02"/>
          <p:cNvSpPr/>
          <p:nvPr/>
        </p:nvSpPr>
        <p:spPr>
          <a:xfrm>
            <a:off x="344424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onventional lens 03"/>
          <p:cNvSpPr/>
          <p:nvPr/>
        </p:nvSpPr>
        <p:spPr>
          <a:xfrm>
            <a:off x="384048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onventional lens 04"/>
          <p:cNvSpPr/>
          <p:nvPr/>
        </p:nvSpPr>
        <p:spPr>
          <a:xfrm>
            <a:off x="423672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onventional lens 05"/>
          <p:cNvSpPr/>
          <p:nvPr/>
        </p:nvSpPr>
        <p:spPr>
          <a:xfrm>
            <a:off x="463296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nventional lens 06"/>
          <p:cNvSpPr/>
          <p:nvPr/>
        </p:nvSpPr>
        <p:spPr>
          <a:xfrm>
            <a:off x="502920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onventional lens 07"/>
          <p:cNvSpPr/>
          <p:nvPr/>
        </p:nvSpPr>
        <p:spPr>
          <a:xfrm>
            <a:off x="542544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onventional lens 08"/>
          <p:cNvSpPr/>
          <p:nvPr/>
        </p:nvSpPr>
        <p:spPr>
          <a:xfrm>
            <a:off x="582168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onventional lens 09"/>
          <p:cNvSpPr/>
          <p:nvPr/>
        </p:nvSpPr>
        <p:spPr>
          <a:xfrm>
            <a:off x="621792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onventional lens 10"/>
          <p:cNvSpPr/>
          <p:nvPr/>
        </p:nvSpPr>
        <p:spPr>
          <a:xfrm>
            <a:off x="661416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onventional lens 11"/>
          <p:cNvSpPr/>
          <p:nvPr/>
        </p:nvSpPr>
        <p:spPr>
          <a:xfrm>
            <a:off x="701040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onventional lens 12"/>
          <p:cNvSpPr/>
          <p:nvPr/>
        </p:nvSpPr>
        <p:spPr>
          <a:xfrm>
            <a:off x="740664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onventional lens 13"/>
          <p:cNvSpPr/>
          <p:nvPr/>
        </p:nvSpPr>
        <p:spPr>
          <a:xfrm>
            <a:off x="780288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onventional lens 14"/>
          <p:cNvSpPr/>
          <p:nvPr/>
        </p:nvSpPr>
        <p:spPr>
          <a:xfrm>
            <a:off x="819912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onventional lens 15"/>
          <p:cNvSpPr/>
          <p:nvPr/>
        </p:nvSpPr>
        <p:spPr>
          <a:xfrm>
            <a:off x="8595360" y="11328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onventional glass"/>
          <p:cNvSpPr/>
          <p:nvPr/>
        </p:nvSpPr>
        <p:spPr>
          <a:xfrm>
            <a:off x="3048000" y="1330960"/>
            <a:ext cx="5943600" cy="567944"/>
          </a:xfrm>
          <a:prstGeom prst="rect">
            <a:avLst/>
          </a:prstGeom>
          <a:solidFill>
            <a:srgbClr val="D9E0E6"/>
          </a:solidFill>
          <a:ln w="6604">
            <a:solidFill>
              <a:srgbClr val="878B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onventional TCO"/>
          <p:cNvSpPr/>
          <p:nvPr/>
        </p:nvSpPr>
        <p:spPr>
          <a:xfrm>
            <a:off x="3048000" y="1898904"/>
            <a:ext cx="5943600" cy="105664"/>
          </a:xfrm>
          <a:prstGeom prst="rect">
            <a:avLst/>
          </a:prstGeom>
          <a:solidFill>
            <a:srgbClr val="BEDBE2"/>
          </a:solidFill>
          <a:ln w="5588">
            <a:solidFill>
              <a:srgbClr val="7688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onventional organic"/>
          <p:cNvSpPr/>
          <p:nvPr/>
        </p:nvSpPr>
        <p:spPr>
          <a:xfrm>
            <a:off x="3048000" y="2004568"/>
            <a:ext cx="5943600" cy="118872"/>
          </a:xfrm>
          <a:prstGeom prst="rect">
            <a:avLst/>
          </a:prstGeom>
          <a:solidFill>
            <a:srgbClr val="E6D6B8"/>
          </a:solidFill>
          <a:ln w="5588">
            <a:solidFill>
              <a:srgbClr val="8F85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onventional metal"/>
          <p:cNvSpPr/>
          <p:nvPr/>
        </p:nvSpPr>
        <p:spPr>
          <a:xfrm>
            <a:off x="3048000" y="2123440"/>
            <a:ext cx="5943600" cy="264160"/>
          </a:xfrm>
          <a:prstGeom prst="rect">
            <a:avLst/>
          </a:prstGeom>
          <a:solidFill>
            <a:srgbClr val="A2AAB4"/>
          </a:solidFill>
          <a:ln w="5588">
            <a:solidFill>
              <a:srgbClr val="646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onventional TCO loss 1L"/>
          <p:cNvSpPr/>
          <p:nvPr/>
        </p:nvSpPr>
        <p:spPr>
          <a:xfrm>
            <a:off x="4580128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onventional TCO loss 1R"/>
          <p:cNvSpPr/>
          <p:nvPr/>
        </p:nvSpPr>
        <p:spPr>
          <a:xfrm>
            <a:off x="4897120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nventional TCO loss 2L"/>
          <p:cNvSpPr/>
          <p:nvPr/>
        </p:nvSpPr>
        <p:spPr>
          <a:xfrm>
            <a:off x="6165088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onventional TCO loss 2R"/>
          <p:cNvSpPr/>
          <p:nvPr/>
        </p:nvSpPr>
        <p:spPr>
          <a:xfrm>
            <a:off x="6482080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onventional TCO loss 3L"/>
          <p:cNvSpPr/>
          <p:nvPr/>
        </p:nvSpPr>
        <p:spPr>
          <a:xfrm>
            <a:off x="7750048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onventional TCO loss 3R"/>
          <p:cNvSpPr/>
          <p:nvPr/>
        </p:nvSpPr>
        <p:spPr>
          <a:xfrm>
            <a:off x="8067040" y="1930603"/>
            <a:ext cx="184912" cy="42266"/>
          </a:xfrm>
          <a:custGeom>
            <a:avLst/>
            <a:gdLst/>
            <a:ahLst/>
            <a:cxnLst/>
            <a:rect l="l" t="t" r="r" b="b"/>
            <a:pathLst>
              <a:path w="184912" h="42266">
                <a:moveTo>
                  <a:pt x="0" y="21133"/>
                </a:moveTo>
                <a:lnTo>
                  <a:pt x="3852" y="26603"/>
                </a:lnTo>
                <a:lnTo>
                  <a:pt x="7705" y="31699"/>
                </a:lnTo>
                <a:lnTo>
                  <a:pt x="11557" y="36076"/>
                </a:lnTo>
                <a:lnTo>
                  <a:pt x="15409" y="39435"/>
                </a:lnTo>
                <a:lnTo>
                  <a:pt x="19262" y="41546"/>
                </a:lnTo>
                <a:lnTo>
                  <a:pt x="23114" y="42266"/>
                </a:lnTo>
                <a:lnTo>
                  <a:pt x="26966" y="41546"/>
                </a:lnTo>
                <a:lnTo>
                  <a:pt x="30819" y="39435"/>
                </a:lnTo>
                <a:lnTo>
                  <a:pt x="34671" y="36076"/>
                </a:lnTo>
                <a:lnTo>
                  <a:pt x="38523" y="31699"/>
                </a:lnTo>
                <a:lnTo>
                  <a:pt x="42376" y="26603"/>
                </a:lnTo>
                <a:lnTo>
                  <a:pt x="46228" y="21133"/>
                </a:lnTo>
                <a:lnTo>
                  <a:pt x="50080" y="15663"/>
                </a:lnTo>
                <a:lnTo>
                  <a:pt x="53933" y="10567"/>
                </a:lnTo>
                <a:lnTo>
                  <a:pt x="57785" y="6190"/>
                </a:lnTo>
                <a:lnTo>
                  <a:pt x="61637" y="2831"/>
                </a:lnTo>
                <a:lnTo>
                  <a:pt x="65490" y="720"/>
                </a:lnTo>
                <a:lnTo>
                  <a:pt x="69342" y="0"/>
                </a:lnTo>
                <a:lnTo>
                  <a:pt x="73194" y="720"/>
                </a:lnTo>
                <a:lnTo>
                  <a:pt x="77047" y="2831"/>
                </a:lnTo>
                <a:lnTo>
                  <a:pt x="80899" y="6190"/>
                </a:lnTo>
                <a:lnTo>
                  <a:pt x="84751" y="10567"/>
                </a:lnTo>
                <a:lnTo>
                  <a:pt x="88604" y="15663"/>
                </a:lnTo>
                <a:lnTo>
                  <a:pt x="92456" y="21133"/>
                </a:lnTo>
                <a:lnTo>
                  <a:pt x="96308" y="26603"/>
                </a:lnTo>
                <a:lnTo>
                  <a:pt x="100161" y="31699"/>
                </a:lnTo>
                <a:lnTo>
                  <a:pt x="104013" y="36076"/>
                </a:lnTo>
                <a:lnTo>
                  <a:pt x="107865" y="39435"/>
                </a:lnTo>
                <a:lnTo>
                  <a:pt x="111718" y="41546"/>
                </a:lnTo>
                <a:lnTo>
                  <a:pt x="115570" y="42266"/>
                </a:lnTo>
                <a:lnTo>
                  <a:pt x="119422" y="41546"/>
                </a:lnTo>
                <a:lnTo>
                  <a:pt x="123275" y="39435"/>
                </a:lnTo>
                <a:lnTo>
                  <a:pt x="127127" y="36076"/>
                </a:lnTo>
                <a:lnTo>
                  <a:pt x="130979" y="31699"/>
                </a:lnTo>
                <a:lnTo>
                  <a:pt x="134832" y="26603"/>
                </a:lnTo>
                <a:lnTo>
                  <a:pt x="138684" y="21133"/>
                </a:lnTo>
                <a:lnTo>
                  <a:pt x="142536" y="15663"/>
                </a:lnTo>
                <a:lnTo>
                  <a:pt x="146389" y="10567"/>
                </a:lnTo>
                <a:lnTo>
                  <a:pt x="150241" y="6190"/>
                </a:lnTo>
                <a:lnTo>
                  <a:pt x="154093" y="2831"/>
                </a:lnTo>
                <a:lnTo>
                  <a:pt x="157946" y="720"/>
                </a:lnTo>
                <a:lnTo>
                  <a:pt x="161798" y="0"/>
                </a:lnTo>
                <a:lnTo>
                  <a:pt x="165650" y="720"/>
                </a:lnTo>
                <a:lnTo>
                  <a:pt x="169503" y="2831"/>
                </a:lnTo>
                <a:lnTo>
                  <a:pt x="173355" y="6190"/>
                </a:lnTo>
                <a:lnTo>
                  <a:pt x="177207" y="10567"/>
                </a:lnTo>
                <a:lnTo>
                  <a:pt x="181060" y="15663"/>
                </a:lnTo>
                <a:lnTo>
                  <a:pt x="184912" y="21133"/>
                </a:lnTo>
              </a:path>
            </a:pathLst>
          </a:custGeom>
          <a:noFill/>
          <a:ln w="11887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ventional ray emit"/>
          <p:cNvCxnSpPr/>
          <p:nvPr/>
        </p:nvCxnSpPr>
        <p:spPr>
          <a:xfrm flipV="1">
            <a:off x="3352444" y="1330960"/>
            <a:ext cx="686156" cy="686156"/>
          </a:xfrm>
          <a:prstGeom prst="line">
            <a:avLst/>
          </a:prstGeom>
          <a:ln w="6273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ventional ray down 1"/>
          <p:cNvCxnSpPr/>
          <p:nvPr/>
        </p:nvCxnSpPr>
        <p:spPr>
          <a:xfrm>
            <a:off x="4099357" y="1391717"/>
            <a:ext cx="689457" cy="689457"/>
          </a:xfrm>
          <a:prstGeom prst="line">
            <a:avLst/>
          </a:prstGeom>
          <a:ln w="4801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ventional ray up 1"/>
          <p:cNvCxnSpPr/>
          <p:nvPr/>
        </p:nvCxnSpPr>
        <p:spPr>
          <a:xfrm flipV="1">
            <a:off x="4873346" y="1330960"/>
            <a:ext cx="750214" cy="750214"/>
          </a:xfrm>
          <a:prstGeom prst="line">
            <a:avLst/>
          </a:prstGeom>
          <a:ln w="3204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ventional ray down 2"/>
          <p:cNvCxnSpPr/>
          <p:nvPr/>
        </p:nvCxnSpPr>
        <p:spPr>
          <a:xfrm>
            <a:off x="5684317" y="1391717"/>
            <a:ext cx="689457" cy="689457"/>
          </a:xfrm>
          <a:prstGeom prst="line">
            <a:avLst/>
          </a:prstGeom>
          <a:ln w="2452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ventional ray up 2"/>
          <p:cNvCxnSpPr/>
          <p:nvPr/>
        </p:nvCxnSpPr>
        <p:spPr>
          <a:xfrm flipV="1">
            <a:off x="6458306" y="1330960"/>
            <a:ext cx="750214" cy="750214"/>
          </a:xfrm>
          <a:prstGeom prst="line">
            <a:avLst/>
          </a:prstGeom>
          <a:ln w="1636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ventional ray down 3"/>
          <p:cNvCxnSpPr/>
          <p:nvPr/>
        </p:nvCxnSpPr>
        <p:spPr>
          <a:xfrm>
            <a:off x="7269277" y="1391717"/>
            <a:ext cx="689457" cy="689457"/>
          </a:xfrm>
          <a:prstGeom prst="line">
            <a:avLst/>
          </a:prstGeom>
          <a:ln w="1252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ventional ray up 3"/>
          <p:cNvCxnSpPr/>
          <p:nvPr/>
        </p:nvCxnSpPr>
        <p:spPr>
          <a:xfrm flipV="1">
            <a:off x="8043266" y="1330960"/>
            <a:ext cx="750214" cy="750214"/>
          </a:xfrm>
          <a:prstGeom prst="line">
            <a:avLst/>
          </a:prstGeom>
          <a:ln w="835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ventional ray continues"/>
          <p:cNvCxnSpPr/>
          <p:nvPr/>
        </p:nvCxnSpPr>
        <p:spPr>
          <a:xfrm>
            <a:off x="8852916" y="1390396"/>
            <a:ext cx="138684" cy="138684"/>
          </a:xfrm>
          <a:prstGeom prst="line">
            <a:avLst/>
          </a:prstGeom>
          <a:ln w="6396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ventional escaping 1-1"/>
          <p:cNvCxnSpPr/>
          <p:nvPr/>
        </p:nvCxnSpPr>
        <p:spPr>
          <a:xfrm flipH="1" flipV="1">
            <a:off x="3630419" y="833638"/>
            <a:ext cx="309121" cy="325745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ventional escaping 1-2"/>
          <p:cNvCxnSpPr/>
          <p:nvPr/>
        </p:nvCxnSpPr>
        <p:spPr>
          <a:xfrm flipH="1" flipV="1">
            <a:off x="3955493" y="616049"/>
            <a:ext cx="65840" cy="517545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ventional escaping 1-3"/>
          <p:cNvCxnSpPr/>
          <p:nvPr/>
        </p:nvCxnSpPr>
        <p:spPr>
          <a:xfrm flipV="1">
            <a:off x="4112817" y="754804"/>
            <a:ext cx="244287" cy="392462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ventional escaping 2-1"/>
          <p:cNvCxnSpPr/>
          <p:nvPr/>
        </p:nvCxnSpPr>
        <p:spPr>
          <a:xfrm flipH="1" flipV="1">
            <a:off x="5215379" y="833638"/>
            <a:ext cx="309121" cy="325745"/>
          </a:xfrm>
          <a:prstGeom prst="line">
            <a:avLst/>
          </a:prstGeom>
          <a:ln w="176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ventional escaping 2-2"/>
          <p:cNvCxnSpPr/>
          <p:nvPr/>
        </p:nvCxnSpPr>
        <p:spPr>
          <a:xfrm flipH="1" flipV="1">
            <a:off x="5540453" y="616049"/>
            <a:ext cx="65840" cy="517545"/>
          </a:xfrm>
          <a:prstGeom prst="line">
            <a:avLst/>
          </a:prstGeom>
          <a:ln w="176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ventional escaping 2-3"/>
          <p:cNvCxnSpPr/>
          <p:nvPr/>
        </p:nvCxnSpPr>
        <p:spPr>
          <a:xfrm flipV="1">
            <a:off x="5697777" y="754804"/>
            <a:ext cx="244287" cy="392462"/>
          </a:xfrm>
          <a:prstGeom prst="line">
            <a:avLst/>
          </a:prstGeom>
          <a:ln w="1762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ventional escaping 3-1"/>
          <p:cNvCxnSpPr/>
          <p:nvPr/>
        </p:nvCxnSpPr>
        <p:spPr>
          <a:xfrm flipH="1" flipV="1">
            <a:off x="6800339" y="833638"/>
            <a:ext cx="309121" cy="325745"/>
          </a:xfrm>
          <a:prstGeom prst="line">
            <a:avLst/>
          </a:prstGeom>
          <a:ln w="9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ventional escaping 3-2"/>
          <p:cNvCxnSpPr/>
          <p:nvPr/>
        </p:nvCxnSpPr>
        <p:spPr>
          <a:xfrm flipH="1" flipV="1">
            <a:off x="7125413" y="616049"/>
            <a:ext cx="65840" cy="517545"/>
          </a:xfrm>
          <a:prstGeom prst="line">
            <a:avLst/>
          </a:prstGeom>
          <a:ln w="9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ventional escaping 3-3"/>
          <p:cNvCxnSpPr/>
          <p:nvPr/>
        </p:nvCxnSpPr>
        <p:spPr>
          <a:xfrm flipV="1">
            <a:off x="7282737" y="754804"/>
            <a:ext cx="244287" cy="392462"/>
          </a:xfrm>
          <a:prstGeom prst="line">
            <a:avLst/>
          </a:prstGeom>
          <a:ln w="9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ventional escaping 4-1"/>
          <p:cNvCxnSpPr/>
          <p:nvPr/>
        </p:nvCxnSpPr>
        <p:spPr>
          <a:xfrm flipH="1" flipV="1">
            <a:off x="8385299" y="833638"/>
            <a:ext cx="309121" cy="325745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ventional escaping 4-2"/>
          <p:cNvCxnSpPr/>
          <p:nvPr/>
        </p:nvCxnSpPr>
        <p:spPr>
          <a:xfrm flipH="1" flipV="1">
            <a:off x="8710373" y="616049"/>
            <a:ext cx="65840" cy="517545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ventional escaping 4-3"/>
          <p:cNvCxnSpPr/>
          <p:nvPr/>
        </p:nvCxnSpPr>
        <p:spPr>
          <a:xfrm flipV="1">
            <a:off x="8867697" y="754804"/>
            <a:ext cx="244287" cy="392462"/>
          </a:xfrm>
          <a:prstGeom prst="line">
            <a:avLst/>
          </a:prstGeom>
          <a:ln w="508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conventional ohmic loss 1L"/>
          <p:cNvSpPr/>
          <p:nvPr/>
        </p:nvSpPr>
        <p:spPr>
          <a:xfrm>
            <a:off x="4448886" y="2054551"/>
            <a:ext cx="299030" cy="58782"/>
          </a:xfrm>
          <a:custGeom>
            <a:avLst/>
            <a:gdLst/>
            <a:ahLst/>
            <a:cxnLst/>
            <a:rect l="l" t="t" r="r" b="b"/>
            <a:pathLst>
              <a:path w="299030" h="58782">
                <a:moveTo>
                  <a:pt x="299030" y="29265"/>
                </a:moveTo>
                <a:lnTo>
                  <a:pt x="292800" y="38753"/>
                </a:lnTo>
                <a:lnTo>
                  <a:pt x="286570" y="47234"/>
                </a:lnTo>
                <a:lnTo>
                  <a:pt x="280340" y="53808"/>
                </a:lnTo>
                <a:lnTo>
                  <a:pt x="274111" y="57776"/>
                </a:lnTo>
                <a:lnTo>
                  <a:pt x="267881" y="58719"/>
                </a:lnTo>
                <a:lnTo>
                  <a:pt x="261651" y="56535"/>
                </a:lnTo>
                <a:lnTo>
                  <a:pt x="255421" y="51457"/>
                </a:lnTo>
                <a:lnTo>
                  <a:pt x="249191" y="44024"/>
                </a:lnTo>
                <a:lnTo>
                  <a:pt x="242962" y="35024"/>
                </a:lnTo>
                <a:lnTo>
                  <a:pt x="236732" y="25412"/>
                </a:lnTo>
                <a:lnTo>
                  <a:pt x="230502" y="16210"/>
                </a:lnTo>
                <a:lnTo>
                  <a:pt x="224272" y="8393"/>
                </a:lnTo>
                <a:lnTo>
                  <a:pt x="218043" y="2792"/>
                </a:lnTo>
                <a:lnTo>
                  <a:pt x="211813" y="0"/>
                </a:lnTo>
                <a:lnTo>
                  <a:pt x="205583" y="315"/>
                </a:lnTo>
                <a:lnTo>
                  <a:pt x="199353" y="3702"/>
                </a:lnTo>
                <a:lnTo>
                  <a:pt x="193123" y="9803"/>
                </a:lnTo>
                <a:lnTo>
                  <a:pt x="186894" y="17969"/>
                </a:lnTo>
                <a:lnTo>
                  <a:pt x="180664" y="27334"/>
                </a:lnTo>
                <a:lnTo>
                  <a:pt x="174434" y="36905"/>
                </a:lnTo>
                <a:lnTo>
                  <a:pt x="168204" y="45664"/>
                </a:lnTo>
                <a:lnTo>
                  <a:pt x="161975" y="52683"/>
                </a:lnTo>
                <a:lnTo>
                  <a:pt x="155745" y="57216"/>
                </a:lnTo>
                <a:lnTo>
                  <a:pt x="149515" y="58782"/>
                </a:lnTo>
                <a:lnTo>
                  <a:pt x="143285" y="57216"/>
                </a:lnTo>
                <a:lnTo>
                  <a:pt x="137055" y="52683"/>
                </a:lnTo>
                <a:lnTo>
                  <a:pt x="130826" y="45664"/>
                </a:lnTo>
                <a:lnTo>
                  <a:pt x="124596" y="36905"/>
                </a:lnTo>
                <a:lnTo>
                  <a:pt x="118366" y="27334"/>
                </a:lnTo>
                <a:lnTo>
                  <a:pt x="112136" y="17969"/>
                </a:lnTo>
                <a:lnTo>
                  <a:pt x="105907" y="9803"/>
                </a:lnTo>
                <a:lnTo>
                  <a:pt x="99677" y="3702"/>
                </a:lnTo>
                <a:lnTo>
                  <a:pt x="93447" y="315"/>
                </a:lnTo>
                <a:lnTo>
                  <a:pt x="87217" y="0"/>
                </a:lnTo>
                <a:lnTo>
                  <a:pt x="80988" y="2792"/>
                </a:lnTo>
                <a:lnTo>
                  <a:pt x="74758" y="8393"/>
                </a:lnTo>
                <a:lnTo>
                  <a:pt x="68528" y="16210"/>
                </a:lnTo>
                <a:lnTo>
                  <a:pt x="62298" y="25412"/>
                </a:lnTo>
                <a:lnTo>
                  <a:pt x="56068" y="35024"/>
                </a:lnTo>
                <a:lnTo>
                  <a:pt x="49839" y="44024"/>
                </a:lnTo>
                <a:lnTo>
                  <a:pt x="43609" y="51457"/>
                </a:lnTo>
                <a:lnTo>
                  <a:pt x="37379" y="56535"/>
                </a:lnTo>
                <a:lnTo>
                  <a:pt x="31149" y="58719"/>
                </a:lnTo>
                <a:lnTo>
                  <a:pt x="24920" y="57776"/>
                </a:lnTo>
                <a:lnTo>
                  <a:pt x="18690" y="53808"/>
                </a:lnTo>
                <a:lnTo>
                  <a:pt x="12460" y="47234"/>
                </a:lnTo>
                <a:lnTo>
                  <a:pt x="6230" y="38753"/>
                </a:lnTo>
                <a:lnTo>
                  <a:pt x="0" y="29265"/>
                </a:lnTo>
              </a:path>
            </a:pathLst>
          </a:custGeom>
          <a:noFill/>
          <a:ln w="21916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onventional ohmic loss 1R"/>
          <p:cNvSpPr/>
          <p:nvPr/>
        </p:nvSpPr>
        <p:spPr>
          <a:xfrm>
            <a:off x="4914244" y="2054551"/>
            <a:ext cx="299030" cy="58782"/>
          </a:xfrm>
          <a:custGeom>
            <a:avLst/>
            <a:gdLst/>
            <a:ahLst/>
            <a:cxnLst/>
            <a:rect l="l" t="t" r="r" b="b"/>
            <a:pathLst>
              <a:path w="299030" h="58782">
                <a:moveTo>
                  <a:pt x="0" y="29265"/>
                </a:moveTo>
                <a:lnTo>
                  <a:pt x="6230" y="38753"/>
                </a:lnTo>
                <a:lnTo>
                  <a:pt x="12460" y="47234"/>
                </a:lnTo>
                <a:lnTo>
                  <a:pt x="18690" y="53808"/>
                </a:lnTo>
                <a:lnTo>
                  <a:pt x="24919" y="57776"/>
                </a:lnTo>
                <a:lnTo>
                  <a:pt x="31149" y="58719"/>
                </a:lnTo>
                <a:lnTo>
                  <a:pt x="37379" y="56535"/>
                </a:lnTo>
                <a:lnTo>
                  <a:pt x="43609" y="51457"/>
                </a:lnTo>
                <a:lnTo>
                  <a:pt x="49839" y="44024"/>
                </a:lnTo>
                <a:lnTo>
                  <a:pt x="56068" y="35024"/>
                </a:lnTo>
                <a:lnTo>
                  <a:pt x="62298" y="25412"/>
                </a:lnTo>
                <a:lnTo>
                  <a:pt x="68528" y="16210"/>
                </a:lnTo>
                <a:lnTo>
                  <a:pt x="74758" y="8393"/>
                </a:lnTo>
                <a:lnTo>
                  <a:pt x="80987" y="2792"/>
                </a:lnTo>
                <a:lnTo>
                  <a:pt x="87217" y="0"/>
                </a:lnTo>
                <a:lnTo>
                  <a:pt x="93447" y="315"/>
                </a:lnTo>
                <a:lnTo>
                  <a:pt x="99677" y="3702"/>
                </a:lnTo>
                <a:lnTo>
                  <a:pt x="105907" y="9803"/>
                </a:lnTo>
                <a:lnTo>
                  <a:pt x="112136" y="17969"/>
                </a:lnTo>
                <a:lnTo>
                  <a:pt x="118366" y="27334"/>
                </a:lnTo>
                <a:lnTo>
                  <a:pt x="124596" y="36905"/>
                </a:lnTo>
                <a:lnTo>
                  <a:pt x="130826" y="45664"/>
                </a:lnTo>
                <a:lnTo>
                  <a:pt x="137055" y="52683"/>
                </a:lnTo>
                <a:lnTo>
                  <a:pt x="143285" y="57216"/>
                </a:lnTo>
                <a:lnTo>
                  <a:pt x="149515" y="58782"/>
                </a:lnTo>
                <a:lnTo>
                  <a:pt x="155745" y="57216"/>
                </a:lnTo>
                <a:lnTo>
                  <a:pt x="161975" y="52683"/>
                </a:lnTo>
                <a:lnTo>
                  <a:pt x="168204" y="45664"/>
                </a:lnTo>
                <a:lnTo>
                  <a:pt x="174434" y="36905"/>
                </a:lnTo>
                <a:lnTo>
                  <a:pt x="180664" y="27334"/>
                </a:lnTo>
                <a:lnTo>
                  <a:pt x="186894" y="17969"/>
                </a:lnTo>
                <a:lnTo>
                  <a:pt x="193123" y="9803"/>
                </a:lnTo>
                <a:lnTo>
                  <a:pt x="199353" y="3702"/>
                </a:lnTo>
                <a:lnTo>
                  <a:pt x="205583" y="315"/>
                </a:lnTo>
                <a:lnTo>
                  <a:pt x="211813" y="0"/>
                </a:lnTo>
                <a:lnTo>
                  <a:pt x="218042" y="2792"/>
                </a:lnTo>
                <a:lnTo>
                  <a:pt x="224272" y="8393"/>
                </a:lnTo>
                <a:lnTo>
                  <a:pt x="230502" y="16210"/>
                </a:lnTo>
                <a:lnTo>
                  <a:pt x="236732" y="25412"/>
                </a:lnTo>
                <a:lnTo>
                  <a:pt x="242962" y="35024"/>
                </a:lnTo>
                <a:lnTo>
                  <a:pt x="249191" y="44024"/>
                </a:lnTo>
                <a:lnTo>
                  <a:pt x="255421" y="51457"/>
                </a:lnTo>
                <a:lnTo>
                  <a:pt x="261651" y="56535"/>
                </a:lnTo>
                <a:lnTo>
                  <a:pt x="267881" y="58719"/>
                </a:lnTo>
                <a:lnTo>
                  <a:pt x="274110" y="57776"/>
                </a:lnTo>
                <a:lnTo>
                  <a:pt x="280340" y="53808"/>
                </a:lnTo>
                <a:lnTo>
                  <a:pt x="286570" y="47234"/>
                </a:lnTo>
                <a:lnTo>
                  <a:pt x="292800" y="38753"/>
                </a:lnTo>
                <a:lnTo>
                  <a:pt x="299030" y="29265"/>
                </a:lnTo>
              </a:path>
            </a:pathLst>
          </a:custGeom>
          <a:noFill/>
          <a:ln w="21916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onventional absorption 1"/>
          <p:cNvSpPr/>
          <p:nvPr/>
        </p:nvSpPr>
        <p:spPr>
          <a:xfrm>
            <a:off x="4741312" y="2033672"/>
            <a:ext cx="179537" cy="17953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99000"/>
            </a:srgbClr>
          </a:solidFill>
          <a:ln w="5080">
            <a:solidFill>
              <a:srgbClr val="E64B35">
                <a:alpha val="99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onventional ohmic loss 2L"/>
          <p:cNvSpPr/>
          <p:nvPr/>
        </p:nvSpPr>
        <p:spPr>
          <a:xfrm>
            <a:off x="6200809" y="2064120"/>
            <a:ext cx="161156" cy="39562"/>
          </a:xfrm>
          <a:custGeom>
            <a:avLst/>
            <a:gdLst/>
            <a:ahLst/>
            <a:cxnLst/>
            <a:rect l="l" t="t" r="r" b="b"/>
            <a:pathLst>
              <a:path w="161156" h="39562">
                <a:moveTo>
                  <a:pt x="161156" y="19696"/>
                </a:moveTo>
                <a:lnTo>
                  <a:pt x="157798" y="26082"/>
                </a:lnTo>
                <a:lnTo>
                  <a:pt x="154441" y="31790"/>
                </a:lnTo>
                <a:lnTo>
                  <a:pt x="151083" y="36214"/>
                </a:lnTo>
                <a:lnTo>
                  <a:pt x="147726" y="38885"/>
                </a:lnTo>
                <a:lnTo>
                  <a:pt x="144369" y="39520"/>
                </a:lnTo>
                <a:lnTo>
                  <a:pt x="141011" y="38050"/>
                </a:lnTo>
                <a:lnTo>
                  <a:pt x="137654" y="34632"/>
                </a:lnTo>
                <a:lnTo>
                  <a:pt x="134296" y="29629"/>
                </a:lnTo>
                <a:lnTo>
                  <a:pt x="130939" y="23572"/>
                </a:lnTo>
                <a:lnTo>
                  <a:pt x="127582" y="17103"/>
                </a:lnTo>
                <a:lnTo>
                  <a:pt x="124224" y="10909"/>
                </a:lnTo>
                <a:lnTo>
                  <a:pt x="120867" y="5649"/>
                </a:lnTo>
                <a:lnTo>
                  <a:pt x="117509" y="1879"/>
                </a:lnTo>
                <a:lnTo>
                  <a:pt x="114152" y="0"/>
                </a:lnTo>
                <a:lnTo>
                  <a:pt x="110795" y="212"/>
                </a:lnTo>
                <a:lnTo>
                  <a:pt x="107437" y="2491"/>
                </a:lnTo>
                <a:lnTo>
                  <a:pt x="104080" y="6597"/>
                </a:lnTo>
                <a:lnTo>
                  <a:pt x="100722" y="12094"/>
                </a:lnTo>
                <a:lnTo>
                  <a:pt x="97365" y="18397"/>
                </a:lnTo>
                <a:lnTo>
                  <a:pt x="94008" y="24838"/>
                </a:lnTo>
                <a:lnTo>
                  <a:pt x="90650" y="30733"/>
                </a:lnTo>
                <a:lnTo>
                  <a:pt x="87293" y="35457"/>
                </a:lnTo>
                <a:lnTo>
                  <a:pt x="83935" y="38508"/>
                </a:lnTo>
                <a:lnTo>
                  <a:pt x="80578" y="39562"/>
                </a:lnTo>
                <a:lnTo>
                  <a:pt x="77220" y="38508"/>
                </a:lnTo>
                <a:lnTo>
                  <a:pt x="73863" y="35457"/>
                </a:lnTo>
                <a:lnTo>
                  <a:pt x="70506" y="30733"/>
                </a:lnTo>
                <a:lnTo>
                  <a:pt x="67148" y="24838"/>
                </a:lnTo>
                <a:lnTo>
                  <a:pt x="63791" y="18397"/>
                </a:lnTo>
                <a:lnTo>
                  <a:pt x="60433" y="12094"/>
                </a:lnTo>
                <a:lnTo>
                  <a:pt x="57076" y="6597"/>
                </a:lnTo>
                <a:lnTo>
                  <a:pt x="53719" y="2491"/>
                </a:lnTo>
                <a:lnTo>
                  <a:pt x="50361" y="212"/>
                </a:lnTo>
                <a:lnTo>
                  <a:pt x="47004" y="0"/>
                </a:lnTo>
                <a:lnTo>
                  <a:pt x="43646" y="1879"/>
                </a:lnTo>
                <a:lnTo>
                  <a:pt x="40289" y="5649"/>
                </a:lnTo>
                <a:lnTo>
                  <a:pt x="36932" y="10909"/>
                </a:lnTo>
                <a:lnTo>
                  <a:pt x="33574" y="17103"/>
                </a:lnTo>
                <a:lnTo>
                  <a:pt x="30217" y="23572"/>
                </a:lnTo>
                <a:lnTo>
                  <a:pt x="26859" y="29629"/>
                </a:lnTo>
                <a:lnTo>
                  <a:pt x="23502" y="34632"/>
                </a:lnTo>
                <a:lnTo>
                  <a:pt x="20145" y="38050"/>
                </a:lnTo>
                <a:lnTo>
                  <a:pt x="16787" y="39520"/>
                </a:lnTo>
                <a:lnTo>
                  <a:pt x="13430" y="38885"/>
                </a:lnTo>
                <a:lnTo>
                  <a:pt x="10072" y="36214"/>
                </a:lnTo>
                <a:lnTo>
                  <a:pt x="6715" y="31790"/>
                </a:lnTo>
                <a:lnTo>
                  <a:pt x="3358" y="26082"/>
                </a:lnTo>
                <a:lnTo>
                  <a:pt x="0" y="19696"/>
                </a:lnTo>
              </a:path>
            </a:pathLst>
          </a:custGeom>
          <a:noFill/>
          <a:ln w="16098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onventional ohmic loss 2R"/>
          <p:cNvSpPr/>
          <p:nvPr/>
        </p:nvSpPr>
        <p:spPr>
          <a:xfrm>
            <a:off x="6470115" y="2064120"/>
            <a:ext cx="161156" cy="39562"/>
          </a:xfrm>
          <a:custGeom>
            <a:avLst/>
            <a:gdLst/>
            <a:ahLst/>
            <a:cxnLst/>
            <a:rect l="l" t="t" r="r" b="b"/>
            <a:pathLst>
              <a:path w="161156" h="39562">
                <a:moveTo>
                  <a:pt x="0" y="19696"/>
                </a:moveTo>
                <a:lnTo>
                  <a:pt x="3358" y="26082"/>
                </a:lnTo>
                <a:lnTo>
                  <a:pt x="6715" y="31790"/>
                </a:lnTo>
                <a:lnTo>
                  <a:pt x="10073" y="36214"/>
                </a:lnTo>
                <a:lnTo>
                  <a:pt x="13430" y="38885"/>
                </a:lnTo>
                <a:lnTo>
                  <a:pt x="16787" y="39520"/>
                </a:lnTo>
                <a:lnTo>
                  <a:pt x="20145" y="38050"/>
                </a:lnTo>
                <a:lnTo>
                  <a:pt x="23502" y="34632"/>
                </a:lnTo>
                <a:lnTo>
                  <a:pt x="26860" y="29629"/>
                </a:lnTo>
                <a:lnTo>
                  <a:pt x="30217" y="23572"/>
                </a:lnTo>
                <a:lnTo>
                  <a:pt x="33574" y="17103"/>
                </a:lnTo>
                <a:lnTo>
                  <a:pt x="36932" y="10909"/>
                </a:lnTo>
                <a:lnTo>
                  <a:pt x="40289" y="5649"/>
                </a:lnTo>
                <a:lnTo>
                  <a:pt x="43647" y="1879"/>
                </a:lnTo>
                <a:lnTo>
                  <a:pt x="47004" y="0"/>
                </a:lnTo>
                <a:lnTo>
                  <a:pt x="50361" y="212"/>
                </a:lnTo>
                <a:lnTo>
                  <a:pt x="53719" y="2491"/>
                </a:lnTo>
                <a:lnTo>
                  <a:pt x="57076" y="6597"/>
                </a:lnTo>
                <a:lnTo>
                  <a:pt x="60434" y="12094"/>
                </a:lnTo>
                <a:lnTo>
                  <a:pt x="63791" y="18397"/>
                </a:lnTo>
                <a:lnTo>
                  <a:pt x="67148" y="24838"/>
                </a:lnTo>
                <a:lnTo>
                  <a:pt x="70506" y="30733"/>
                </a:lnTo>
                <a:lnTo>
                  <a:pt x="73863" y="35457"/>
                </a:lnTo>
                <a:lnTo>
                  <a:pt x="77221" y="38508"/>
                </a:lnTo>
                <a:lnTo>
                  <a:pt x="80578" y="39562"/>
                </a:lnTo>
                <a:lnTo>
                  <a:pt x="83936" y="38508"/>
                </a:lnTo>
                <a:lnTo>
                  <a:pt x="87293" y="35457"/>
                </a:lnTo>
                <a:lnTo>
                  <a:pt x="90650" y="30733"/>
                </a:lnTo>
                <a:lnTo>
                  <a:pt x="94008" y="24838"/>
                </a:lnTo>
                <a:lnTo>
                  <a:pt x="97365" y="18397"/>
                </a:lnTo>
                <a:lnTo>
                  <a:pt x="100723" y="12094"/>
                </a:lnTo>
                <a:lnTo>
                  <a:pt x="104080" y="6597"/>
                </a:lnTo>
                <a:lnTo>
                  <a:pt x="107437" y="2491"/>
                </a:lnTo>
                <a:lnTo>
                  <a:pt x="110795" y="212"/>
                </a:lnTo>
                <a:lnTo>
                  <a:pt x="114152" y="0"/>
                </a:lnTo>
                <a:lnTo>
                  <a:pt x="117510" y="1879"/>
                </a:lnTo>
                <a:lnTo>
                  <a:pt x="120867" y="5649"/>
                </a:lnTo>
                <a:lnTo>
                  <a:pt x="124224" y="10909"/>
                </a:lnTo>
                <a:lnTo>
                  <a:pt x="127582" y="17103"/>
                </a:lnTo>
                <a:lnTo>
                  <a:pt x="130939" y="23572"/>
                </a:lnTo>
                <a:lnTo>
                  <a:pt x="134297" y="29629"/>
                </a:lnTo>
                <a:lnTo>
                  <a:pt x="137654" y="34632"/>
                </a:lnTo>
                <a:lnTo>
                  <a:pt x="141011" y="38050"/>
                </a:lnTo>
                <a:lnTo>
                  <a:pt x="144369" y="39520"/>
                </a:lnTo>
                <a:lnTo>
                  <a:pt x="147726" y="38885"/>
                </a:lnTo>
                <a:lnTo>
                  <a:pt x="151084" y="36214"/>
                </a:lnTo>
                <a:lnTo>
                  <a:pt x="154441" y="31790"/>
                </a:lnTo>
                <a:lnTo>
                  <a:pt x="157798" y="26082"/>
                </a:lnTo>
                <a:lnTo>
                  <a:pt x="161156" y="19696"/>
                </a:lnTo>
              </a:path>
            </a:pathLst>
          </a:custGeom>
          <a:noFill/>
          <a:ln w="16098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onventional absorption 2"/>
          <p:cNvSpPr/>
          <p:nvPr/>
        </p:nvSpPr>
        <p:spPr>
          <a:xfrm>
            <a:off x="6355361" y="2062761"/>
            <a:ext cx="121359" cy="121359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70003"/>
            </a:srgbClr>
          </a:solidFill>
          <a:ln w="5080">
            <a:solidFill>
              <a:srgbClr val="E64B35">
                <a:alpha val="7000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onventional ohmic loss 3L"/>
          <p:cNvSpPr/>
          <p:nvPr/>
        </p:nvSpPr>
        <p:spPr>
          <a:xfrm>
            <a:off x="7859048" y="2068026"/>
            <a:ext cx="104870" cy="31716"/>
          </a:xfrm>
          <a:custGeom>
            <a:avLst/>
            <a:gdLst/>
            <a:ahLst/>
            <a:cxnLst/>
            <a:rect l="l" t="t" r="r" b="b"/>
            <a:pathLst>
              <a:path w="104870" h="31716">
                <a:moveTo>
                  <a:pt x="104870" y="15790"/>
                </a:moveTo>
                <a:lnTo>
                  <a:pt x="102685" y="20909"/>
                </a:lnTo>
                <a:lnTo>
                  <a:pt x="100500" y="25485"/>
                </a:lnTo>
                <a:lnTo>
                  <a:pt x="98316" y="29032"/>
                </a:lnTo>
                <a:lnTo>
                  <a:pt x="96131" y="31173"/>
                </a:lnTo>
                <a:lnTo>
                  <a:pt x="93946" y="31682"/>
                </a:lnTo>
                <a:lnTo>
                  <a:pt x="91761" y="30504"/>
                </a:lnTo>
                <a:lnTo>
                  <a:pt x="89576" y="27764"/>
                </a:lnTo>
                <a:lnTo>
                  <a:pt x="87392" y="23753"/>
                </a:lnTo>
                <a:lnTo>
                  <a:pt x="85207" y="18897"/>
                </a:lnTo>
                <a:lnTo>
                  <a:pt x="83022" y="13711"/>
                </a:lnTo>
                <a:lnTo>
                  <a:pt x="80837" y="8746"/>
                </a:lnTo>
                <a:lnTo>
                  <a:pt x="78652" y="4529"/>
                </a:lnTo>
                <a:lnTo>
                  <a:pt x="76468" y="1506"/>
                </a:lnTo>
                <a:lnTo>
                  <a:pt x="74283" y="0"/>
                </a:lnTo>
                <a:lnTo>
                  <a:pt x="72098" y="170"/>
                </a:lnTo>
                <a:lnTo>
                  <a:pt x="69913" y="1998"/>
                </a:lnTo>
                <a:lnTo>
                  <a:pt x="67729" y="5289"/>
                </a:lnTo>
                <a:lnTo>
                  <a:pt x="65544" y="9695"/>
                </a:lnTo>
                <a:lnTo>
                  <a:pt x="63359" y="14748"/>
                </a:lnTo>
                <a:lnTo>
                  <a:pt x="61174" y="19912"/>
                </a:lnTo>
                <a:lnTo>
                  <a:pt x="58989" y="24638"/>
                </a:lnTo>
                <a:lnTo>
                  <a:pt x="56805" y="28425"/>
                </a:lnTo>
                <a:lnTo>
                  <a:pt x="54620" y="30871"/>
                </a:lnTo>
                <a:lnTo>
                  <a:pt x="52435" y="31716"/>
                </a:lnTo>
                <a:lnTo>
                  <a:pt x="50250" y="30871"/>
                </a:lnTo>
                <a:lnTo>
                  <a:pt x="48065" y="28425"/>
                </a:lnTo>
                <a:lnTo>
                  <a:pt x="45881" y="24638"/>
                </a:lnTo>
                <a:lnTo>
                  <a:pt x="43696" y="19912"/>
                </a:lnTo>
                <a:lnTo>
                  <a:pt x="41511" y="14748"/>
                </a:lnTo>
                <a:lnTo>
                  <a:pt x="39326" y="9695"/>
                </a:lnTo>
                <a:lnTo>
                  <a:pt x="37141" y="5289"/>
                </a:lnTo>
                <a:lnTo>
                  <a:pt x="34957" y="1998"/>
                </a:lnTo>
                <a:lnTo>
                  <a:pt x="32772" y="170"/>
                </a:lnTo>
                <a:lnTo>
                  <a:pt x="30587" y="0"/>
                </a:lnTo>
                <a:lnTo>
                  <a:pt x="28402" y="1506"/>
                </a:lnTo>
                <a:lnTo>
                  <a:pt x="26217" y="4529"/>
                </a:lnTo>
                <a:lnTo>
                  <a:pt x="24033" y="8746"/>
                </a:lnTo>
                <a:lnTo>
                  <a:pt x="21848" y="13711"/>
                </a:lnTo>
                <a:lnTo>
                  <a:pt x="19663" y="18897"/>
                </a:lnTo>
                <a:lnTo>
                  <a:pt x="17478" y="23753"/>
                </a:lnTo>
                <a:lnTo>
                  <a:pt x="15294" y="27764"/>
                </a:lnTo>
                <a:lnTo>
                  <a:pt x="13109" y="30504"/>
                </a:lnTo>
                <a:lnTo>
                  <a:pt x="10924" y="31682"/>
                </a:lnTo>
                <a:lnTo>
                  <a:pt x="8739" y="31173"/>
                </a:lnTo>
                <a:lnTo>
                  <a:pt x="6554" y="29032"/>
                </a:lnTo>
                <a:lnTo>
                  <a:pt x="4370" y="25485"/>
                </a:lnTo>
                <a:lnTo>
                  <a:pt x="2185" y="20909"/>
                </a:lnTo>
                <a:lnTo>
                  <a:pt x="0" y="15790"/>
                </a:lnTo>
              </a:path>
            </a:pathLst>
          </a:custGeom>
          <a:noFill/>
          <a:ln w="12700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onventional ohmic loss 3R"/>
          <p:cNvSpPr/>
          <p:nvPr/>
        </p:nvSpPr>
        <p:spPr>
          <a:xfrm>
            <a:off x="8038082" y="2068026"/>
            <a:ext cx="104870" cy="31716"/>
          </a:xfrm>
          <a:custGeom>
            <a:avLst/>
            <a:gdLst/>
            <a:ahLst/>
            <a:cxnLst/>
            <a:rect l="l" t="t" r="r" b="b"/>
            <a:pathLst>
              <a:path w="104870" h="31716">
                <a:moveTo>
                  <a:pt x="0" y="15790"/>
                </a:moveTo>
                <a:lnTo>
                  <a:pt x="2185" y="20909"/>
                </a:lnTo>
                <a:lnTo>
                  <a:pt x="4370" y="25485"/>
                </a:lnTo>
                <a:lnTo>
                  <a:pt x="6554" y="29032"/>
                </a:lnTo>
                <a:lnTo>
                  <a:pt x="8739" y="31173"/>
                </a:lnTo>
                <a:lnTo>
                  <a:pt x="10924" y="31682"/>
                </a:lnTo>
                <a:lnTo>
                  <a:pt x="13109" y="30504"/>
                </a:lnTo>
                <a:lnTo>
                  <a:pt x="15294" y="27764"/>
                </a:lnTo>
                <a:lnTo>
                  <a:pt x="17478" y="23753"/>
                </a:lnTo>
                <a:lnTo>
                  <a:pt x="19663" y="18897"/>
                </a:lnTo>
                <a:lnTo>
                  <a:pt x="21848" y="13711"/>
                </a:lnTo>
                <a:lnTo>
                  <a:pt x="24033" y="8746"/>
                </a:lnTo>
                <a:lnTo>
                  <a:pt x="26218" y="4529"/>
                </a:lnTo>
                <a:lnTo>
                  <a:pt x="28402" y="1506"/>
                </a:lnTo>
                <a:lnTo>
                  <a:pt x="30587" y="0"/>
                </a:lnTo>
                <a:lnTo>
                  <a:pt x="32772" y="170"/>
                </a:lnTo>
                <a:lnTo>
                  <a:pt x="34957" y="1998"/>
                </a:lnTo>
                <a:lnTo>
                  <a:pt x="37141" y="5289"/>
                </a:lnTo>
                <a:lnTo>
                  <a:pt x="39326" y="9695"/>
                </a:lnTo>
                <a:lnTo>
                  <a:pt x="41511" y="14748"/>
                </a:lnTo>
                <a:lnTo>
                  <a:pt x="43696" y="19912"/>
                </a:lnTo>
                <a:lnTo>
                  <a:pt x="45881" y="24638"/>
                </a:lnTo>
                <a:lnTo>
                  <a:pt x="48065" y="28425"/>
                </a:lnTo>
                <a:lnTo>
                  <a:pt x="50250" y="30871"/>
                </a:lnTo>
                <a:lnTo>
                  <a:pt x="52435" y="31716"/>
                </a:lnTo>
                <a:lnTo>
                  <a:pt x="54620" y="30871"/>
                </a:lnTo>
                <a:lnTo>
                  <a:pt x="56805" y="28425"/>
                </a:lnTo>
                <a:lnTo>
                  <a:pt x="58989" y="24638"/>
                </a:lnTo>
                <a:lnTo>
                  <a:pt x="61174" y="19912"/>
                </a:lnTo>
                <a:lnTo>
                  <a:pt x="63359" y="14748"/>
                </a:lnTo>
                <a:lnTo>
                  <a:pt x="65544" y="9695"/>
                </a:lnTo>
                <a:lnTo>
                  <a:pt x="67729" y="5289"/>
                </a:lnTo>
                <a:lnTo>
                  <a:pt x="69913" y="1998"/>
                </a:lnTo>
                <a:lnTo>
                  <a:pt x="72098" y="170"/>
                </a:lnTo>
                <a:lnTo>
                  <a:pt x="74283" y="0"/>
                </a:lnTo>
                <a:lnTo>
                  <a:pt x="76468" y="1506"/>
                </a:lnTo>
                <a:lnTo>
                  <a:pt x="78653" y="4529"/>
                </a:lnTo>
                <a:lnTo>
                  <a:pt x="80837" y="8746"/>
                </a:lnTo>
                <a:lnTo>
                  <a:pt x="83022" y="13711"/>
                </a:lnTo>
                <a:lnTo>
                  <a:pt x="85207" y="18897"/>
                </a:lnTo>
                <a:lnTo>
                  <a:pt x="87392" y="23753"/>
                </a:lnTo>
                <a:lnTo>
                  <a:pt x="89576" y="27764"/>
                </a:lnTo>
                <a:lnTo>
                  <a:pt x="91761" y="30504"/>
                </a:lnTo>
                <a:lnTo>
                  <a:pt x="93946" y="31682"/>
                </a:lnTo>
                <a:lnTo>
                  <a:pt x="96131" y="31173"/>
                </a:lnTo>
                <a:lnTo>
                  <a:pt x="98316" y="29032"/>
                </a:lnTo>
                <a:lnTo>
                  <a:pt x="100500" y="25485"/>
                </a:lnTo>
                <a:lnTo>
                  <a:pt x="102685" y="20909"/>
                </a:lnTo>
                <a:lnTo>
                  <a:pt x="104870" y="15790"/>
                </a:lnTo>
              </a:path>
            </a:pathLst>
          </a:custGeom>
          <a:noFill/>
          <a:ln w="12700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onventional absorption 3"/>
          <p:cNvSpPr/>
          <p:nvPr/>
        </p:nvSpPr>
        <p:spPr>
          <a:xfrm>
            <a:off x="7957314" y="2079754"/>
            <a:ext cx="87372" cy="87372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8166"/>
            </a:srgbClr>
          </a:solidFill>
          <a:ln w="5080">
            <a:solidFill>
              <a:srgbClr val="E64B35">
                <a:alpha val="5816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onventional emitter"/>
          <p:cNvSpPr/>
          <p:nvPr/>
        </p:nvSpPr>
        <p:spPr>
          <a:xfrm>
            <a:off x="3249422" y="2007870"/>
            <a:ext cx="112268" cy="112268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onventional emitter core"/>
          <p:cNvSpPr/>
          <p:nvPr/>
        </p:nvSpPr>
        <p:spPr>
          <a:xfrm>
            <a:off x="3289706" y="2048154"/>
            <a:ext cx="31699" cy="31699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onventional metal name"/>
          <p:cNvSpPr txBox="1"/>
          <p:nvPr/>
        </p:nvSpPr>
        <p:spPr>
          <a:xfrm>
            <a:off x="4862068" y="2147570"/>
            <a:ext cx="38608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5191D"/>
                </a:solidFill>
                <a:latin typeface="Arial"/>
              </a:rPr>
              <a:t>Conventional metal electrode</a:t>
            </a:r>
          </a:p>
        </p:txBody>
      </p:sp>
      <p:pic>
        <p:nvPicPr>
          <p:cNvPr id="59" name="conventional render" descr="emitting_area_render_conventiona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-14224"/>
            <a:ext cx="2438400" cy="2438400"/>
          </a:xfrm>
          <a:prstGeom prst="rect">
            <a:avLst/>
          </a:prstGeom>
        </p:spPr>
      </p:pic>
      <p:sp>
        <p:nvSpPr>
          <p:cNvPr id="60" name="conventional: Organic layer"/>
          <p:cNvSpPr txBox="1"/>
          <p:nvPr/>
        </p:nvSpPr>
        <p:spPr>
          <a:xfrm>
            <a:off x="410560" y="1840155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Organic layer</a:t>
            </a:r>
          </a:p>
        </p:txBody>
      </p:sp>
      <p:sp>
        <p:nvSpPr>
          <p:cNvPr id="61" name="conventional: Transparent conductive oxide (TCO)"/>
          <p:cNvSpPr txBox="1"/>
          <p:nvPr/>
        </p:nvSpPr>
        <p:spPr>
          <a:xfrm>
            <a:off x="405790" y="1678958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Transparent conductive oxide (TCO)</a:t>
            </a:r>
          </a:p>
        </p:txBody>
      </p:sp>
      <p:sp>
        <p:nvSpPr>
          <p:cNvPr id="62" name="conventional: Glass"/>
          <p:cNvSpPr txBox="1"/>
          <p:nvPr/>
        </p:nvSpPr>
        <p:spPr>
          <a:xfrm>
            <a:off x="401297" y="1527163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Glass</a:t>
            </a:r>
          </a:p>
        </p:txBody>
      </p:sp>
      <p:sp>
        <p:nvSpPr>
          <p:cNvPr id="63" name="conventional: Outcoupling structure"/>
          <p:cNvSpPr txBox="1"/>
          <p:nvPr/>
        </p:nvSpPr>
        <p:spPr>
          <a:xfrm>
            <a:off x="396767" y="1374052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Outcoupling structure</a:t>
            </a:r>
          </a:p>
        </p:txBody>
      </p:sp>
      <p:sp>
        <p:nvSpPr>
          <p:cNvPr id="64" name="designrule lens 01"/>
          <p:cNvSpPr/>
          <p:nvPr/>
        </p:nvSpPr>
        <p:spPr>
          <a:xfrm>
            <a:off x="304800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designrule lens 02"/>
          <p:cNvSpPr/>
          <p:nvPr/>
        </p:nvSpPr>
        <p:spPr>
          <a:xfrm>
            <a:off x="344424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designrule lens 03"/>
          <p:cNvSpPr/>
          <p:nvPr/>
        </p:nvSpPr>
        <p:spPr>
          <a:xfrm>
            <a:off x="384048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designrule lens 04"/>
          <p:cNvSpPr/>
          <p:nvPr/>
        </p:nvSpPr>
        <p:spPr>
          <a:xfrm>
            <a:off x="423672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designrule lens 05"/>
          <p:cNvSpPr/>
          <p:nvPr/>
        </p:nvSpPr>
        <p:spPr>
          <a:xfrm>
            <a:off x="463296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designrule lens 06"/>
          <p:cNvSpPr/>
          <p:nvPr/>
        </p:nvSpPr>
        <p:spPr>
          <a:xfrm>
            <a:off x="502920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designrule lens 07"/>
          <p:cNvSpPr/>
          <p:nvPr/>
        </p:nvSpPr>
        <p:spPr>
          <a:xfrm>
            <a:off x="542544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designrule lens 08"/>
          <p:cNvSpPr/>
          <p:nvPr/>
        </p:nvSpPr>
        <p:spPr>
          <a:xfrm>
            <a:off x="582168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designrule lens 09"/>
          <p:cNvSpPr/>
          <p:nvPr/>
        </p:nvSpPr>
        <p:spPr>
          <a:xfrm>
            <a:off x="621792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designrule lens 10"/>
          <p:cNvSpPr/>
          <p:nvPr/>
        </p:nvSpPr>
        <p:spPr>
          <a:xfrm>
            <a:off x="661416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designrule lens 11"/>
          <p:cNvSpPr/>
          <p:nvPr/>
        </p:nvSpPr>
        <p:spPr>
          <a:xfrm>
            <a:off x="701040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designrule lens 12"/>
          <p:cNvSpPr/>
          <p:nvPr/>
        </p:nvSpPr>
        <p:spPr>
          <a:xfrm>
            <a:off x="740664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designrule lens 13"/>
          <p:cNvSpPr/>
          <p:nvPr/>
        </p:nvSpPr>
        <p:spPr>
          <a:xfrm>
            <a:off x="780288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designrule lens 14"/>
          <p:cNvSpPr/>
          <p:nvPr/>
        </p:nvSpPr>
        <p:spPr>
          <a:xfrm>
            <a:off x="819912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designrule lens 15"/>
          <p:cNvSpPr/>
          <p:nvPr/>
        </p:nvSpPr>
        <p:spPr>
          <a:xfrm>
            <a:off x="8595360" y="3495040"/>
            <a:ext cx="396240" cy="396240"/>
          </a:xfrm>
          <a:prstGeom prst="ellipse">
            <a:avLst/>
          </a:prstGeom>
          <a:solidFill>
            <a:srgbClr val="ECEFF1"/>
          </a:solidFill>
          <a:ln w="5588">
            <a:solidFill>
              <a:srgbClr val="9294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designrule glass"/>
          <p:cNvSpPr/>
          <p:nvPr/>
        </p:nvSpPr>
        <p:spPr>
          <a:xfrm>
            <a:off x="3048000" y="3693160"/>
            <a:ext cx="5943600" cy="567944"/>
          </a:xfrm>
          <a:prstGeom prst="rect">
            <a:avLst/>
          </a:prstGeom>
          <a:solidFill>
            <a:srgbClr val="D9E0E6"/>
          </a:solidFill>
          <a:ln w="6604">
            <a:solidFill>
              <a:srgbClr val="878B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designrule TCO"/>
          <p:cNvSpPr/>
          <p:nvPr/>
        </p:nvSpPr>
        <p:spPr>
          <a:xfrm>
            <a:off x="3048000" y="4261104"/>
            <a:ext cx="5943600" cy="105664"/>
          </a:xfrm>
          <a:prstGeom prst="rect">
            <a:avLst/>
          </a:prstGeom>
          <a:solidFill>
            <a:srgbClr val="BEDBE2"/>
          </a:solidFill>
          <a:ln w="5588">
            <a:solidFill>
              <a:srgbClr val="7688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designrule organic"/>
          <p:cNvSpPr/>
          <p:nvPr/>
        </p:nvSpPr>
        <p:spPr>
          <a:xfrm>
            <a:off x="3048000" y="4366768"/>
            <a:ext cx="5943600" cy="118872"/>
          </a:xfrm>
          <a:prstGeom prst="rect">
            <a:avLst/>
          </a:prstGeom>
          <a:solidFill>
            <a:srgbClr val="E6D6B8"/>
          </a:solidFill>
          <a:ln w="5588">
            <a:solidFill>
              <a:srgbClr val="8F85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designrule metal"/>
          <p:cNvSpPr/>
          <p:nvPr/>
        </p:nvSpPr>
        <p:spPr>
          <a:xfrm>
            <a:off x="3048000" y="4485640"/>
            <a:ext cx="5943600" cy="264160"/>
          </a:xfrm>
          <a:prstGeom prst="rect">
            <a:avLst/>
          </a:prstGeom>
          <a:solidFill>
            <a:srgbClr val="B5B2AB"/>
          </a:solidFill>
          <a:ln w="5588">
            <a:solidFill>
              <a:srgbClr val="706E6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designrule TCO loss 1L"/>
          <p:cNvSpPr/>
          <p:nvPr/>
        </p:nvSpPr>
        <p:spPr>
          <a:xfrm>
            <a:off x="4636592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esignrule TCO loss 1R"/>
          <p:cNvSpPr/>
          <p:nvPr/>
        </p:nvSpPr>
        <p:spPr>
          <a:xfrm>
            <a:off x="4953584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esignrule TCO loss 2L"/>
          <p:cNvSpPr/>
          <p:nvPr/>
        </p:nvSpPr>
        <p:spPr>
          <a:xfrm>
            <a:off x="6221552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esignrule TCO loss 2R"/>
          <p:cNvSpPr/>
          <p:nvPr/>
        </p:nvSpPr>
        <p:spPr>
          <a:xfrm>
            <a:off x="6538544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esignrule TCO loss 3L"/>
          <p:cNvSpPr/>
          <p:nvPr/>
        </p:nvSpPr>
        <p:spPr>
          <a:xfrm>
            <a:off x="7806512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esignrule TCO loss 3R"/>
          <p:cNvSpPr/>
          <p:nvPr/>
        </p:nvSpPr>
        <p:spPr>
          <a:xfrm>
            <a:off x="8123504" y="4306606"/>
            <a:ext cx="71984" cy="14660"/>
          </a:xfrm>
          <a:custGeom>
            <a:avLst/>
            <a:gdLst/>
            <a:ahLst/>
            <a:cxnLst/>
            <a:rect l="l" t="t" r="r" b="b"/>
            <a:pathLst>
              <a:path w="71984" h="14660">
                <a:moveTo>
                  <a:pt x="0" y="7330"/>
                </a:moveTo>
                <a:lnTo>
                  <a:pt x="1500" y="9227"/>
                </a:lnTo>
                <a:lnTo>
                  <a:pt x="3000" y="10995"/>
                </a:lnTo>
                <a:lnTo>
                  <a:pt x="4499" y="12513"/>
                </a:lnTo>
                <a:lnTo>
                  <a:pt x="5999" y="13678"/>
                </a:lnTo>
                <a:lnTo>
                  <a:pt x="7498" y="14411"/>
                </a:lnTo>
                <a:lnTo>
                  <a:pt x="8998" y="14660"/>
                </a:lnTo>
                <a:lnTo>
                  <a:pt x="10498" y="14411"/>
                </a:lnTo>
                <a:lnTo>
                  <a:pt x="11997" y="13678"/>
                </a:lnTo>
                <a:lnTo>
                  <a:pt x="13497" y="12513"/>
                </a:lnTo>
                <a:lnTo>
                  <a:pt x="14997" y="10995"/>
                </a:lnTo>
                <a:lnTo>
                  <a:pt x="16496" y="9227"/>
                </a:lnTo>
                <a:lnTo>
                  <a:pt x="17996" y="7330"/>
                </a:lnTo>
                <a:lnTo>
                  <a:pt x="19496" y="5433"/>
                </a:lnTo>
                <a:lnTo>
                  <a:pt x="20995" y="3665"/>
                </a:lnTo>
                <a:lnTo>
                  <a:pt x="22495" y="2147"/>
                </a:lnTo>
                <a:lnTo>
                  <a:pt x="23995" y="982"/>
                </a:lnTo>
                <a:lnTo>
                  <a:pt x="25494" y="249"/>
                </a:lnTo>
                <a:lnTo>
                  <a:pt x="26994" y="0"/>
                </a:lnTo>
                <a:lnTo>
                  <a:pt x="28494" y="249"/>
                </a:lnTo>
                <a:lnTo>
                  <a:pt x="29993" y="982"/>
                </a:lnTo>
                <a:lnTo>
                  <a:pt x="31493" y="2147"/>
                </a:lnTo>
                <a:lnTo>
                  <a:pt x="32993" y="3665"/>
                </a:lnTo>
                <a:lnTo>
                  <a:pt x="34492" y="5433"/>
                </a:lnTo>
                <a:lnTo>
                  <a:pt x="35992" y="7330"/>
                </a:lnTo>
                <a:lnTo>
                  <a:pt x="37492" y="9227"/>
                </a:lnTo>
                <a:lnTo>
                  <a:pt x="38991" y="10995"/>
                </a:lnTo>
                <a:lnTo>
                  <a:pt x="40491" y="12513"/>
                </a:lnTo>
                <a:lnTo>
                  <a:pt x="41991" y="13678"/>
                </a:lnTo>
                <a:lnTo>
                  <a:pt x="43490" y="14411"/>
                </a:lnTo>
                <a:lnTo>
                  <a:pt x="44990" y="14660"/>
                </a:lnTo>
                <a:lnTo>
                  <a:pt x="46490" y="14411"/>
                </a:lnTo>
                <a:lnTo>
                  <a:pt x="47989" y="13678"/>
                </a:lnTo>
                <a:lnTo>
                  <a:pt x="49489" y="12513"/>
                </a:lnTo>
                <a:lnTo>
                  <a:pt x="50989" y="10995"/>
                </a:lnTo>
                <a:lnTo>
                  <a:pt x="52488" y="9227"/>
                </a:lnTo>
                <a:lnTo>
                  <a:pt x="53988" y="7330"/>
                </a:lnTo>
                <a:lnTo>
                  <a:pt x="55488" y="5433"/>
                </a:lnTo>
                <a:lnTo>
                  <a:pt x="56987" y="3665"/>
                </a:lnTo>
                <a:lnTo>
                  <a:pt x="58487" y="2147"/>
                </a:lnTo>
                <a:lnTo>
                  <a:pt x="59987" y="982"/>
                </a:lnTo>
                <a:lnTo>
                  <a:pt x="61486" y="249"/>
                </a:lnTo>
                <a:lnTo>
                  <a:pt x="62986" y="0"/>
                </a:lnTo>
                <a:lnTo>
                  <a:pt x="64486" y="249"/>
                </a:lnTo>
                <a:lnTo>
                  <a:pt x="65985" y="982"/>
                </a:lnTo>
                <a:lnTo>
                  <a:pt x="67485" y="2147"/>
                </a:lnTo>
                <a:lnTo>
                  <a:pt x="68984" y="3665"/>
                </a:lnTo>
                <a:lnTo>
                  <a:pt x="70484" y="5433"/>
                </a:lnTo>
                <a:lnTo>
                  <a:pt x="71984" y="7330"/>
                </a:lnTo>
              </a:path>
            </a:pathLst>
          </a:custGeom>
          <a:noFill/>
          <a:ln w="6241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designrule ray emit"/>
          <p:cNvCxnSpPr/>
          <p:nvPr/>
        </p:nvCxnSpPr>
        <p:spPr>
          <a:xfrm flipV="1">
            <a:off x="3352444" y="3693160"/>
            <a:ext cx="686156" cy="686156"/>
          </a:xfrm>
          <a:prstGeom prst="line">
            <a:avLst/>
          </a:prstGeom>
          <a:ln w="6273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designrule ray down 1"/>
          <p:cNvCxnSpPr/>
          <p:nvPr/>
        </p:nvCxnSpPr>
        <p:spPr>
          <a:xfrm>
            <a:off x="4099357" y="3753917"/>
            <a:ext cx="689457" cy="689457"/>
          </a:xfrm>
          <a:prstGeom prst="line">
            <a:avLst/>
          </a:prstGeom>
          <a:ln w="4801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designrule ray up 1"/>
          <p:cNvCxnSpPr/>
          <p:nvPr/>
        </p:nvCxnSpPr>
        <p:spPr>
          <a:xfrm flipV="1">
            <a:off x="4873346" y="3693160"/>
            <a:ext cx="750214" cy="750214"/>
          </a:xfrm>
          <a:prstGeom prst="line">
            <a:avLst/>
          </a:prstGeom>
          <a:ln w="4693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designrule ray down 2"/>
          <p:cNvCxnSpPr/>
          <p:nvPr/>
        </p:nvCxnSpPr>
        <p:spPr>
          <a:xfrm>
            <a:off x="5684317" y="3753917"/>
            <a:ext cx="689457" cy="689457"/>
          </a:xfrm>
          <a:prstGeom prst="line">
            <a:avLst/>
          </a:prstGeom>
          <a:ln w="3592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designrule ray up 2"/>
          <p:cNvCxnSpPr/>
          <p:nvPr/>
        </p:nvCxnSpPr>
        <p:spPr>
          <a:xfrm flipV="1">
            <a:off x="6458306" y="3693160"/>
            <a:ext cx="750214" cy="750214"/>
          </a:xfrm>
          <a:prstGeom prst="line">
            <a:avLst/>
          </a:prstGeom>
          <a:ln w="3511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designrule ray down 3"/>
          <p:cNvCxnSpPr/>
          <p:nvPr/>
        </p:nvCxnSpPr>
        <p:spPr>
          <a:xfrm>
            <a:off x="7269277" y="3753917"/>
            <a:ext cx="689457" cy="689457"/>
          </a:xfrm>
          <a:prstGeom prst="line">
            <a:avLst/>
          </a:prstGeom>
          <a:ln w="2687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designrule ray up 3"/>
          <p:cNvCxnSpPr/>
          <p:nvPr/>
        </p:nvCxnSpPr>
        <p:spPr>
          <a:xfrm flipV="1">
            <a:off x="8043266" y="3693160"/>
            <a:ext cx="750214" cy="750214"/>
          </a:xfrm>
          <a:prstGeom prst="line">
            <a:avLst/>
          </a:prstGeom>
          <a:ln w="2627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designrule ray continues"/>
          <p:cNvCxnSpPr/>
          <p:nvPr/>
        </p:nvCxnSpPr>
        <p:spPr>
          <a:xfrm>
            <a:off x="8852916" y="3752596"/>
            <a:ext cx="138684" cy="138684"/>
          </a:xfrm>
          <a:prstGeom prst="line">
            <a:avLst/>
          </a:prstGeom>
          <a:ln w="20104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designrule escaping 1-1"/>
          <p:cNvCxnSpPr/>
          <p:nvPr/>
        </p:nvCxnSpPr>
        <p:spPr>
          <a:xfrm flipH="1" flipV="1">
            <a:off x="3630419" y="3195838"/>
            <a:ext cx="309121" cy="325745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designrule escaping 1-2"/>
          <p:cNvCxnSpPr/>
          <p:nvPr/>
        </p:nvCxnSpPr>
        <p:spPr>
          <a:xfrm flipH="1" flipV="1">
            <a:off x="3955493" y="2978249"/>
            <a:ext cx="65840" cy="517545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esignrule escaping 1-3"/>
          <p:cNvCxnSpPr/>
          <p:nvPr/>
        </p:nvCxnSpPr>
        <p:spPr>
          <a:xfrm flipV="1">
            <a:off x="4112817" y="3117004"/>
            <a:ext cx="244287" cy="392462"/>
          </a:xfrm>
          <a:prstGeom prst="line">
            <a:avLst/>
          </a:prstGeom>
          <a:ln w="3450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esignrule escaping 2-1"/>
          <p:cNvCxnSpPr/>
          <p:nvPr/>
        </p:nvCxnSpPr>
        <p:spPr>
          <a:xfrm flipH="1" flipV="1">
            <a:off x="5215379" y="3195838"/>
            <a:ext cx="309121" cy="325745"/>
          </a:xfrm>
          <a:prstGeom prst="line">
            <a:avLst/>
          </a:prstGeom>
          <a:ln w="2581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designrule escaping 2-2"/>
          <p:cNvCxnSpPr/>
          <p:nvPr/>
        </p:nvCxnSpPr>
        <p:spPr>
          <a:xfrm flipH="1" flipV="1">
            <a:off x="5540453" y="2978249"/>
            <a:ext cx="65840" cy="517545"/>
          </a:xfrm>
          <a:prstGeom prst="line">
            <a:avLst/>
          </a:prstGeom>
          <a:ln w="2581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designrule escaping 2-3"/>
          <p:cNvCxnSpPr/>
          <p:nvPr/>
        </p:nvCxnSpPr>
        <p:spPr>
          <a:xfrm flipV="1">
            <a:off x="5697777" y="3117004"/>
            <a:ext cx="244287" cy="392462"/>
          </a:xfrm>
          <a:prstGeom prst="line">
            <a:avLst/>
          </a:prstGeom>
          <a:ln w="2581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designrule escaping 3-1"/>
          <p:cNvCxnSpPr/>
          <p:nvPr/>
        </p:nvCxnSpPr>
        <p:spPr>
          <a:xfrm flipH="1" flipV="1">
            <a:off x="6800339" y="3195838"/>
            <a:ext cx="309121" cy="325745"/>
          </a:xfrm>
          <a:prstGeom prst="line">
            <a:avLst/>
          </a:prstGeom>
          <a:ln w="19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designrule escaping 3-2"/>
          <p:cNvCxnSpPr/>
          <p:nvPr/>
        </p:nvCxnSpPr>
        <p:spPr>
          <a:xfrm flipH="1" flipV="1">
            <a:off x="7125413" y="2978249"/>
            <a:ext cx="65840" cy="517545"/>
          </a:xfrm>
          <a:prstGeom prst="line">
            <a:avLst/>
          </a:prstGeom>
          <a:ln w="19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designrule escaping 3-3"/>
          <p:cNvCxnSpPr/>
          <p:nvPr/>
        </p:nvCxnSpPr>
        <p:spPr>
          <a:xfrm flipV="1">
            <a:off x="7282737" y="3117004"/>
            <a:ext cx="244287" cy="392462"/>
          </a:xfrm>
          <a:prstGeom prst="line">
            <a:avLst/>
          </a:prstGeom>
          <a:ln w="19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designrule escaping 4-1"/>
          <p:cNvCxnSpPr/>
          <p:nvPr/>
        </p:nvCxnSpPr>
        <p:spPr>
          <a:xfrm flipH="1" flipV="1">
            <a:off x="8385299" y="3195838"/>
            <a:ext cx="309121" cy="325745"/>
          </a:xfrm>
          <a:prstGeom prst="line">
            <a:avLst/>
          </a:prstGeom>
          <a:ln w="1444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designrule escaping 4-2"/>
          <p:cNvCxnSpPr/>
          <p:nvPr/>
        </p:nvCxnSpPr>
        <p:spPr>
          <a:xfrm flipH="1" flipV="1">
            <a:off x="8710373" y="2978249"/>
            <a:ext cx="65840" cy="517545"/>
          </a:xfrm>
          <a:prstGeom prst="line">
            <a:avLst/>
          </a:prstGeom>
          <a:ln w="1444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designrule escaping 4-3"/>
          <p:cNvCxnSpPr/>
          <p:nvPr/>
        </p:nvCxnSpPr>
        <p:spPr>
          <a:xfrm flipV="1">
            <a:off x="8867697" y="3117004"/>
            <a:ext cx="244287" cy="392462"/>
          </a:xfrm>
          <a:prstGeom prst="line">
            <a:avLst/>
          </a:prstGeom>
          <a:ln w="1444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designrule ohmic loss 1L"/>
          <p:cNvSpPr/>
          <p:nvPr/>
        </p:nvSpPr>
        <p:spPr>
          <a:xfrm>
            <a:off x="4718182" y="4431644"/>
            <a:ext cx="84439" cy="28868"/>
          </a:xfrm>
          <a:custGeom>
            <a:avLst/>
            <a:gdLst/>
            <a:ahLst/>
            <a:cxnLst/>
            <a:rect l="l" t="t" r="r" b="b"/>
            <a:pathLst>
              <a:path w="84439" h="28868">
                <a:moveTo>
                  <a:pt x="84439" y="14372"/>
                </a:moveTo>
                <a:lnTo>
                  <a:pt x="82680" y="19032"/>
                </a:lnTo>
                <a:lnTo>
                  <a:pt x="80921" y="23197"/>
                </a:lnTo>
                <a:lnTo>
                  <a:pt x="79162" y="26425"/>
                </a:lnTo>
                <a:lnTo>
                  <a:pt x="77402" y="28374"/>
                </a:lnTo>
                <a:lnTo>
                  <a:pt x="75643" y="28837"/>
                </a:lnTo>
                <a:lnTo>
                  <a:pt x="73884" y="27764"/>
                </a:lnTo>
                <a:lnTo>
                  <a:pt x="72125" y="25271"/>
                </a:lnTo>
                <a:lnTo>
                  <a:pt x="70366" y="21620"/>
                </a:lnTo>
                <a:lnTo>
                  <a:pt x="68607" y="17200"/>
                </a:lnTo>
                <a:lnTo>
                  <a:pt x="66848" y="12480"/>
                </a:lnTo>
                <a:lnTo>
                  <a:pt x="65088" y="7961"/>
                </a:lnTo>
                <a:lnTo>
                  <a:pt x="63329" y="4122"/>
                </a:lnTo>
                <a:lnTo>
                  <a:pt x="61570" y="1371"/>
                </a:lnTo>
                <a:lnTo>
                  <a:pt x="59811" y="0"/>
                </a:lnTo>
                <a:lnTo>
                  <a:pt x="58052" y="155"/>
                </a:lnTo>
                <a:lnTo>
                  <a:pt x="56293" y="1818"/>
                </a:lnTo>
                <a:lnTo>
                  <a:pt x="54534" y="4814"/>
                </a:lnTo>
                <a:lnTo>
                  <a:pt x="52774" y="8825"/>
                </a:lnTo>
                <a:lnTo>
                  <a:pt x="51015" y="13424"/>
                </a:lnTo>
                <a:lnTo>
                  <a:pt x="49256" y="18124"/>
                </a:lnTo>
                <a:lnTo>
                  <a:pt x="47497" y="22425"/>
                </a:lnTo>
                <a:lnTo>
                  <a:pt x="45738" y="25872"/>
                </a:lnTo>
                <a:lnTo>
                  <a:pt x="43979" y="28099"/>
                </a:lnTo>
                <a:lnTo>
                  <a:pt x="42220" y="28868"/>
                </a:lnTo>
                <a:lnTo>
                  <a:pt x="40460" y="28099"/>
                </a:lnTo>
                <a:lnTo>
                  <a:pt x="38701" y="25872"/>
                </a:lnTo>
                <a:lnTo>
                  <a:pt x="36942" y="22425"/>
                </a:lnTo>
                <a:lnTo>
                  <a:pt x="35183" y="18124"/>
                </a:lnTo>
                <a:lnTo>
                  <a:pt x="33424" y="13424"/>
                </a:lnTo>
                <a:lnTo>
                  <a:pt x="31665" y="8825"/>
                </a:lnTo>
                <a:lnTo>
                  <a:pt x="29906" y="4814"/>
                </a:lnTo>
                <a:lnTo>
                  <a:pt x="28146" y="1818"/>
                </a:lnTo>
                <a:lnTo>
                  <a:pt x="26387" y="155"/>
                </a:lnTo>
                <a:lnTo>
                  <a:pt x="24628" y="0"/>
                </a:lnTo>
                <a:lnTo>
                  <a:pt x="22869" y="1371"/>
                </a:lnTo>
                <a:lnTo>
                  <a:pt x="21110" y="4122"/>
                </a:lnTo>
                <a:lnTo>
                  <a:pt x="19351" y="7961"/>
                </a:lnTo>
                <a:lnTo>
                  <a:pt x="17592" y="12480"/>
                </a:lnTo>
                <a:lnTo>
                  <a:pt x="15832" y="17200"/>
                </a:lnTo>
                <a:lnTo>
                  <a:pt x="14073" y="21620"/>
                </a:lnTo>
                <a:lnTo>
                  <a:pt x="12314" y="25271"/>
                </a:lnTo>
                <a:lnTo>
                  <a:pt x="10555" y="27764"/>
                </a:lnTo>
                <a:lnTo>
                  <a:pt x="8796" y="28837"/>
                </a:lnTo>
                <a:lnTo>
                  <a:pt x="7037" y="28374"/>
                </a:lnTo>
                <a:lnTo>
                  <a:pt x="5278" y="26425"/>
                </a:lnTo>
                <a:lnTo>
                  <a:pt x="3519" y="23197"/>
                </a:lnTo>
                <a:lnTo>
                  <a:pt x="1759" y="19032"/>
                </a:lnTo>
                <a:lnTo>
                  <a:pt x="0" y="14372"/>
                </a:lnTo>
              </a:path>
            </a:pathLst>
          </a:custGeom>
          <a:noFill/>
          <a:ln w="10975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esignrule ohmic loss 1R"/>
          <p:cNvSpPr/>
          <p:nvPr/>
        </p:nvSpPr>
        <p:spPr>
          <a:xfrm>
            <a:off x="4859539" y="4431644"/>
            <a:ext cx="84439" cy="28868"/>
          </a:xfrm>
          <a:custGeom>
            <a:avLst/>
            <a:gdLst/>
            <a:ahLst/>
            <a:cxnLst/>
            <a:rect l="l" t="t" r="r" b="b"/>
            <a:pathLst>
              <a:path w="84439" h="28868">
                <a:moveTo>
                  <a:pt x="0" y="14372"/>
                </a:moveTo>
                <a:lnTo>
                  <a:pt x="1759" y="19032"/>
                </a:lnTo>
                <a:lnTo>
                  <a:pt x="3518" y="23197"/>
                </a:lnTo>
                <a:lnTo>
                  <a:pt x="5277" y="26425"/>
                </a:lnTo>
                <a:lnTo>
                  <a:pt x="7037" y="28374"/>
                </a:lnTo>
                <a:lnTo>
                  <a:pt x="8796" y="28837"/>
                </a:lnTo>
                <a:lnTo>
                  <a:pt x="10555" y="27764"/>
                </a:lnTo>
                <a:lnTo>
                  <a:pt x="12314" y="25271"/>
                </a:lnTo>
                <a:lnTo>
                  <a:pt x="14073" y="21620"/>
                </a:lnTo>
                <a:lnTo>
                  <a:pt x="15832" y="17200"/>
                </a:lnTo>
                <a:lnTo>
                  <a:pt x="17591" y="12480"/>
                </a:lnTo>
                <a:lnTo>
                  <a:pt x="19351" y="7961"/>
                </a:lnTo>
                <a:lnTo>
                  <a:pt x="21110" y="4122"/>
                </a:lnTo>
                <a:lnTo>
                  <a:pt x="22869" y="1371"/>
                </a:lnTo>
                <a:lnTo>
                  <a:pt x="24628" y="0"/>
                </a:lnTo>
                <a:lnTo>
                  <a:pt x="26387" y="155"/>
                </a:lnTo>
                <a:lnTo>
                  <a:pt x="28146" y="1818"/>
                </a:lnTo>
                <a:lnTo>
                  <a:pt x="29905" y="4814"/>
                </a:lnTo>
                <a:lnTo>
                  <a:pt x="31665" y="8825"/>
                </a:lnTo>
                <a:lnTo>
                  <a:pt x="33424" y="13424"/>
                </a:lnTo>
                <a:lnTo>
                  <a:pt x="35183" y="18124"/>
                </a:lnTo>
                <a:lnTo>
                  <a:pt x="36942" y="22425"/>
                </a:lnTo>
                <a:lnTo>
                  <a:pt x="38701" y="25872"/>
                </a:lnTo>
                <a:lnTo>
                  <a:pt x="40460" y="28099"/>
                </a:lnTo>
                <a:lnTo>
                  <a:pt x="42219" y="28868"/>
                </a:lnTo>
                <a:lnTo>
                  <a:pt x="43979" y="28099"/>
                </a:lnTo>
                <a:lnTo>
                  <a:pt x="45738" y="25872"/>
                </a:lnTo>
                <a:lnTo>
                  <a:pt x="47497" y="22425"/>
                </a:lnTo>
                <a:lnTo>
                  <a:pt x="49256" y="18124"/>
                </a:lnTo>
                <a:lnTo>
                  <a:pt x="51015" y="13424"/>
                </a:lnTo>
                <a:lnTo>
                  <a:pt x="52774" y="8825"/>
                </a:lnTo>
                <a:lnTo>
                  <a:pt x="54533" y="4814"/>
                </a:lnTo>
                <a:lnTo>
                  <a:pt x="56293" y="1818"/>
                </a:lnTo>
                <a:lnTo>
                  <a:pt x="58052" y="155"/>
                </a:lnTo>
                <a:lnTo>
                  <a:pt x="59811" y="0"/>
                </a:lnTo>
                <a:lnTo>
                  <a:pt x="61570" y="1371"/>
                </a:lnTo>
                <a:lnTo>
                  <a:pt x="63329" y="4122"/>
                </a:lnTo>
                <a:lnTo>
                  <a:pt x="65088" y="7961"/>
                </a:lnTo>
                <a:lnTo>
                  <a:pt x="66847" y="12480"/>
                </a:lnTo>
                <a:lnTo>
                  <a:pt x="68607" y="17200"/>
                </a:lnTo>
                <a:lnTo>
                  <a:pt x="70366" y="21620"/>
                </a:lnTo>
                <a:lnTo>
                  <a:pt x="72125" y="25271"/>
                </a:lnTo>
                <a:lnTo>
                  <a:pt x="73884" y="27764"/>
                </a:lnTo>
                <a:lnTo>
                  <a:pt x="75643" y="28837"/>
                </a:lnTo>
                <a:lnTo>
                  <a:pt x="77402" y="28374"/>
                </a:lnTo>
                <a:lnTo>
                  <a:pt x="79161" y="26425"/>
                </a:lnTo>
                <a:lnTo>
                  <a:pt x="80920" y="23197"/>
                </a:lnTo>
                <a:lnTo>
                  <a:pt x="82680" y="19032"/>
                </a:lnTo>
                <a:lnTo>
                  <a:pt x="84439" y="14372"/>
                </a:lnTo>
              </a:path>
            </a:pathLst>
          </a:custGeom>
          <a:noFill/>
          <a:ln w="10975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designrule absorption 1"/>
          <p:cNvSpPr/>
          <p:nvPr/>
        </p:nvSpPr>
        <p:spPr>
          <a:xfrm>
            <a:off x="4796017" y="4450577"/>
            <a:ext cx="70126" cy="70126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869"/>
            </a:srgbClr>
          </a:solidFill>
          <a:ln w="5080">
            <a:solidFill>
              <a:srgbClr val="E64B35">
                <a:alpha val="5386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designrule ohmic loss 2L"/>
          <p:cNvSpPr/>
          <p:nvPr/>
        </p:nvSpPr>
        <p:spPr>
          <a:xfrm>
            <a:off x="6312205" y="4432054"/>
            <a:ext cx="78535" cy="28045"/>
          </a:xfrm>
          <a:custGeom>
            <a:avLst/>
            <a:gdLst/>
            <a:ahLst/>
            <a:cxnLst/>
            <a:rect l="l" t="t" r="r" b="b"/>
            <a:pathLst>
              <a:path w="78535" h="28045">
                <a:moveTo>
                  <a:pt x="78535" y="13962"/>
                </a:moveTo>
                <a:lnTo>
                  <a:pt x="76899" y="18489"/>
                </a:lnTo>
                <a:lnTo>
                  <a:pt x="75263" y="22535"/>
                </a:lnTo>
                <a:lnTo>
                  <a:pt x="73627" y="25671"/>
                </a:lnTo>
                <a:lnTo>
                  <a:pt x="71991" y="27565"/>
                </a:lnTo>
                <a:lnTo>
                  <a:pt x="70355" y="28015"/>
                </a:lnTo>
                <a:lnTo>
                  <a:pt x="68719" y="26973"/>
                </a:lnTo>
                <a:lnTo>
                  <a:pt x="67082" y="24550"/>
                </a:lnTo>
                <a:lnTo>
                  <a:pt x="65446" y="21003"/>
                </a:lnTo>
                <a:lnTo>
                  <a:pt x="63810" y="16709"/>
                </a:lnTo>
                <a:lnTo>
                  <a:pt x="62174" y="12124"/>
                </a:lnTo>
                <a:lnTo>
                  <a:pt x="60538" y="7733"/>
                </a:lnTo>
                <a:lnTo>
                  <a:pt x="58902" y="4004"/>
                </a:lnTo>
                <a:lnTo>
                  <a:pt x="57265" y="1332"/>
                </a:lnTo>
                <a:lnTo>
                  <a:pt x="55629" y="0"/>
                </a:lnTo>
                <a:lnTo>
                  <a:pt x="53993" y="150"/>
                </a:lnTo>
                <a:lnTo>
                  <a:pt x="52357" y="1766"/>
                </a:lnTo>
                <a:lnTo>
                  <a:pt x="50721" y="4677"/>
                </a:lnTo>
                <a:lnTo>
                  <a:pt x="49085" y="8573"/>
                </a:lnTo>
                <a:lnTo>
                  <a:pt x="47448" y="13041"/>
                </a:lnTo>
                <a:lnTo>
                  <a:pt x="45812" y="17607"/>
                </a:lnTo>
                <a:lnTo>
                  <a:pt x="44176" y="21786"/>
                </a:lnTo>
                <a:lnTo>
                  <a:pt x="42540" y="25135"/>
                </a:lnTo>
                <a:lnTo>
                  <a:pt x="40904" y="27297"/>
                </a:lnTo>
                <a:lnTo>
                  <a:pt x="39268" y="28045"/>
                </a:lnTo>
                <a:lnTo>
                  <a:pt x="37631" y="27297"/>
                </a:lnTo>
                <a:lnTo>
                  <a:pt x="35995" y="25135"/>
                </a:lnTo>
                <a:lnTo>
                  <a:pt x="34359" y="21786"/>
                </a:lnTo>
                <a:lnTo>
                  <a:pt x="32723" y="17607"/>
                </a:lnTo>
                <a:lnTo>
                  <a:pt x="31087" y="13041"/>
                </a:lnTo>
                <a:lnTo>
                  <a:pt x="29451" y="8573"/>
                </a:lnTo>
                <a:lnTo>
                  <a:pt x="27815" y="4677"/>
                </a:lnTo>
                <a:lnTo>
                  <a:pt x="26178" y="1766"/>
                </a:lnTo>
                <a:lnTo>
                  <a:pt x="24542" y="150"/>
                </a:lnTo>
                <a:lnTo>
                  <a:pt x="22906" y="0"/>
                </a:lnTo>
                <a:lnTo>
                  <a:pt x="21270" y="1332"/>
                </a:lnTo>
                <a:lnTo>
                  <a:pt x="19634" y="4004"/>
                </a:lnTo>
                <a:lnTo>
                  <a:pt x="17998" y="7733"/>
                </a:lnTo>
                <a:lnTo>
                  <a:pt x="16361" y="12124"/>
                </a:lnTo>
                <a:lnTo>
                  <a:pt x="14725" y="16709"/>
                </a:lnTo>
                <a:lnTo>
                  <a:pt x="13089" y="21003"/>
                </a:lnTo>
                <a:lnTo>
                  <a:pt x="11453" y="24550"/>
                </a:lnTo>
                <a:lnTo>
                  <a:pt x="9817" y="26973"/>
                </a:lnTo>
                <a:lnTo>
                  <a:pt x="8181" y="28015"/>
                </a:lnTo>
                <a:lnTo>
                  <a:pt x="6544" y="27565"/>
                </a:lnTo>
                <a:lnTo>
                  <a:pt x="4908" y="25671"/>
                </a:lnTo>
                <a:lnTo>
                  <a:pt x="3272" y="22535"/>
                </a:lnTo>
                <a:lnTo>
                  <a:pt x="1636" y="18489"/>
                </a:lnTo>
                <a:lnTo>
                  <a:pt x="0" y="13962"/>
                </a:lnTo>
              </a:path>
            </a:pathLst>
          </a:custGeom>
          <a:noFill/>
          <a:ln w="10343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esignrule ohmic loss 2R"/>
          <p:cNvSpPr/>
          <p:nvPr/>
        </p:nvSpPr>
        <p:spPr>
          <a:xfrm>
            <a:off x="6441340" y="4432054"/>
            <a:ext cx="78535" cy="28045"/>
          </a:xfrm>
          <a:custGeom>
            <a:avLst/>
            <a:gdLst/>
            <a:ahLst/>
            <a:cxnLst/>
            <a:rect l="l" t="t" r="r" b="b"/>
            <a:pathLst>
              <a:path w="78535" h="28045">
                <a:moveTo>
                  <a:pt x="0" y="13962"/>
                </a:moveTo>
                <a:lnTo>
                  <a:pt x="1636" y="18489"/>
                </a:lnTo>
                <a:lnTo>
                  <a:pt x="3272" y="22535"/>
                </a:lnTo>
                <a:lnTo>
                  <a:pt x="4908" y="25671"/>
                </a:lnTo>
                <a:lnTo>
                  <a:pt x="6544" y="27565"/>
                </a:lnTo>
                <a:lnTo>
                  <a:pt x="8180" y="28015"/>
                </a:lnTo>
                <a:lnTo>
                  <a:pt x="9816" y="26973"/>
                </a:lnTo>
                <a:lnTo>
                  <a:pt x="11453" y="24550"/>
                </a:lnTo>
                <a:lnTo>
                  <a:pt x="13089" y="21003"/>
                </a:lnTo>
                <a:lnTo>
                  <a:pt x="14725" y="16709"/>
                </a:lnTo>
                <a:lnTo>
                  <a:pt x="16361" y="12124"/>
                </a:lnTo>
                <a:lnTo>
                  <a:pt x="17997" y="7733"/>
                </a:lnTo>
                <a:lnTo>
                  <a:pt x="19633" y="4004"/>
                </a:lnTo>
                <a:lnTo>
                  <a:pt x="21270" y="1332"/>
                </a:lnTo>
                <a:lnTo>
                  <a:pt x="22906" y="0"/>
                </a:lnTo>
                <a:lnTo>
                  <a:pt x="24542" y="150"/>
                </a:lnTo>
                <a:lnTo>
                  <a:pt x="26178" y="1766"/>
                </a:lnTo>
                <a:lnTo>
                  <a:pt x="27814" y="4677"/>
                </a:lnTo>
                <a:lnTo>
                  <a:pt x="29450" y="8573"/>
                </a:lnTo>
                <a:lnTo>
                  <a:pt x="31087" y="13041"/>
                </a:lnTo>
                <a:lnTo>
                  <a:pt x="32723" y="17607"/>
                </a:lnTo>
                <a:lnTo>
                  <a:pt x="34359" y="21786"/>
                </a:lnTo>
                <a:lnTo>
                  <a:pt x="35995" y="25135"/>
                </a:lnTo>
                <a:lnTo>
                  <a:pt x="37631" y="27297"/>
                </a:lnTo>
                <a:lnTo>
                  <a:pt x="39267" y="28045"/>
                </a:lnTo>
                <a:lnTo>
                  <a:pt x="40904" y="27297"/>
                </a:lnTo>
                <a:lnTo>
                  <a:pt x="42540" y="25135"/>
                </a:lnTo>
                <a:lnTo>
                  <a:pt x="44176" y="21786"/>
                </a:lnTo>
                <a:lnTo>
                  <a:pt x="45812" y="17607"/>
                </a:lnTo>
                <a:lnTo>
                  <a:pt x="47448" y="13041"/>
                </a:lnTo>
                <a:lnTo>
                  <a:pt x="49084" y="8573"/>
                </a:lnTo>
                <a:lnTo>
                  <a:pt x="50720" y="4677"/>
                </a:lnTo>
                <a:lnTo>
                  <a:pt x="52357" y="1766"/>
                </a:lnTo>
                <a:lnTo>
                  <a:pt x="53993" y="150"/>
                </a:lnTo>
                <a:lnTo>
                  <a:pt x="55629" y="0"/>
                </a:lnTo>
                <a:lnTo>
                  <a:pt x="57265" y="1332"/>
                </a:lnTo>
                <a:lnTo>
                  <a:pt x="58901" y="4004"/>
                </a:lnTo>
                <a:lnTo>
                  <a:pt x="60537" y="7733"/>
                </a:lnTo>
                <a:lnTo>
                  <a:pt x="62174" y="12124"/>
                </a:lnTo>
                <a:lnTo>
                  <a:pt x="63810" y="16709"/>
                </a:lnTo>
                <a:lnTo>
                  <a:pt x="65446" y="21003"/>
                </a:lnTo>
                <a:lnTo>
                  <a:pt x="67082" y="24550"/>
                </a:lnTo>
                <a:lnTo>
                  <a:pt x="68718" y="26973"/>
                </a:lnTo>
                <a:lnTo>
                  <a:pt x="70354" y="28015"/>
                </a:lnTo>
                <a:lnTo>
                  <a:pt x="71991" y="27565"/>
                </a:lnTo>
                <a:lnTo>
                  <a:pt x="73627" y="25671"/>
                </a:lnTo>
                <a:lnTo>
                  <a:pt x="75263" y="22535"/>
                </a:lnTo>
                <a:lnTo>
                  <a:pt x="76899" y="18489"/>
                </a:lnTo>
                <a:lnTo>
                  <a:pt x="78535" y="13962"/>
                </a:lnTo>
              </a:path>
            </a:pathLst>
          </a:custGeom>
          <a:noFill/>
          <a:ln w="10343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designrule absorption 2"/>
          <p:cNvSpPr/>
          <p:nvPr/>
        </p:nvSpPr>
        <p:spPr>
          <a:xfrm>
            <a:off x="6384136" y="4453736"/>
            <a:ext cx="63807" cy="6380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2627"/>
            </a:srgbClr>
          </a:solidFill>
          <a:ln w="5080">
            <a:solidFill>
              <a:srgbClr val="E64B35">
                <a:alpha val="5262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designrule ohmic loss 3L"/>
          <p:cNvSpPr/>
          <p:nvPr/>
        </p:nvSpPr>
        <p:spPr>
          <a:xfrm>
            <a:off x="7903679" y="4432332"/>
            <a:ext cx="74526" cy="27486"/>
          </a:xfrm>
          <a:custGeom>
            <a:avLst/>
            <a:gdLst/>
            <a:ahLst/>
            <a:cxnLst/>
            <a:rect l="l" t="t" r="r" b="b"/>
            <a:pathLst>
              <a:path w="74526" h="27486">
                <a:moveTo>
                  <a:pt x="74526" y="13684"/>
                </a:moveTo>
                <a:lnTo>
                  <a:pt x="72974" y="18121"/>
                </a:lnTo>
                <a:lnTo>
                  <a:pt x="71421" y="22086"/>
                </a:lnTo>
                <a:lnTo>
                  <a:pt x="69869" y="25160"/>
                </a:lnTo>
                <a:lnTo>
                  <a:pt x="68316" y="27016"/>
                </a:lnTo>
                <a:lnTo>
                  <a:pt x="66763" y="27457"/>
                </a:lnTo>
                <a:lnTo>
                  <a:pt x="65211" y="26435"/>
                </a:lnTo>
                <a:lnTo>
                  <a:pt x="63658" y="24061"/>
                </a:lnTo>
                <a:lnTo>
                  <a:pt x="62105" y="20585"/>
                </a:lnTo>
                <a:lnTo>
                  <a:pt x="60553" y="16377"/>
                </a:lnTo>
                <a:lnTo>
                  <a:pt x="59000" y="11882"/>
                </a:lnTo>
                <a:lnTo>
                  <a:pt x="57447" y="7580"/>
                </a:lnTo>
                <a:lnTo>
                  <a:pt x="55895" y="3924"/>
                </a:lnTo>
                <a:lnTo>
                  <a:pt x="54342" y="1305"/>
                </a:lnTo>
                <a:lnTo>
                  <a:pt x="52790" y="0"/>
                </a:lnTo>
                <a:lnTo>
                  <a:pt x="51237" y="147"/>
                </a:lnTo>
                <a:lnTo>
                  <a:pt x="49684" y="1731"/>
                </a:lnTo>
                <a:lnTo>
                  <a:pt x="48132" y="4584"/>
                </a:lnTo>
                <a:lnTo>
                  <a:pt x="46579" y="8402"/>
                </a:lnTo>
                <a:lnTo>
                  <a:pt x="45026" y="12781"/>
                </a:lnTo>
                <a:lnTo>
                  <a:pt x="43474" y="17256"/>
                </a:lnTo>
                <a:lnTo>
                  <a:pt x="41921" y="21352"/>
                </a:lnTo>
                <a:lnTo>
                  <a:pt x="40368" y="24634"/>
                </a:lnTo>
                <a:lnTo>
                  <a:pt x="38816" y="26754"/>
                </a:lnTo>
                <a:lnTo>
                  <a:pt x="37263" y="27486"/>
                </a:lnTo>
                <a:lnTo>
                  <a:pt x="35711" y="26754"/>
                </a:lnTo>
                <a:lnTo>
                  <a:pt x="34158" y="24634"/>
                </a:lnTo>
                <a:lnTo>
                  <a:pt x="32605" y="21352"/>
                </a:lnTo>
                <a:lnTo>
                  <a:pt x="31053" y="17256"/>
                </a:lnTo>
                <a:lnTo>
                  <a:pt x="29500" y="12781"/>
                </a:lnTo>
                <a:lnTo>
                  <a:pt x="27947" y="8402"/>
                </a:lnTo>
                <a:lnTo>
                  <a:pt x="26395" y="4584"/>
                </a:lnTo>
                <a:lnTo>
                  <a:pt x="24842" y="1731"/>
                </a:lnTo>
                <a:lnTo>
                  <a:pt x="23289" y="147"/>
                </a:lnTo>
                <a:lnTo>
                  <a:pt x="21737" y="0"/>
                </a:lnTo>
                <a:lnTo>
                  <a:pt x="20184" y="1305"/>
                </a:lnTo>
                <a:lnTo>
                  <a:pt x="18632" y="3924"/>
                </a:lnTo>
                <a:lnTo>
                  <a:pt x="17079" y="7580"/>
                </a:lnTo>
                <a:lnTo>
                  <a:pt x="15526" y="11882"/>
                </a:lnTo>
                <a:lnTo>
                  <a:pt x="13974" y="16377"/>
                </a:lnTo>
                <a:lnTo>
                  <a:pt x="12421" y="20585"/>
                </a:lnTo>
                <a:lnTo>
                  <a:pt x="10868" y="24061"/>
                </a:lnTo>
                <a:lnTo>
                  <a:pt x="9316" y="26435"/>
                </a:lnTo>
                <a:lnTo>
                  <a:pt x="7763" y="27457"/>
                </a:lnTo>
                <a:lnTo>
                  <a:pt x="6210" y="27016"/>
                </a:lnTo>
                <a:lnTo>
                  <a:pt x="4658" y="25160"/>
                </a:lnTo>
                <a:lnTo>
                  <a:pt x="3105" y="22086"/>
                </a:lnTo>
                <a:lnTo>
                  <a:pt x="1553" y="18121"/>
                </a:lnTo>
                <a:lnTo>
                  <a:pt x="0" y="13684"/>
                </a:lnTo>
              </a:path>
            </a:pathLst>
          </a:custGeom>
          <a:noFill/>
          <a:ln w="9842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designrule ohmic loss 3R"/>
          <p:cNvSpPr/>
          <p:nvPr/>
        </p:nvSpPr>
        <p:spPr>
          <a:xfrm>
            <a:off x="8023795" y="4432332"/>
            <a:ext cx="74526" cy="27486"/>
          </a:xfrm>
          <a:custGeom>
            <a:avLst/>
            <a:gdLst/>
            <a:ahLst/>
            <a:cxnLst/>
            <a:rect l="l" t="t" r="r" b="b"/>
            <a:pathLst>
              <a:path w="74526" h="27486">
                <a:moveTo>
                  <a:pt x="0" y="13684"/>
                </a:moveTo>
                <a:lnTo>
                  <a:pt x="1552" y="18121"/>
                </a:lnTo>
                <a:lnTo>
                  <a:pt x="3105" y="22086"/>
                </a:lnTo>
                <a:lnTo>
                  <a:pt x="4657" y="25160"/>
                </a:lnTo>
                <a:lnTo>
                  <a:pt x="6210" y="27016"/>
                </a:lnTo>
                <a:lnTo>
                  <a:pt x="7763" y="27457"/>
                </a:lnTo>
                <a:lnTo>
                  <a:pt x="9315" y="26435"/>
                </a:lnTo>
                <a:lnTo>
                  <a:pt x="10868" y="24061"/>
                </a:lnTo>
                <a:lnTo>
                  <a:pt x="12421" y="20585"/>
                </a:lnTo>
                <a:lnTo>
                  <a:pt x="13973" y="16377"/>
                </a:lnTo>
                <a:lnTo>
                  <a:pt x="15526" y="11882"/>
                </a:lnTo>
                <a:lnTo>
                  <a:pt x="17079" y="7580"/>
                </a:lnTo>
                <a:lnTo>
                  <a:pt x="18631" y="3924"/>
                </a:lnTo>
                <a:lnTo>
                  <a:pt x="20184" y="1305"/>
                </a:lnTo>
                <a:lnTo>
                  <a:pt x="21736" y="0"/>
                </a:lnTo>
                <a:lnTo>
                  <a:pt x="23289" y="147"/>
                </a:lnTo>
                <a:lnTo>
                  <a:pt x="24842" y="1731"/>
                </a:lnTo>
                <a:lnTo>
                  <a:pt x="26394" y="4584"/>
                </a:lnTo>
                <a:lnTo>
                  <a:pt x="27947" y="8402"/>
                </a:lnTo>
                <a:lnTo>
                  <a:pt x="29500" y="12781"/>
                </a:lnTo>
                <a:lnTo>
                  <a:pt x="31052" y="17256"/>
                </a:lnTo>
                <a:lnTo>
                  <a:pt x="32605" y="21352"/>
                </a:lnTo>
                <a:lnTo>
                  <a:pt x="34158" y="24634"/>
                </a:lnTo>
                <a:lnTo>
                  <a:pt x="35710" y="26754"/>
                </a:lnTo>
                <a:lnTo>
                  <a:pt x="37263" y="27486"/>
                </a:lnTo>
                <a:lnTo>
                  <a:pt x="38815" y="26754"/>
                </a:lnTo>
                <a:lnTo>
                  <a:pt x="40368" y="24634"/>
                </a:lnTo>
                <a:lnTo>
                  <a:pt x="41921" y="21352"/>
                </a:lnTo>
                <a:lnTo>
                  <a:pt x="43473" y="17256"/>
                </a:lnTo>
                <a:lnTo>
                  <a:pt x="45026" y="12781"/>
                </a:lnTo>
                <a:lnTo>
                  <a:pt x="46579" y="8402"/>
                </a:lnTo>
                <a:lnTo>
                  <a:pt x="48131" y="4584"/>
                </a:lnTo>
                <a:lnTo>
                  <a:pt x="49684" y="1731"/>
                </a:lnTo>
                <a:lnTo>
                  <a:pt x="51237" y="147"/>
                </a:lnTo>
                <a:lnTo>
                  <a:pt x="52789" y="0"/>
                </a:lnTo>
                <a:lnTo>
                  <a:pt x="54342" y="1305"/>
                </a:lnTo>
                <a:lnTo>
                  <a:pt x="55894" y="3924"/>
                </a:lnTo>
                <a:lnTo>
                  <a:pt x="57447" y="7580"/>
                </a:lnTo>
                <a:lnTo>
                  <a:pt x="59000" y="11882"/>
                </a:lnTo>
                <a:lnTo>
                  <a:pt x="60552" y="16377"/>
                </a:lnTo>
                <a:lnTo>
                  <a:pt x="62105" y="20585"/>
                </a:lnTo>
                <a:lnTo>
                  <a:pt x="63658" y="24061"/>
                </a:lnTo>
                <a:lnTo>
                  <a:pt x="65210" y="26435"/>
                </a:lnTo>
                <a:lnTo>
                  <a:pt x="66763" y="27457"/>
                </a:lnTo>
                <a:lnTo>
                  <a:pt x="68316" y="27016"/>
                </a:lnTo>
                <a:lnTo>
                  <a:pt x="69868" y="25160"/>
                </a:lnTo>
                <a:lnTo>
                  <a:pt x="71421" y="22086"/>
                </a:lnTo>
                <a:lnTo>
                  <a:pt x="72973" y="18121"/>
                </a:lnTo>
                <a:lnTo>
                  <a:pt x="74526" y="13684"/>
                </a:lnTo>
              </a:path>
            </a:pathLst>
          </a:custGeom>
          <a:noFill/>
          <a:ln w="9842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designrule absorption 3"/>
          <p:cNvSpPr/>
          <p:nvPr/>
        </p:nvSpPr>
        <p:spPr>
          <a:xfrm>
            <a:off x="7971601" y="4456241"/>
            <a:ext cx="58797" cy="5879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784"/>
            </a:srgbClr>
          </a:solidFill>
          <a:ln w="5080">
            <a:solidFill>
              <a:srgbClr val="E64B35">
                <a:alpha val="51784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designrule emitter"/>
          <p:cNvSpPr/>
          <p:nvPr/>
        </p:nvSpPr>
        <p:spPr>
          <a:xfrm>
            <a:off x="3249422" y="4370070"/>
            <a:ext cx="112268" cy="112268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designrule emitter core"/>
          <p:cNvSpPr/>
          <p:nvPr/>
        </p:nvSpPr>
        <p:spPr>
          <a:xfrm>
            <a:off x="3289706" y="4410354"/>
            <a:ext cx="31699" cy="31699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designrule metal name"/>
          <p:cNvSpPr txBox="1"/>
          <p:nvPr/>
        </p:nvSpPr>
        <p:spPr>
          <a:xfrm>
            <a:off x="4862068" y="4509770"/>
            <a:ext cx="38608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5191D"/>
                </a:solidFill>
                <a:latin typeface="Arial"/>
              </a:rPr>
              <a:t>Low loss metal electrode</a:t>
            </a:r>
          </a:p>
        </p:txBody>
      </p:sp>
      <p:pic>
        <p:nvPicPr>
          <p:cNvPr id="121" name="designrule render" descr="emitting_area_render_designru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347976"/>
            <a:ext cx="2438400" cy="2438400"/>
          </a:xfrm>
          <a:prstGeom prst="rect">
            <a:avLst/>
          </a:prstGeom>
        </p:spPr>
      </p:pic>
      <p:sp>
        <p:nvSpPr>
          <p:cNvPr id="122" name="designrule: Organic layer"/>
          <p:cNvSpPr txBox="1"/>
          <p:nvPr/>
        </p:nvSpPr>
        <p:spPr>
          <a:xfrm>
            <a:off x="410560" y="4231962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Organic layer</a:t>
            </a:r>
          </a:p>
        </p:txBody>
      </p:sp>
      <p:sp>
        <p:nvSpPr>
          <p:cNvPr id="123" name="designrule: Low loss TCO"/>
          <p:cNvSpPr txBox="1"/>
          <p:nvPr/>
        </p:nvSpPr>
        <p:spPr>
          <a:xfrm>
            <a:off x="405790" y="4070765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Low loss TCO</a:t>
            </a:r>
          </a:p>
        </p:txBody>
      </p:sp>
      <p:sp>
        <p:nvSpPr>
          <p:cNvPr id="124" name="designrule: Glass"/>
          <p:cNvSpPr txBox="1"/>
          <p:nvPr/>
        </p:nvSpPr>
        <p:spPr>
          <a:xfrm>
            <a:off x="401297" y="3918970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Glass</a:t>
            </a:r>
          </a:p>
        </p:txBody>
      </p:sp>
      <p:sp>
        <p:nvSpPr>
          <p:cNvPr id="125" name="designrule: Outcoupling structure"/>
          <p:cNvSpPr txBox="1"/>
          <p:nvPr/>
        </p:nvSpPr>
        <p:spPr>
          <a:xfrm>
            <a:off x="396767" y="3765859"/>
            <a:ext cx="335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Outcoupling structure</a:t>
            </a:r>
          </a:p>
        </p:txBody>
      </p:sp>
      <p:sp>
        <p:nvSpPr>
          <p:cNvPr id="126" name="legend frame"/>
          <p:cNvSpPr/>
          <p:nvPr/>
        </p:nvSpPr>
        <p:spPr>
          <a:xfrm>
            <a:off x="228600" y="4998720"/>
            <a:ext cx="8763000" cy="365760"/>
          </a:xfrm>
          <a:prstGeom prst="roundRect">
            <a:avLst/>
          </a:prstGeom>
          <a:solidFill>
            <a:srgbClr val="FFFFFF"/>
          </a:solidFill>
          <a:ln w="5080">
            <a:solidFill>
              <a:srgbClr val="C9CED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legend ray"/>
          <p:cNvCxnSpPr/>
          <p:nvPr/>
        </p:nvCxnSpPr>
        <p:spPr>
          <a:xfrm>
            <a:off x="508000" y="5181600"/>
            <a:ext cx="381000" cy="0"/>
          </a:xfrm>
          <a:prstGeom prst="line">
            <a:avLst/>
          </a:prstGeom>
          <a:ln w="3556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legend ray text"/>
          <p:cNvSpPr txBox="1"/>
          <p:nvPr/>
        </p:nvSpPr>
        <p:spPr>
          <a:xfrm>
            <a:off x="980440" y="5073650"/>
            <a:ext cx="1524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Light ray</a:t>
            </a:r>
          </a:p>
        </p:txBody>
      </p:sp>
      <p:sp>
        <p:nvSpPr>
          <p:cNvPr id="129" name="legend emitter"/>
          <p:cNvSpPr/>
          <p:nvPr/>
        </p:nvSpPr>
        <p:spPr>
          <a:xfrm>
            <a:off x="2397760" y="5115560"/>
            <a:ext cx="132080" cy="132080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080">
            <a:solidFill>
              <a:srgbClr val="6F430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legend emission text"/>
          <p:cNvSpPr txBox="1"/>
          <p:nvPr/>
        </p:nvSpPr>
        <p:spPr>
          <a:xfrm>
            <a:off x="2595880" y="5073650"/>
            <a:ext cx="18288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Exciton emission</a:t>
            </a:r>
          </a:p>
        </p:txBody>
      </p:sp>
      <p:sp>
        <p:nvSpPr>
          <p:cNvPr id="131" name="legend loss"/>
          <p:cNvSpPr/>
          <p:nvPr/>
        </p:nvSpPr>
        <p:spPr>
          <a:xfrm>
            <a:off x="4445000" y="5159439"/>
            <a:ext cx="355600" cy="44513"/>
          </a:xfrm>
          <a:custGeom>
            <a:avLst/>
            <a:gdLst/>
            <a:ahLst/>
            <a:cxnLst/>
            <a:rect l="l" t="t" r="r" b="b"/>
            <a:pathLst>
              <a:path w="355600" h="44513">
                <a:moveTo>
                  <a:pt x="0" y="22161"/>
                </a:moveTo>
                <a:lnTo>
                  <a:pt x="7408" y="29346"/>
                </a:lnTo>
                <a:lnTo>
                  <a:pt x="14817" y="35768"/>
                </a:lnTo>
                <a:lnTo>
                  <a:pt x="22225" y="40746"/>
                </a:lnTo>
                <a:lnTo>
                  <a:pt x="29633" y="43751"/>
                </a:lnTo>
                <a:lnTo>
                  <a:pt x="37042" y="44465"/>
                </a:lnTo>
                <a:lnTo>
                  <a:pt x="44450" y="42812"/>
                </a:lnTo>
                <a:lnTo>
                  <a:pt x="51858" y="38966"/>
                </a:lnTo>
                <a:lnTo>
                  <a:pt x="59267" y="33337"/>
                </a:lnTo>
                <a:lnTo>
                  <a:pt x="66675" y="26522"/>
                </a:lnTo>
                <a:lnTo>
                  <a:pt x="74083" y="19243"/>
                </a:lnTo>
                <a:lnTo>
                  <a:pt x="81492" y="12275"/>
                </a:lnTo>
                <a:lnTo>
                  <a:pt x="88900" y="6356"/>
                </a:lnTo>
                <a:lnTo>
                  <a:pt x="96308" y="2114"/>
                </a:lnTo>
                <a:lnTo>
                  <a:pt x="103717" y="0"/>
                </a:lnTo>
                <a:lnTo>
                  <a:pt x="111125" y="238"/>
                </a:lnTo>
                <a:lnTo>
                  <a:pt x="118533" y="2804"/>
                </a:lnTo>
                <a:lnTo>
                  <a:pt x="125942" y="7423"/>
                </a:lnTo>
                <a:lnTo>
                  <a:pt x="133350" y="13607"/>
                </a:lnTo>
                <a:lnTo>
                  <a:pt x="140758" y="20699"/>
                </a:lnTo>
                <a:lnTo>
                  <a:pt x="148167" y="27946"/>
                </a:lnTo>
                <a:lnTo>
                  <a:pt x="155575" y="34579"/>
                </a:lnTo>
                <a:lnTo>
                  <a:pt x="162983" y="39894"/>
                </a:lnTo>
                <a:lnTo>
                  <a:pt x="170392" y="43327"/>
                </a:lnTo>
                <a:lnTo>
                  <a:pt x="177800" y="44513"/>
                </a:lnTo>
                <a:lnTo>
                  <a:pt x="185208" y="43327"/>
                </a:lnTo>
                <a:lnTo>
                  <a:pt x="192617" y="39894"/>
                </a:lnTo>
                <a:lnTo>
                  <a:pt x="200025" y="34579"/>
                </a:lnTo>
                <a:lnTo>
                  <a:pt x="207433" y="27946"/>
                </a:lnTo>
                <a:lnTo>
                  <a:pt x="214842" y="20699"/>
                </a:lnTo>
                <a:lnTo>
                  <a:pt x="222250" y="13607"/>
                </a:lnTo>
                <a:lnTo>
                  <a:pt x="229658" y="7423"/>
                </a:lnTo>
                <a:lnTo>
                  <a:pt x="237067" y="2804"/>
                </a:lnTo>
                <a:lnTo>
                  <a:pt x="244475" y="238"/>
                </a:lnTo>
                <a:lnTo>
                  <a:pt x="251883" y="0"/>
                </a:lnTo>
                <a:lnTo>
                  <a:pt x="259292" y="2114"/>
                </a:lnTo>
                <a:lnTo>
                  <a:pt x="266700" y="6356"/>
                </a:lnTo>
                <a:lnTo>
                  <a:pt x="274108" y="12275"/>
                </a:lnTo>
                <a:lnTo>
                  <a:pt x="281517" y="19243"/>
                </a:lnTo>
                <a:lnTo>
                  <a:pt x="288925" y="26522"/>
                </a:lnTo>
                <a:lnTo>
                  <a:pt x="296333" y="33337"/>
                </a:lnTo>
                <a:lnTo>
                  <a:pt x="303742" y="38966"/>
                </a:lnTo>
                <a:lnTo>
                  <a:pt x="311150" y="42812"/>
                </a:lnTo>
                <a:lnTo>
                  <a:pt x="318558" y="44465"/>
                </a:lnTo>
                <a:lnTo>
                  <a:pt x="325967" y="43751"/>
                </a:lnTo>
                <a:lnTo>
                  <a:pt x="333375" y="40746"/>
                </a:lnTo>
                <a:lnTo>
                  <a:pt x="340783" y="35768"/>
                </a:lnTo>
                <a:lnTo>
                  <a:pt x="348192" y="29346"/>
                </a:lnTo>
                <a:lnTo>
                  <a:pt x="355600" y="22161"/>
                </a:lnTo>
              </a:path>
            </a:pathLst>
          </a:custGeom>
          <a:noFill/>
          <a:ln w="14224">
            <a:solidFill>
              <a:srgbClr val="E64B35">
                <a:alpha val="95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legend loss text"/>
          <p:cNvSpPr txBox="1"/>
          <p:nvPr/>
        </p:nvSpPr>
        <p:spPr>
          <a:xfrm>
            <a:off x="4876800" y="5073650"/>
            <a:ext cx="42672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5585C"/>
                </a:solidFill>
                <a:latin typeface="Arial"/>
              </a:rPr>
              <a:t>Absorption loss  (Joule dissipation at the metal or absorption in the TCO)</a:t>
            </a:r>
          </a:p>
        </p:txBody>
      </p:sp>
      <p:sp>
        <p:nvSpPr>
          <p:cNvPr id="133" name="b frame"/>
          <p:cNvSpPr/>
          <p:nvPr/>
        </p:nvSpPr>
        <p:spPr>
          <a:xfrm>
            <a:off x="914400" y="5831840"/>
            <a:ext cx="3022600" cy="1524000"/>
          </a:xfrm>
          <a:prstGeom prst="rect">
            <a:avLst/>
          </a:prstGeom>
          <a:noFill/>
          <a:ln w="8128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4" name="b n tick"/>
          <p:cNvCxnSpPr/>
          <p:nvPr/>
        </p:nvCxnSpPr>
        <p:spPr>
          <a:xfrm flipV="1">
            <a:off x="1051791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b n tick label"/>
          <p:cNvSpPr txBox="1"/>
          <p:nvPr/>
        </p:nvSpPr>
        <p:spPr>
          <a:xfrm>
            <a:off x="645391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cxnSp>
        <p:nvCxnSpPr>
          <p:cNvPr id="136" name="b n tick"/>
          <p:cNvCxnSpPr/>
          <p:nvPr/>
        </p:nvCxnSpPr>
        <p:spPr>
          <a:xfrm flipV="1">
            <a:off x="1326573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b n tick label"/>
          <p:cNvSpPr txBox="1"/>
          <p:nvPr/>
        </p:nvSpPr>
        <p:spPr>
          <a:xfrm>
            <a:off x="920173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cxnSp>
        <p:nvCxnSpPr>
          <p:cNvPr id="138" name="b n tick"/>
          <p:cNvCxnSpPr/>
          <p:nvPr/>
        </p:nvCxnSpPr>
        <p:spPr>
          <a:xfrm flipV="1">
            <a:off x="1601355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b n tick label"/>
          <p:cNvSpPr txBox="1"/>
          <p:nvPr/>
        </p:nvSpPr>
        <p:spPr>
          <a:xfrm>
            <a:off x="1194955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cxnSp>
        <p:nvCxnSpPr>
          <p:cNvPr id="140" name="b n tick"/>
          <p:cNvCxnSpPr/>
          <p:nvPr/>
        </p:nvCxnSpPr>
        <p:spPr>
          <a:xfrm flipV="1">
            <a:off x="1876136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b n tick label"/>
          <p:cNvSpPr txBox="1"/>
          <p:nvPr/>
        </p:nvSpPr>
        <p:spPr>
          <a:xfrm>
            <a:off x="1469736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cxnSp>
        <p:nvCxnSpPr>
          <p:cNvPr id="142" name="b n tick"/>
          <p:cNvCxnSpPr/>
          <p:nvPr/>
        </p:nvCxnSpPr>
        <p:spPr>
          <a:xfrm flipV="1">
            <a:off x="2150918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b n tick label"/>
          <p:cNvSpPr txBox="1"/>
          <p:nvPr/>
        </p:nvSpPr>
        <p:spPr>
          <a:xfrm>
            <a:off x="1744518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cxnSp>
        <p:nvCxnSpPr>
          <p:cNvPr id="144" name="b n tick"/>
          <p:cNvCxnSpPr/>
          <p:nvPr/>
        </p:nvCxnSpPr>
        <p:spPr>
          <a:xfrm flipV="1">
            <a:off x="242570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b n tick label"/>
          <p:cNvSpPr txBox="1"/>
          <p:nvPr/>
        </p:nvSpPr>
        <p:spPr>
          <a:xfrm>
            <a:off x="201930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cxnSp>
        <p:nvCxnSpPr>
          <p:cNvPr id="146" name="b n tick"/>
          <p:cNvCxnSpPr/>
          <p:nvPr/>
        </p:nvCxnSpPr>
        <p:spPr>
          <a:xfrm flipV="1">
            <a:off x="2700482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b n tick label"/>
          <p:cNvSpPr txBox="1"/>
          <p:nvPr/>
        </p:nvSpPr>
        <p:spPr>
          <a:xfrm>
            <a:off x="2294082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6</a:t>
            </a:r>
          </a:p>
        </p:txBody>
      </p:sp>
      <p:cxnSp>
        <p:nvCxnSpPr>
          <p:cNvPr id="148" name="b n tick"/>
          <p:cNvCxnSpPr/>
          <p:nvPr/>
        </p:nvCxnSpPr>
        <p:spPr>
          <a:xfrm flipV="1">
            <a:off x="2975264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 n tick label"/>
          <p:cNvSpPr txBox="1"/>
          <p:nvPr/>
        </p:nvSpPr>
        <p:spPr>
          <a:xfrm>
            <a:off x="2568864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7</a:t>
            </a:r>
          </a:p>
        </p:txBody>
      </p:sp>
      <p:cxnSp>
        <p:nvCxnSpPr>
          <p:cNvPr id="150" name="b n tick"/>
          <p:cNvCxnSpPr/>
          <p:nvPr/>
        </p:nvCxnSpPr>
        <p:spPr>
          <a:xfrm flipV="1">
            <a:off x="3250045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b n tick label"/>
          <p:cNvSpPr txBox="1"/>
          <p:nvPr/>
        </p:nvSpPr>
        <p:spPr>
          <a:xfrm>
            <a:off x="2843645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8</a:t>
            </a:r>
          </a:p>
        </p:txBody>
      </p:sp>
      <p:cxnSp>
        <p:nvCxnSpPr>
          <p:cNvPr id="152" name="b n tick"/>
          <p:cNvCxnSpPr/>
          <p:nvPr/>
        </p:nvCxnSpPr>
        <p:spPr>
          <a:xfrm flipV="1">
            <a:off x="3524827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b n tick label"/>
          <p:cNvSpPr txBox="1"/>
          <p:nvPr/>
        </p:nvSpPr>
        <p:spPr>
          <a:xfrm>
            <a:off x="3118427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9</a:t>
            </a:r>
          </a:p>
        </p:txBody>
      </p:sp>
      <p:cxnSp>
        <p:nvCxnSpPr>
          <p:cNvPr id="154" name="b n tick"/>
          <p:cNvCxnSpPr/>
          <p:nvPr/>
        </p:nvCxnSpPr>
        <p:spPr>
          <a:xfrm flipV="1">
            <a:off x="3799609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b n tick label"/>
          <p:cNvSpPr txBox="1"/>
          <p:nvPr/>
        </p:nvSpPr>
        <p:spPr>
          <a:xfrm>
            <a:off x="3393209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10</a:t>
            </a:r>
          </a:p>
        </p:txBody>
      </p:sp>
      <p:cxnSp>
        <p:nvCxnSpPr>
          <p:cNvPr id="156" name="b left tick"/>
          <p:cNvCxnSpPr/>
          <p:nvPr/>
        </p:nvCxnSpPr>
        <p:spPr>
          <a:xfrm>
            <a:off x="914400" y="7355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b left tick label"/>
          <p:cNvSpPr txBox="1"/>
          <p:nvPr/>
        </p:nvSpPr>
        <p:spPr>
          <a:xfrm>
            <a:off x="182880" y="7260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158" name="b left tick"/>
          <p:cNvCxnSpPr/>
          <p:nvPr/>
        </p:nvCxnSpPr>
        <p:spPr>
          <a:xfrm>
            <a:off x="914400" y="7017173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b left tick label"/>
          <p:cNvSpPr txBox="1"/>
          <p:nvPr/>
        </p:nvSpPr>
        <p:spPr>
          <a:xfrm>
            <a:off x="182880" y="6922177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0.1</a:t>
            </a:r>
          </a:p>
        </p:txBody>
      </p:sp>
      <p:cxnSp>
        <p:nvCxnSpPr>
          <p:cNvPr id="160" name="b left tick"/>
          <p:cNvCxnSpPr/>
          <p:nvPr/>
        </p:nvCxnSpPr>
        <p:spPr>
          <a:xfrm>
            <a:off x="914400" y="6678507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b left tick label"/>
          <p:cNvSpPr txBox="1"/>
          <p:nvPr/>
        </p:nvSpPr>
        <p:spPr>
          <a:xfrm>
            <a:off x="182880" y="6583511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162" name="b left tick"/>
          <p:cNvCxnSpPr/>
          <p:nvPr/>
        </p:nvCxnSpPr>
        <p:spPr>
          <a:xfrm>
            <a:off x="914400" y="6339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b left tick label"/>
          <p:cNvSpPr txBox="1"/>
          <p:nvPr/>
        </p:nvSpPr>
        <p:spPr>
          <a:xfrm>
            <a:off x="182880" y="6244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0.3</a:t>
            </a:r>
          </a:p>
        </p:txBody>
      </p:sp>
      <p:cxnSp>
        <p:nvCxnSpPr>
          <p:cNvPr id="164" name="b left tick"/>
          <p:cNvCxnSpPr/>
          <p:nvPr/>
        </p:nvCxnSpPr>
        <p:spPr>
          <a:xfrm>
            <a:off x="914400" y="6001173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b left tick label"/>
          <p:cNvSpPr txBox="1"/>
          <p:nvPr/>
        </p:nvSpPr>
        <p:spPr>
          <a:xfrm>
            <a:off x="182880" y="5906177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166" name="b right tick"/>
          <p:cNvCxnSpPr/>
          <p:nvPr/>
        </p:nvCxnSpPr>
        <p:spPr>
          <a:xfrm flipH="1">
            <a:off x="3881120" y="7355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 right tick label"/>
          <p:cNvSpPr txBox="1"/>
          <p:nvPr/>
        </p:nvSpPr>
        <p:spPr>
          <a:xfrm>
            <a:off x="4058920" y="7260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168" name="b right tick"/>
          <p:cNvCxnSpPr/>
          <p:nvPr/>
        </p:nvCxnSpPr>
        <p:spPr>
          <a:xfrm flipH="1">
            <a:off x="3881120" y="70510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b right tick label"/>
          <p:cNvSpPr txBox="1"/>
          <p:nvPr/>
        </p:nvSpPr>
        <p:spPr>
          <a:xfrm>
            <a:off x="4058920" y="69560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170" name="b right tick"/>
          <p:cNvCxnSpPr/>
          <p:nvPr/>
        </p:nvCxnSpPr>
        <p:spPr>
          <a:xfrm flipH="1">
            <a:off x="3881120" y="67462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b right tick label"/>
          <p:cNvSpPr txBox="1"/>
          <p:nvPr/>
        </p:nvSpPr>
        <p:spPr>
          <a:xfrm>
            <a:off x="4058920" y="66512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172" name="b right tick"/>
          <p:cNvCxnSpPr/>
          <p:nvPr/>
        </p:nvCxnSpPr>
        <p:spPr>
          <a:xfrm flipH="1">
            <a:off x="3881120" y="64414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b right tick label"/>
          <p:cNvSpPr txBox="1"/>
          <p:nvPr/>
        </p:nvSpPr>
        <p:spPr>
          <a:xfrm>
            <a:off x="4058920" y="63464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174" name="b right tick"/>
          <p:cNvCxnSpPr/>
          <p:nvPr/>
        </p:nvCxnSpPr>
        <p:spPr>
          <a:xfrm flipH="1">
            <a:off x="3881120" y="61366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b right tick label"/>
          <p:cNvSpPr txBox="1"/>
          <p:nvPr/>
        </p:nvSpPr>
        <p:spPr>
          <a:xfrm>
            <a:off x="4058920" y="60416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176" name="b right tick"/>
          <p:cNvCxnSpPr/>
          <p:nvPr/>
        </p:nvCxnSpPr>
        <p:spPr>
          <a:xfrm flipH="1">
            <a:off x="3881120" y="5831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b right tick label"/>
          <p:cNvSpPr txBox="1"/>
          <p:nvPr/>
        </p:nvSpPr>
        <p:spPr>
          <a:xfrm>
            <a:off x="4058920" y="5736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sp>
        <p:nvSpPr>
          <p:cNvPr id="178" name="b x title"/>
          <p:cNvSpPr txBox="1"/>
          <p:nvPr/>
        </p:nvSpPr>
        <p:spPr>
          <a:xfrm>
            <a:off x="647700" y="7684770"/>
            <a:ext cx="3556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Number of round trips</a:t>
            </a:r>
          </a:p>
        </p:txBody>
      </p:sp>
      <p:sp>
        <p:nvSpPr>
          <p:cNvPr id="179" name="b y title"/>
          <p:cNvSpPr txBox="1"/>
          <p:nvPr/>
        </p:nvSpPr>
        <p:spPr>
          <a:xfrm rot="16200000">
            <a:off x="-1168400" y="6485890"/>
            <a:ext cx="2540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Escaped per pass</a:t>
            </a:r>
          </a:p>
        </p:txBody>
      </p:sp>
      <p:sp>
        <p:nvSpPr>
          <p:cNvPr id="180" name="b y2 title"/>
          <p:cNvSpPr txBox="1"/>
          <p:nvPr/>
        </p:nvSpPr>
        <p:spPr>
          <a:xfrm rot="5400000">
            <a:off x="3454400" y="6485890"/>
            <a:ext cx="2641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Cumulative extraction</a:t>
            </a:r>
          </a:p>
        </p:txBody>
      </p:sp>
      <p:sp>
        <p:nvSpPr>
          <p:cNvPr id="181" name="b bar A'=0.02 n=0"/>
          <p:cNvSpPr/>
          <p:nvPr/>
        </p:nvSpPr>
        <p:spPr>
          <a:xfrm>
            <a:off x="944626" y="6001173"/>
            <a:ext cx="71443" cy="1354667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b bar A'=0.02 n=1"/>
          <p:cNvSpPr/>
          <p:nvPr/>
        </p:nvSpPr>
        <p:spPr>
          <a:xfrm>
            <a:off x="1219408" y="6559296"/>
            <a:ext cx="71443" cy="796544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b bar A'=0.02 n=2"/>
          <p:cNvSpPr/>
          <p:nvPr/>
        </p:nvSpPr>
        <p:spPr>
          <a:xfrm>
            <a:off x="1494190" y="6887472"/>
            <a:ext cx="71443" cy="46836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b bar A'=0.02 n=3"/>
          <p:cNvSpPr/>
          <p:nvPr/>
        </p:nvSpPr>
        <p:spPr>
          <a:xfrm>
            <a:off x="1768971" y="7080440"/>
            <a:ext cx="71443" cy="27540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b bar A'=0.02 n=4"/>
          <p:cNvSpPr/>
          <p:nvPr/>
        </p:nvSpPr>
        <p:spPr>
          <a:xfrm>
            <a:off x="2043753" y="7193905"/>
            <a:ext cx="71443" cy="161935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b bar A'=0.02 n=5"/>
          <p:cNvSpPr/>
          <p:nvPr/>
        </p:nvSpPr>
        <p:spPr>
          <a:xfrm>
            <a:off x="2318535" y="7260622"/>
            <a:ext cx="71443" cy="9521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b bar A'=0.02 n=6"/>
          <p:cNvSpPr/>
          <p:nvPr/>
        </p:nvSpPr>
        <p:spPr>
          <a:xfrm>
            <a:off x="2593317" y="7299852"/>
            <a:ext cx="71443" cy="5598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b bar A'=0.02 n=7"/>
          <p:cNvSpPr/>
          <p:nvPr/>
        </p:nvSpPr>
        <p:spPr>
          <a:xfrm>
            <a:off x="2868099" y="7322919"/>
            <a:ext cx="71443" cy="32921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b bar A'=0.02 n=8"/>
          <p:cNvSpPr/>
          <p:nvPr/>
        </p:nvSpPr>
        <p:spPr>
          <a:xfrm>
            <a:off x="3142881" y="7336482"/>
            <a:ext cx="71443" cy="19358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b bar A'=0.02 n=9"/>
          <p:cNvSpPr/>
          <p:nvPr/>
        </p:nvSpPr>
        <p:spPr>
          <a:xfrm>
            <a:off x="3417662" y="7344458"/>
            <a:ext cx="71443" cy="11382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b bar A'=0.02 n=10"/>
          <p:cNvSpPr/>
          <p:nvPr/>
        </p:nvSpPr>
        <p:spPr>
          <a:xfrm>
            <a:off x="3692444" y="7349147"/>
            <a:ext cx="71443" cy="6693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b cumulative A'=0.02"/>
          <p:cNvSpPr/>
          <p:nvPr/>
        </p:nvSpPr>
        <p:spPr>
          <a:xfrm>
            <a:off x="1051791" y="5880527"/>
            <a:ext cx="2747818" cy="865713"/>
          </a:xfrm>
          <a:custGeom>
            <a:avLst/>
            <a:gdLst/>
            <a:ahLst/>
            <a:cxnLst/>
            <a:rect l="l" t="t" r="r" b="b"/>
            <a:pathLst>
              <a:path w="2747818" h="865713">
                <a:moveTo>
                  <a:pt x="0" y="865713"/>
                </a:moveTo>
                <a:lnTo>
                  <a:pt x="22898" y="828052"/>
                </a:lnTo>
                <a:lnTo>
                  <a:pt x="45797" y="792022"/>
                </a:lnTo>
                <a:lnTo>
                  <a:pt x="68695" y="757551"/>
                </a:lnTo>
                <a:lnTo>
                  <a:pt x="91594" y="724573"/>
                </a:lnTo>
                <a:lnTo>
                  <a:pt x="114492" y="693022"/>
                </a:lnTo>
                <a:lnTo>
                  <a:pt x="137391" y="662836"/>
                </a:lnTo>
                <a:lnTo>
                  <a:pt x="160289" y="633958"/>
                </a:lnTo>
                <a:lnTo>
                  <a:pt x="183188" y="606329"/>
                </a:lnTo>
                <a:lnTo>
                  <a:pt x="206086" y="579897"/>
                </a:lnTo>
                <a:lnTo>
                  <a:pt x="228985" y="554608"/>
                </a:lnTo>
                <a:lnTo>
                  <a:pt x="251883" y="530415"/>
                </a:lnTo>
                <a:lnTo>
                  <a:pt x="274782" y="507268"/>
                </a:lnTo>
                <a:lnTo>
                  <a:pt x="297680" y="485124"/>
                </a:lnTo>
                <a:lnTo>
                  <a:pt x="320579" y="463938"/>
                </a:lnTo>
                <a:lnTo>
                  <a:pt x="343477" y="443669"/>
                </a:lnTo>
                <a:lnTo>
                  <a:pt x="366376" y="424278"/>
                </a:lnTo>
                <a:lnTo>
                  <a:pt x="389274" y="405726"/>
                </a:lnTo>
                <a:lnTo>
                  <a:pt x="412173" y="387977"/>
                </a:lnTo>
                <a:lnTo>
                  <a:pt x="435071" y="370996"/>
                </a:lnTo>
                <a:lnTo>
                  <a:pt x="457970" y="354751"/>
                </a:lnTo>
                <a:lnTo>
                  <a:pt x="480868" y="339208"/>
                </a:lnTo>
                <a:lnTo>
                  <a:pt x="503767" y="324339"/>
                </a:lnTo>
                <a:lnTo>
                  <a:pt x="526665" y="310113"/>
                </a:lnTo>
                <a:lnTo>
                  <a:pt x="549564" y="296503"/>
                </a:lnTo>
                <a:lnTo>
                  <a:pt x="572462" y="283482"/>
                </a:lnTo>
                <a:lnTo>
                  <a:pt x="595361" y="271024"/>
                </a:lnTo>
                <a:lnTo>
                  <a:pt x="618259" y="259106"/>
                </a:lnTo>
                <a:lnTo>
                  <a:pt x="641157" y="247704"/>
                </a:lnTo>
                <a:lnTo>
                  <a:pt x="664056" y="236796"/>
                </a:lnTo>
                <a:lnTo>
                  <a:pt x="686954" y="226359"/>
                </a:lnTo>
                <a:lnTo>
                  <a:pt x="709853" y="216375"/>
                </a:lnTo>
                <a:lnTo>
                  <a:pt x="732751" y="206822"/>
                </a:lnTo>
                <a:lnTo>
                  <a:pt x="755650" y="197683"/>
                </a:lnTo>
                <a:lnTo>
                  <a:pt x="778548" y="188940"/>
                </a:lnTo>
                <a:lnTo>
                  <a:pt x="801447" y="180575"/>
                </a:lnTo>
                <a:lnTo>
                  <a:pt x="824345" y="172573"/>
                </a:lnTo>
                <a:lnTo>
                  <a:pt x="847244" y="164916"/>
                </a:lnTo>
                <a:lnTo>
                  <a:pt x="870142" y="157591"/>
                </a:lnTo>
                <a:lnTo>
                  <a:pt x="893041" y="150584"/>
                </a:lnTo>
                <a:lnTo>
                  <a:pt x="915939" y="143879"/>
                </a:lnTo>
                <a:lnTo>
                  <a:pt x="938838" y="137465"/>
                </a:lnTo>
                <a:lnTo>
                  <a:pt x="961736" y="131328"/>
                </a:lnTo>
                <a:lnTo>
                  <a:pt x="984635" y="125457"/>
                </a:lnTo>
                <a:lnTo>
                  <a:pt x="1007533" y="119840"/>
                </a:lnTo>
                <a:lnTo>
                  <a:pt x="1030432" y="114467"/>
                </a:lnTo>
                <a:lnTo>
                  <a:pt x="1053330" y="109326"/>
                </a:lnTo>
                <a:lnTo>
                  <a:pt x="1076229" y="104407"/>
                </a:lnTo>
                <a:lnTo>
                  <a:pt x="1099127" y="99702"/>
                </a:lnTo>
                <a:lnTo>
                  <a:pt x="1122026" y="95200"/>
                </a:lnTo>
                <a:lnTo>
                  <a:pt x="1144924" y="90893"/>
                </a:lnTo>
                <a:lnTo>
                  <a:pt x="1167823" y="86772"/>
                </a:lnTo>
                <a:lnTo>
                  <a:pt x="1190721" y="82830"/>
                </a:lnTo>
                <a:lnTo>
                  <a:pt x="1213620" y="79058"/>
                </a:lnTo>
                <a:lnTo>
                  <a:pt x="1236518" y="75450"/>
                </a:lnTo>
                <a:lnTo>
                  <a:pt x="1259417" y="71998"/>
                </a:lnTo>
                <a:lnTo>
                  <a:pt x="1282315" y="68695"/>
                </a:lnTo>
                <a:lnTo>
                  <a:pt x="1305214" y="65535"/>
                </a:lnTo>
                <a:lnTo>
                  <a:pt x="1328112" y="62512"/>
                </a:lnTo>
                <a:lnTo>
                  <a:pt x="1351011" y="59620"/>
                </a:lnTo>
                <a:lnTo>
                  <a:pt x="1373909" y="56853"/>
                </a:lnTo>
                <a:lnTo>
                  <a:pt x="1396807" y="54206"/>
                </a:lnTo>
                <a:lnTo>
                  <a:pt x="1419706" y="51674"/>
                </a:lnTo>
                <a:lnTo>
                  <a:pt x="1442604" y="49251"/>
                </a:lnTo>
                <a:lnTo>
                  <a:pt x="1465503" y="46933"/>
                </a:lnTo>
                <a:lnTo>
                  <a:pt x="1488401" y="44715"/>
                </a:lnTo>
                <a:lnTo>
                  <a:pt x="1511300" y="42594"/>
                </a:lnTo>
                <a:lnTo>
                  <a:pt x="1534198" y="40564"/>
                </a:lnTo>
                <a:lnTo>
                  <a:pt x="1557097" y="38622"/>
                </a:lnTo>
                <a:lnTo>
                  <a:pt x="1579995" y="36764"/>
                </a:lnTo>
                <a:lnTo>
                  <a:pt x="1602894" y="34986"/>
                </a:lnTo>
                <a:lnTo>
                  <a:pt x="1625792" y="33286"/>
                </a:lnTo>
                <a:lnTo>
                  <a:pt x="1648691" y="31659"/>
                </a:lnTo>
                <a:lnTo>
                  <a:pt x="1671589" y="30102"/>
                </a:lnTo>
                <a:lnTo>
                  <a:pt x="1694488" y="28613"/>
                </a:lnTo>
                <a:lnTo>
                  <a:pt x="1717386" y="27188"/>
                </a:lnTo>
                <a:lnTo>
                  <a:pt x="1740285" y="25825"/>
                </a:lnTo>
                <a:lnTo>
                  <a:pt x="1763183" y="24521"/>
                </a:lnTo>
                <a:lnTo>
                  <a:pt x="1786082" y="23274"/>
                </a:lnTo>
                <a:lnTo>
                  <a:pt x="1808980" y="22080"/>
                </a:lnTo>
                <a:lnTo>
                  <a:pt x="1831879" y="20939"/>
                </a:lnTo>
                <a:lnTo>
                  <a:pt x="1854777" y="19846"/>
                </a:lnTo>
                <a:lnTo>
                  <a:pt x="1877676" y="18801"/>
                </a:lnTo>
                <a:lnTo>
                  <a:pt x="1900574" y="17801"/>
                </a:lnTo>
                <a:lnTo>
                  <a:pt x="1923473" y="16844"/>
                </a:lnTo>
                <a:lnTo>
                  <a:pt x="1946371" y="15929"/>
                </a:lnTo>
                <a:lnTo>
                  <a:pt x="1969270" y="15054"/>
                </a:lnTo>
                <a:lnTo>
                  <a:pt x="1992168" y="14216"/>
                </a:lnTo>
                <a:lnTo>
                  <a:pt x="2015067" y="13414"/>
                </a:lnTo>
                <a:lnTo>
                  <a:pt x="2037965" y="12648"/>
                </a:lnTo>
                <a:lnTo>
                  <a:pt x="2060864" y="11914"/>
                </a:lnTo>
                <a:lnTo>
                  <a:pt x="2083762" y="11212"/>
                </a:lnTo>
                <a:lnTo>
                  <a:pt x="2106661" y="10541"/>
                </a:lnTo>
                <a:lnTo>
                  <a:pt x="2129559" y="9898"/>
                </a:lnTo>
                <a:lnTo>
                  <a:pt x="2152457" y="9284"/>
                </a:lnTo>
                <a:lnTo>
                  <a:pt x="2175356" y="8696"/>
                </a:lnTo>
                <a:lnTo>
                  <a:pt x="2198254" y="8133"/>
                </a:lnTo>
                <a:lnTo>
                  <a:pt x="2221153" y="7595"/>
                </a:lnTo>
                <a:lnTo>
                  <a:pt x="2244051" y="7080"/>
                </a:lnTo>
                <a:lnTo>
                  <a:pt x="2266950" y="6588"/>
                </a:lnTo>
                <a:lnTo>
                  <a:pt x="2289848" y="6117"/>
                </a:lnTo>
                <a:lnTo>
                  <a:pt x="2312747" y="5666"/>
                </a:lnTo>
                <a:lnTo>
                  <a:pt x="2335645" y="5234"/>
                </a:lnTo>
                <a:lnTo>
                  <a:pt x="2358544" y="4822"/>
                </a:lnTo>
                <a:lnTo>
                  <a:pt x="2381442" y="4427"/>
                </a:lnTo>
                <a:lnTo>
                  <a:pt x="2404341" y="4049"/>
                </a:lnTo>
                <a:lnTo>
                  <a:pt x="2427239" y="3688"/>
                </a:lnTo>
                <a:lnTo>
                  <a:pt x="2450138" y="3342"/>
                </a:lnTo>
                <a:lnTo>
                  <a:pt x="2473036" y="3011"/>
                </a:lnTo>
                <a:lnTo>
                  <a:pt x="2495935" y="2695"/>
                </a:lnTo>
                <a:lnTo>
                  <a:pt x="2518833" y="2392"/>
                </a:lnTo>
                <a:lnTo>
                  <a:pt x="2541732" y="2103"/>
                </a:lnTo>
                <a:lnTo>
                  <a:pt x="2564630" y="1826"/>
                </a:lnTo>
                <a:lnTo>
                  <a:pt x="2587529" y="1560"/>
                </a:lnTo>
                <a:lnTo>
                  <a:pt x="2610427" y="1307"/>
                </a:lnTo>
                <a:lnTo>
                  <a:pt x="2633326" y="1064"/>
                </a:lnTo>
                <a:lnTo>
                  <a:pt x="2656224" y="832"/>
                </a:lnTo>
                <a:lnTo>
                  <a:pt x="2679123" y="610"/>
                </a:lnTo>
                <a:lnTo>
                  <a:pt x="2702021" y="397"/>
                </a:lnTo>
                <a:lnTo>
                  <a:pt x="2724920" y="194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b bar A'=0.10 n=0"/>
          <p:cNvSpPr/>
          <p:nvPr/>
        </p:nvSpPr>
        <p:spPr>
          <a:xfrm>
            <a:off x="1016069" y="6001173"/>
            <a:ext cx="71443" cy="1354667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b bar A'=0.10 n=1"/>
          <p:cNvSpPr/>
          <p:nvPr/>
        </p:nvSpPr>
        <p:spPr>
          <a:xfrm>
            <a:off x="1290851" y="6624320"/>
            <a:ext cx="71443" cy="731520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b bar A'=0.10 n=2"/>
          <p:cNvSpPr/>
          <p:nvPr/>
        </p:nvSpPr>
        <p:spPr>
          <a:xfrm>
            <a:off x="1565633" y="6960819"/>
            <a:ext cx="71443" cy="395021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b bar A'=0.10 n=3"/>
          <p:cNvSpPr/>
          <p:nvPr/>
        </p:nvSpPr>
        <p:spPr>
          <a:xfrm>
            <a:off x="1840415" y="7142529"/>
            <a:ext cx="71443" cy="213311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b bar A'=0.10 n=4"/>
          <p:cNvSpPr/>
          <p:nvPr/>
        </p:nvSpPr>
        <p:spPr>
          <a:xfrm>
            <a:off x="2115197" y="7240652"/>
            <a:ext cx="71443" cy="115188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b bar A'=0.10 n=5"/>
          <p:cNvSpPr/>
          <p:nvPr/>
        </p:nvSpPr>
        <p:spPr>
          <a:xfrm>
            <a:off x="2389978" y="7293638"/>
            <a:ext cx="71443" cy="62202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b bar A'=0.10 n=6"/>
          <p:cNvSpPr/>
          <p:nvPr/>
        </p:nvSpPr>
        <p:spPr>
          <a:xfrm>
            <a:off x="2664760" y="7322251"/>
            <a:ext cx="71443" cy="33589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b bar A'=0.10 n=7"/>
          <p:cNvSpPr/>
          <p:nvPr/>
        </p:nvSpPr>
        <p:spPr>
          <a:xfrm>
            <a:off x="2939542" y="7337702"/>
            <a:ext cx="71443" cy="18138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b bar A'=0.10 n=8"/>
          <p:cNvSpPr/>
          <p:nvPr/>
        </p:nvSpPr>
        <p:spPr>
          <a:xfrm>
            <a:off x="3214324" y="7346045"/>
            <a:ext cx="71443" cy="9795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b bar A'=0.10 n=9"/>
          <p:cNvSpPr/>
          <p:nvPr/>
        </p:nvSpPr>
        <p:spPr>
          <a:xfrm>
            <a:off x="3489106" y="7350551"/>
            <a:ext cx="71443" cy="5289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b cumulative A'=0.10"/>
          <p:cNvSpPr/>
          <p:nvPr/>
        </p:nvSpPr>
        <p:spPr>
          <a:xfrm>
            <a:off x="1051791" y="6032131"/>
            <a:ext cx="2747818" cy="714109"/>
          </a:xfrm>
          <a:custGeom>
            <a:avLst/>
            <a:gdLst/>
            <a:ahLst/>
            <a:cxnLst/>
            <a:rect l="l" t="t" r="r" b="b"/>
            <a:pathLst>
              <a:path w="2747818" h="714109">
                <a:moveTo>
                  <a:pt x="0" y="714109"/>
                </a:moveTo>
                <a:lnTo>
                  <a:pt x="22898" y="678290"/>
                </a:lnTo>
                <a:lnTo>
                  <a:pt x="45797" y="644265"/>
                </a:lnTo>
                <a:lnTo>
                  <a:pt x="68695" y="611942"/>
                </a:lnTo>
                <a:lnTo>
                  <a:pt x="91594" y="581237"/>
                </a:lnTo>
                <a:lnTo>
                  <a:pt x="114492" y="552069"/>
                </a:lnTo>
                <a:lnTo>
                  <a:pt x="137391" y="524361"/>
                </a:lnTo>
                <a:lnTo>
                  <a:pt x="160289" y="498040"/>
                </a:lnTo>
                <a:lnTo>
                  <a:pt x="183188" y="473036"/>
                </a:lnTo>
                <a:lnTo>
                  <a:pt x="206086" y="449284"/>
                </a:lnTo>
                <a:lnTo>
                  <a:pt x="228985" y="426720"/>
                </a:lnTo>
                <a:lnTo>
                  <a:pt x="251883" y="405286"/>
                </a:lnTo>
                <a:lnTo>
                  <a:pt x="274782" y="384925"/>
                </a:lnTo>
                <a:lnTo>
                  <a:pt x="297680" y="365583"/>
                </a:lnTo>
                <a:lnTo>
                  <a:pt x="320579" y="347209"/>
                </a:lnTo>
                <a:lnTo>
                  <a:pt x="343477" y="329755"/>
                </a:lnTo>
                <a:lnTo>
                  <a:pt x="366376" y="313174"/>
                </a:lnTo>
                <a:lnTo>
                  <a:pt x="389274" y="297423"/>
                </a:lnTo>
                <a:lnTo>
                  <a:pt x="412173" y="282461"/>
                </a:lnTo>
                <a:lnTo>
                  <a:pt x="435071" y="268248"/>
                </a:lnTo>
                <a:lnTo>
                  <a:pt x="457970" y="254746"/>
                </a:lnTo>
                <a:lnTo>
                  <a:pt x="480868" y="241919"/>
                </a:lnTo>
                <a:lnTo>
                  <a:pt x="503767" y="229735"/>
                </a:lnTo>
                <a:lnTo>
                  <a:pt x="526665" y="218161"/>
                </a:lnTo>
                <a:lnTo>
                  <a:pt x="549564" y="207166"/>
                </a:lnTo>
                <a:lnTo>
                  <a:pt x="572462" y="196721"/>
                </a:lnTo>
                <a:lnTo>
                  <a:pt x="595361" y="186799"/>
                </a:lnTo>
                <a:lnTo>
                  <a:pt x="618259" y="177374"/>
                </a:lnTo>
                <a:lnTo>
                  <a:pt x="641157" y="168420"/>
                </a:lnTo>
                <a:lnTo>
                  <a:pt x="664056" y="159915"/>
                </a:lnTo>
                <a:lnTo>
                  <a:pt x="686954" y="151835"/>
                </a:lnTo>
                <a:lnTo>
                  <a:pt x="709853" y="144160"/>
                </a:lnTo>
                <a:lnTo>
                  <a:pt x="732751" y="136869"/>
                </a:lnTo>
                <a:lnTo>
                  <a:pt x="755650" y="129943"/>
                </a:lnTo>
                <a:lnTo>
                  <a:pt x="778548" y="123363"/>
                </a:lnTo>
                <a:lnTo>
                  <a:pt x="801447" y="117113"/>
                </a:lnTo>
                <a:lnTo>
                  <a:pt x="824345" y="111176"/>
                </a:lnTo>
                <a:lnTo>
                  <a:pt x="847244" y="105535"/>
                </a:lnTo>
                <a:lnTo>
                  <a:pt x="870142" y="100178"/>
                </a:lnTo>
                <a:lnTo>
                  <a:pt x="893041" y="95088"/>
                </a:lnTo>
                <a:lnTo>
                  <a:pt x="915939" y="90253"/>
                </a:lnTo>
                <a:lnTo>
                  <a:pt x="938838" y="85660"/>
                </a:lnTo>
                <a:lnTo>
                  <a:pt x="961736" y="81297"/>
                </a:lnTo>
                <a:lnTo>
                  <a:pt x="984635" y="77152"/>
                </a:lnTo>
                <a:lnTo>
                  <a:pt x="1007533" y="73215"/>
                </a:lnTo>
                <a:lnTo>
                  <a:pt x="1030432" y="69475"/>
                </a:lnTo>
                <a:lnTo>
                  <a:pt x="1053330" y="65922"/>
                </a:lnTo>
                <a:lnTo>
                  <a:pt x="1076229" y="62547"/>
                </a:lnTo>
                <a:lnTo>
                  <a:pt x="1099127" y="59341"/>
                </a:lnTo>
                <a:lnTo>
                  <a:pt x="1122026" y="56295"/>
                </a:lnTo>
                <a:lnTo>
                  <a:pt x="1144924" y="53402"/>
                </a:lnTo>
                <a:lnTo>
                  <a:pt x="1167823" y="50654"/>
                </a:lnTo>
                <a:lnTo>
                  <a:pt x="1190721" y="48043"/>
                </a:lnTo>
                <a:lnTo>
                  <a:pt x="1213620" y="45563"/>
                </a:lnTo>
                <a:lnTo>
                  <a:pt x="1236518" y="43207"/>
                </a:lnTo>
                <a:lnTo>
                  <a:pt x="1259417" y="40968"/>
                </a:lnTo>
                <a:lnTo>
                  <a:pt x="1282315" y="38842"/>
                </a:lnTo>
                <a:lnTo>
                  <a:pt x="1305214" y="36823"/>
                </a:lnTo>
                <a:lnTo>
                  <a:pt x="1328112" y="34904"/>
                </a:lnTo>
                <a:lnTo>
                  <a:pt x="1351011" y="33082"/>
                </a:lnTo>
                <a:lnTo>
                  <a:pt x="1373909" y="31350"/>
                </a:lnTo>
                <a:lnTo>
                  <a:pt x="1396807" y="29706"/>
                </a:lnTo>
                <a:lnTo>
                  <a:pt x="1419706" y="28143"/>
                </a:lnTo>
                <a:lnTo>
                  <a:pt x="1442604" y="26659"/>
                </a:lnTo>
                <a:lnTo>
                  <a:pt x="1465503" y="25249"/>
                </a:lnTo>
                <a:lnTo>
                  <a:pt x="1488401" y="23910"/>
                </a:lnTo>
                <a:lnTo>
                  <a:pt x="1511300" y="22638"/>
                </a:lnTo>
                <a:lnTo>
                  <a:pt x="1534198" y="21429"/>
                </a:lnTo>
                <a:lnTo>
                  <a:pt x="1557097" y="20281"/>
                </a:lnTo>
                <a:lnTo>
                  <a:pt x="1579995" y="19190"/>
                </a:lnTo>
                <a:lnTo>
                  <a:pt x="1602894" y="18154"/>
                </a:lnTo>
                <a:lnTo>
                  <a:pt x="1625792" y="17170"/>
                </a:lnTo>
                <a:lnTo>
                  <a:pt x="1648691" y="16235"/>
                </a:lnTo>
                <a:lnTo>
                  <a:pt x="1671589" y="15347"/>
                </a:lnTo>
                <a:lnTo>
                  <a:pt x="1694488" y="14503"/>
                </a:lnTo>
                <a:lnTo>
                  <a:pt x="1717386" y="13702"/>
                </a:lnTo>
                <a:lnTo>
                  <a:pt x="1740285" y="12941"/>
                </a:lnTo>
                <a:lnTo>
                  <a:pt x="1763183" y="12218"/>
                </a:lnTo>
                <a:lnTo>
                  <a:pt x="1786082" y="11530"/>
                </a:lnTo>
                <a:lnTo>
                  <a:pt x="1808980" y="10878"/>
                </a:lnTo>
                <a:lnTo>
                  <a:pt x="1831879" y="10258"/>
                </a:lnTo>
                <a:lnTo>
                  <a:pt x="1854777" y="9669"/>
                </a:lnTo>
                <a:lnTo>
                  <a:pt x="1877676" y="9109"/>
                </a:lnTo>
                <a:lnTo>
                  <a:pt x="1900574" y="8578"/>
                </a:lnTo>
                <a:lnTo>
                  <a:pt x="1923473" y="8073"/>
                </a:lnTo>
                <a:lnTo>
                  <a:pt x="1946371" y="7594"/>
                </a:lnTo>
                <a:lnTo>
                  <a:pt x="1969270" y="7138"/>
                </a:lnTo>
                <a:lnTo>
                  <a:pt x="1992168" y="6705"/>
                </a:lnTo>
                <a:lnTo>
                  <a:pt x="2015067" y="6294"/>
                </a:lnTo>
                <a:lnTo>
                  <a:pt x="2037965" y="5904"/>
                </a:lnTo>
                <a:lnTo>
                  <a:pt x="2060864" y="5533"/>
                </a:lnTo>
                <a:lnTo>
                  <a:pt x="2083762" y="5180"/>
                </a:lnTo>
                <a:lnTo>
                  <a:pt x="2106661" y="4845"/>
                </a:lnTo>
                <a:lnTo>
                  <a:pt x="2129559" y="4527"/>
                </a:lnTo>
                <a:lnTo>
                  <a:pt x="2152457" y="4225"/>
                </a:lnTo>
                <a:lnTo>
                  <a:pt x="2175356" y="3938"/>
                </a:lnTo>
                <a:lnTo>
                  <a:pt x="2198254" y="3666"/>
                </a:lnTo>
                <a:lnTo>
                  <a:pt x="2221153" y="3407"/>
                </a:lnTo>
                <a:lnTo>
                  <a:pt x="2244051" y="3161"/>
                </a:lnTo>
                <a:lnTo>
                  <a:pt x="2266950" y="2927"/>
                </a:lnTo>
                <a:lnTo>
                  <a:pt x="2289848" y="2705"/>
                </a:lnTo>
                <a:lnTo>
                  <a:pt x="2312747" y="2494"/>
                </a:lnTo>
                <a:lnTo>
                  <a:pt x="2335645" y="2294"/>
                </a:lnTo>
                <a:lnTo>
                  <a:pt x="2358544" y="2103"/>
                </a:lnTo>
                <a:lnTo>
                  <a:pt x="2381442" y="1923"/>
                </a:lnTo>
                <a:lnTo>
                  <a:pt x="2404341" y="1751"/>
                </a:lnTo>
                <a:lnTo>
                  <a:pt x="2427239" y="1588"/>
                </a:lnTo>
                <a:lnTo>
                  <a:pt x="2450138" y="1433"/>
                </a:lnTo>
                <a:lnTo>
                  <a:pt x="2473036" y="1286"/>
                </a:lnTo>
                <a:lnTo>
                  <a:pt x="2495935" y="1146"/>
                </a:lnTo>
                <a:lnTo>
                  <a:pt x="2518833" y="1013"/>
                </a:lnTo>
                <a:lnTo>
                  <a:pt x="2541732" y="887"/>
                </a:lnTo>
                <a:lnTo>
                  <a:pt x="2564630" y="767"/>
                </a:lnTo>
                <a:lnTo>
                  <a:pt x="2587529" y="653"/>
                </a:lnTo>
                <a:lnTo>
                  <a:pt x="2610427" y="545"/>
                </a:lnTo>
                <a:lnTo>
                  <a:pt x="2633326" y="442"/>
                </a:lnTo>
                <a:lnTo>
                  <a:pt x="2656224" y="344"/>
                </a:lnTo>
                <a:lnTo>
                  <a:pt x="2679123" y="252"/>
                </a:lnTo>
                <a:lnTo>
                  <a:pt x="2702021" y="164"/>
                </a:lnTo>
                <a:lnTo>
                  <a:pt x="2724920" y="80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3F9E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b bar A'=0.15 n=0"/>
          <p:cNvSpPr/>
          <p:nvPr/>
        </p:nvSpPr>
        <p:spPr>
          <a:xfrm>
            <a:off x="1087513" y="6001173"/>
            <a:ext cx="71443" cy="1354667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b bar A'=0.15 n=1"/>
          <p:cNvSpPr/>
          <p:nvPr/>
        </p:nvSpPr>
        <p:spPr>
          <a:xfrm>
            <a:off x="1362294" y="6664960"/>
            <a:ext cx="71443" cy="690880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b bar A'=0.15 n=2"/>
          <p:cNvSpPr/>
          <p:nvPr/>
        </p:nvSpPr>
        <p:spPr>
          <a:xfrm>
            <a:off x="1637076" y="7003491"/>
            <a:ext cx="71443" cy="352349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 bar A'=0.15 n=3"/>
          <p:cNvSpPr/>
          <p:nvPr/>
        </p:nvSpPr>
        <p:spPr>
          <a:xfrm>
            <a:off x="1911858" y="7176142"/>
            <a:ext cx="71443" cy="179698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b bar A'=0.15 n=4"/>
          <p:cNvSpPr/>
          <p:nvPr/>
        </p:nvSpPr>
        <p:spPr>
          <a:xfrm>
            <a:off x="2186640" y="7264194"/>
            <a:ext cx="71443" cy="91646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b bar A'=0.15 n=5"/>
          <p:cNvSpPr/>
          <p:nvPr/>
        </p:nvSpPr>
        <p:spPr>
          <a:xfrm>
            <a:off x="2461422" y="7309101"/>
            <a:ext cx="71443" cy="46739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b bar A'=0.15 n=6"/>
          <p:cNvSpPr/>
          <p:nvPr/>
        </p:nvSpPr>
        <p:spPr>
          <a:xfrm>
            <a:off x="2736203" y="7332003"/>
            <a:ext cx="71443" cy="23837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b bar A'=0.15 n=7"/>
          <p:cNvSpPr/>
          <p:nvPr/>
        </p:nvSpPr>
        <p:spPr>
          <a:xfrm>
            <a:off x="3010985" y="7343683"/>
            <a:ext cx="71443" cy="12157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b bar A'=0.15 n=8"/>
          <p:cNvSpPr/>
          <p:nvPr/>
        </p:nvSpPr>
        <p:spPr>
          <a:xfrm>
            <a:off x="3285767" y="7349640"/>
            <a:ext cx="71443" cy="6200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 cumulative A'=0.15"/>
          <p:cNvSpPr/>
          <p:nvPr/>
        </p:nvSpPr>
        <p:spPr>
          <a:xfrm>
            <a:off x="1051791" y="6112514"/>
            <a:ext cx="2747818" cy="633726"/>
          </a:xfrm>
          <a:custGeom>
            <a:avLst/>
            <a:gdLst/>
            <a:ahLst/>
            <a:cxnLst/>
            <a:rect l="l" t="t" r="r" b="b"/>
            <a:pathLst>
              <a:path w="2747818" h="633726">
                <a:moveTo>
                  <a:pt x="0" y="633726"/>
                </a:moveTo>
                <a:lnTo>
                  <a:pt x="22898" y="599104"/>
                </a:lnTo>
                <a:lnTo>
                  <a:pt x="45797" y="566372"/>
                </a:lnTo>
                <a:lnTo>
                  <a:pt x="68695" y="535426"/>
                </a:lnTo>
                <a:lnTo>
                  <a:pt x="91594" y="506168"/>
                </a:lnTo>
                <a:lnTo>
                  <a:pt x="114492" y="478507"/>
                </a:lnTo>
                <a:lnTo>
                  <a:pt x="137391" y="452355"/>
                </a:lnTo>
                <a:lnTo>
                  <a:pt x="160289" y="427630"/>
                </a:lnTo>
                <a:lnTo>
                  <a:pt x="183188" y="404254"/>
                </a:lnTo>
                <a:lnTo>
                  <a:pt x="206086" y="382154"/>
                </a:lnTo>
                <a:lnTo>
                  <a:pt x="228985" y="361260"/>
                </a:lnTo>
                <a:lnTo>
                  <a:pt x="251883" y="341506"/>
                </a:lnTo>
                <a:lnTo>
                  <a:pt x="274782" y="322830"/>
                </a:lnTo>
                <a:lnTo>
                  <a:pt x="297680" y="305173"/>
                </a:lnTo>
                <a:lnTo>
                  <a:pt x="320579" y="288479"/>
                </a:lnTo>
                <a:lnTo>
                  <a:pt x="343477" y="272697"/>
                </a:lnTo>
                <a:lnTo>
                  <a:pt x="366376" y="257775"/>
                </a:lnTo>
                <a:lnTo>
                  <a:pt x="389274" y="243668"/>
                </a:lnTo>
                <a:lnTo>
                  <a:pt x="412173" y="230331"/>
                </a:lnTo>
                <a:lnTo>
                  <a:pt x="435071" y="217721"/>
                </a:lnTo>
                <a:lnTo>
                  <a:pt x="457970" y="205800"/>
                </a:lnTo>
                <a:lnTo>
                  <a:pt x="480868" y="194528"/>
                </a:lnTo>
                <a:lnTo>
                  <a:pt x="503767" y="183872"/>
                </a:lnTo>
                <a:lnTo>
                  <a:pt x="526665" y="173798"/>
                </a:lnTo>
                <a:lnTo>
                  <a:pt x="549564" y="164273"/>
                </a:lnTo>
                <a:lnTo>
                  <a:pt x="572462" y="155268"/>
                </a:lnTo>
                <a:lnTo>
                  <a:pt x="595361" y="146754"/>
                </a:lnTo>
                <a:lnTo>
                  <a:pt x="618259" y="138705"/>
                </a:lnTo>
                <a:lnTo>
                  <a:pt x="641157" y="131095"/>
                </a:lnTo>
                <a:lnTo>
                  <a:pt x="664056" y="123900"/>
                </a:lnTo>
                <a:lnTo>
                  <a:pt x="686954" y="117098"/>
                </a:lnTo>
                <a:lnTo>
                  <a:pt x="709853" y="110667"/>
                </a:lnTo>
                <a:lnTo>
                  <a:pt x="732751" y="104587"/>
                </a:lnTo>
                <a:lnTo>
                  <a:pt x="755650" y="98839"/>
                </a:lnTo>
                <a:lnTo>
                  <a:pt x="778548" y="93405"/>
                </a:lnTo>
                <a:lnTo>
                  <a:pt x="801447" y="88267"/>
                </a:lnTo>
                <a:lnTo>
                  <a:pt x="824345" y="83409"/>
                </a:lnTo>
                <a:lnTo>
                  <a:pt x="847244" y="78816"/>
                </a:lnTo>
                <a:lnTo>
                  <a:pt x="870142" y="74474"/>
                </a:lnTo>
                <a:lnTo>
                  <a:pt x="893041" y="70369"/>
                </a:lnTo>
                <a:lnTo>
                  <a:pt x="915939" y="66488"/>
                </a:lnTo>
                <a:lnTo>
                  <a:pt x="938838" y="62819"/>
                </a:lnTo>
                <a:lnTo>
                  <a:pt x="961736" y="59350"/>
                </a:lnTo>
                <a:lnTo>
                  <a:pt x="984635" y="56070"/>
                </a:lnTo>
                <a:lnTo>
                  <a:pt x="1007533" y="52969"/>
                </a:lnTo>
                <a:lnTo>
                  <a:pt x="1030432" y="50038"/>
                </a:lnTo>
                <a:lnTo>
                  <a:pt x="1053330" y="47266"/>
                </a:lnTo>
                <a:lnTo>
                  <a:pt x="1076229" y="44646"/>
                </a:lnTo>
                <a:lnTo>
                  <a:pt x="1099127" y="42168"/>
                </a:lnTo>
                <a:lnTo>
                  <a:pt x="1122026" y="39826"/>
                </a:lnTo>
                <a:lnTo>
                  <a:pt x="1144924" y="37612"/>
                </a:lnTo>
                <a:lnTo>
                  <a:pt x="1167823" y="35518"/>
                </a:lnTo>
                <a:lnTo>
                  <a:pt x="1190721" y="33539"/>
                </a:lnTo>
                <a:lnTo>
                  <a:pt x="1213620" y="31667"/>
                </a:lnTo>
                <a:lnTo>
                  <a:pt x="1236518" y="29898"/>
                </a:lnTo>
                <a:lnTo>
                  <a:pt x="1259417" y="28226"/>
                </a:lnTo>
                <a:lnTo>
                  <a:pt x="1282315" y="26644"/>
                </a:lnTo>
                <a:lnTo>
                  <a:pt x="1305214" y="25149"/>
                </a:lnTo>
                <a:lnTo>
                  <a:pt x="1328112" y="23735"/>
                </a:lnTo>
                <a:lnTo>
                  <a:pt x="1351011" y="22399"/>
                </a:lnTo>
                <a:lnTo>
                  <a:pt x="1373909" y="21136"/>
                </a:lnTo>
                <a:lnTo>
                  <a:pt x="1396807" y="19941"/>
                </a:lnTo>
                <a:lnTo>
                  <a:pt x="1419706" y="18812"/>
                </a:lnTo>
                <a:lnTo>
                  <a:pt x="1442604" y="17744"/>
                </a:lnTo>
                <a:lnTo>
                  <a:pt x="1465503" y="16735"/>
                </a:lnTo>
                <a:lnTo>
                  <a:pt x="1488401" y="15780"/>
                </a:lnTo>
                <a:lnTo>
                  <a:pt x="1511300" y="14878"/>
                </a:lnTo>
                <a:lnTo>
                  <a:pt x="1534198" y="14025"/>
                </a:lnTo>
                <a:lnTo>
                  <a:pt x="1557097" y="13218"/>
                </a:lnTo>
                <a:lnTo>
                  <a:pt x="1579995" y="12456"/>
                </a:lnTo>
                <a:lnTo>
                  <a:pt x="1602894" y="11735"/>
                </a:lnTo>
                <a:lnTo>
                  <a:pt x="1625792" y="11053"/>
                </a:lnTo>
                <a:lnTo>
                  <a:pt x="1648691" y="10409"/>
                </a:lnTo>
                <a:lnTo>
                  <a:pt x="1671589" y="9800"/>
                </a:lnTo>
                <a:lnTo>
                  <a:pt x="1694488" y="9224"/>
                </a:lnTo>
                <a:lnTo>
                  <a:pt x="1717386" y="8679"/>
                </a:lnTo>
                <a:lnTo>
                  <a:pt x="1740285" y="8164"/>
                </a:lnTo>
                <a:lnTo>
                  <a:pt x="1763183" y="7678"/>
                </a:lnTo>
                <a:lnTo>
                  <a:pt x="1786082" y="7217"/>
                </a:lnTo>
                <a:lnTo>
                  <a:pt x="1808980" y="6782"/>
                </a:lnTo>
                <a:lnTo>
                  <a:pt x="1831879" y="6371"/>
                </a:lnTo>
                <a:lnTo>
                  <a:pt x="1854777" y="5982"/>
                </a:lnTo>
                <a:lnTo>
                  <a:pt x="1877676" y="5615"/>
                </a:lnTo>
                <a:lnTo>
                  <a:pt x="1900574" y="5267"/>
                </a:lnTo>
                <a:lnTo>
                  <a:pt x="1923473" y="4938"/>
                </a:lnTo>
                <a:lnTo>
                  <a:pt x="1946371" y="4628"/>
                </a:lnTo>
                <a:lnTo>
                  <a:pt x="1969270" y="4334"/>
                </a:lnTo>
                <a:lnTo>
                  <a:pt x="1992168" y="4056"/>
                </a:lnTo>
                <a:lnTo>
                  <a:pt x="2015067" y="3794"/>
                </a:lnTo>
                <a:lnTo>
                  <a:pt x="2037965" y="3545"/>
                </a:lnTo>
                <a:lnTo>
                  <a:pt x="2060864" y="3311"/>
                </a:lnTo>
                <a:lnTo>
                  <a:pt x="2083762" y="3089"/>
                </a:lnTo>
                <a:lnTo>
                  <a:pt x="2106661" y="2879"/>
                </a:lnTo>
                <a:lnTo>
                  <a:pt x="2129559" y="2681"/>
                </a:lnTo>
                <a:lnTo>
                  <a:pt x="2152457" y="2493"/>
                </a:lnTo>
                <a:lnTo>
                  <a:pt x="2175356" y="2316"/>
                </a:lnTo>
                <a:lnTo>
                  <a:pt x="2198254" y="2148"/>
                </a:lnTo>
                <a:lnTo>
                  <a:pt x="2221153" y="1990"/>
                </a:lnTo>
                <a:lnTo>
                  <a:pt x="2244051" y="1840"/>
                </a:lnTo>
                <a:lnTo>
                  <a:pt x="2266950" y="1698"/>
                </a:lnTo>
                <a:lnTo>
                  <a:pt x="2289848" y="1564"/>
                </a:lnTo>
                <a:lnTo>
                  <a:pt x="2312747" y="1438"/>
                </a:lnTo>
                <a:lnTo>
                  <a:pt x="2335645" y="1318"/>
                </a:lnTo>
                <a:lnTo>
                  <a:pt x="2358544" y="1205"/>
                </a:lnTo>
                <a:lnTo>
                  <a:pt x="2381442" y="1098"/>
                </a:lnTo>
                <a:lnTo>
                  <a:pt x="2404341" y="997"/>
                </a:lnTo>
                <a:lnTo>
                  <a:pt x="2427239" y="901"/>
                </a:lnTo>
                <a:lnTo>
                  <a:pt x="2450138" y="811"/>
                </a:lnTo>
                <a:lnTo>
                  <a:pt x="2473036" y="725"/>
                </a:lnTo>
                <a:lnTo>
                  <a:pt x="2495935" y="645"/>
                </a:lnTo>
                <a:lnTo>
                  <a:pt x="2518833" y="568"/>
                </a:lnTo>
                <a:lnTo>
                  <a:pt x="2541732" y="496"/>
                </a:lnTo>
                <a:lnTo>
                  <a:pt x="2564630" y="428"/>
                </a:lnTo>
                <a:lnTo>
                  <a:pt x="2587529" y="363"/>
                </a:lnTo>
                <a:lnTo>
                  <a:pt x="2610427" y="302"/>
                </a:lnTo>
                <a:lnTo>
                  <a:pt x="2633326" y="244"/>
                </a:lnTo>
                <a:lnTo>
                  <a:pt x="2656224" y="190"/>
                </a:lnTo>
                <a:lnTo>
                  <a:pt x="2679123" y="138"/>
                </a:lnTo>
                <a:lnTo>
                  <a:pt x="2702021" y="89"/>
                </a:lnTo>
                <a:lnTo>
                  <a:pt x="2724920" y="43"/>
                </a:lnTo>
                <a:lnTo>
                  <a:pt x="2747818" y="0"/>
                </a:lnTo>
              </a:path>
            </a:pathLst>
          </a:custGeom>
          <a:noFill/>
          <a:ln w="13208">
            <a:solidFill>
              <a:srgbClr val="DE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b key title"/>
          <p:cNvSpPr txBox="1"/>
          <p:nvPr/>
        </p:nvSpPr>
        <p:spPr>
          <a:xfrm>
            <a:off x="2727960" y="6221730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  <a:latin typeface="Arial"/>
              </a:rPr>
              <a:t>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'</a:t>
            </a:r>
          </a:p>
        </p:txBody>
      </p:sp>
      <p:sp>
        <p:nvSpPr>
          <p:cNvPr id="215" name="b key swatch 0"/>
          <p:cNvSpPr/>
          <p:nvPr/>
        </p:nvSpPr>
        <p:spPr>
          <a:xfrm>
            <a:off x="2727960" y="6441440"/>
            <a:ext cx="233680" cy="121920"/>
          </a:xfrm>
          <a:prstGeom prst="rect">
            <a:avLst/>
          </a:prstGeom>
          <a:solidFill>
            <a:srgbClr val="A1BAEA"/>
          </a:solidFill>
          <a:ln w="4064">
            <a:solidFill>
              <a:srgbClr val="7182A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b key line 0"/>
          <p:cNvCxnSpPr/>
          <p:nvPr/>
        </p:nvCxnSpPr>
        <p:spPr>
          <a:xfrm>
            <a:off x="2727960" y="6573520"/>
            <a:ext cx="233680" cy="0"/>
          </a:xfrm>
          <a:prstGeom prst="line">
            <a:avLst/>
          </a:prstGeom>
          <a:ln w="13208">
            <a:solidFill>
              <a:srgbClr val="3B6F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b key text 0"/>
          <p:cNvSpPr txBox="1"/>
          <p:nvPr/>
        </p:nvSpPr>
        <p:spPr>
          <a:xfrm>
            <a:off x="3063240" y="6394450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0.02</a:t>
            </a:r>
          </a:p>
        </p:txBody>
      </p:sp>
      <p:sp>
        <p:nvSpPr>
          <p:cNvPr id="218" name="b key swatch 1"/>
          <p:cNvSpPr/>
          <p:nvPr/>
        </p:nvSpPr>
        <p:spPr>
          <a:xfrm>
            <a:off x="2727960" y="6614160"/>
            <a:ext cx="233680" cy="121920"/>
          </a:xfrm>
          <a:prstGeom prst="rect">
            <a:avLst/>
          </a:prstGeom>
          <a:solidFill>
            <a:srgbClr val="A3D0AA"/>
          </a:solidFill>
          <a:ln w="4064">
            <a:solidFill>
              <a:srgbClr val="7292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b key line 1"/>
          <p:cNvCxnSpPr/>
          <p:nvPr/>
        </p:nvCxnSpPr>
        <p:spPr>
          <a:xfrm>
            <a:off x="2727960" y="6746240"/>
            <a:ext cx="233680" cy="0"/>
          </a:xfrm>
          <a:prstGeom prst="line">
            <a:avLst/>
          </a:prstGeom>
          <a:ln w="13208">
            <a:solidFill>
              <a:srgbClr val="3F9E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b key text 1"/>
          <p:cNvSpPr txBox="1"/>
          <p:nvPr/>
        </p:nvSpPr>
        <p:spPr>
          <a:xfrm>
            <a:off x="3063240" y="6567170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0.10</a:t>
            </a:r>
          </a:p>
        </p:txBody>
      </p:sp>
      <p:sp>
        <p:nvSpPr>
          <p:cNvPr id="221" name="b key swatch 2"/>
          <p:cNvSpPr/>
          <p:nvPr/>
        </p:nvSpPr>
        <p:spPr>
          <a:xfrm>
            <a:off x="2727960" y="6786880"/>
            <a:ext cx="233680" cy="121920"/>
          </a:xfrm>
          <a:prstGeom prst="rect">
            <a:avLst/>
          </a:prstGeom>
          <a:solidFill>
            <a:srgbClr val="EFB0B0"/>
          </a:solidFill>
          <a:ln w="4064">
            <a:solidFill>
              <a:srgbClr val="A77B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b key line 2"/>
          <p:cNvCxnSpPr/>
          <p:nvPr/>
        </p:nvCxnSpPr>
        <p:spPr>
          <a:xfrm>
            <a:off x="2727960" y="6918960"/>
            <a:ext cx="233680" cy="0"/>
          </a:xfrm>
          <a:prstGeom prst="line">
            <a:avLst/>
          </a:prstGeom>
          <a:ln w="13208">
            <a:solidFill>
              <a:srgbClr val="DE5B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b key text 2"/>
          <p:cNvSpPr txBox="1"/>
          <p:nvPr/>
        </p:nvSpPr>
        <p:spPr>
          <a:xfrm>
            <a:off x="3063240" y="6739890"/>
            <a:ext cx="609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224" name="b p label"/>
          <p:cNvSpPr txBox="1"/>
          <p:nvPr/>
        </p:nvSpPr>
        <p:spPr>
          <a:xfrm>
            <a:off x="1736344" y="6424930"/>
            <a:ext cx="1016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1A1A1A"/>
                </a:solidFill>
                <a:latin typeface="Arial"/>
              </a:rPr>
              <a:t>p</a:t>
            </a:r>
            <a:r>
              <a:rPr sz="1000" b="0" i="0">
                <a:solidFill>
                  <a:srgbClr val="1A1A1A"/>
                </a:solidFill>
                <a:latin typeface="Arial"/>
              </a:rPr>
              <a:t> = 0.4</a:t>
            </a:r>
          </a:p>
        </p:txBody>
      </p:sp>
      <p:cxnSp>
        <p:nvCxnSpPr>
          <p:cNvPr id="225" name="b arrow bars"/>
          <p:cNvCxnSpPr/>
          <p:nvPr/>
        </p:nvCxnSpPr>
        <p:spPr>
          <a:xfrm flipH="1">
            <a:off x="1624711" y="6624320"/>
            <a:ext cx="196469" cy="205740"/>
          </a:xfrm>
          <a:prstGeom prst="line">
            <a:avLst/>
          </a:prstGeom>
          <a:ln w="9144">
            <a:solidFill>
              <a:srgbClr val="1A1A1A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b arrow lines"/>
          <p:cNvCxnSpPr/>
          <p:nvPr/>
        </p:nvCxnSpPr>
        <p:spPr>
          <a:xfrm flipV="1">
            <a:off x="1352677" y="6311900"/>
            <a:ext cx="211582" cy="205740"/>
          </a:xfrm>
          <a:prstGeom prst="line">
            <a:avLst/>
          </a:prstGeom>
          <a:ln w="9144">
            <a:solidFill>
              <a:srgbClr val="1A1A1A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c frame"/>
          <p:cNvSpPr/>
          <p:nvPr/>
        </p:nvSpPr>
        <p:spPr>
          <a:xfrm>
            <a:off x="5943600" y="5831840"/>
            <a:ext cx="2971800" cy="1524000"/>
          </a:xfrm>
          <a:prstGeom prst="rect">
            <a:avLst/>
          </a:prstGeom>
          <a:noFill/>
          <a:ln w="8128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8" name="c R tick"/>
          <p:cNvCxnSpPr/>
          <p:nvPr/>
        </p:nvCxnSpPr>
        <p:spPr>
          <a:xfrm flipV="1">
            <a:off x="594360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c R tick label"/>
          <p:cNvSpPr txBox="1"/>
          <p:nvPr/>
        </p:nvSpPr>
        <p:spPr>
          <a:xfrm>
            <a:off x="553720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0.0</a:t>
            </a:r>
          </a:p>
        </p:txBody>
      </p:sp>
      <p:cxnSp>
        <p:nvCxnSpPr>
          <p:cNvPr id="230" name="c R tick"/>
          <p:cNvCxnSpPr/>
          <p:nvPr/>
        </p:nvCxnSpPr>
        <p:spPr>
          <a:xfrm flipV="1">
            <a:off x="653796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c R tick label"/>
          <p:cNvSpPr txBox="1"/>
          <p:nvPr/>
        </p:nvSpPr>
        <p:spPr>
          <a:xfrm>
            <a:off x="613156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232" name="c R tick"/>
          <p:cNvCxnSpPr/>
          <p:nvPr/>
        </p:nvCxnSpPr>
        <p:spPr>
          <a:xfrm flipV="1">
            <a:off x="713232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c R tick label"/>
          <p:cNvSpPr txBox="1"/>
          <p:nvPr/>
        </p:nvSpPr>
        <p:spPr>
          <a:xfrm>
            <a:off x="672592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234" name="c R tick"/>
          <p:cNvCxnSpPr/>
          <p:nvPr/>
        </p:nvCxnSpPr>
        <p:spPr>
          <a:xfrm flipV="1">
            <a:off x="772668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c R tick label"/>
          <p:cNvSpPr txBox="1"/>
          <p:nvPr/>
        </p:nvSpPr>
        <p:spPr>
          <a:xfrm>
            <a:off x="732028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236" name="c R tick"/>
          <p:cNvCxnSpPr/>
          <p:nvPr/>
        </p:nvCxnSpPr>
        <p:spPr>
          <a:xfrm flipV="1">
            <a:off x="832104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c R tick label"/>
          <p:cNvSpPr txBox="1"/>
          <p:nvPr/>
        </p:nvSpPr>
        <p:spPr>
          <a:xfrm>
            <a:off x="791464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238" name="c R tick"/>
          <p:cNvCxnSpPr/>
          <p:nvPr/>
        </p:nvCxnSpPr>
        <p:spPr>
          <a:xfrm flipV="1">
            <a:off x="8915400" y="7299960"/>
            <a:ext cx="0" cy="5588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c R tick label"/>
          <p:cNvSpPr txBox="1"/>
          <p:nvPr/>
        </p:nvSpPr>
        <p:spPr>
          <a:xfrm>
            <a:off x="8509000" y="7398004"/>
            <a:ext cx="8128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cxnSp>
        <p:nvCxnSpPr>
          <p:cNvPr id="240" name="c eta tick"/>
          <p:cNvCxnSpPr/>
          <p:nvPr/>
        </p:nvCxnSpPr>
        <p:spPr>
          <a:xfrm>
            <a:off x="5943600" y="7355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c eta tick label"/>
          <p:cNvSpPr txBox="1"/>
          <p:nvPr/>
        </p:nvSpPr>
        <p:spPr>
          <a:xfrm>
            <a:off x="5212080" y="7260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0.2</a:t>
            </a:r>
          </a:p>
        </p:txBody>
      </p:sp>
      <p:cxnSp>
        <p:nvCxnSpPr>
          <p:cNvPr id="242" name="c eta tick"/>
          <p:cNvCxnSpPr/>
          <p:nvPr/>
        </p:nvCxnSpPr>
        <p:spPr>
          <a:xfrm>
            <a:off x="5943600" y="6974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c eta tick label"/>
          <p:cNvSpPr txBox="1"/>
          <p:nvPr/>
        </p:nvSpPr>
        <p:spPr>
          <a:xfrm>
            <a:off x="5212080" y="6879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0.4</a:t>
            </a:r>
          </a:p>
        </p:txBody>
      </p:sp>
      <p:cxnSp>
        <p:nvCxnSpPr>
          <p:cNvPr id="244" name="c eta tick"/>
          <p:cNvCxnSpPr/>
          <p:nvPr/>
        </p:nvCxnSpPr>
        <p:spPr>
          <a:xfrm>
            <a:off x="5943600" y="6593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c eta tick label"/>
          <p:cNvSpPr txBox="1"/>
          <p:nvPr/>
        </p:nvSpPr>
        <p:spPr>
          <a:xfrm>
            <a:off x="5212080" y="6498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0.6</a:t>
            </a:r>
          </a:p>
        </p:txBody>
      </p:sp>
      <p:cxnSp>
        <p:nvCxnSpPr>
          <p:cNvPr id="246" name="c eta tick"/>
          <p:cNvCxnSpPr/>
          <p:nvPr/>
        </p:nvCxnSpPr>
        <p:spPr>
          <a:xfrm>
            <a:off x="5943600" y="6212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c eta tick label"/>
          <p:cNvSpPr txBox="1"/>
          <p:nvPr/>
        </p:nvSpPr>
        <p:spPr>
          <a:xfrm>
            <a:off x="5212080" y="6117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0.8</a:t>
            </a:r>
          </a:p>
        </p:txBody>
      </p:sp>
      <p:cxnSp>
        <p:nvCxnSpPr>
          <p:cNvPr id="248" name="c eta tick"/>
          <p:cNvCxnSpPr/>
          <p:nvPr/>
        </p:nvCxnSpPr>
        <p:spPr>
          <a:xfrm>
            <a:off x="5943600" y="5831840"/>
            <a:ext cx="55880" cy="0"/>
          </a:xfrm>
          <a:prstGeom prst="line">
            <a:avLst/>
          </a:prstGeom>
          <a:ln w="7112">
            <a:solidFill>
              <a:srgbClr val="2B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c eta tick label"/>
          <p:cNvSpPr txBox="1"/>
          <p:nvPr/>
        </p:nvSpPr>
        <p:spPr>
          <a:xfrm>
            <a:off x="5212080" y="5736844"/>
            <a:ext cx="609600" cy="18999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880" b="0" i="0">
                <a:solidFill>
                  <a:srgbClr val="1A1A1A"/>
                </a:solidFill>
                <a:latin typeface="Arial"/>
              </a:rPr>
              <a:t>1.0</a:t>
            </a:r>
          </a:p>
        </p:txBody>
      </p:sp>
      <p:sp>
        <p:nvSpPr>
          <p:cNvPr id="250" name="c x title"/>
          <p:cNvSpPr txBox="1"/>
          <p:nvPr/>
        </p:nvSpPr>
        <p:spPr>
          <a:xfrm>
            <a:off x="5143500" y="7715250"/>
            <a:ext cx="4572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Round-trip reflectance, </a:t>
            </a:r>
            <a:r>
              <a:rPr sz="1000" b="0" i="1">
                <a:solidFill>
                  <a:srgbClr val="1A1A1A"/>
                </a:solidFill>
                <a:latin typeface="Arial"/>
              </a:rPr>
              <a:t>R</a:t>
            </a:r>
            <a:r>
              <a:rPr sz="1000" b="0" i="0" baseline="-25000">
                <a:solidFill>
                  <a:srgbClr val="1A1A1A"/>
                </a:solidFill>
                <a:latin typeface="Arial"/>
              </a:rPr>
              <a:t>LED</a:t>
            </a:r>
            <a:r>
              <a:rPr sz="1000" b="0" i="0">
                <a:solidFill>
                  <a:srgbClr val="1A1A1A"/>
                </a:solidFill>
                <a:latin typeface="Arial"/>
              </a:rPr>
              <a:t> = 1 − </a:t>
            </a:r>
            <a:r>
              <a:rPr sz="1000" b="0" i="1">
                <a:solidFill>
                  <a:srgbClr val="1A1A1A"/>
                </a:solidFill>
                <a:latin typeface="Arial"/>
              </a:rPr>
              <a:t>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'</a:t>
            </a:r>
          </a:p>
        </p:txBody>
      </p:sp>
      <p:sp>
        <p:nvSpPr>
          <p:cNvPr id="251" name="c y title"/>
          <p:cNvSpPr txBox="1"/>
          <p:nvPr/>
        </p:nvSpPr>
        <p:spPr>
          <a:xfrm rot="16200000">
            <a:off x="3530600" y="6485890"/>
            <a:ext cx="3048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rial"/>
              </a:rPr>
              <a:t>Extraction efficiency (</a:t>
            </a:r>
            <a:r>
              <a:rPr sz="1000" b="0" i="1">
                <a:solidFill>
                  <a:srgbClr val="1A1A1A"/>
                </a:solidFill>
                <a:latin typeface="Arial"/>
              </a:rPr>
              <a:t>η</a:t>
            </a:r>
            <a:r>
              <a:rPr sz="1000" b="0" i="0" baseline="-25000">
                <a:solidFill>
                  <a:srgbClr val="1A1A1A"/>
                </a:solidFill>
                <a:latin typeface="Arial"/>
              </a:rPr>
              <a:t>sta</a:t>
            </a:r>
            <a:r>
              <a:rPr sz="1000" b="0" i="0">
                <a:solidFill>
                  <a:srgbClr val="1A1A1A"/>
                </a:solidFill>
                <a:latin typeface="Arial"/>
              </a:rPr>
              <a:t>)</a:t>
            </a:r>
          </a:p>
        </p:txBody>
      </p:sp>
      <p:sp>
        <p:nvSpPr>
          <p:cNvPr id="252" name="c curve p=0.60"/>
          <p:cNvSpPr/>
          <p:nvPr/>
        </p:nvSpPr>
        <p:spPr>
          <a:xfrm>
            <a:off x="5943600" y="5831840"/>
            <a:ext cx="2971800" cy="762000"/>
          </a:xfrm>
          <a:custGeom>
            <a:avLst/>
            <a:gdLst/>
            <a:ahLst/>
            <a:cxnLst/>
            <a:rect l="l" t="t" r="r" b="b"/>
            <a:pathLst>
              <a:path w="2971800" h="762000">
                <a:moveTo>
                  <a:pt x="0" y="762000"/>
                </a:moveTo>
                <a:lnTo>
                  <a:pt x="18574" y="759135"/>
                </a:lnTo>
                <a:lnTo>
                  <a:pt x="37148" y="756256"/>
                </a:lnTo>
                <a:lnTo>
                  <a:pt x="55721" y="753363"/>
                </a:lnTo>
                <a:lnTo>
                  <a:pt x="74295" y="750455"/>
                </a:lnTo>
                <a:lnTo>
                  <a:pt x="92869" y="747532"/>
                </a:lnTo>
                <a:lnTo>
                  <a:pt x="111442" y="744594"/>
                </a:lnTo>
                <a:lnTo>
                  <a:pt x="130016" y="741641"/>
                </a:lnTo>
                <a:lnTo>
                  <a:pt x="148590" y="738673"/>
                </a:lnTo>
                <a:lnTo>
                  <a:pt x="167164" y="735691"/>
                </a:lnTo>
                <a:lnTo>
                  <a:pt x="185738" y="732692"/>
                </a:lnTo>
                <a:lnTo>
                  <a:pt x="204311" y="729679"/>
                </a:lnTo>
                <a:lnTo>
                  <a:pt x="222885" y="726649"/>
                </a:lnTo>
                <a:lnTo>
                  <a:pt x="241459" y="723605"/>
                </a:lnTo>
                <a:lnTo>
                  <a:pt x="260032" y="720544"/>
                </a:lnTo>
                <a:lnTo>
                  <a:pt x="278606" y="717468"/>
                </a:lnTo>
                <a:lnTo>
                  <a:pt x="297180" y="714375"/>
                </a:lnTo>
                <a:lnTo>
                  <a:pt x="315754" y="711266"/>
                </a:lnTo>
                <a:lnTo>
                  <a:pt x="334328" y="708141"/>
                </a:lnTo>
                <a:lnTo>
                  <a:pt x="352901" y="705000"/>
                </a:lnTo>
                <a:lnTo>
                  <a:pt x="371475" y="701842"/>
                </a:lnTo>
                <a:lnTo>
                  <a:pt x="390049" y="698668"/>
                </a:lnTo>
                <a:lnTo>
                  <a:pt x="408622" y="695476"/>
                </a:lnTo>
                <a:lnTo>
                  <a:pt x="427196" y="692268"/>
                </a:lnTo>
                <a:lnTo>
                  <a:pt x="445770" y="689043"/>
                </a:lnTo>
                <a:lnTo>
                  <a:pt x="464344" y="685800"/>
                </a:lnTo>
                <a:lnTo>
                  <a:pt x="482918" y="682540"/>
                </a:lnTo>
                <a:lnTo>
                  <a:pt x="501491" y="679263"/>
                </a:lnTo>
                <a:lnTo>
                  <a:pt x="520065" y="675968"/>
                </a:lnTo>
                <a:lnTo>
                  <a:pt x="538639" y="672655"/>
                </a:lnTo>
                <a:lnTo>
                  <a:pt x="557212" y="669324"/>
                </a:lnTo>
                <a:lnTo>
                  <a:pt x="575786" y="665976"/>
                </a:lnTo>
                <a:lnTo>
                  <a:pt x="594360" y="662609"/>
                </a:lnTo>
                <a:lnTo>
                  <a:pt x="612934" y="659223"/>
                </a:lnTo>
                <a:lnTo>
                  <a:pt x="631508" y="655820"/>
                </a:lnTo>
                <a:lnTo>
                  <a:pt x="650081" y="652397"/>
                </a:lnTo>
                <a:lnTo>
                  <a:pt x="668655" y="648956"/>
                </a:lnTo>
                <a:lnTo>
                  <a:pt x="687229" y="645496"/>
                </a:lnTo>
                <a:lnTo>
                  <a:pt x="705802" y="642017"/>
                </a:lnTo>
                <a:lnTo>
                  <a:pt x="724376" y="638518"/>
                </a:lnTo>
                <a:lnTo>
                  <a:pt x="742950" y="635000"/>
                </a:lnTo>
                <a:lnTo>
                  <a:pt x="761524" y="631462"/>
                </a:lnTo>
                <a:lnTo>
                  <a:pt x="780098" y="627905"/>
                </a:lnTo>
                <a:lnTo>
                  <a:pt x="798671" y="624328"/>
                </a:lnTo>
                <a:lnTo>
                  <a:pt x="817245" y="620730"/>
                </a:lnTo>
                <a:lnTo>
                  <a:pt x="835819" y="617113"/>
                </a:lnTo>
                <a:lnTo>
                  <a:pt x="854392" y="613475"/>
                </a:lnTo>
                <a:lnTo>
                  <a:pt x="872966" y="609816"/>
                </a:lnTo>
                <a:lnTo>
                  <a:pt x="891540" y="606136"/>
                </a:lnTo>
                <a:lnTo>
                  <a:pt x="910114" y="602436"/>
                </a:lnTo>
                <a:lnTo>
                  <a:pt x="928688" y="598714"/>
                </a:lnTo>
                <a:lnTo>
                  <a:pt x="947261" y="594971"/>
                </a:lnTo>
                <a:lnTo>
                  <a:pt x="965835" y="591207"/>
                </a:lnTo>
                <a:lnTo>
                  <a:pt x="984409" y="587421"/>
                </a:lnTo>
                <a:lnTo>
                  <a:pt x="1002982" y="583613"/>
                </a:lnTo>
                <a:lnTo>
                  <a:pt x="1021556" y="579783"/>
                </a:lnTo>
                <a:lnTo>
                  <a:pt x="1040130" y="575930"/>
                </a:lnTo>
                <a:lnTo>
                  <a:pt x="1058704" y="572055"/>
                </a:lnTo>
                <a:lnTo>
                  <a:pt x="1077278" y="568158"/>
                </a:lnTo>
                <a:lnTo>
                  <a:pt x="1095851" y="564238"/>
                </a:lnTo>
                <a:lnTo>
                  <a:pt x="1114425" y="560294"/>
                </a:lnTo>
                <a:lnTo>
                  <a:pt x="1132999" y="556327"/>
                </a:lnTo>
                <a:lnTo>
                  <a:pt x="1151572" y="552337"/>
                </a:lnTo>
                <a:lnTo>
                  <a:pt x="1170146" y="548323"/>
                </a:lnTo>
                <a:lnTo>
                  <a:pt x="1188720" y="544286"/>
                </a:lnTo>
                <a:lnTo>
                  <a:pt x="1207294" y="540224"/>
                </a:lnTo>
                <a:lnTo>
                  <a:pt x="1225868" y="536138"/>
                </a:lnTo>
                <a:lnTo>
                  <a:pt x="1244441" y="532027"/>
                </a:lnTo>
                <a:lnTo>
                  <a:pt x="1263015" y="527892"/>
                </a:lnTo>
                <a:lnTo>
                  <a:pt x="1281589" y="523731"/>
                </a:lnTo>
                <a:lnTo>
                  <a:pt x="1300162" y="519545"/>
                </a:lnTo>
                <a:lnTo>
                  <a:pt x="1318736" y="515334"/>
                </a:lnTo>
                <a:lnTo>
                  <a:pt x="1337310" y="511098"/>
                </a:lnTo>
                <a:lnTo>
                  <a:pt x="1355884" y="506835"/>
                </a:lnTo>
                <a:lnTo>
                  <a:pt x="1374458" y="502546"/>
                </a:lnTo>
                <a:lnTo>
                  <a:pt x="1393031" y="498231"/>
                </a:lnTo>
                <a:lnTo>
                  <a:pt x="1411605" y="493889"/>
                </a:lnTo>
                <a:lnTo>
                  <a:pt x="1430179" y="489520"/>
                </a:lnTo>
                <a:lnTo>
                  <a:pt x="1448752" y="485124"/>
                </a:lnTo>
                <a:lnTo>
                  <a:pt x="1467326" y="480701"/>
                </a:lnTo>
                <a:lnTo>
                  <a:pt x="1485900" y="476250"/>
                </a:lnTo>
                <a:lnTo>
                  <a:pt x="1504474" y="471771"/>
                </a:lnTo>
                <a:lnTo>
                  <a:pt x="1523048" y="467264"/>
                </a:lnTo>
                <a:lnTo>
                  <a:pt x="1541621" y="462729"/>
                </a:lnTo>
                <a:lnTo>
                  <a:pt x="1560195" y="458165"/>
                </a:lnTo>
                <a:lnTo>
                  <a:pt x="1578769" y="453571"/>
                </a:lnTo>
                <a:lnTo>
                  <a:pt x="1597342" y="448949"/>
                </a:lnTo>
                <a:lnTo>
                  <a:pt x="1615916" y="444297"/>
                </a:lnTo>
                <a:lnTo>
                  <a:pt x="1634490" y="439615"/>
                </a:lnTo>
                <a:lnTo>
                  <a:pt x="1653064" y="434904"/>
                </a:lnTo>
                <a:lnTo>
                  <a:pt x="1671638" y="430161"/>
                </a:lnTo>
                <a:lnTo>
                  <a:pt x="1690211" y="425388"/>
                </a:lnTo>
                <a:lnTo>
                  <a:pt x="1708785" y="420584"/>
                </a:lnTo>
                <a:lnTo>
                  <a:pt x="1727359" y="415749"/>
                </a:lnTo>
                <a:lnTo>
                  <a:pt x="1745932" y="410882"/>
                </a:lnTo>
                <a:lnTo>
                  <a:pt x="1764506" y="405984"/>
                </a:lnTo>
                <a:lnTo>
                  <a:pt x="1783080" y="401053"/>
                </a:lnTo>
                <a:lnTo>
                  <a:pt x="1801654" y="396089"/>
                </a:lnTo>
                <a:lnTo>
                  <a:pt x="1820228" y="391093"/>
                </a:lnTo>
                <a:lnTo>
                  <a:pt x="1838801" y="386063"/>
                </a:lnTo>
                <a:lnTo>
                  <a:pt x="1857375" y="381000"/>
                </a:lnTo>
                <a:lnTo>
                  <a:pt x="1875949" y="375903"/>
                </a:lnTo>
                <a:lnTo>
                  <a:pt x="1894522" y="370772"/>
                </a:lnTo>
                <a:lnTo>
                  <a:pt x="1913096" y="365606"/>
                </a:lnTo>
                <a:lnTo>
                  <a:pt x="1931670" y="360405"/>
                </a:lnTo>
                <a:lnTo>
                  <a:pt x="1950244" y="355169"/>
                </a:lnTo>
                <a:lnTo>
                  <a:pt x="1968818" y="349898"/>
                </a:lnTo>
                <a:lnTo>
                  <a:pt x="1987391" y="344590"/>
                </a:lnTo>
                <a:lnTo>
                  <a:pt x="2005965" y="339247"/>
                </a:lnTo>
                <a:lnTo>
                  <a:pt x="2024539" y="333866"/>
                </a:lnTo>
                <a:lnTo>
                  <a:pt x="2043112" y="328448"/>
                </a:lnTo>
                <a:lnTo>
                  <a:pt x="2061686" y="322993"/>
                </a:lnTo>
                <a:lnTo>
                  <a:pt x="2080260" y="317500"/>
                </a:lnTo>
                <a:lnTo>
                  <a:pt x="2098834" y="311969"/>
                </a:lnTo>
                <a:lnTo>
                  <a:pt x="2117408" y="306399"/>
                </a:lnTo>
                <a:lnTo>
                  <a:pt x="2135981" y="300789"/>
                </a:lnTo>
                <a:lnTo>
                  <a:pt x="2154555" y="295141"/>
                </a:lnTo>
                <a:lnTo>
                  <a:pt x="2173129" y="289452"/>
                </a:lnTo>
                <a:lnTo>
                  <a:pt x="2191702" y="283723"/>
                </a:lnTo>
                <a:lnTo>
                  <a:pt x="2210276" y="277954"/>
                </a:lnTo>
                <a:lnTo>
                  <a:pt x="2228850" y="272143"/>
                </a:lnTo>
                <a:lnTo>
                  <a:pt x="2247424" y="266290"/>
                </a:lnTo>
                <a:lnTo>
                  <a:pt x="2265998" y="260396"/>
                </a:lnTo>
                <a:lnTo>
                  <a:pt x="2284571" y="254458"/>
                </a:lnTo>
                <a:lnTo>
                  <a:pt x="2303145" y="248478"/>
                </a:lnTo>
                <a:lnTo>
                  <a:pt x="2321719" y="242455"/>
                </a:lnTo>
                <a:lnTo>
                  <a:pt x="2340292" y="236387"/>
                </a:lnTo>
                <a:lnTo>
                  <a:pt x="2358866" y="230275"/>
                </a:lnTo>
                <a:lnTo>
                  <a:pt x="2377440" y="224118"/>
                </a:lnTo>
                <a:lnTo>
                  <a:pt x="2396014" y="217915"/>
                </a:lnTo>
                <a:lnTo>
                  <a:pt x="2414588" y="211667"/>
                </a:lnTo>
                <a:lnTo>
                  <a:pt x="2433161" y="205372"/>
                </a:lnTo>
                <a:lnTo>
                  <a:pt x="2451735" y="199030"/>
                </a:lnTo>
                <a:lnTo>
                  <a:pt x="2470309" y="192640"/>
                </a:lnTo>
                <a:lnTo>
                  <a:pt x="2488882" y="186203"/>
                </a:lnTo>
                <a:lnTo>
                  <a:pt x="2507456" y="179717"/>
                </a:lnTo>
                <a:lnTo>
                  <a:pt x="2526030" y="173182"/>
                </a:lnTo>
                <a:lnTo>
                  <a:pt x="2544604" y="166597"/>
                </a:lnTo>
                <a:lnTo>
                  <a:pt x="2563178" y="159962"/>
                </a:lnTo>
                <a:lnTo>
                  <a:pt x="2581751" y="153276"/>
                </a:lnTo>
                <a:lnTo>
                  <a:pt x="2600325" y="146538"/>
                </a:lnTo>
                <a:lnTo>
                  <a:pt x="2618899" y="139749"/>
                </a:lnTo>
                <a:lnTo>
                  <a:pt x="2637472" y="132907"/>
                </a:lnTo>
                <a:lnTo>
                  <a:pt x="2656046" y="126012"/>
                </a:lnTo>
                <a:lnTo>
                  <a:pt x="2674620" y="119062"/>
                </a:lnTo>
                <a:lnTo>
                  <a:pt x="2693194" y="112059"/>
                </a:lnTo>
                <a:lnTo>
                  <a:pt x="2711768" y="105000"/>
                </a:lnTo>
                <a:lnTo>
                  <a:pt x="2730341" y="97885"/>
                </a:lnTo>
                <a:lnTo>
                  <a:pt x="2748915" y="90714"/>
                </a:lnTo>
                <a:lnTo>
                  <a:pt x="2767489" y="83486"/>
                </a:lnTo>
                <a:lnTo>
                  <a:pt x="2786062" y="76200"/>
                </a:lnTo>
                <a:lnTo>
                  <a:pt x="2804636" y="68855"/>
                </a:lnTo>
                <a:lnTo>
                  <a:pt x="2823210" y="61452"/>
                </a:lnTo>
                <a:lnTo>
                  <a:pt x="2841784" y="53988"/>
                </a:lnTo>
                <a:lnTo>
                  <a:pt x="2860358" y="46463"/>
                </a:lnTo>
                <a:lnTo>
                  <a:pt x="2878931" y="38878"/>
                </a:lnTo>
                <a:lnTo>
                  <a:pt x="2897505" y="31230"/>
                </a:lnTo>
                <a:lnTo>
                  <a:pt x="2916079" y="23519"/>
                </a:lnTo>
                <a:lnTo>
                  <a:pt x="2934652" y="15744"/>
                </a:lnTo>
                <a:lnTo>
                  <a:pt x="2953226" y="7905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8A8A8A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c curve p=0.25"/>
          <p:cNvSpPr/>
          <p:nvPr/>
        </p:nvSpPr>
        <p:spPr>
          <a:xfrm>
            <a:off x="5943600" y="5831840"/>
            <a:ext cx="2971800" cy="1428750"/>
          </a:xfrm>
          <a:custGeom>
            <a:avLst/>
            <a:gdLst/>
            <a:ahLst/>
            <a:cxnLst/>
            <a:rect l="l" t="t" r="r" b="b"/>
            <a:pathLst>
              <a:path w="2971800" h="1428750">
                <a:moveTo>
                  <a:pt x="0" y="1428750"/>
                </a:moveTo>
                <a:lnTo>
                  <a:pt x="18574" y="1426507"/>
                </a:lnTo>
                <a:lnTo>
                  <a:pt x="37148" y="1424243"/>
                </a:lnTo>
                <a:lnTo>
                  <a:pt x="55721" y="1421957"/>
                </a:lnTo>
                <a:lnTo>
                  <a:pt x="74295" y="1419650"/>
                </a:lnTo>
                <a:lnTo>
                  <a:pt x="92869" y="1417320"/>
                </a:lnTo>
                <a:lnTo>
                  <a:pt x="111442" y="1414968"/>
                </a:lnTo>
                <a:lnTo>
                  <a:pt x="130016" y="1412593"/>
                </a:lnTo>
                <a:lnTo>
                  <a:pt x="148590" y="1410195"/>
                </a:lnTo>
                <a:lnTo>
                  <a:pt x="167164" y="1407773"/>
                </a:lnTo>
                <a:lnTo>
                  <a:pt x="185738" y="1405328"/>
                </a:lnTo>
                <a:lnTo>
                  <a:pt x="204311" y="1402858"/>
                </a:lnTo>
                <a:lnTo>
                  <a:pt x="222885" y="1400364"/>
                </a:lnTo>
                <a:lnTo>
                  <a:pt x="241459" y="1397845"/>
                </a:lnTo>
                <a:lnTo>
                  <a:pt x="260032" y="1395301"/>
                </a:lnTo>
                <a:lnTo>
                  <a:pt x="278606" y="1392731"/>
                </a:lnTo>
                <a:lnTo>
                  <a:pt x="297180" y="1390135"/>
                </a:lnTo>
                <a:lnTo>
                  <a:pt x="315754" y="1387513"/>
                </a:lnTo>
                <a:lnTo>
                  <a:pt x="334328" y="1384863"/>
                </a:lnTo>
                <a:lnTo>
                  <a:pt x="352901" y="1382187"/>
                </a:lnTo>
                <a:lnTo>
                  <a:pt x="371475" y="1379483"/>
                </a:lnTo>
                <a:lnTo>
                  <a:pt x="390049" y="1376750"/>
                </a:lnTo>
                <a:lnTo>
                  <a:pt x="408622" y="1373990"/>
                </a:lnTo>
                <a:lnTo>
                  <a:pt x="427196" y="1371200"/>
                </a:lnTo>
                <a:lnTo>
                  <a:pt x="445770" y="1368380"/>
                </a:lnTo>
                <a:lnTo>
                  <a:pt x="464344" y="1365531"/>
                </a:lnTo>
                <a:lnTo>
                  <a:pt x="482918" y="1362651"/>
                </a:lnTo>
                <a:lnTo>
                  <a:pt x="501491" y="1359741"/>
                </a:lnTo>
                <a:lnTo>
                  <a:pt x="520065" y="1356799"/>
                </a:lnTo>
                <a:lnTo>
                  <a:pt x="538639" y="1353825"/>
                </a:lnTo>
                <a:lnTo>
                  <a:pt x="557212" y="1350818"/>
                </a:lnTo>
                <a:lnTo>
                  <a:pt x="575786" y="1347779"/>
                </a:lnTo>
                <a:lnTo>
                  <a:pt x="594360" y="1344706"/>
                </a:lnTo>
                <a:lnTo>
                  <a:pt x="612934" y="1341599"/>
                </a:lnTo>
                <a:lnTo>
                  <a:pt x="631508" y="1338457"/>
                </a:lnTo>
                <a:lnTo>
                  <a:pt x="650081" y="1335280"/>
                </a:lnTo>
                <a:lnTo>
                  <a:pt x="668655" y="1332068"/>
                </a:lnTo>
                <a:lnTo>
                  <a:pt x="687229" y="1328819"/>
                </a:lnTo>
                <a:lnTo>
                  <a:pt x="705802" y="1325532"/>
                </a:lnTo>
                <a:lnTo>
                  <a:pt x="724376" y="1322208"/>
                </a:lnTo>
                <a:lnTo>
                  <a:pt x="742950" y="1318846"/>
                </a:lnTo>
                <a:lnTo>
                  <a:pt x="761524" y="1315445"/>
                </a:lnTo>
                <a:lnTo>
                  <a:pt x="780098" y="1312004"/>
                </a:lnTo>
                <a:lnTo>
                  <a:pt x="798671" y="1308523"/>
                </a:lnTo>
                <a:lnTo>
                  <a:pt x="817245" y="1305000"/>
                </a:lnTo>
                <a:lnTo>
                  <a:pt x="835819" y="1301436"/>
                </a:lnTo>
                <a:lnTo>
                  <a:pt x="854392" y="1297829"/>
                </a:lnTo>
                <a:lnTo>
                  <a:pt x="872966" y="1294178"/>
                </a:lnTo>
                <a:lnTo>
                  <a:pt x="891540" y="1290484"/>
                </a:lnTo>
                <a:lnTo>
                  <a:pt x="910114" y="1286744"/>
                </a:lnTo>
                <a:lnTo>
                  <a:pt x="928688" y="1282959"/>
                </a:lnTo>
                <a:lnTo>
                  <a:pt x="947261" y="1279127"/>
                </a:lnTo>
                <a:lnTo>
                  <a:pt x="965835" y="1275248"/>
                </a:lnTo>
                <a:lnTo>
                  <a:pt x="984409" y="1271320"/>
                </a:lnTo>
                <a:lnTo>
                  <a:pt x="1002982" y="1267343"/>
                </a:lnTo>
                <a:lnTo>
                  <a:pt x="1021556" y="1263316"/>
                </a:lnTo>
                <a:lnTo>
                  <a:pt x="1040130" y="1259237"/>
                </a:lnTo>
                <a:lnTo>
                  <a:pt x="1058704" y="1255107"/>
                </a:lnTo>
                <a:lnTo>
                  <a:pt x="1077278" y="1250923"/>
                </a:lnTo>
                <a:lnTo>
                  <a:pt x="1095851" y="1246685"/>
                </a:lnTo>
                <a:lnTo>
                  <a:pt x="1114425" y="1242391"/>
                </a:lnTo>
                <a:lnTo>
                  <a:pt x="1132999" y="1238042"/>
                </a:lnTo>
                <a:lnTo>
                  <a:pt x="1151572" y="1233634"/>
                </a:lnTo>
                <a:lnTo>
                  <a:pt x="1170146" y="1229169"/>
                </a:lnTo>
                <a:lnTo>
                  <a:pt x="1188720" y="1224643"/>
                </a:lnTo>
                <a:lnTo>
                  <a:pt x="1207294" y="1220056"/>
                </a:lnTo>
                <a:lnTo>
                  <a:pt x="1225868" y="1215407"/>
                </a:lnTo>
                <a:lnTo>
                  <a:pt x="1244441" y="1210695"/>
                </a:lnTo>
                <a:lnTo>
                  <a:pt x="1263015" y="1205917"/>
                </a:lnTo>
                <a:lnTo>
                  <a:pt x="1281589" y="1201074"/>
                </a:lnTo>
                <a:lnTo>
                  <a:pt x="1300162" y="1196163"/>
                </a:lnTo>
                <a:lnTo>
                  <a:pt x="1318736" y="1191183"/>
                </a:lnTo>
                <a:lnTo>
                  <a:pt x="1337310" y="1186132"/>
                </a:lnTo>
                <a:lnTo>
                  <a:pt x="1355884" y="1181010"/>
                </a:lnTo>
                <a:lnTo>
                  <a:pt x="1374458" y="1175813"/>
                </a:lnTo>
                <a:lnTo>
                  <a:pt x="1393031" y="1170542"/>
                </a:lnTo>
                <a:lnTo>
                  <a:pt x="1411605" y="1165194"/>
                </a:lnTo>
                <a:lnTo>
                  <a:pt x="1430179" y="1159768"/>
                </a:lnTo>
                <a:lnTo>
                  <a:pt x="1448752" y="1154261"/>
                </a:lnTo>
                <a:lnTo>
                  <a:pt x="1467326" y="1148672"/>
                </a:lnTo>
                <a:lnTo>
                  <a:pt x="1485900" y="1143000"/>
                </a:lnTo>
                <a:lnTo>
                  <a:pt x="1504474" y="1137242"/>
                </a:lnTo>
                <a:lnTo>
                  <a:pt x="1523048" y="1131396"/>
                </a:lnTo>
                <a:lnTo>
                  <a:pt x="1541621" y="1125460"/>
                </a:lnTo>
                <a:lnTo>
                  <a:pt x="1560195" y="1119433"/>
                </a:lnTo>
                <a:lnTo>
                  <a:pt x="1578769" y="1113312"/>
                </a:lnTo>
                <a:lnTo>
                  <a:pt x="1597342" y="1107094"/>
                </a:lnTo>
                <a:lnTo>
                  <a:pt x="1615916" y="1100778"/>
                </a:lnTo>
                <a:lnTo>
                  <a:pt x="1634490" y="1094362"/>
                </a:lnTo>
                <a:lnTo>
                  <a:pt x="1653064" y="1087842"/>
                </a:lnTo>
                <a:lnTo>
                  <a:pt x="1671638" y="1081216"/>
                </a:lnTo>
                <a:lnTo>
                  <a:pt x="1690211" y="1074482"/>
                </a:lnTo>
                <a:lnTo>
                  <a:pt x="1708785" y="1067637"/>
                </a:lnTo>
                <a:lnTo>
                  <a:pt x="1727359" y="1060679"/>
                </a:lnTo>
                <a:lnTo>
                  <a:pt x="1745932" y="1053603"/>
                </a:lnTo>
                <a:lnTo>
                  <a:pt x="1764506" y="1046408"/>
                </a:lnTo>
                <a:lnTo>
                  <a:pt x="1783080" y="1039091"/>
                </a:lnTo>
                <a:lnTo>
                  <a:pt x="1801654" y="1031648"/>
                </a:lnTo>
                <a:lnTo>
                  <a:pt x="1820228" y="1024075"/>
                </a:lnTo>
                <a:lnTo>
                  <a:pt x="1838801" y="1016370"/>
                </a:lnTo>
                <a:lnTo>
                  <a:pt x="1857375" y="1008529"/>
                </a:lnTo>
                <a:lnTo>
                  <a:pt x="1875949" y="1000549"/>
                </a:lnTo>
                <a:lnTo>
                  <a:pt x="1894522" y="992425"/>
                </a:lnTo>
                <a:lnTo>
                  <a:pt x="1913096" y="984154"/>
                </a:lnTo>
                <a:lnTo>
                  <a:pt x="1931670" y="975732"/>
                </a:lnTo>
                <a:lnTo>
                  <a:pt x="1950244" y="967154"/>
                </a:lnTo>
                <a:lnTo>
                  <a:pt x="1968818" y="958416"/>
                </a:lnTo>
                <a:lnTo>
                  <a:pt x="1987391" y="949514"/>
                </a:lnTo>
                <a:lnTo>
                  <a:pt x="2005965" y="940443"/>
                </a:lnTo>
                <a:lnTo>
                  <a:pt x="2024539" y="931198"/>
                </a:lnTo>
                <a:lnTo>
                  <a:pt x="2043112" y="921774"/>
                </a:lnTo>
                <a:lnTo>
                  <a:pt x="2061686" y="912166"/>
                </a:lnTo>
                <a:lnTo>
                  <a:pt x="2080260" y="902368"/>
                </a:lnTo>
                <a:lnTo>
                  <a:pt x="2098834" y="892375"/>
                </a:lnTo>
                <a:lnTo>
                  <a:pt x="2117408" y="882181"/>
                </a:lnTo>
                <a:lnTo>
                  <a:pt x="2135981" y="871780"/>
                </a:lnTo>
                <a:lnTo>
                  <a:pt x="2154555" y="861164"/>
                </a:lnTo>
                <a:lnTo>
                  <a:pt x="2173129" y="850329"/>
                </a:lnTo>
                <a:lnTo>
                  <a:pt x="2191702" y="839266"/>
                </a:lnTo>
                <a:lnTo>
                  <a:pt x="2210276" y="827968"/>
                </a:lnTo>
                <a:lnTo>
                  <a:pt x="2228850" y="816429"/>
                </a:lnTo>
                <a:lnTo>
                  <a:pt x="2247424" y="804639"/>
                </a:lnTo>
                <a:lnTo>
                  <a:pt x="2265998" y="792591"/>
                </a:lnTo>
                <a:lnTo>
                  <a:pt x="2284571" y="780277"/>
                </a:lnTo>
                <a:lnTo>
                  <a:pt x="2303145" y="767687"/>
                </a:lnTo>
                <a:lnTo>
                  <a:pt x="2321719" y="754811"/>
                </a:lnTo>
                <a:lnTo>
                  <a:pt x="2340292" y="741641"/>
                </a:lnTo>
                <a:lnTo>
                  <a:pt x="2358866" y="728166"/>
                </a:lnTo>
                <a:lnTo>
                  <a:pt x="2377440" y="714375"/>
                </a:lnTo>
                <a:lnTo>
                  <a:pt x="2396014" y="700257"/>
                </a:lnTo>
                <a:lnTo>
                  <a:pt x="2414588" y="685800"/>
                </a:lnTo>
                <a:lnTo>
                  <a:pt x="2433161" y="670992"/>
                </a:lnTo>
                <a:lnTo>
                  <a:pt x="2451735" y="655820"/>
                </a:lnTo>
                <a:lnTo>
                  <a:pt x="2470309" y="640270"/>
                </a:lnTo>
                <a:lnTo>
                  <a:pt x="2488882" y="624328"/>
                </a:lnTo>
                <a:lnTo>
                  <a:pt x="2507456" y="607979"/>
                </a:lnTo>
                <a:lnTo>
                  <a:pt x="2526030" y="591207"/>
                </a:lnTo>
                <a:lnTo>
                  <a:pt x="2544604" y="573996"/>
                </a:lnTo>
                <a:lnTo>
                  <a:pt x="2563178" y="556327"/>
                </a:lnTo>
                <a:lnTo>
                  <a:pt x="2581751" y="538184"/>
                </a:lnTo>
                <a:lnTo>
                  <a:pt x="2600325" y="519545"/>
                </a:lnTo>
                <a:lnTo>
                  <a:pt x="2618899" y="500392"/>
                </a:lnTo>
                <a:lnTo>
                  <a:pt x="2637472" y="480701"/>
                </a:lnTo>
                <a:lnTo>
                  <a:pt x="2656046" y="460450"/>
                </a:lnTo>
                <a:lnTo>
                  <a:pt x="2674620" y="439615"/>
                </a:lnTo>
                <a:lnTo>
                  <a:pt x="2693194" y="418171"/>
                </a:lnTo>
                <a:lnTo>
                  <a:pt x="2711768" y="396089"/>
                </a:lnTo>
                <a:lnTo>
                  <a:pt x="2730341" y="373342"/>
                </a:lnTo>
                <a:lnTo>
                  <a:pt x="2748915" y="349898"/>
                </a:lnTo>
                <a:lnTo>
                  <a:pt x="2767489" y="325725"/>
                </a:lnTo>
                <a:lnTo>
                  <a:pt x="2786062" y="300789"/>
                </a:lnTo>
                <a:lnTo>
                  <a:pt x="2804636" y="275053"/>
                </a:lnTo>
                <a:lnTo>
                  <a:pt x="2823210" y="248478"/>
                </a:lnTo>
                <a:lnTo>
                  <a:pt x="2841784" y="221022"/>
                </a:lnTo>
                <a:lnTo>
                  <a:pt x="2860358" y="192640"/>
                </a:lnTo>
                <a:lnTo>
                  <a:pt x="2878931" y="163286"/>
                </a:lnTo>
                <a:lnTo>
                  <a:pt x="2897505" y="132907"/>
                </a:lnTo>
                <a:lnTo>
                  <a:pt x="2916079" y="101450"/>
                </a:lnTo>
                <a:lnTo>
                  <a:pt x="2934652" y="68855"/>
                </a:lnTo>
                <a:lnTo>
                  <a:pt x="2953226" y="35061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c curve p=0.40"/>
          <p:cNvSpPr/>
          <p:nvPr/>
        </p:nvSpPr>
        <p:spPr>
          <a:xfrm>
            <a:off x="5943600" y="5831840"/>
            <a:ext cx="2971800" cy="1143000"/>
          </a:xfrm>
          <a:custGeom>
            <a:avLst/>
            <a:gdLst/>
            <a:ahLst/>
            <a:cxnLst/>
            <a:rect l="l" t="t" r="r" b="b"/>
            <a:pathLst>
              <a:path w="2971800" h="1143000">
                <a:moveTo>
                  <a:pt x="0" y="1143000"/>
                </a:moveTo>
                <a:lnTo>
                  <a:pt x="18574" y="1140132"/>
                </a:lnTo>
                <a:lnTo>
                  <a:pt x="37148" y="1137242"/>
                </a:lnTo>
                <a:lnTo>
                  <a:pt x="55721" y="1134330"/>
                </a:lnTo>
                <a:lnTo>
                  <a:pt x="74295" y="1131396"/>
                </a:lnTo>
                <a:lnTo>
                  <a:pt x="92869" y="1128439"/>
                </a:lnTo>
                <a:lnTo>
                  <a:pt x="111442" y="1125460"/>
                </a:lnTo>
                <a:lnTo>
                  <a:pt x="130016" y="1122458"/>
                </a:lnTo>
                <a:lnTo>
                  <a:pt x="148590" y="1119433"/>
                </a:lnTo>
                <a:lnTo>
                  <a:pt x="167164" y="1116384"/>
                </a:lnTo>
                <a:lnTo>
                  <a:pt x="185738" y="1113312"/>
                </a:lnTo>
                <a:lnTo>
                  <a:pt x="204311" y="1110215"/>
                </a:lnTo>
                <a:lnTo>
                  <a:pt x="222885" y="1107094"/>
                </a:lnTo>
                <a:lnTo>
                  <a:pt x="241459" y="1103949"/>
                </a:lnTo>
                <a:lnTo>
                  <a:pt x="260032" y="1100778"/>
                </a:lnTo>
                <a:lnTo>
                  <a:pt x="278606" y="1097583"/>
                </a:lnTo>
                <a:lnTo>
                  <a:pt x="297180" y="1094362"/>
                </a:lnTo>
                <a:lnTo>
                  <a:pt x="315754" y="1091115"/>
                </a:lnTo>
                <a:lnTo>
                  <a:pt x="334328" y="1087842"/>
                </a:lnTo>
                <a:lnTo>
                  <a:pt x="352901" y="1084542"/>
                </a:lnTo>
                <a:lnTo>
                  <a:pt x="371475" y="1081216"/>
                </a:lnTo>
                <a:lnTo>
                  <a:pt x="390049" y="1077863"/>
                </a:lnTo>
                <a:lnTo>
                  <a:pt x="408622" y="1074482"/>
                </a:lnTo>
                <a:lnTo>
                  <a:pt x="427196" y="1071074"/>
                </a:lnTo>
                <a:lnTo>
                  <a:pt x="445770" y="1067637"/>
                </a:lnTo>
                <a:lnTo>
                  <a:pt x="464344" y="1064172"/>
                </a:lnTo>
                <a:lnTo>
                  <a:pt x="482918" y="1060679"/>
                </a:lnTo>
                <a:lnTo>
                  <a:pt x="501491" y="1057156"/>
                </a:lnTo>
                <a:lnTo>
                  <a:pt x="520065" y="1053603"/>
                </a:lnTo>
                <a:lnTo>
                  <a:pt x="538639" y="1050021"/>
                </a:lnTo>
                <a:lnTo>
                  <a:pt x="557212" y="1046408"/>
                </a:lnTo>
                <a:lnTo>
                  <a:pt x="575786" y="1042765"/>
                </a:lnTo>
                <a:lnTo>
                  <a:pt x="594360" y="1039091"/>
                </a:lnTo>
                <a:lnTo>
                  <a:pt x="612934" y="1035385"/>
                </a:lnTo>
                <a:lnTo>
                  <a:pt x="631508" y="1031648"/>
                </a:lnTo>
                <a:lnTo>
                  <a:pt x="650081" y="1027878"/>
                </a:lnTo>
                <a:lnTo>
                  <a:pt x="668655" y="1024075"/>
                </a:lnTo>
                <a:lnTo>
                  <a:pt x="687229" y="1020239"/>
                </a:lnTo>
                <a:lnTo>
                  <a:pt x="705802" y="1016370"/>
                </a:lnTo>
                <a:lnTo>
                  <a:pt x="724376" y="1012467"/>
                </a:lnTo>
                <a:lnTo>
                  <a:pt x="742950" y="1008529"/>
                </a:lnTo>
                <a:lnTo>
                  <a:pt x="761524" y="1004557"/>
                </a:lnTo>
                <a:lnTo>
                  <a:pt x="780098" y="1000549"/>
                </a:lnTo>
                <a:lnTo>
                  <a:pt x="798671" y="996505"/>
                </a:lnTo>
                <a:lnTo>
                  <a:pt x="817245" y="992425"/>
                </a:lnTo>
                <a:lnTo>
                  <a:pt x="835819" y="988308"/>
                </a:lnTo>
                <a:lnTo>
                  <a:pt x="854392" y="984154"/>
                </a:lnTo>
                <a:lnTo>
                  <a:pt x="872966" y="979962"/>
                </a:lnTo>
                <a:lnTo>
                  <a:pt x="891540" y="975732"/>
                </a:lnTo>
                <a:lnTo>
                  <a:pt x="910114" y="971462"/>
                </a:lnTo>
                <a:lnTo>
                  <a:pt x="928688" y="967154"/>
                </a:lnTo>
                <a:lnTo>
                  <a:pt x="947261" y="962805"/>
                </a:lnTo>
                <a:lnTo>
                  <a:pt x="965835" y="958416"/>
                </a:lnTo>
                <a:lnTo>
                  <a:pt x="984409" y="953986"/>
                </a:lnTo>
                <a:lnTo>
                  <a:pt x="1002982" y="949514"/>
                </a:lnTo>
                <a:lnTo>
                  <a:pt x="1021556" y="945000"/>
                </a:lnTo>
                <a:lnTo>
                  <a:pt x="1040130" y="940443"/>
                </a:lnTo>
                <a:lnTo>
                  <a:pt x="1058704" y="935843"/>
                </a:lnTo>
                <a:lnTo>
                  <a:pt x="1077278" y="931198"/>
                </a:lnTo>
                <a:lnTo>
                  <a:pt x="1095851" y="926509"/>
                </a:lnTo>
                <a:lnTo>
                  <a:pt x="1114425" y="921774"/>
                </a:lnTo>
                <a:lnTo>
                  <a:pt x="1132999" y="916994"/>
                </a:lnTo>
                <a:lnTo>
                  <a:pt x="1151572" y="912166"/>
                </a:lnTo>
                <a:lnTo>
                  <a:pt x="1170146" y="907291"/>
                </a:lnTo>
                <a:lnTo>
                  <a:pt x="1188720" y="902368"/>
                </a:lnTo>
                <a:lnTo>
                  <a:pt x="1207294" y="897397"/>
                </a:lnTo>
                <a:lnTo>
                  <a:pt x="1225868" y="892375"/>
                </a:lnTo>
                <a:lnTo>
                  <a:pt x="1244441" y="887304"/>
                </a:lnTo>
                <a:lnTo>
                  <a:pt x="1263015" y="882181"/>
                </a:lnTo>
                <a:lnTo>
                  <a:pt x="1281589" y="877007"/>
                </a:lnTo>
                <a:lnTo>
                  <a:pt x="1300162" y="871780"/>
                </a:lnTo>
                <a:lnTo>
                  <a:pt x="1318736" y="866499"/>
                </a:lnTo>
                <a:lnTo>
                  <a:pt x="1337310" y="861164"/>
                </a:lnTo>
                <a:lnTo>
                  <a:pt x="1355884" y="855775"/>
                </a:lnTo>
                <a:lnTo>
                  <a:pt x="1374458" y="850329"/>
                </a:lnTo>
                <a:lnTo>
                  <a:pt x="1393031" y="844826"/>
                </a:lnTo>
                <a:lnTo>
                  <a:pt x="1411605" y="839266"/>
                </a:lnTo>
                <a:lnTo>
                  <a:pt x="1430179" y="833647"/>
                </a:lnTo>
                <a:lnTo>
                  <a:pt x="1448752" y="827968"/>
                </a:lnTo>
                <a:lnTo>
                  <a:pt x="1467326" y="822229"/>
                </a:lnTo>
                <a:lnTo>
                  <a:pt x="1485900" y="816429"/>
                </a:lnTo>
                <a:lnTo>
                  <a:pt x="1504474" y="810566"/>
                </a:lnTo>
                <a:lnTo>
                  <a:pt x="1523048" y="804639"/>
                </a:lnTo>
                <a:lnTo>
                  <a:pt x="1541621" y="798648"/>
                </a:lnTo>
                <a:lnTo>
                  <a:pt x="1560195" y="792591"/>
                </a:lnTo>
                <a:lnTo>
                  <a:pt x="1578769" y="786468"/>
                </a:lnTo>
                <a:lnTo>
                  <a:pt x="1597342" y="780277"/>
                </a:lnTo>
                <a:lnTo>
                  <a:pt x="1615916" y="774017"/>
                </a:lnTo>
                <a:lnTo>
                  <a:pt x="1634490" y="767687"/>
                </a:lnTo>
                <a:lnTo>
                  <a:pt x="1653064" y="761285"/>
                </a:lnTo>
                <a:lnTo>
                  <a:pt x="1671638" y="754811"/>
                </a:lnTo>
                <a:lnTo>
                  <a:pt x="1690211" y="748264"/>
                </a:lnTo>
                <a:lnTo>
                  <a:pt x="1708785" y="741641"/>
                </a:lnTo>
                <a:lnTo>
                  <a:pt x="1727359" y="734942"/>
                </a:lnTo>
                <a:lnTo>
                  <a:pt x="1745932" y="728166"/>
                </a:lnTo>
                <a:lnTo>
                  <a:pt x="1764506" y="721311"/>
                </a:lnTo>
                <a:lnTo>
                  <a:pt x="1783080" y="714375"/>
                </a:lnTo>
                <a:lnTo>
                  <a:pt x="1801654" y="707358"/>
                </a:lnTo>
                <a:lnTo>
                  <a:pt x="1820228" y="700257"/>
                </a:lnTo>
                <a:lnTo>
                  <a:pt x="1838801" y="693072"/>
                </a:lnTo>
                <a:lnTo>
                  <a:pt x="1857375" y="685800"/>
                </a:lnTo>
                <a:lnTo>
                  <a:pt x="1875949" y="678441"/>
                </a:lnTo>
                <a:lnTo>
                  <a:pt x="1894522" y="670992"/>
                </a:lnTo>
                <a:lnTo>
                  <a:pt x="1913096" y="663452"/>
                </a:lnTo>
                <a:lnTo>
                  <a:pt x="1931670" y="655820"/>
                </a:lnTo>
                <a:lnTo>
                  <a:pt x="1950244" y="648093"/>
                </a:lnTo>
                <a:lnTo>
                  <a:pt x="1968818" y="640270"/>
                </a:lnTo>
                <a:lnTo>
                  <a:pt x="1987391" y="632349"/>
                </a:lnTo>
                <a:lnTo>
                  <a:pt x="2005965" y="624328"/>
                </a:lnTo>
                <a:lnTo>
                  <a:pt x="2024539" y="616205"/>
                </a:lnTo>
                <a:lnTo>
                  <a:pt x="2043112" y="607979"/>
                </a:lnTo>
                <a:lnTo>
                  <a:pt x="2061686" y="599647"/>
                </a:lnTo>
                <a:lnTo>
                  <a:pt x="2080260" y="591207"/>
                </a:lnTo>
                <a:lnTo>
                  <a:pt x="2098834" y="582657"/>
                </a:lnTo>
                <a:lnTo>
                  <a:pt x="2117408" y="573996"/>
                </a:lnTo>
                <a:lnTo>
                  <a:pt x="2135981" y="565220"/>
                </a:lnTo>
                <a:lnTo>
                  <a:pt x="2154555" y="556327"/>
                </a:lnTo>
                <a:lnTo>
                  <a:pt x="2173129" y="547316"/>
                </a:lnTo>
                <a:lnTo>
                  <a:pt x="2191702" y="538184"/>
                </a:lnTo>
                <a:lnTo>
                  <a:pt x="2210276" y="528928"/>
                </a:lnTo>
                <a:lnTo>
                  <a:pt x="2228850" y="519545"/>
                </a:lnTo>
                <a:lnTo>
                  <a:pt x="2247424" y="510034"/>
                </a:lnTo>
                <a:lnTo>
                  <a:pt x="2265998" y="500392"/>
                </a:lnTo>
                <a:lnTo>
                  <a:pt x="2284571" y="490615"/>
                </a:lnTo>
                <a:lnTo>
                  <a:pt x="2303145" y="480701"/>
                </a:lnTo>
                <a:lnTo>
                  <a:pt x="2321719" y="470647"/>
                </a:lnTo>
                <a:lnTo>
                  <a:pt x="2340292" y="460450"/>
                </a:lnTo>
                <a:lnTo>
                  <a:pt x="2358866" y="450107"/>
                </a:lnTo>
                <a:lnTo>
                  <a:pt x="2377440" y="439615"/>
                </a:lnTo>
                <a:lnTo>
                  <a:pt x="2396014" y="428971"/>
                </a:lnTo>
                <a:lnTo>
                  <a:pt x="2414588" y="418171"/>
                </a:lnTo>
                <a:lnTo>
                  <a:pt x="2433161" y="407211"/>
                </a:lnTo>
                <a:lnTo>
                  <a:pt x="2451735" y="396089"/>
                </a:lnTo>
                <a:lnTo>
                  <a:pt x="2470309" y="384800"/>
                </a:lnTo>
                <a:lnTo>
                  <a:pt x="2488882" y="373342"/>
                </a:lnTo>
                <a:lnTo>
                  <a:pt x="2507456" y="361709"/>
                </a:lnTo>
                <a:lnTo>
                  <a:pt x="2526030" y="349898"/>
                </a:lnTo>
                <a:lnTo>
                  <a:pt x="2544604" y="337905"/>
                </a:lnTo>
                <a:lnTo>
                  <a:pt x="2563178" y="325725"/>
                </a:lnTo>
                <a:lnTo>
                  <a:pt x="2581751" y="313355"/>
                </a:lnTo>
                <a:lnTo>
                  <a:pt x="2600325" y="300789"/>
                </a:lnTo>
                <a:lnTo>
                  <a:pt x="2618899" y="288024"/>
                </a:lnTo>
                <a:lnTo>
                  <a:pt x="2637472" y="275053"/>
                </a:lnTo>
                <a:lnTo>
                  <a:pt x="2656046" y="261873"/>
                </a:lnTo>
                <a:lnTo>
                  <a:pt x="2674620" y="248478"/>
                </a:lnTo>
                <a:lnTo>
                  <a:pt x="2693194" y="234863"/>
                </a:lnTo>
                <a:lnTo>
                  <a:pt x="2711768" y="221022"/>
                </a:lnTo>
                <a:lnTo>
                  <a:pt x="2730341" y="206950"/>
                </a:lnTo>
                <a:lnTo>
                  <a:pt x="2748915" y="192640"/>
                </a:lnTo>
                <a:lnTo>
                  <a:pt x="2767489" y="178088"/>
                </a:lnTo>
                <a:lnTo>
                  <a:pt x="2786062" y="163286"/>
                </a:lnTo>
                <a:lnTo>
                  <a:pt x="2804636" y="148228"/>
                </a:lnTo>
                <a:lnTo>
                  <a:pt x="2823210" y="132907"/>
                </a:lnTo>
                <a:lnTo>
                  <a:pt x="2841784" y="117317"/>
                </a:lnTo>
                <a:lnTo>
                  <a:pt x="2860358" y="101450"/>
                </a:lnTo>
                <a:lnTo>
                  <a:pt x="2878931" y="85299"/>
                </a:lnTo>
                <a:lnTo>
                  <a:pt x="2897505" y="68855"/>
                </a:lnTo>
                <a:lnTo>
                  <a:pt x="2916079" y="52112"/>
                </a:lnTo>
                <a:lnTo>
                  <a:pt x="2934652" y="35061"/>
                </a:lnTo>
                <a:lnTo>
                  <a:pt x="2953226" y="17693"/>
                </a:lnTo>
                <a:lnTo>
                  <a:pt x="2971800" y="0"/>
                </a:lnTo>
              </a:path>
            </a:pathLst>
          </a:custGeom>
          <a:noFill/>
          <a:ln w="13208">
            <a:solidFill>
              <a:srgbClr val="E82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c p06"/>
          <p:cNvSpPr txBox="1"/>
          <p:nvPr/>
        </p:nvSpPr>
        <p:spPr>
          <a:xfrm>
            <a:off x="5860288" y="6235016"/>
            <a:ext cx="1117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p</a:t>
            </a:r>
            <a:r>
              <a:rPr sz="1000" b="0" i="0">
                <a:solidFill>
                  <a:srgbClr val="8A8A8A"/>
                </a:solidFill>
                <a:latin typeface="Arial"/>
              </a:rPr>
              <a:t> = 0.6</a:t>
            </a:r>
          </a:p>
        </p:txBody>
      </p:sp>
      <p:sp>
        <p:nvSpPr>
          <p:cNvPr id="256" name="c p025"/>
          <p:cNvSpPr txBox="1"/>
          <p:nvPr/>
        </p:nvSpPr>
        <p:spPr>
          <a:xfrm>
            <a:off x="6284976" y="7195285"/>
            <a:ext cx="12192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p</a:t>
            </a:r>
            <a:r>
              <a:rPr sz="1000" b="0" i="0">
                <a:solidFill>
                  <a:srgbClr val="8A8A8A"/>
                </a:solidFill>
                <a:latin typeface="Arial"/>
              </a:rPr>
              <a:t> = 0.25</a:t>
            </a:r>
          </a:p>
        </p:txBody>
      </p:sp>
      <p:sp>
        <p:nvSpPr>
          <p:cNvPr id="257" name="c p04"/>
          <p:cNvSpPr txBox="1"/>
          <p:nvPr/>
        </p:nvSpPr>
        <p:spPr>
          <a:xfrm>
            <a:off x="5890006" y="6953058"/>
            <a:ext cx="11176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E8252A"/>
                </a:solidFill>
                <a:latin typeface="Arial"/>
              </a:rPr>
              <a:t>p</a:t>
            </a:r>
            <a:r>
              <a:rPr sz="1000" b="0" i="0">
                <a:solidFill>
                  <a:srgbClr val="E8252A"/>
                </a:solidFill>
                <a:latin typeface="Arial"/>
              </a:rPr>
              <a:t> = 0.4</a:t>
            </a:r>
          </a:p>
        </p:txBody>
      </p:sp>
      <p:cxnSp>
        <p:nvCxnSpPr>
          <p:cNvPr id="258" name="c marker Conventional"/>
          <p:cNvCxnSpPr/>
          <p:nvPr/>
        </p:nvCxnSpPr>
        <p:spPr>
          <a:xfrm flipV="1">
            <a:off x="8469630" y="6181738"/>
            <a:ext cx="0" cy="1174102"/>
          </a:xfrm>
          <a:prstGeom prst="line">
            <a:avLst/>
          </a:prstGeom>
          <a:ln w="11176">
            <a:solidFill>
              <a:srgbClr val="DE5B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c dot Conventional"/>
          <p:cNvSpPr/>
          <p:nvPr/>
        </p:nvSpPr>
        <p:spPr>
          <a:xfrm>
            <a:off x="8423910" y="6136018"/>
            <a:ext cx="91440" cy="91440"/>
          </a:xfrm>
          <a:prstGeom prst="ellipse">
            <a:avLst/>
          </a:prstGeom>
          <a:solidFill>
            <a:srgbClr val="DE5B5B"/>
          </a:solidFill>
          <a:ln w="6096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c note Conventional"/>
          <p:cNvSpPr txBox="1"/>
          <p:nvPr/>
        </p:nvSpPr>
        <p:spPr>
          <a:xfrm rot="16200000">
            <a:off x="7872730" y="6821170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DE5B5B"/>
                </a:solidFill>
                <a:latin typeface="Arial"/>
              </a:rPr>
              <a:t>Conventional</a:t>
            </a:r>
          </a:p>
        </p:txBody>
      </p:sp>
      <p:sp>
        <p:nvSpPr>
          <p:cNvPr id="261" name="c value Conventional"/>
          <p:cNvSpPr txBox="1"/>
          <p:nvPr/>
        </p:nvSpPr>
        <p:spPr>
          <a:xfrm rot="16200000">
            <a:off x="7710170" y="6821170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DE5B5B"/>
                </a:solidFill>
                <a:latin typeface="Arial"/>
              </a:rPr>
              <a:t>A</a:t>
            </a:r>
            <a:r>
              <a:rPr sz="1000" b="0" i="0">
                <a:solidFill>
                  <a:srgbClr val="DE5B5B"/>
                </a:solidFill>
                <a:latin typeface="Arial"/>
              </a:rPr>
              <a:t>' = 0.15</a:t>
            </a:r>
          </a:p>
        </p:txBody>
      </p:sp>
      <p:cxnSp>
        <p:nvCxnSpPr>
          <p:cNvPr id="262" name="c marker Low loss"/>
          <p:cNvCxnSpPr/>
          <p:nvPr/>
        </p:nvCxnSpPr>
        <p:spPr>
          <a:xfrm flipV="1">
            <a:off x="8855964" y="5887325"/>
            <a:ext cx="0" cy="1468515"/>
          </a:xfrm>
          <a:prstGeom prst="line">
            <a:avLst/>
          </a:prstGeom>
          <a:ln w="11176">
            <a:solidFill>
              <a:srgbClr val="3B6F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c dot Low loss"/>
          <p:cNvSpPr/>
          <p:nvPr/>
        </p:nvSpPr>
        <p:spPr>
          <a:xfrm>
            <a:off x="8810244" y="5841605"/>
            <a:ext cx="91440" cy="91440"/>
          </a:xfrm>
          <a:prstGeom prst="ellipse">
            <a:avLst/>
          </a:prstGeom>
          <a:solidFill>
            <a:srgbClr val="3B6FD4"/>
          </a:solidFill>
          <a:ln w="6096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c note Low loss"/>
          <p:cNvSpPr txBox="1"/>
          <p:nvPr/>
        </p:nvSpPr>
        <p:spPr>
          <a:xfrm rot="16200000">
            <a:off x="8259064" y="6821170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3B6FD4"/>
                </a:solidFill>
                <a:latin typeface="Arial"/>
              </a:rPr>
              <a:t>Low loss</a:t>
            </a:r>
          </a:p>
        </p:txBody>
      </p:sp>
      <p:sp>
        <p:nvSpPr>
          <p:cNvPr id="265" name="c value Low loss"/>
          <p:cNvSpPr txBox="1"/>
          <p:nvPr/>
        </p:nvSpPr>
        <p:spPr>
          <a:xfrm rot="16200000">
            <a:off x="8096504" y="6821170"/>
            <a:ext cx="889000" cy="2159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000" b="0" i="1">
                <a:solidFill>
                  <a:srgbClr val="3B6FD4"/>
                </a:solidFill>
                <a:latin typeface="Arial"/>
              </a:rPr>
              <a:t>A</a:t>
            </a:r>
            <a:r>
              <a:rPr sz="1000" b="0" i="0">
                <a:solidFill>
                  <a:srgbClr val="3B6FD4"/>
                </a:solidFill>
                <a:latin typeface="Arial"/>
              </a:rPr>
              <a:t>' = 0.02</a:t>
            </a:r>
          </a:p>
        </p:txBody>
      </p:sp>
      <p:sp>
        <p:nvSpPr>
          <p:cNvPr id="266" name="panel a"/>
          <p:cNvSpPr txBox="1"/>
          <p:nvPr/>
        </p:nvSpPr>
        <p:spPr>
          <a:xfrm>
            <a:off x="66040" y="3886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267" name="panel b"/>
          <p:cNvSpPr txBox="1"/>
          <p:nvPr/>
        </p:nvSpPr>
        <p:spPr>
          <a:xfrm>
            <a:off x="66040" y="549478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268" name="panel c"/>
          <p:cNvSpPr txBox="1"/>
          <p:nvPr/>
        </p:nvSpPr>
        <p:spPr>
          <a:xfrm>
            <a:off x="4648200" y="5494782"/>
            <a:ext cx="457200" cy="26771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40" b="1" i="0">
                <a:solidFill>
                  <a:srgbClr val="1A1A1A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