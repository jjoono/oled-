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ventional lens 01"/>
          <p:cNvSpPr/>
          <p:nvPr/>
        </p:nvSpPr>
        <p:spPr>
          <a:xfrm>
            <a:off x="269240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nventional lens 02"/>
          <p:cNvSpPr/>
          <p:nvPr/>
        </p:nvSpPr>
        <p:spPr>
          <a:xfrm>
            <a:off x="300482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nventional lens 03"/>
          <p:cNvSpPr/>
          <p:nvPr/>
        </p:nvSpPr>
        <p:spPr>
          <a:xfrm>
            <a:off x="331724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onventional lens 04"/>
          <p:cNvSpPr/>
          <p:nvPr/>
        </p:nvSpPr>
        <p:spPr>
          <a:xfrm>
            <a:off x="362966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onventional lens 05"/>
          <p:cNvSpPr/>
          <p:nvPr/>
        </p:nvSpPr>
        <p:spPr>
          <a:xfrm>
            <a:off x="394208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nventional lens 06"/>
          <p:cNvSpPr/>
          <p:nvPr/>
        </p:nvSpPr>
        <p:spPr>
          <a:xfrm>
            <a:off x="425450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onventional lens 07"/>
          <p:cNvSpPr/>
          <p:nvPr/>
        </p:nvSpPr>
        <p:spPr>
          <a:xfrm>
            <a:off x="456692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nventional lens 08"/>
          <p:cNvSpPr/>
          <p:nvPr/>
        </p:nvSpPr>
        <p:spPr>
          <a:xfrm>
            <a:off x="487934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onventional lens 09"/>
          <p:cNvSpPr/>
          <p:nvPr/>
        </p:nvSpPr>
        <p:spPr>
          <a:xfrm>
            <a:off x="519176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onventional lens 10"/>
          <p:cNvSpPr/>
          <p:nvPr/>
        </p:nvSpPr>
        <p:spPr>
          <a:xfrm>
            <a:off x="550418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onventional lens 11"/>
          <p:cNvSpPr/>
          <p:nvPr/>
        </p:nvSpPr>
        <p:spPr>
          <a:xfrm>
            <a:off x="581660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onventional lens 12"/>
          <p:cNvSpPr/>
          <p:nvPr/>
        </p:nvSpPr>
        <p:spPr>
          <a:xfrm>
            <a:off x="612902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onventional lens 13"/>
          <p:cNvSpPr/>
          <p:nvPr/>
        </p:nvSpPr>
        <p:spPr>
          <a:xfrm>
            <a:off x="644144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onventional lens 14"/>
          <p:cNvSpPr/>
          <p:nvPr/>
        </p:nvSpPr>
        <p:spPr>
          <a:xfrm>
            <a:off x="675386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onventional lens 15"/>
          <p:cNvSpPr/>
          <p:nvPr/>
        </p:nvSpPr>
        <p:spPr>
          <a:xfrm>
            <a:off x="706628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onventional lens 16"/>
          <p:cNvSpPr/>
          <p:nvPr/>
        </p:nvSpPr>
        <p:spPr>
          <a:xfrm>
            <a:off x="737870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onventional lens 17"/>
          <p:cNvSpPr/>
          <p:nvPr/>
        </p:nvSpPr>
        <p:spPr>
          <a:xfrm>
            <a:off x="769112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onventional lens 18"/>
          <p:cNvSpPr/>
          <p:nvPr/>
        </p:nvSpPr>
        <p:spPr>
          <a:xfrm>
            <a:off x="800354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onventional lens 19"/>
          <p:cNvSpPr/>
          <p:nvPr/>
        </p:nvSpPr>
        <p:spPr>
          <a:xfrm>
            <a:off x="831596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onventional lens 20"/>
          <p:cNvSpPr/>
          <p:nvPr/>
        </p:nvSpPr>
        <p:spPr>
          <a:xfrm>
            <a:off x="8628380" y="11950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onventional glass"/>
          <p:cNvSpPr/>
          <p:nvPr/>
        </p:nvSpPr>
        <p:spPr>
          <a:xfrm>
            <a:off x="2692400" y="1351280"/>
            <a:ext cx="6248400" cy="447802"/>
          </a:xfrm>
          <a:prstGeom prst="rect">
            <a:avLst/>
          </a:prstGeom>
          <a:gradFill rotWithShape="1">
            <a:gsLst>
              <a:gs pos="0">
                <a:srgbClr val="EEF1F4">
                  <a:alpha val="100000"/>
                </a:srgbClr>
              </a:gs>
              <a:gs pos="100000">
                <a:srgbClr val="D9E0E6">
                  <a:alpha val="100000"/>
                </a:srgbClr>
              </a:gs>
            </a:gsLst>
            <a:lin ang="5400000" scaled="0"/>
          </a:gradFill>
          <a:ln w="6604">
            <a:solidFill>
              <a:srgbClr val="878B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onventional TCO"/>
          <p:cNvSpPr/>
          <p:nvPr/>
        </p:nvSpPr>
        <p:spPr>
          <a:xfrm>
            <a:off x="2692400" y="1799082"/>
            <a:ext cx="6248400" cy="83312"/>
          </a:xfrm>
          <a:prstGeom prst="rect">
            <a:avLst/>
          </a:prstGeom>
          <a:gradFill rotWithShape="1">
            <a:gsLst>
              <a:gs pos="0">
                <a:srgbClr val="D5E8EC">
                  <a:alpha val="100000"/>
                </a:srgbClr>
              </a:gs>
              <a:gs pos="100000">
                <a:srgbClr val="BEDBE2">
                  <a:alpha val="100000"/>
                </a:srgbClr>
              </a:gs>
            </a:gsLst>
            <a:lin ang="5400000" scaled="0"/>
          </a:gradFill>
          <a:ln w="5588">
            <a:solidFill>
              <a:srgbClr val="7688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onventional organic"/>
          <p:cNvSpPr/>
          <p:nvPr/>
        </p:nvSpPr>
        <p:spPr>
          <a:xfrm>
            <a:off x="2692400" y="1882394"/>
            <a:ext cx="6248400" cy="93726"/>
          </a:xfrm>
          <a:prstGeom prst="rect">
            <a:avLst/>
          </a:prstGeom>
          <a:gradFill rotWithShape="1">
            <a:gsLst>
              <a:gs pos="0">
                <a:srgbClr val="EEE2CD">
                  <a:alpha val="100000"/>
                </a:srgbClr>
              </a:gs>
              <a:gs pos="100000">
                <a:srgbClr val="E6D6B8">
                  <a:alpha val="100000"/>
                </a:srgbClr>
              </a:gs>
            </a:gsLst>
            <a:lin ang="5400000" scaled="0"/>
          </a:gradFill>
          <a:ln w="5588">
            <a:solidFill>
              <a:srgbClr val="8F85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onventional metal"/>
          <p:cNvSpPr/>
          <p:nvPr/>
        </p:nvSpPr>
        <p:spPr>
          <a:xfrm>
            <a:off x="2692400" y="1976120"/>
            <a:ext cx="6248400" cy="208280"/>
          </a:xfrm>
          <a:prstGeom prst="rect">
            <a:avLst/>
          </a:prstGeom>
          <a:gradFill rotWithShape="1">
            <a:gsLst>
              <a:gs pos="0">
                <a:srgbClr val="D5D9DD">
                  <a:alpha val="100000"/>
                </a:srgbClr>
              </a:gs>
              <a:gs pos="14000">
                <a:srgbClr val="B5BBC3">
                  <a:alpha val="100000"/>
                </a:srgbClr>
              </a:gs>
              <a:gs pos="40000">
                <a:srgbClr val="A2AAB4">
                  <a:alpha val="100000"/>
                </a:srgbClr>
              </a:gs>
              <a:gs pos="100000">
                <a:srgbClr val="888F97">
                  <a:alpha val="100000"/>
                </a:srgbClr>
              </a:gs>
            </a:gsLst>
            <a:lin ang="5400000" scaled="0"/>
          </a:gradFill>
          <a:ln w="5588">
            <a:solidFill>
              <a:srgbClr val="646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onventional TCO loss 1L"/>
          <p:cNvSpPr/>
          <p:nvPr/>
        </p:nvSpPr>
        <p:spPr>
          <a:xfrm>
            <a:off x="3900424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1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nventional TCO loss 1R"/>
          <p:cNvSpPr/>
          <p:nvPr/>
        </p:nvSpPr>
        <p:spPr>
          <a:xfrm>
            <a:off x="4150360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ventional TCO loss 2L"/>
          <p:cNvSpPr/>
          <p:nvPr/>
        </p:nvSpPr>
        <p:spPr>
          <a:xfrm>
            <a:off x="5150104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nventional TCO loss 2R"/>
          <p:cNvSpPr/>
          <p:nvPr/>
        </p:nvSpPr>
        <p:spPr>
          <a:xfrm>
            <a:off x="5400040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nventional TCO loss 3L"/>
          <p:cNvSpPr/>
          <p:nvPr/>
        </p:nvSpPr>
        <p:spPr>
          <a:xfrm>
            <a:off x="6399784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nventional TCO loss 3R"/>
          <p:cNvSpPr/>
          <p:nvPr/>
        </p:nvSpPr>
        <p:spPr>
          <a:xfrm>
            <a:off x="6649720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nventional TCO loss 4L"/>
          <p:cNvSpPr/>
          <p:nvPr/>
        </p:nvSpPr>
        <p:spPr>
          <a:xfrm>
            <a:off x="7649464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nventional TCO loss 4R"/>
          <p:cNvSpPr/>
          <p:nvPr/>
        </p:nvSpPr>
        <p:spPr>
          <a:xfrm>
            <a:off x="7899400" y="1824076"/>
            <a:ext cx="145796" cy="33324"/>
          </a:xfrm>
          <a:custGeom>
            <a:avLst/>
            <a:gdLst/>
            <a:ahLst/>
            <a:cxnLst/>
            <a:rect l="l" t="t" r="r" b="b"/>
            <a:pathLst>
              <a:path w="145796" h="33324">
                <a:moveTo>
                  <a:pt x="0" y="16662"/>
                </a:moveTo>
                <a:lnTo>
                  <a:pt x="3037" y="20975"/>
                </a:lnTo>
                <a:lnTo>
                  <a:pt x="6075" y="24993"/>
                </a:lnTo>
                <a:lnTo>
                  <a:pt x="9112" y="28444"/>
                </a:lnTo>
                <a:lnTo>
                  <a:pt x="12150" y="31092"/>
                </a:lnTo>
                <a:lnTo>
                  <a:pt x="15187" y="32757"/>
                </a:lnTo>
                <a:lnTo>
                  <a:pt x="18224" y="33324"/>
                </a:lnTo>
                <a:lnTo>
                  <a:pt x="21262" y="32757"/>
                </a:lnTo>
                <a:lnTo>
                  <a:pt x="24299" y="31092"/>
                </a:lnTo>
                <a:lnTo>
                  <a:pt x="27337" y="28444"/>
                </a:lnTo>
                <a:lnTo>
                  <a:pt x="30374" y="24993"/>
                </a:lnTo>
                <a:lnTo>
                  <a:pt x="33412" y="20975"/>
                </a:lnTo>
                <a:lnTo>
                  <a:pt x="36449" y="16662"/>
                </a:lnTo>
                <a:lnTo>
                  <a:pt x="39486" y="12349"/>
                </a:lnTo>
                <a:lnTo>
                  <a:pt x="42524" y="8331"/>
                </a:lnTo>
                <a:lnTo>
                  <a:pt x="45561" y="4880"/>
                </a:lnTo>
                <a:lnTo>
                  <a:pt x="48599" y="2232"/>
                </a:lnTo>
                <a:lnTo>
                  <a:pt x="51636" y="567"/>
                </a:lnTo>
                <a:lnTo>
                  <a:pt x="54674" y="0"/>
                </a:lnTo>
                <a:lnTo>
                  <a:pt x="57711" y="567"/>
                </a:lnTo>
                <a:lnTo>
                  <a:pt x="60748" y="2232"/>
                </a:lnTo>
                <a:lnTo>
                  <a:pt x="63786" y="4880"/>
                </a:lnTo>
                <a:lnTo>
                  <a:pt x="66823" y="8331"/>
                </a:lnTo>
                <a:lnTo>
                  <a:pt x="69861" y="12349"/>
                </a:lnTo>
                <a:lnTo>
                  <a:pt x="72898" y="16662"/>
                </a:lnTo>
                <a:lnTo>
                  <a:pt x="75935" y="20975"/>
                </a:lnTo>
                <a:lnTo>
                  <a:pt x="78973" y="24993"/>
                </a:lnTo>
                <a:lnTo>
                  <a:pt x="82010" y="28444"/>
                </a:lnTo>
                <a:lnTo>
                  <a:pt x="85048" y="31092"/>
                </a:lnTo>
                <a:lnTo>
                  <a:pt x="88085" y="32757"/>
                </a:lnTo>
                <a:lnTo>
                  <a:pt x="91122" y="33324"/>
                </a:lnTo>
                <a:lnTo>
                  <a:pt x="94160" y="32757"/>
                </a:lnTo>
                <a:lnTo>
                  <a:pt x="97197" y="31092"/>
                </a:lnTo>
                <a:lnTo>
                  <a:pt x="100235" y="28444"/>
                </a:lnTo>
                <a:lnTo>
                  <a:pt x="103272" y="24993"/>
                </a:lnTo>
                <a:lnTo>
                  <a:pt x="106310" y="20975"/>
                </a:lnTo>
                <a:lnTo>
                  <a:pt x="109347" y="16662"/>
                </a:lnTo>
                <a:lnTo>
                  <a:pt x="112384" y="12349"/>
                </a:lnTo>
                <a:lnTo>
                  <a:pt x="115422" y="8331"/>
                </a:lnTo>
                <a:lnTo>
                  <a:pt x="118459" y="4880"/>
                </a:lnTo>
                <a:lnTo>
                  <a:pt x="121497" y="2232"/>
                </a:lnTo>
                <a:lnTo>
                  <a:pt x="124534" y="567"/>
                </a:lnTo>
                <a:lnTo>
                  <a:pt x="127572" y="0"/>
                </a:lnTo>
                <a:lnTo>
                  <a:pt x="130609" y="567"/>
                </a:lnTo>
                <a:lnTo>
                  <a:pt x="133646" y="2232"/>
                </a:lnTo>
                <a:lnTo>
                  <a:pt x="136684" y="4880"/>
                </a:lnTo>
                <a:lnTo>
                  <a:pt x="139721" y="8331"/>
                </a:lnTo>
                <a:lnTo>
                  <a:pt x="142759" y="12349"/>
                </a:lnTo>
                <a:lnTo>
                  <a:pt x="145796" y="16662"/>
                </a:lnTo>
              </a:path>
            </a:pathLst>
          </a:custGeom>
          <a:noFill/>
          <a:ln w="9373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nventional escape fan 1"/>
          <p:cNvSpPr/>
          <p:nvPr/>
        </p:nvSpPr>
        <p:spPr>
          <a:xfrm>
            <a:off x="2996545" y="7889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50000"/>
                </a:srgbClr>
              </a:gs>
              <a:gs pos="35000">
                <a:srgbClr val="1FC79B">
                  <a:alpha val="27500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onventional lit lens 1"/>
          <p:cNvSpPr/>
          <p:nvPr/>
        </p:nvSpPr>
        <p:spPr>
          <a:xfrm>
            <a:off x="3293808" y="11462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55000"/>
                </a:srgbClr>
              </a:gs>
              <a:gs pos="45000">
                <a:srgbClr val="1FC79B">
                  <a:alpha val="24750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onventional escape fan 2"/>
          <p:cNvSpPr/>
          <p:nvPr/>
        </p:nvSpPr>
        <p:spPr>
          <a:xfrm>
            <a:off x="4246225" y="7889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24417"/>
                </a:srgbClr>
              </a:gs>
              <a:gs pos="35000">
                <a:srgbClr val="1FC79B">
                  <a:alpha val="13429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onventional lit lens 2"/>
          <p:cNvSpPr/>
          <p:nvPr/>
        </p:nvSpPr>
        <p:spPr>
          <a:xfrm>
            <a:off x="4543488" y="11462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26859"/>
                </a:srgbClr>
              </a:gs>
              <a:gs pos="45000">
                <a:srgbClr val="1FC79B">
                  <a:alpha val="12086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onventional escape fan 3"/>
          <p:cNvSpPr/>
          <p:nvPr/>
        </p:nvSpPr>
        <p:spPr>
          <a:xfrm>
            <a:off x="5495905" y="7889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11924"/>
                </a:srgbClr>
              </a:gs>
              <a:gs pos="35000">
                <a:srgbClr val="1FC79B">
                  <a:alpha val="6558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onventional lit lens 3"/>
          <p:cNvSpPr/>
          <p:nvPr/>
        </p:nvSpPr>
        <p:spPr>
          <a:xfrm>
            <a:off x="5793168" y="11462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13116"/>
                </a:srgbClr>
              </a:gs>
              <a:gs pos="45000">
                <a:srgbClr val="1FC79B">
                  <a:alpha val="5902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onventional escape fan 4"/>
          <p:cNvSpPr/>
          <p:nvPr/>
        </p:nvSpPr>
        <p:spPr>
          <a:xfrm>
            <a:off x="6745585" y="7889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5823"/>
                </a:srgbClr>
              </a:gs>
              <a:gs pos="35000">
                <a:srgbClr val="1FC79B">
                  <a:alpha val="3202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onventional lit lens 4"/>
          <p:cNvSpPr/>
          <p:nvPr/>
        </p:nvSpPr>
        <p:spPr>
          <a:xfrm>
            <a:off x="7042848" y="11462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6405"/>
                </a:srgbClr>
              </a:gs>
              <a:gs pos="45000">
                <a:srgbClr val="1FC79B">
                  <a:alpha val="2882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onventional escape fan 5"/>
          <p:cNvSpPr/>
          <p:nvPr/>
        </p:nvSpPr>
        <p:spPr>
          <a:xfrm>
            <a:off x="7995265" y="7889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2843"/>
                </a:srgbClr>
              </a:gs>
              <a:gs pos="35000">
                <a:srgbClr val="1FC79B">
                  <a:alpha val="1564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onventional lit lens 5"/>
          <p:cNvSpPr/>
          <p:nvPr/>
        </p:nvSpPr>
        <p:spPr>
          <a:xfrm>
            <a:off x="8292528" y="11462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3128"/>
                </a:srgbClr>
              </a:gs>
              <a:gs pos="45000">
                <a:srgbClr val="1FC79B">
                  <a:alpha val="1407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ventional ray halo 1"/>
          <p:cNvCxnSpPr/>
          <p:nvPr/>
        </p:nvCxnSpPr>
        <p:spPr>
          <a:xfrm flipV="1">
            <a:off x="2932443" y="1351280"/>
            <a:ext cx="541007" cy="541007"/>
          </a:xfrm>
          <a:prstGeom prst="line">
            <a:avLst/>
          </a:prstGeom>
          <a:ln w="158293">
            <a:solidFill>
              <a:srgbClr val="1FC79B">
                <a:alpha val="2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ventional ray halo 2"/>
          <p:cNvCxnSpPr/>
          <p:nvPr/>
        </p:nvCxnSpPr>
        <p:spPr>
          <a:xfrm>
            <a:off x="3521354" y="1399184"/>
            <a:ext cx="543611" cy="543611"/>
          </a:xfrm>
          <a:prstGeom prst="line">
            <a:avLst/>
          </a:prstGeom>
          <a:ln w="127797">
            <a:solidFill>
              <a:srgbClr val="1FC79B">
                <a:alpha val="16733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ventional ray halo 3"/>
          <p:cNvCxnSpPr/>
          <p:nvPr/>
        </p:nvCxnSpPr>
        <p:spPr>
          <a:xfrm flipV="1">
            <a:off x="4131615" y="1351280"/>
            <a:ext cx="591515" cy="591515"/>
          </a:xfrm>
          <a:prstGeom prst="line">
            <a:avLst/>
          </a:prstGeom>
          <a:ln w="92472">
            <a:solidFill>
              <a:srgbClr val="1FC79B">
                <a:alpha val="12778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ventional ray halo 4"/>
          <p:cNvCxnSpPr/>
          <p:nvPr/>
        </p:nvCxnSpPr>
        <p:spPr>
          <a:xfrm>
            <a:off x="4771034" y="1399184"/>
            <a:ext cx="543611" cy="543611"/>
          </a:xfrm>
          <a:prstGeom prst="line">
            <a:avLst/>
          </a:prstGeom>
          <a:ln w="74657">
            <a:solidFill>
              <a:srgbClr val="1FC79B">
                <a:alpha val="10691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ventional ray halo 5"/>
          <p:cNvCxnSpPr/>
          <p:nvPr/>
        </p:nvCxnSpPr>
        <p:spPr>
          <a:xfrm flipV="1">
            <a:off x="5381295" y="1351280"/>
            <a:ext cx="591515" cy="591515"/>
          </a:xfrm>
          <a:prstGeom prst="line">
            <a:avLst/>
          </a:prstGeom>
          <a:ln w="54021">
            <a:solidFill>
              <a:srgbClr val="1FC79B">
                <a:alpha val="8164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ventional ray halo 6"/>
          <p:cNvCxnSpPr/>
          <p:nvPr/>
        </p:nvCxnSpPr>
        <p:spPr>
          <a:xfrm>
            <a:off x="6020714" y="1399184"/>
            <a:ext cx="543611" cy="543611"/>
          </a:xfrm>
          <a:prstGeom prst="line">
            <a:avLst/>
          </a:prstGeom>
          <a:ln w="43613">
            <a:solidFill>
              <a:srgbClr val="1FC79B">
                <a:alpha val="6831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ventional ray halo 7"/>
          <p:cNvCxnSpPr/>
          <p:nvPr/>
        </p:nvCxnSpPr>
        <p:spPr>
          <a:xfrm flipV="1">
            <a:off x="6630975" y="1351280"/>
            <a:ext cx="591515" cy="591515"/>
          </a:xfrm>
          <a:prstGeom prst="line">
            <a:avLst/>
          </a:prstGeom>
          <a:ln w="31558">
            <a:solidFill>
              <a:srgbClr val="1FC79B">
                <a:alpha val="5216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ventional ray halo 8"/>
          <p:cNvCxnSpPr/>
          <p:nvPr/>
        </p:nvCxnSpPr>
        <p:spPr>
          <a:xfrm>
            <a:off x="7270394" y="1399184"/>
            <a:ext cx="543611" cy="543611"/>
          </a:xfrm>
          <a:prstGeom prst="line">
            <a:avLst/>
          </a:prstGeom>
          <a:ln w="25478">
            <a:solidFill>
              <a:srgbClr val="1FC79B">
                <a:alpha val="4364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ventional ray halo 9"/>
          <p:cNvCxnSpPr/>
          <p:nvPr/>
        </p:nvCxnSpPr>
        <p:spPr>
          <a:xfrm flipV="1">
            <a:off x="7880655" y="1351280"/>
            <a:ext cx="591515" cy="591515"/>
          </a:xfrm>
          <a:prstGeom prst="line">
            <a:avLst/>
          </a:prstGeom>
          <a:ln w="18436">
            <a:solidFill>
              <a:srgbClr val="1FC79B">
                <a:alpha val="3333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onventional emitter glow"/>
          <p:cNvSpPr/>
          <p:nvPr/>
        </p:nvSpPr>
        <p:spPr>
          <a:xfrm>
            <a:off x="2739263" y="1804289"/>
            <a:ext cx="312420" cy="249936"/>
          </a:xfrm>
          <a:prstGeom prst="ellipse">
            <a:avLst/>
          </a:prstGeom>
          <a:gradFill rotWithShape="1">
            <a:gsLst>
              <a:gs pos="0">
                <a:srgbClr val="E8901F">
                  <a:alpha val="75000"/>
                </a:srgbClr>
              </a:gs>
              <a:gs pos="45000">
                <a:srgbClr val="E8901F">
                  <a:alpha val="33750"/>
                </a:srgbClr>
              </a:gs>
              <a:gs pos="100000">
                <a:srgbClr val="E8901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ventional ray emit"/>
          <p:cNvCxnSpPr/>
          <p:nvPr/>
        </p:nvCxnSpPr>
        <p:spPr>
          <a:xfrm flipV="1">
            <a:off x="2932443" y="1351280"/>
            <a:ext cx="541007" cy="541007"/>
          </a:xfrm>
          <a:prstGeom prst="line">
            <a:avLst/>
          </a:prstGeom>
          <a:ln w="4946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ventional ray down 1"/>
          <p:cNvCxnSpPr/>
          <p:nvPr/>
        </p:nvCxnSpPr>
        <p:spPr>
          <a:xfrm>
            <a:off x="3521354" y="1399184"/>
            <a:ext cx="543611" cy="543611"/>
          </a:xfrm>
          <a:prstGeom prst="line">
            <a:avLst/>
          </a:prstGeom>
          <a:ln w="3785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ventional ray up 1"/>
          <p:cNvCxnSpPr/>
          <p:nvPr/>
        </p:nvCxnSpPr>
        <p:spPr>
          <a:xfrm flipV="1">
            <a:off x="4131615" y="1351280"/>
            <a:ext cx="591515" cy="591515"/>
          </a:xfrm>
          <a:prstGeom prst="line">
            <a:avLst/>
          </a:prstGeom>
          <a:ln w="2526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ventional ray down 2"/>
          <p:cNvCxnSpPr/>
          <p:nvPr/>
        </p:nvCxnSpPr>
        <p:spPr>
          <a:xfrm>
            <a:off x="4771034" y="1399184"/>
            <a:ext cx="543611" cy="543611"/>
          </a:xfrm>
          <a:prstGeom prst="line">
            <a:avLst/>
          </a:prstGeom>
          <a:ln w="1933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ventional ray up 2"/>
          <p:cNvCxnSpPr/>
          <p:nvPr/>
        </p:nvCxnSpPr>
        <p:spPr>
          <a:xfrm flipV="1">
            <a:off x="5381295" y="1351280"/>
            <a:ext cx="591515" cy="591515"/>
          </a:xfrm>
          <a:prstGeom prst="line">
            <a:avLst/>
          </a:prstGeom>
          <a:ln w="1290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ventional ray down 3"/>
          <p:cNvCxnSpPr/>
          <p:nvPr/>
        </p:nvCxnSpPr>
        <p:spPr>
          <a:xfrm>
            <a:off x="6020714" y="1399184"/>
            <a:ext cx="543611" cy="543611"/>
          </a:xfrm>
          <a:prstGeom prst="line">
            <a:avLst/>
          </a:prstGeom>
          <a:ln w="987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ventional ray up 3"/>
          <p:cNvCxnSpPr/>
          <p:nvPr/>
        </p:nvCxnSpPr>
        <p:spPr>
          <a:xfrm flipV="1">
            <a:off x="6630975" y="1351280"/>
            <a:ext cx="591515" cy="591515"/>
          </a:xfrm>
          <a:prstGeom prst="line">
            <a:avLst/>
          </a:prstGeom>
          <a:ln w="659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ventional ray down 4"/>
          <p:cNvCxnSpPr/>
          <p:nvPr/>
        </p:nvCxnSpPr>
        <p:spPr>
          <a:xfrm>
            <a:off x="7270394" y="1399184"/>
            <a:ext cx="543611" cy="543611"/>
          </a:xfrm>
          <a:prstGeom prst="line">
            <a:avLst/>
          </a:prstGeom>
          <a:ln w="504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ventional ray up 4"/>
          <p:cNvCxnSpPr/>
          <p:nvPr/>
        </p:nvCxnSpPr>
        <p:spPr>
          <a:xfrm flipV="1">
            <a:off x="7880655" y="1351280"/>
            <a:ext cx="591515" cy="591515"/>
          </a:xfrm>
          <a:prstGeom prst="line">
            <a:avLst/>
          </a:prstGeom>
          <a:ln w="336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ventional ray continues"/>
          <p:cNvCxnSpPr/>
          <p:nvPr/>
        </p:nvCxnSpPr>
        <p:spPr>
          <a:xfrm>
            <a:off x="8519033" y="1398143"/>
            <a:ext cx="421767" cy="421767"/>
          </a:xfrm>
          <a:prstGeom prst="line">
            <a:avLst/>
          </a:prstGeom>
          <a:ln w="3175">
            <a:solidFill>
              <a:srgbClr val="00A087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ventional escaping 1-1"/>
          <p:cNvCxnSpPr/>
          <p:nvPr/>
        </p:nvCxnSpPr>
        <p:spPr>
          <a:xfrm flipH="1" flipV="1">
            <a:off x="3151615" y="959161"/>
            <a:ext cx="243730" cy="256837"/>
          </a:xfrm>
          <a:prstGeom prst="line">
            <a:avLst/>
          </a:prstGeom>
          <a:ln w="272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ventional escaping 1-2"/>
          <p:cNvCxnSpPr/>
          <p:nvPr/>
        </p:nvCxnSpPr>
        <p:spPr>
          <a:xfrm flipH="1" flipV="1">
            <a:off x="3407923" y="787600"/>
            <a:ext cx="51912" cy="408064"/>
          </a:xfrm>
          <a:prstGeom prst="line">
            <a:avLst/>
          </a:prstGeom>
          <a:ln w="272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ventional escaping 1-3"/>
          <p:cNvCxnSpPr/>
          <p:nvPr/>
        </p:nvCxnSpPr>
        <p:spPr>
          <a:xfrm flipV="1">
            <a:off x="3531967" y="897003"/>
            <a:ext cx="192611" cy="309442"/>
          </a:xfrm>
          <a:prstGeom prst="line">
            <a:avLst/>
          </a:prstGeom>
          <a:ln w="272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ventional escaping 2-1"/>
          <p:cNvCxnSpPr/>
          <p:nvPr/>
        </p:nvCxnSpPr>
        <p:spPr>
          <a:xfrm flipH="1" flipV="1">
            <a:off x="4401295" y="959161"/>
            <a:ext cx="243730" cy="256837"/>
          </a:xfrm>
          <a:prstGeom prst="line">
            <a:avLst/>
          </a:prstGeom>
          <a:ln w="1389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ventional escaping 2-2"/>
          <p:cNvCxnSpPr/>
          <p:nvPr/>
        </p:nvCxnSpPr>
        <p:spPr>
          <a:xfrm flipH="1" flipV="1">
            <a:off x="4657603" y="787600"/>
            <a:ext cx="51912" cy="408064"/>
          </a:xfrm>
          <a:prstGeom prst="line">
            <a:avLst/>
          </a:prstGeom>
          <a:ln w="1389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ventional escaping 2-3"/>
          <p:cNvCxnSpPr/>
          <p:nvPr/>
        </p:nvCxnSpPr>
        <p:spPr>
          <a:xfrm flipV="1">
            <a:off x="4781647" y="897003"/>
            <a:ext cx="192611" cy="309442"/>
          </a:xfrm>
          <a:prstGeom prst="line">
            <a:avLst/>
          </a:prstGeom>
          <a:ln w="1389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ventional escaping 3-1"/>
          <p:cNvCxnSpPr/>
          <p:nvPr/>
        </p:nvCxnSpPr>
        <p:spPr>
          <a:xfrm flipH="1" flipV="1">
            <a:off x="5650975" y="959161"/>
            <a:ext cx="243730" cy="256837"/>
          </a:xfrm>
          <a:prstGeom prst="line">
            <a:avLst/>
          </a:prstGeom>
          <a:ln w="709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ventional escaping 3-2"/>
          <p:cNvCxnSpPr/>
          <p:nvPr/>
        </p:nvCxnSpPr>
        <p:spPr>
          <a:xfrm flipH="1" flipV="1">
            <a:off x="5907283" y="787600"/>
            <a:ext cx="51912" cy="408064"/>
          </a:xfrm>
          <a:prstGeom prst="line">
            <a:avLst/>
          </a:prstGeom>
          <a:ln w="709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ventional escaping 3-3"/>
          <p:cNvCxnSpPr/>
          <p:nvPr/>
        </p:nvCxnSpPr>
        <p:spPr>
          <a:xfrm flipV="1">
            <a:off x="6031327" y="897003"/>
            <a:ext cx="192611" cy="309442"/>
          </a:xfrm>
          <a:prstGeom prst="line">
            <a:avLst/>
          </a:prstGeom>
          <a:ln w="709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ventional escaping 4-1"/>
          <p:cNvCxnSpPr/>
          <p:nvPr/>
        </p:nvCxnSpPr>
        <p:spPr>
          <a:xfrm flipH="1" flipV="1">
            <a:off x="6900655" y="959161"/>
            <a:ext cx="243730" cy="256837"/>
          </a:xfrm>
          <a:prstGeom prst="line">
            <a:avLst/>
          </a:prstGeom>
          <a:ln w="508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ventional escaping 4-2"/>
          <p:cNvCxnSpPr/>
          <p:nvPr/>
        </p:nvCxnSpPr>
        <p:spPr>
          <a:xfrm flipH="1" flipV="1">
            <a:off x="7156963" y="787600"/>
            <a:ext cx="51912" cy="408064"/>
          </a:xfrm>
          <a:prstGeom prst="line">
            <a:avLst/>
          </a:prstGeom>
          <a:ln w="508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ventional escaping 4-3"/>
          <p:cNvCxnSpPr/>
          <p:nvPr/>
        </p:nvCxnSpPr>
        <p:spPr>
          <a:xfrm flipV="1">
            <a:off x="7281007" y="897003"/>
            <a:ext cx="192611" cy="309442"/>
          </a:xfrm>
          <a:prstGeom prst="line">
            <a:avLst/>
          </a:prstGeom>
          <a:ln w="508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ventional escaping 5-1"/>
          <p:cNvCxnSpPr/>
          <p:nvPr/>
        </p:nvCxnSpPr>
        <p:spPr>
          <a:xfrm flipH="1" flipV="1">
            <a:off x="8150335" y="959161"/>
            <a:ext cx="243730" cy="256837"/>
          </a:xfrm>
          <a:prstGeom prst="line">
            <a:avLst/>
          </a:prstGeom>
          <a:ln w="508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ventional escaping 5-2"/>
          <p:cNvCxnSpPr/>
          <p:nvPr/>
        </p:nvCxnSpPr>
        <p:spPr>
          <a:xfrm flipH="1" flipV="1">
            <a:off x="8406643" y="787600"/>
            <a:ext cx="51912" cy="408064"/>
          </a:xfrm>
          <a:prstGeom prst="line">
            <a:avLst/>
          </a:prstGeom>
          <a:ln w="508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ventional escaping 5-3"/>
          <p:cNvCxnSpPr/>
          <p:nvPr/>
        </p:nvCxnSpPr>
        <p:spPr>
          <a:xfrm flipV="1">
            <a:off x="8530687" y="897003"/>
            <a:ext cx="192611" cy="309442"/>
          </a:xfrm>
          <a:prstGeom prst="line">
            <a:avLst/>
          </a:prstGeom>
          <a:ln w="508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ventional heat 1"/>
          <p:cNvSpPr/>
          <p:nvPr/>
        </p:nvSpPr>
        <p:spPr>
          <a:xfrm>
            <a:off x="3839903" y="1834007"/>
            <a:ext cx="516774" cy="284226"/>
          </a:xfrm>
          <a:prstGeom prst="ellipse">
            <a:avLst/>
          </a:prstGeom>
          <a:gradFill rotWithShape="1">
            <a:gsLst>
              <a:gs pos="0">
                <a:srgbClr val="E64B35">
                  <a:alpha val="70000"/>
                </a:srgbClr>
              </a:gs>
              <a:gs pos="45000">
                <a:srgbClr val="E64B35">
                  <a:alpha val="31500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conventional heat 2"/>
          <p:cNvSpPr/>
          <p:nvPr/>
        </p:nvSpPr>
        <p:spPr>
          <a:xfrm>
            <a:off x="5175998" y="1881536"/>
            <a:ext cx="343944" cy="189169"/>
          </a:xfrm>
          <a:prstGeom prst="ellipse">
            <a:avLst/>
          </a:prstGeom>
          <a:gradFill rotWithShape="1">
            <a:gsLst>
              <a:gs pos="0">
                <a:srgbClr val="E64B35">
                  <a:alpha val="28805"/>
                </a:srgbClr>
              </a:gs>
              <a:gs pos="45000">
                <a:srgbClr val="E64B35">
                  <a:alpha val="12962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conventional heat 3"/>
          <p:cNvSpPr/>
          <p:nvPr/>
        </p:nvSpPr>
        <p:spPr>
          <a:xfrm>
            <a:off x="6471834" y="1906921"/>
            <a:ext cx="251631" cy="138397"/>
          </a:xfrm>
          <a:prstGeom prst="ellipse">
            <a:avLst/>
          </a:prstGeom>
          <a:gradFill rotWithShape="1">
            <a:gsLst>
              <a:gs pos="0">
                <a:srgbClr val="E64B35">
                  <a:alpha val="11759"/>
                </a:srgbClr>
              </a:gs>
              <a:gs pos="45000">
                <a:srgbClr val="E64B35">
                  <a:alpha val="5291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conventional heat 4"/>
          <p:cNvSpPr/>
          <p:nvPr/>
        </p:nvSpPr>
        <p:spPr>
          <a:xfrm>
            <a:off x="7746168" y="1920481"/>
            <a:ext cx="202325" cy="111279"/>
          </a:xfrm>
          <a:prstGeom prst="ellipse">
            <a:avLst/>
          </a:prstGeom>
          <a:gradFill rotWithShape="1">
            <a:gsLst>
              <a:gs pos="0">
                <a:srgbClr val="E64B35">
                  <a:alpha val="4800"/>
                </a:srgbClr>
              </a:gs>
              <a:gs pos="45000">
                <a:srgbClr val="E64B35">
                  <a:alpha val="2160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conventional ohmic loss 1L"/>
          <p:cNvSpPr/>
          <p:nvPr/>
        </p:nvSpPr>
        <p:spPr>
          <a:xfrm>
            <a:off x="3796945" y="1921804"/>
            <a:ext cx="235773" cy="46347"/>
          </a:xfrm>
          <a:custGeom>
            <a:avLst/>
            <a:gdLst/>
            <a:ahLst/>
            <a:cxnLst/>
            <a:rect l="l" t="t" r="r" b="b"/>
            <a:pathLst>
              <a:path w="235773" h="46347">
                <a:moveTo>
                  <a:pt x="235773" y="23074"/>
                </a:moveTo>
                <a:lnTo>
                  <a:pt x="230861" y="30555"/>
                </a:lnTo>
                <a:lnTo>
                  <a:pt x="225949" y="37242"/>
                </a:lnTo>
                <a:lnTo>
                  <a:pt x="221037" y="42425"/>
                </a:lnTo>
                <a:lnTo>
                  <a:pt x="216125" y="45554"/>
                </a:lnTo>
                <a:lnTo>
                  <a:pt x="211213" y="46297"/>
                </a:lnTo>
                <a:lnTo>
                  <a:pt x="206301" y="44576"/>
                </a:lnTo>
                <a:lnTo>
                  <a:pt x="201390" y="40572"/>
                </a:lnTo>
                <a:lnTo>
                  <a:pt x="196478" y="34711"/>
                </a:lnTo>
                <a:lnTo>
                  <a:pt x="191566" y="27614"/>
                </a:lnTo>
                <a:lnTo>
                  <a:pt x="186654" y="20036"/>
                </a:lnTo>
                <a:lnTo>
                  <a:pt x="181742" y="12781"/>
                </a:lnTo>
                <a:lnTo>
                  <a:pt x="176830" y="6617"/>
                </a:lnTo>
                <a:lnTo>
                  <a:pt x="171918" y="2201"/>
                </a:lnTo>
                <a:lnTo>
                  <a:pt x="167006" y="0"/>
                </a:lnTo>
                <a:lnTo>
                  <a:pt x="162094" y="248"/>
                </a:lnTo>
                <a:lnTo>
                  <a:pt x="157182" y="2919"/>
                </a:lnTo>
                <a:lnTo>
                  <a:pt x="152270" y="7729"/>
                </a:lnTo>
                <a:lnTo>
                  <a:pt x="147358" y="14168"/>
                </a:lnTo>
                <a:lnTo>
                  <a:pt x="142446" y="21552"/>
                </a:lnTo>
                <a:lnTo>
                  <a:pt x="137534" y="29098"/>
                </a:lnTo>
                <a:lnTo>
                  <a:pt x="132622" y="36004"/>
                </a:lnTo>
                <a:lnTo>
                  <a:pt x="127710" y="41538"/>
                </a:lnTo>
                <a:lnTo>
                  <a:pt x="122799" y="45112"/>
                </a:lnTo>
                <a:lnTo>
                  <a:pt x="117887" y="46347"/>
                </a:lnTo>
                <a:lnTo>
                  <a:pt x="112975" y="45112"/>
                </a:lnTo>
                <a:lnTo>
                  <a:pt x="108063" y="41538"/>
                </a:lnTo>
                <a:lnTo>
                  <a:pt x="103151" y="36004"/>
                </a:lnTo>
                <a:lnTo>
                  <a:pt x="98239" y="29098"/>
                </a:lnTo>
                <a:lnTo>
                  <a:pt x="93327" y="21552"/>
                </a:lnTo>
                <a:lnTo>
                  <a:pt x="88415" y="14168"/>
                </a:lnTo>
                <a:lnTo>
                  <a:pt x="83503" y="7729"/>
                </a:lnTo>
                <a:lnTo>
                  <a:pt x="78591" y="2919"/>
                </a:lnTo>
                <a:lnTo>
                  <a:pt x="73679" y="248"/>
                </a:lnTo>
                <a:lnTo>
                  <a:pt x="68767" y="0"/>
                </a:lnTo>
                <a:lnTo>
                  <a:pt x="63855" y="2201"/>
                </a:lnTo>
                <a:lnTo>
                  <a:pt x="58943" y="6617"/>
                </a:lnTo>
                <a:lnTo>
                  <a:pt x="54031" y="12781"/>
                </a:lnTo>
                <a:lnTo>
                  <a:pt x="49119" y="20036"/>
                </a:lnTo>
                <a:lnTo>
                  <a:pt x="44208" y="27614"/>
                </a:lnTo>
                <a:lnTo>
                  <a:pt x="39296" y="34711"/>
                </a:lnTo>
                <a:lnTo>
                  <a:pt x="34384" y="40572"/>
                </a:lnTo>
                <a:lnTo>
                  <a:pt x="29472" y="44576"/>
                </a:lnTo>
                <a:lnTo>
                  <a:pt x="24560" y="46297"/>
                </a:lnTo>
                <a:lnTo>
                  <a:pt x="19648" y="45554"/>
                </a:lnTo>
                <a:lnTo>
                  <a:pt x="14736" y="42425"/>
                </a:lnTo>
                <a:lnTo>
                  <a:pt x="9824" y="37242"/>
                </a:lnTo>
                <a:lnTo>
                  <a:pt x="4912" y="30555"/>
                </a:lnTo>
                <a:lnTo>
                  <a:pt x="0" y="23074"/>
                </a:lnTo>
              </a:path>
            </a:pathLst>
          </a:custGeom>
          <a:noFill/>
          <a:ln w="17280">
            <a:solidFill>
              <a:srgbClr val="E64B35">
                <a:alpha val="99000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onventional ohmic loss 1R"/>
          <p:cNvSpPr/>
          <p:nvPr/>
        </p:nvSpPr>
        <p:spPr>
          <a:xfrm>
            <a:off x="4163862" y="1921804"/>
            <a:ext cx="235773" cy="46347"/>
          </a:xfrm>
          <a:custGeom>
            <a:avLst/>
            <a:gdLst/>
            <a:ahLst/>
            <a:cxnLst/>
            <a:rect l="l" t="t" r="r" b="b"/>
            <a:pathLst>
              <a:path w="235773" h="46347">
                <a:moveTo>
                  <a:pt x="0" y="23074"/>
                </a:moveTo>
                <a:lnTo>
                  <a:pt x="4912" y="30555"/>
                </a:lnTo>
                <a:lnTo>
                  <a:pt x="9824" y="37242"/>
                </a:lnTo>
                <a:lnTo>
                  <a:pt x="14736" y="42425"/>
                </a:lnTo>
                <a:lnTo>
                  <a:pt x="19648" y="45554"/>
                </a:lnTo>
                <a:lnTo>
                  <a:pt x="24560" y="46297"/>
                </a:lnTo>
                <a:lnTo>
                  <a:pt x="29472" y="44576"/>
                </a:lnTo>
                <a:lnTo>
                  <a:pt x="34383" y="40572"/>
                </a:lnTo>
                <a:lnTo>
                  <a:pt x="39295" y="34711"/>
                </a:lnTo>
                <a:lnTo>
                  <a:pt x="44207" y="27614"/>
                </a:lnTo>
                <a:lnTo>
                  <a:pt x="49119" y="20036"/>
                </a:lnTo>
                <a:lnTo>
                  <a:pt x="54031" y="12781"/>
                </a:lnTo>
                <a:lnTo>
                  <a:pt x="58943" y="6617"/>
                </a:lnTo>
                <a:lnTo>
                  <a:pt x="63855" y="2201"/>
                </a:lnTo>
                <a:lnTo>
                  <a:pt x="68767" y="0"/>
                </a:lnTo>
                <a:lnTo>
                  <a:pt x="73679" y="248"/>
                </a:lnTo>
                <a:lnTo>
                  <a:pt x="78591" y="2919"/>
                </a:lnTo>
                <a:lnTo>
                  <a:pt x="83503" y="7729"/>
                </a:lnTo>
                <a:lnTo>
                  <a:pt x="88415" y="14168"/>
                </a:lnTo>
                <a:lnTo>
                  <a:pt x="93327" y="21552"/>
                </a:lnTo>
                <a:lnTo>
                  <a:pt x="98239" y="29098"/>
                </a:lnTo>
                <a:lnTo>
                  <a:pt x="103151" y="36004"/>
                </a:lnTo>
                <a:lnTo>
                  <a:pt x="108063" y="41538"/>
                </a:lnTo>
                <a:lnTo>
                  <a:pt x="112974" y="45112"/>
                </a:lnTo>
                <a:lnTo>
                  <a:pt x="117886" y="46347"/>
                </a:lnTo>
                <a:lnTo>
                  <a:pt x="122798" y="45112"/>
                </a:lnTo>
                <a:lnTo>
                  <a:pt x="127710" y="41538"/>
                </a:lnTo>
                <a:lnTo>
                  <a:pt x="132622" y="36004"/>
                </a:lnTo>
                <a:lnTo>
                  <a:pt x="137534" y="29098"/>
                </a:lnTo>
                <a:lnTo>
                  <a:pt x="142446" y="21552"/>
                </a:lnTo>
                <a:lnTo>
                  <a:pt x="147358" y="14168"/>
                </a:lnTo>
                <a:lnTo>
                  <a:pt x="152270" y="7729"/>
                </a:lnTo>
                <a:lnTo>
                  <a:pt x="157182" y="2919"/>
                </a:lnTo>
                <a:lnTo>
                  <a:pt x="162094" y="248"/>
                </a:lnTo>
                <a:lnTo>
                  <a:pt x="167006" y="0"/>
                </a:lnTo>
                <a:lnTo>
                  <a:pt x="171918" y="2201"/>
                </a:lnTo>
                <a:lnTo>
                  <a:pt x="176830" y="6617"/>
                </a:lnTo>
                <a:lnTo>
                  <a:pt x="181742" y="12781"/>
                </a:lnTo>
                <a:lnTo>
                  <a:pt x="186654" y="20036"/>
                </a:lnTo>
                <a:lnTo>
                  <a:pt x="191565" y="27614"/>
                </a:lnTo>
                <a:lnTo>
                  <a:pt x="196477" y="34711"/>
                </a:lnTo>
                <a:lnTo>
                  <a:pt x="201389" y="40572"/>
                </a:lnTo>
                <a:lnTo>
                  <a:pt x="206301" y="44576"/>
                </a:lnTo>
                <a:lnTo>
                  <a:pt x="211213" y="46297"/>
                </a:lnTo>
                <a:lnTo>
                  <a:pt x="216125" y="45554"/>
                </a:lnTo>
                <a:lnTo>
                  <a:pt x="221037" y="42425"/>
                </a:lnTo>
                <a:lnTo>
                  <a:pt x="225949" y="37242"/>
                </a:lnTo>
                <a:lnTo>
                  <a:pt x="230861" y="30555"/>
                </a:lnTo>
                <a:lnTo>
                  <a:pt x="235773" y="23074"/>
                </a:lnTo>
              </a:path>
            </a:pathLst>
          </a:custGeom>
          <a:noFill/>
          <a:ln w="17280">
            <a:solidFill>
              <a:srgbClr val="E64B35">
                <a:alpha val="99000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onventional absorption 1"/>
          <p:cNvSpPr/>
          <p:nvPr/>
        </p:nvSpPr>
        <p:spPr>
          <a:xfrm>
            <a:off x="4027511" y="1905341"/>
            <a:ext cx="141558" cy="141558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99000"/>
            </a:srgbClr>
          </a:solidFill>
          <a:ln w="5080">
            <a:solidFill>
              <a:srgbClr val="E64B35">
                <a:alpha val="99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onventional ohmic loss 2L"/>
          <p:cNvSpPr/>
          <p:nvPr/>
        </p:nvSpPr>
        <p:spPr>
          <a:xfrm>
            <a:off x="5178269" y="1929348"/>
            <a:ext cx="127065" cy="31194"/>
          </a:xfrm>
          <a:custGeom>
            <a:avLst/>
            <a:gdLst/>
            <a:ahLst/>
            <a:cxnLst/>
            <a:rect l="l" t="t" r="r" b="b"/>
            <a:pathLst>
              <a:path w="127065" h="31194">
                <a:moveTo>
                  <a:pt x="127065" y="15530"/>
                </a:moveTo>
                <a:lnTo>
                  <a:pt x="124417" y="20565"/>
                </a:lnTo>
                <a:lnTo>
                  <a:pt x="121770" y="25065"/>
                </a:lnTo>
                <a:lnTo>
                  <a:pt x="119123" y="28554"/>
                </a:lnTo>
                <a:lnTo>
                  <a:pt x="116476" y="30660"/>
                </a:lnTo>
                <a:lnTo>
                  <a:pt x="113829" y="31160"/>
                </a:lnTo>
                <a:lnTo>
                  <a:pt x="111182" y="30001"/>
                </a:lnTo>
                <a:lnTo>
                  <a:pt x="108534" y="27307"/>
                </a:lnTo>
                <a:lnTo>
                  <a:pt x="105887" y="23362"/>
                </a:lnTo>
                <a:lnTo>
                  <a:pt x="103240" y="18586"/>
                </a:lnTo>
                <a:lnTo>
                  <a:pt x="100593" y="13485"/>
                </a:lnTo>
                <a:lnTo>
                  <a:pt x="97946" y="8602"/>
                </a:lnTo>
                <a:lnTo>
                  <a:pt x="95298" y="4454"/>
                </a:lnTo>
                <a:lnTo>
                  <a:pt x="92651" y="1482"/>
                </a:lnTo>
                <a:lnTo>
                  <a:pt x="90004" y="0"/>
                </a:lnTo>
                <a:lnTo>
                  <a:pt x="87357" y="167"/>
                </a:lnTo>
                <a:lnTo>
                  <a:pt x="84710" y="1965"/>
                </a:lnTo>
                <a:lnTo>
                  <a:pt x="82062" y="5202"/>
                </a:lnTo>
                <a:lnTo>
                  <a:pt x="79415" y="9536"/>
                </a:lnTo>
                <a:lnTo>
                  <a:pt x="76768" y="14506"/>
                </a:lnTo>
                <a:lnTo>
                  <a:pt x="74121" y="19584"/>
                </a:lnTo>
                <a:lnTo>
                  <a:pt x="71474" y="24232"/>
                </a:lnTo>
                <a:lnTo>
                  <a:pt x="68827" y="27957"/>
                </a:lnTo>
                <a:lnTo>
                  <a:pt x="66179" y="30362"/>
                </a:lnTo>
                <a:lnTo>
                  <a:pt x="63532" y="31194"/>
                </a:lnTo>
                <a:lnTo>
                  <a:pt x="60885" y="30362"/>
                </a:lnTo>
                <a:lnTo>
                  <a:pt x="58238" y="27957"/>
                </a:lnTo>
                <a:lnTo>
                  <a:pt x="55591" y="24232"/>
                </a:lnTo>
                <a:lnTo>
                  <a:pt x="52943" y="19584"/>
                </a:lnTo>
                <a:lnTo>
                  <a:pt x="50296" y="14506"/>
                </a:lnTo>
                <a:lnTo>
                  <a:pt x="47649" y="9536"/>
                </a:lnTo>
                <a:lnTo>
                  <a:pt x="45002" y="5202"/>
                </a:lnTo>
                <a:lnTo>
                  <a:pt x="42355" y="1965"/>
                </a:lnTo>
                <a:lnTo>
                  <a:pt x="39708" y="167"/>
                </a:lnTo>
                <a:lnTo>
                  <a:pt x="37060" y="0"/>
                </a:lnTo>
                <a:lnTo>
                  <a:pt x="34413" y="1482"/>
                </a:lnTo>
                <a:lnTo>
                  <a:pt x="31766" y="4454"/>
                </a:lnTo>
                <a:lnTo>
                  <a:pt x="29119" y="8602"/>
                </a:lnTo>
                <a:lnTo>
                  <a:pt x="26472" y="13485"/>
                </a:lnTo>
                <a:lnTo>
                  <a:pt x="23824" y="18586"/>
                </a:lnTo>
                <a:lnTo>
                  <a:pt x="21177" y="23362"/>
                </a:lnTo>
                <a:lnTo>
                  <a:pt x="18530" y="27307"/>
                </a:lnTo>
                <a:lnTo>
                  <a:pt x="15883" y="30001"/>
                </a:lnTo>
                <a:lnTo>
                  <a:pt x="13236" y="31160"/>
                </a:lnTo>
                <a:lnTo>
                  <a:pt x="10588" y="30660"/>
                </a:lnTo>
                <a:lnTo>
                  <a:pt x="7941" y="28554"/>
                </a:lnTo>
                <a:lnTo>
                  <a:pt x="5294" y="25065"/>
                </a:lnTo>
                <a:lnTo>
                  <a:pt x="2647" y="20565"/>
                </a:lnTo>
                <a:lnTo>
                  <a:pt x="0" y="15530"/>
                </a:lnTo>
              </a:path>
            </a:pathLst>
          </a:custGeom>
          <a:noFill/>
          <a:ln w="12693">
            <a:solidFill>
              <a:srgbClr val="E64B35">
                <a:alpha val="70003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onventional ohmic loss 2R"/>
          <p:cNvSpPr/>
          <p:nvPr/>
        </p:nvSpPr>
        <p:spPr>
          <a:xfrm>
            <a:off x="5390606" y="1929348"/>
            <a:ext cx="127065" cy="31194"/>
          </a:xfrm>
          <a:custGeom>
            <a:avLst/>
            <a:gdLst/>
            <a:ahLst/>
            <a:cxnLst/>
            <a:rect l="l" t="t" r="r" b="b"/>
            <a:pathLst>
              <a:path w="127065" h="31194">
                <a:moveTo>
                  <a:pt x="0" y="15530"/>
                </a:moveTo>
                <a:lnTo>
                  <a:pt x="2648" y="20565"/>
                </a:lnTo>
                <a:lnTo>
                  <a:pt x="5295" y="25065"/>
                </a:lnTo>
                <a:lnTo>
                  <a:pt x="7942" y="28554"/>
                </a:lnTo>
                <a:lnTo>
                  <a:pt x="10589" y="30660"/>
                </a:lnTo>
                <a:lnTo>
                  <a:pt x="13236" y="31160"/>
                </a:lnTo>
                <a:lnTo>
                  <a:pt x="15883" y="30001"/>
                </a:lnTo>
                <a:lnTo>
                  <a:pt x="18531" y="27307"/>
                </a:lnTo>
                <a:lnTo>
                  <a:pt x="21178" y="23362"/>
                </a:lnTo>
                <a:lnTo>
                  <a:pt x="23825" y="18586"/>
                </a:lnTo>
                <a:lnTo>
                  <a:pt x="26472" y="13485"/>
                </a:lnTo>
                <a:lnTo>
                  <a:pt x="29119" y="8602"/>
                </a:lnTo>
                <a:lnTo>
                  <a:pt x="31767" y="4454"/>
                </a:lnTo>
                <a:lnTo>
                  <a:pt x="34414" y="1482"/>
                </a:lnTo>
                <a:lnTo>
                  <a:pt x="37061" y="0"/>
                </a:lnTo>
                <a:lnTo>
                  <a:pt x="39708" y="167"/>
                </a:lnTo>
                <a:lnTo>
                  <a:pt x="42355" y="1965"/>
                </a:lnTo>
                <a:lnTo>
                  <a:pt x="45003" y="5202"/>
                </a:lnTo>
                <a:lnTo>
                  <a:pt x="47650" y="9536"/>
                </a:lnTo>
                <a:lnTo>
                  <a:pt x="50297" y="14506"/>
                </a:lnTo>
                <a:lnTo>
                  <a:pt x="52944" y="19584"/>
                </a:lnTo>
                <a:lnTo>
                  <a:pt x="55591" y="24232"/>
                </a:lnTo>
                <a:lnTo>
                  <a:pt x="58238" y="27957"/>
                </a:lnTo>
                <a:lnTo>
                  <a:pt x="60886" y="30362"/>
                </a:lnTo>
                <a:lnTo>
                  <a:pt x="63533" y="31194"/>
                </a:lnTo>
                <a:lnTo>
                  <a:pt x="66180" y="30362"/>
                </a:lnTo>
                <a:lnTo>
                  <a:pt x="68827" y="27957"/>
                </a:lnTo>
                <a:lnTo>
                  <a:pt x="71474" y="24232"/>
                </a:lnTo>
                <a:lnTo>
                  <a:pt x="74122" y="19584"/>
                </a:lnTo>
                <a:lnTo>
                  <a:pt x="76769" y="14506"/>
                </a:lnTo>
                <a:lnTo>
                  <a:pt x="79416" y="9536"/>
                </a:lnTo>
                <a:lnTo>
                  <a:pt x="82063" y="5202"/>
                </a:lnTo>
                <a:lnTo>
                  <a:pt x="84710" y="1965"/>
                </a:lnTo>
                <a:lnTo>
                  <a:pt x="87357" y="167"/>
                </a:lnTo>
                <a:lnTo>
                  <a:pt x="90005" y="0"/>
                </a:lnTo>
                <a:lnTo>
                  <a:pt x="92652" y="1482"/>
                </a:lnTo>
                <a:lnTo>
                  <a:pt x="95299" y="4454"/>
                </a:lnTo>
                <a:lnTo>
                  <a:pt x="97946" y="8602"/>
                </a:lnTo>
                <a:lnTo>
                  <a:pt x="100593" y="13485"/>
                </a:lnTo>
                <a:lnTo>
                  <a:pt x="103241" y="18586"/>
                </a:lnTo>
                <a:lnTo>
                  <a:pt x="105888" y="23362"/>
                </a:lnTo>
                <a:lnTo>
                  <a:pt x="108535" y="27307"/>
                </a:lnTo>
                <a:lnTo>
                  <a:pt x="111182" y="30001"/>
                </a:lnTo>
                <a:lnTo>
                  <a:pt x="113829" y="31160"/>
                </a:lnTo>
                <a:lnTo>
                  <a:pt x="116477" y="30660"/>
                </a:lnTo>
                <a:lnTo>
                  <a:pt x="119124" y="28554"/>
                </a:lnTo>
                <a:lnTo>
                  <a:pt x="121771" y="25065"/>
                </a:lnTo>
                <a:lnTo>
                  <a:pt x="124418" y="20565"/>
                </a:lnTo>
                <a:lnTo>
                  <a:pt x="127065" y="15530"/>
                </a:lnTo>
              </a:path>
            </a:pathLst>
          </a:custGeom>
          <a:noFill/>
          <a:ln w="12693">
            <a:solidFill>
              <a:srgbClr val="E64B35">
                <a:alpha val="70003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onventional absorption 2"/>
          <p:cNvSpPr/>
          <p:nvPr/>
        </p:nvSpPr>
        <p:spPr>
          <a:xfrm>
            <a:off x="5300127" y="1928277"/>
            <a:ext cx="95687" cy="95687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70003"/>
            </a:srgbClr>
          </a:solidFill>
          <a:ln w="5080">
            <a:solidFill>
              <a:srgbClr val="E64B35">
                <a:alpha val="70003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onventional ohmic loss 3L"/>
          <p:cNvSpPr/>
          <p:nvPr/>
        </p:nvSpPr>
        <p:spPr>
          <a:xfrm>
            <a:off x="6485726" y="1932428"/>
            <a:ext cx="82686" cy="25007"/>
          </a:xfrm>
          <a:custGeom>
            <a:avLst/>
            <a:gdLst/>
            <a:ahLst/>
            <a:cxnLst/>
            <a:rect l="l" t="t" r="r" b="b"/>
            <a:pathLst>
              <a:path w="82686" h="25007">
                <a:moveTo>
                  <a:pt x="82686" y="12450"/>
                </a:moveTo>
                <a:lnTo>
                  <a:pt x="80964" y="16486"/>
                </a:lnTo>
                <a:lnTo>
                  <a:pt x="79241" y="20094"/>
                </a:lnTo>
                <a:lnTo>
                  <a:pt x="77518" y="22891"/>
                </a:lnTo>
                <a:lnTo>
                  <a:pt x="75796" y="24579"/>
                </a:lnTo>
                <a:lnTo>
                  <a:pt x="74073" y="24980"/>
                </a:lnTo>
                <a:lnTo>
                  <a:pt x="72350" y="24051"/>
                </a:lnTo>
                <a:lnTo>
                  <a:pt x="70628" y="21891"/>
                </a:lnTo>
                <a:lnTo>
                  <a:pt x="68905" y="18729"/>
                </a:lnTo>
                <a:lnTo>
                  <a:pt x="67183" y="14900"/>
                </a:lnTo>
                <a:lnTo>
                  <a:pt x="65460" y="10811"/>
                </a:lnTo>
                <a:lnTo>
                  <a:pt x="63737" y="6896"/>
                </a:lnTo>
                <a:lnTo>
                  <a:pt x="62015" y="3571"/>
                </a:lnTo>
                <a:lnTo>
                  <a:pt x="60292" y="1188"/>
                </a:lnTo>
                <a:lnTo>
                  <a:pt x="58570" y="0"/>
                </a:lnTo>
                <a:lnTo>
                  <a:pt x="56847" y="134"/>
                </a:lnTo>
                <a:lnTo>
                  <a:pt x="55124" y="1575"/>
                </a:lnTo>
                <a:lnTo>
                  <a:pt x="53402" y="4171"/>
                </a:lnTo>
                <a:lnTo>
                  <a:pt x="51679" y="7645"/>
                </a:lnTo>
                <a:lnTo>
                  <a:pt x="49956" y="11629"/>
                </a:lnTo>
                <a:lnTo>
                  <a:pt x="48234" y="15700"/>
                </a:lnTo>
                <a:lnTo>
                  <a:pt x="46511" y="19426"/>
                </a:lnTo>
                <a:lnTo>
                  <a:pt x="44789" y="22412"/>
                </a:lnTo>
                <a:lnTo>
                  <a:pt x="43066" y="24341"/>
                </a:lnTo>
                <a:lnTo>
                  <a:pt x="41343" y="25007"/>
                </a:lnTo>
                <a:lnTo>
                  <a:pt x="39621" y="24341"/>
                </a:lnTo>
                <a:lnTo>
                  <a:pt x="37898" y="22412"/>
                </a:lnTo>
                <a:lnTo>
                  <a:pt x="36175" y="19426"/>
                </a:lnTo>
                <a:lnTo>
                  <a:pt x="34453" y="15700"/>
                </a:lnTo>
                <a:lnTo>
                  <a:pt x="32730" y="11629"/>
                </a:lnTo>
                <a:lnTo>
                  <a:pt x="31008" y="7645"/>
                </a:lnTo>
                <a:lnTo>
                  <a:pt x="29285" y="4171"/>
                </a:lnTo>
                <a:lnTo>
                  <a:pt x="27562" y="1575"/>
                </a:lnTo>
                <a:lnTo>
                  <a:pt x="25840" y="134"/>
                </a:lnTo>
                <a:lnTo>
                  <a:pt x="24117" y="0"/>
                </a:lnTo>
                <a:lnTo>
                  <a:pt x="22394" y="1188"/>
                </a:lnTo>
                <a:lnTo>
                  <a:pt x="20672" y="3571"/>
                </a:lnTo>
                <a:lnTo>
                  <a:pt x="18949" y="6896"/>
                </a:lnTo>
                <a:lnTo>
                  <a:pt x="17227" y="10811"/>
                </a:lnTo>
                <a:lnTo>
                  <a:pt x="15504" y="14900"/>
                </a:lnTo>
                <a:lnTo>
                  <a:pt x="13781" y="18729"/>
                </a:lnTo>
                <a:lnTo>
                  <a:pt x="12059" y="21891"/>
                </a:lnTo>
                <a:lnTo>
                  <a:pt x="10336" y="24051"/>
                </a:lnTo>
                <a:lnTo>
                  <a:pt x="8613" y="24980"/>
                </a:lnTo>
                <a:lnTo>
                  <a:pt x="6891" y="24579"/>
                </a:lnTo>
                <a:lnTo>
                  <a:pt x="5168" y="22891"/>
                </a:lnTo>
                <a:lnTo>
                  <a:pt x="3446" y="20094"/>
                </a:lnTo>
                <a:lnTo>
                  <a:pt x="1723" y="16486"/>
                </a:lnTo>
                <a:lnTo>
                  <a:pt x="0" y="12450"/>
                </a:lnTo>
              </a:path>
            </a:pathLst>
          </a:custGeom>
          <a:noFill/>
          <a:ln w="10013">
            <a:solidFill>
              <a:srgbClr val="E64B35">
                <a:alpha val="58166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onventional ohmic loss 3R"/>
          <p:cNvSpPr/>
          <p:nvPr/>
        </p:nvSpPr>
        <p:spPr>
          <a:xfrm>
            <a:off x="6626888" y="1932428"/>
            <a:ext cx="82686" cy="25007"/>
          </a:xfrm>
          <a:custGeom>
            <a:avLst/>
            <a:gdLst/>
            <a:ahLst/>
            <a:cxnLst/>
            <a:rect l="l" t="t" r="r" b="b"/>
            <a:pathLst>
              <a:path w="82686" h="25007">
                <a:moveTo>
                  <a:pt x="0" y="12450"/>
                </a:moveTo>
                <a:lnTo>
                  <a:pt x="1722" y="16486"/>
                </a:lnTo>
                <a:lnTo>
                  <a:pt x="3445" y="20094"/>
                </a:lnTo>
                <a:lnTo>
                  <a:pt x="5168" y="22891"/>
                </a:lnTo>
                <a:lnTo>
                  <a:pt x="6890" y="24579"/>
                </a:lnTo>
                <a:lnTo>
                  <a:pt x="8613" y="24980"/>
                </a:lnTo>
                <a:lnTo>
                  <a:pt x="10336" y="24051"/>
                </a:lnTo>
                <a:lnTo>
                  <a:pt x="12058" y="21891"/>
                </a:lnTo>
                <a:lnTo>
                  <a:pt x="13781" y="18729"/>
                </a:lnTo>
                <a:lnTo>
                  <a:pt x="15503" y="14900"/>
                </a:lnTo>
                <a:lnTo>
                  <a:pt x="17226" y="10811"/>
                </a:lnTo>
                <a:lnTo>
                  <a:pt x="18949" y="6896"/>
                </a:lnTo>
                <a:lnTo>
                  <a:pt x="20671" y="3571"/>
                </a:lnTo>
                <a:lnTo>
                  <a:pt x="22394" y="1188"/>
                </a:lnTo>
                <a:lnTo>
                  <a:pt x="24116" y="0"/>
                </a:lnTo>
                <a:lnTo>
                  <a:pt x="25839" y="134"/>
                </a:lnTo>
                <a:lnTo>
                  <a:pt x="27562" y="1575"/>
                </a:lnTo>
                <a:lnTo>
                  <a:pt x="29284" y="4171"/>
                </a:lnTo>
                <a:lnTo>
                  <a:pt x="31007" y="7645"/>
                </a:lnTo>
                <a:lnTo>
                  <a:pt x="32730" y="11629"/>
                </a:lnTo>
                <a:lnTo>
                  <a:pt x="34452" y="15700"/>
                </a:lnTo>
                <a:lnTo>
                  <a:pt x="36175" y="19426"/>
                </a:lnTo>
                <a:lnTo>
                  <a:pt x="37897" y="22412"/>
                </a:lnTo>
                <a:lnTo>
                  <a:pt x="39620" y="24341"/>
                </a:lnTo>
                <a:lnTo>
                  <a:pt x="41343" y="25007"/>
                </a:lnTo>
                <a:lnTo>
                  <a:pt x="43065" y="24341"/>
                </a:lnTo>
                <a:lnTo>
                  <a:pt x="44788" y="22412"/>
                </a:lnTo>
                <a:lnTo>
                  <a:pt x="46511" y="19426"/>
                </a:lnTo>
                <a:lnTo>
                  <a:pt x="48233" y="15700"/>
                </a:lnTo>
                <a:lnTo>
                  <a:pt x="49956" y="11629"/>
                </a:lnTo>
                <a:lnTo>
                  <a:pt x="51678" y="7645"/>
                </a:lnTo>
                <a:lnTo>
                  <a:pt x="53401" y="4171"/>
                </a:lnTo>
                <a:lnTo>
                  <a:pt x="55124" y="1575"/>
                </a:lnTo>
                <a:lnTo>
                  <a:pt x="56846" y="134"/>
                </a:lnTo>
                <a:lnTo>
                  <a:pt x="58569" y="0"/>
                </a:lnTo>
                <a:lnTo>
                  <a:pt x="60292" y="1188"/>
                </a:lnTo>
                <a:lnTo>
                  <a:pt x="62014" y="3571"/>
                </a:lnTo>
                <a:lnTo>
                  <a:pt x="63737" y="6896"/>
                </a:lnTo>
                <a:lnTo>
                  <a:pt x="65459" y="10811"/>
                </a:lnTo>
                <a:lnTo>
                  <a:pt x="67182" y="14900"/>
                </a:lnTo>
                <a:lnTo>
                  <a:pt x="68905" y="18729"/>
                </a:lnTo>
                <a:lnTo>
                  <a:pt x="70627" y="21891"/>
                </a:lnTo>
                <a:lnTo>
                  <a:pt x="72350" y="24051"/>
                </a:lnTo>
                <a:lnTo>
                  <a:pt x="74073" y="24980"/>
                </a:lnTo>
                <a:lnTo>
                  <a:pt x="75795" y="24579"/>
                </a:lnTo>
                <a:lnTo>
                  <a:pt x="77518" y="22891"/>
                </a:lnTo>
                <a:lnTo>
                  <a:pt x="79240" y="20094"/>
                </a:lnTo>
                <a:lnTo>
                  <a:pt x="80963" y="16486"/>
                </a:lnTo>
                <a:lnTo>
                  <a:pt x="82686" y="12450"/>
                </a:lnTo>
              </a:path>
            </a:pathLst>
          </a:custGeom>
          <a:noFill/>
          <a:ln w="10013">
            <a:solidFill>
              <a:srgbClr val="E64B35">
                <a:alpha val="58166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onventional absorption 3"/>
          <p:cNvSpPr/>
          <p:nvPr/>
        </p:nvSpPr>
        <p:spPr>
          <a:xfrm>
            <a:off x="6563205" y="1941675"/>
            <a:ext cx="68890" cy="68890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8166"/>
            </a:srgbClr>
          </a:solidFill>
          <a:ln w="5080">
            <a:solidFill>
              <a:srgbClr val="E64B35">
                <a:alpha val="58166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onventional ohmic loss 4L"/>
          <p:cNvSpPr/>
          <p:nvPr/>
        </p:nvSpPr>
        <p:spPr>
          <a:xfrm>
            <a:off x="7761351" y="1933686"/>
            <a:ext cx="64568" cy="22481"/>
          </a:xfrm>
          <a:custGeom>
            <a:avLst/>
            <a:gdLst/>
            <a:ahLst/>
            <a:cxnLst/>
            <a:rect l="l" t="t" r="r" b="b"/>
            <a:pathLst>
              <a:path w="64568" h="22481">
                <a:moveTo>
                  <a:pt x="64568" y="11192"/>
                </a:moveTo>
                <a:lnTo>
                  <a:pt x="63223" y="14821"/>
                </a:lnTo>
                <a:lnTo>
                  <a:pt x="61878" y="18064"/>
                </a:lnTo>
                <a:lnTo>
                  <a:pt x="60533" y="20578"/>
                </a:lnTo>
                <a:lnTo>
                  <a:pt x="59188" y="22096"/>
                </a:lnTo>
                <a:lnTo>
                  <a:pt x="57843" y="22457"/>
                </a:lnTo>
                <a:lnTo>
                  <a:pt x="56497" y="21622"/>
                </a:lnTo>
                <a:lnTo>
                  <a:pt x="55152" y="19679"/>
                </a:lnTo>
                <a:lnTo>
                  <a:pt x="53807" y="16836"/>
                </a:lnTo>
                <a:lnTo>
                  <a:pt x="52462" y="13394"/>
                </a:lnTo>
                <a:lnTo>
                  <a:pt x="51117" y="9719"/>
                </a:lnTo>
                <a:lnTo>
                  <a:pt x="49771" y="6199"/>
                </a:lnTo>
                <a:lnTo>
                  <a:pt x="48426" y="3210"/>
                </a:lnTo>
                <a:lnTo>
                  <a:pt x="47081" y="1067"/>
                </a:lnTo>
                <a:lnTo>
                  <a:pt x="45736" y="0"/>
                </a:lnTo>
                <a:lnTo>
                  <a:pt x="44391" y="120"/>
                </a:lnTo>
                <a:lnTo>
                  <a:pt x="43046" y="1416"/>
                </a:lnTo>
                <a:lnTo>
                  <a:pt x="41700" y="3749"/>
                </a:lnTo>
                <a:lnTo>
                  <a:pt x="40355" y="6872"/>
                </a:lnTo>
                <a:lnTo>
                  <a:pt x="39010" y="10454"/>
                </a:lnTo>
                <a:lnTo>
                  <a:pt x="37665" y="14114"/>
                </a:lnTo>
                <a:lnTo>
                  <a:pt x="36320" y="17464"/>
                </a:lnTo>
                <a:lnTo>
                  <a:pt x="34975" y="20148"/>
                </a:lnTo>
                <a:lnTo>
                  <a:pt x="33629" y="21882"/>
                </a:lnTo>
                <a:lnTo>
                  <a:pt x="32284" y="22481"/>
                </a:lnTo>
                <a:lnTo>
                  <a:pt x="30939" y="21882"/>
                </a:lnTo>
                <a:lnTo>
                  <a:pt x="29594" y="20148"/>
                </a:lnTo>
                <a:lnTo>
                  <a:pt x="28249" y="17464"/>
                </a:lnTo>
                <a:lnTo>
                  <a:pt x="26903" y="14114"/>
                </a:lnTo>
                <a:lnTo>
                  <a:pt x="25558" y="10454"/>
                </a:lnTo>
                <a:lnTo>
                  <a:pt x="24213" y="6872"/>
                </a:lnTo>
                <a:lnTo>
                  <a:pt x="22868" y="3749"/>
                </a:lnTo>
                <a:lnTo>
                  <a:pt x="21523" y="1416"/>
                </a:lnTo>
                <a:lnTo>
                  <a:pt x="20178" y="120"/>
                </a:lnTo>
                <a:lnTo>
                  <a:pt x="18832" y="0"/>
                </a:lnTo>
                <a:lnTo>
                  <a:pt x="17487" y="1067"/>
                </a:lnTo>
                <a:lnTo>
                  <a:pt x="16142" y="3210"/>
                </a:lnTo>
                <a:lnTo>
                  <a:pt x="14797" y="6199"/>
                </a:lnTo>
                <a:lnTo>
                  <a:pt x="13452" y="9719"/>
                </a:lnTo>
                <a:lnTo>
                  <a:pt x="12106" y="13394"/>
                </a:lnTo>
                <a:lnTo>
                  <a:pt x="10761" y="16836"/>
                </a:lnTo>
                <a:lnTo>
                  <a:pt x="9416" y="19679"/>
                </a:lnTo>
                <a:lnTo>
                  <a:pt x="8071" y="21622"/>
                </a:lnTo>
                <a:lnTo>
                  <a:pt x="6726" y="22457"/>
                </a:lnTo>
                <a:lnTo>
                  <a:pt x="5381" y="22096"/>
                </a:lnTo>
                <a:lnTo>
                  <a:pt x="4035" y="20578"/>
                </a:lnTo>
                <a:lnTo>
                  <a:pt x="2690" y="18064"/>
                </a:lnTo>
                <a:lnTo>
                  <a:pt x="1345" y="14821"/>
                </a:lnTo>
                <a:lnTo>
                  <a:pt x="0" y="11192"/>
                </a:lnTo>
              </a:path>
            </a:pathLst>
          </a:custGeom>
          <a:noFill/>
          <a:ln w="8448">
            <a:solidFill>
              <a:srgbClr val="E64B35">
                <a:alpha val="53333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onventional ohmic loss 4R"/>
          <p:cNvSpPr/>
          <p:nvPr/>
        </p:nvSpPr>
        <p:spPr>
          <a:xfrm>
            <a:off x="7868741" y="1933686"/>
            <a:ext cx="64568" cy="22481"/>
          </a:xfrm>
          <a:custGeom>
            <a:avLst/>
            <a:gdLst/>
            <a:ahLst/>
            <a:cxnLst/>
            <a:rect l="l" t="t" r="r" b="b"/>
            <a:pathLst>
              <a:path w="64568" h="22481">
                <a:moveTo>
                  <a:pt x="0" y="11192"/>
                </a:moveTo>
                <a:lnTo>
                  <a:pt x="1345" y="14821"/>
                </a:lnTo>
                <a:lnTo>
                  <a:pt x="2690" y="18064"/>
                </a:lnTo>
                <a:lnTo>
                  <a:pt x="4035" y="20578"/>
                </a:lnTo>
                <a:lnTo>
                  <a:pt x="5380" y="22096"/>
                </a:lnTo>
                <a:lnTo>
                  <a:pt x="6725" y="22457"/>
                </a:lnTo>
                <a:lnTo>
                  <a:pt x="8071" y="21622"/>
                </a:lnTo>
                <a:lnTo>
                  <a:pt x="9416" y="19679"/>
                </a:lnTo>
                <a:lnTo>
                  <a:pt x="10761" y="16836"/>
                </a:lnTo>
                <a:lnTo>
                  <a:pt x="12106" y="13394"/>
                </a:lnTo>
                <a:lnTo>
                  <a:pt x="13451" y="9719"/>
                </a:lnTo>
                <a:lnTo>
                  <a:pt x="14797" y="6199"/>
                </a:lnTo>
                <a:lnTo>
                  <a:pt x="16142" y="3210"/>
                </a:lnTo>
                <a:lnTo>
                  <a:pt x="17487" y="1067"/>
                </a:lnTo>
                <a:lnTo>
                  <a:pt x="18832" y="0"/>
                </a:lnTo>
                <a:lnTo>
                  <a:pt x="20177" y="120"/>
                </a:lnTo>
                <a:lnTo>
                  <a:pt x="21522" y="1416"/>
                </a:lnTo>
                <a:lnTo>
                  <a:pt x="22868" y="3749"/>
                </a:lnTo>
                <a:lnTo>
                  <a:pt x="24213" y="6872"/>
                </a:lnTo>
                <a:lnTo>
                  <a:pt x="25558" y="10454"/>
                </a:lnTo>
                <a:lnTo>
                  <a:pt x="26903" y="14114"/>
                </a:lnTo>
                <a:lnTo>
                  <a:pt x="28248" y="17464"/>
                </a:lnTo>
                <a:lnTo>
                  <a:pt x="29593" y="20148"/>
                </a:lnTo>
                <a:lnTo>
                  <a:pt x="30939" y="21882"/>
                </a:lnTo>
                <a:lnTo>
                  <a:pt x="32284" y="22481"/>
                </a:lnTo>
                <a:lnTo>
                  <a:pt x="33629" y="21882"/>
                </a:lnTo>
                <a:lnTo>
                  <a:pt x="34974" y="20148"/>
                </a:lnTo>
                <a:lnTo>
                  <a:pt x="36319" y="17464"/>
                </a:lnTo>
                <a:lnTo>
                  <a:pt x="37665" y="14114"/>
                </a:lnTo>
                <a:lnTo>
                  <a:pt x="39010" y="10454"/>
                </a:lnTo>
                <a:lnTo>
                  <a:pt x="40355" y="6872"/>
                </a:lnTo>
                <a:lnTo>
                  <a:pt x="41700" y="3749"/>
                </a:lnTo>
                <a:lnTo>
                  <a:pt x="43045" y="1416"/>
                </a:lnTo>
                <a:lnTo>
                  <a:pt x="44390" y="120"/>
                </a:lnTo>
                <a:lnTo>
                  <a:pt x="45736" y="0"/>
                </a:lnTo>
                <a:lnTo>
                  <a:pt x="47081" y="1067"/>
                </a:lnTo>
                <a:lnTo>
                  <a:pt x="48426" y="3210"/>
                </a:lnTo>
                <a:lnTo>
                  <a:pt x="49771" y="6199"/>
                </a:lnTo>
                <a:lnTo>
                  <a:pt x="51116" y="9719"/>
                </a:lnTo>
                <a:lnTo>
                  <a:pt x="52462" y="13394"/>
                </a:lnTo>
                <a:lnTo>
                  <a:pt x="53807" y="16836"/>
                </a:lnTo>
                <a:lnTo>
                  <a:pt x="55152" y="19679"/>
                </a:lnTo>
                <a:lnTo>
                  <a:pt x="56497" y="21622"/>
                </a:lnTo>
                <a:lnTo>
                  <a:pt x="57842" y="22457"/>
                </a:lnTo>
                <a:lnTo>
                  <a:pt x="59187" y="22096"/>
                </a:lnTo>
                <a:lnTo>
                  <a:pt x="60533" y="20578"/>
                </a:lnTo>
                <a:lnTo>
                  <a:pt x="61878" y="18064"/>
                </a:lnTo>
                <a:lnTo>
                  <a:pt x="63223" y="14821"/>
                </a:lnTo>
                <a:lnTo>
                  <a:pt x="64568" y="11192"/>
                </a:lnTo>
              </a:path>
            </a:pathLst>
          </a:custGeom>
          <a:noFill/>
          <a:ln w="8448">
            <a:solidFill>
              <a:srgbClr val="E64B35">
                <a:alpha val="53333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onventional absorption 4"/>
          <p:cNvSpPr/>
          <p:nvPr/>
        </p:nvSpPr>
        <p:spPr>
          <a:xfrm>
            <a:off x="7820712" y="1949502"/>
            <a:ext cx="53235" cy="53235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3333"/>
            </a:srgbClr>
          </a:solidFill>
          <a:ln w="5080">
            <a:solidFill>
              <a:srgbClr val="E64B35">
                <a:alpha val="53333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onventional emitter"/>
          <p:cNvSpPr/>
          <p:nvPr/>
        </p:nvSpPr>
        <p:spPr>
          <a:xfrm>
            <a:off x="2851214" y="1884998"/>
            <a:ext cx="88519" cy="88519"/>
          </a:xfrm>
          <a:prstGeom prst="star8">
            <a:avLst>
              <a:gd name="adj" fmla="val 40000"/>
            </a:avLst>
          </a:prstGeom>
          <a:solidFill>
            <a:srgbClr val="E8901F"/>
          </a:solidFill>
          <a:ln w="5080">
            <a:solidFill>
              <a:srgbClr val="6F430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onventional emitter core"/>
          <p:cNvSpPr/>
          <p:nvPr/>
        </p:nvSpPr>
        <p:spPr>
          <a:xfrm>
            <a:off x="2882976" y="1916760"/>
            <a:ext cx="24994" cy="24994"/>
          </a:xfrm>
          <a:prstGeom prst="ellipse">
            <a:avLst/>
          </a:prstGeom>
          <a:solidFill>
            <a:srgbClr val="FFF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" name="conventional render" descr="emitting_area_render_convention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32766"/>
            <a:ext cx="2184400" cy="2184400"/>
          </a:xfrm>
          <a:prstGeom prst="rect">
            <a:avLst/>
          </a:prstGeom>
        </p:spPr>
      </p:pic>
      <p:sp>
        <p:nvSpPr>
          <p:cNvPr id="98" name="conventional: Conventional metal electrode"/>
          <p:cNvSpPr txBox="1"/>
          <p:nvPr/>
        </p:nvSpPr>
        <p:spPr>
          <a:xfrm>
            <a:off x="370626" y="1842141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F2F5F8"/>
                </a:solidFill>
                <a:latin typeface="Arial"/>
              </a:rPr>
              <a:t>Conventional metal electrode</a:t>
            </a:r>
          </a:p>
        </p:txBody>
      </p:sp>
      <p:sp>
        <p:nvSpPr>
          <p:cNvPr id="99" name="conventional: Organic layer"/>
          <p:cNvSpPr txBox="1"/>
          <p:nvPr/>
        </p:nvSpPr>
        <p:spPr>
          <a:xfrm>
            <a:off x="366206" y="1692721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Organic layer</a:t>
            </a:r>
          </a:p>
        </p:txBody>
      </p:sp>
      <p:sp>
        <p:nvSpPr>
          <p:cNvPr id="100" name="conventional: Transparent conductive oxide (TCO)"/>
          <p:cNvSpPr txBox="1"/>
          <p:nvPr/>
        </p:nvSpPr>
        <p:spPr>
          <a:xfrm>
            <a:off x="361932" y="1548315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Transparent conductive oxide (TCO)</a:t>
            </a:r>
          </a:p>
        </p:txBody>
      </p:sp>
      <p:sp>
        <p:nvSpPr>
          <p:cNvPr id="101" name="conventional: Glass"/>
          <p:cNvSpPr txBox="1"/>
          <p:nvPr/>
        </p:nvSpPr>
        <p:spPr>
          <a:xfrm>
            <a:off x="357908" y="1412332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Glass</a:t>
            </a:r>
          </a:p>
        </p:txBody>
      </p:sp>
      <p:sp>
        <p:nvSpPr>
          <p:cNvPr id="102" name="conventional: Outcoupling structure"/>
          <p:cNvSpPr txBox="1"/>
          <p:nvPr/>
        </p:nvSpPr>
        <p:spPr>
          <a:xfrm>
            <a:off x="353850" y="1275171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Outcoupling structure</a:t>
            </a:r>
          </a:p>
        </p:txBody>
      </p:sp>
      <p:sp>
        <p:nvSpPr>
          <p:cNvPr id="103" name="designrule lens 01"/>
          <p:cNvSpPr/>
          <p:nvPr/>
        </p:nvSpPr>
        <p:spPr>
          <a:xfrm>
            <a:off x="269240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designrule lens 02"/>
          <p:cNvSpPr/>
          <p:nvPr/>
        </p:nvSpPr>
        <p:spPr>
          <a:xfrm>
            <a:off x="300482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esignrule lens 03"/>
          <p:cNvSpPr/>
          <p:nvPr/>
        </p:nvSpPr>
        <p:spPr>
          <a:xfrm>
            <a:off x="331724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designrule lens 04"/>
          <p:cNvSpPr/>
          <p:nvPr/>
        </p:nvSpPr>
        <p:spPr>
          <a:xfrm>
            <a:off x="362966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designrule lens 05"/>
          <p:cNvSpPr/>
          <p:nvPr/>
        </p:nvSpPr>
        <p:spPr>
          <a:xfrm>
            <a:off x="394208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designrule lens 06"/>
          <p:cNvSpPr/>
          <p:nvPr/>
        </p:nvSpPr>
        <p:spPr>
          <a:xfrm>
            <a:off x="425450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designrule lens 07"/>
          <p:cNvSpPr/>
          <p:nvPr/>
        </p:nvSpPr>
        <p:spPr>
          <a:xfrm>
            <a:off x="456692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designrule lens 08"/>
          <p:cNvSpPr/>
          <p:nvPr/>
        </p:nvSpPr>
        <p:spPr>
          <a:xfrm>
            <a:off x="487934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designrule lens 09"/>
          <p:cNvSpPr/>
          <p:nvPr/>
        </p:nvSpPr>
        <p:spPr>
          <a:xfrm>
            <a:off x="519176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designrule lens 10"/>
          <p:cNvSpPr/>
          <p:nvPr/>
        </p:nvSpPr>
        <p:spPr>
          <a:xfrm>
            <a:off x="550418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signrule lens 11"/>
          <p:cNvSpPr/>
          <p:nvPr/>
        </p:nvSpPr>
        <p:spPr>
          <a:xfrm>
            <a:off x="581660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designrule lens 12"/>
          <p:cNvSpPr/>
          <p:nvPr/>
        </p:nvSpPr>
        <p:spPr>
          <a:xfrm>
            <a:off x="612902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designrule lens 13"/>
          <p:cNvSpPr/>
          <p:nvPr/>
        </p:nvSpPr>
        <p:spPr>
          <a:xfrm>
            <a:off x="644144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designrule lens 14"/>
          <p:cNvSpPr/>
          <p:nvPr/>
        </p:nvSpPr>
        <p:spPr>
          <a:xfrm>
            <a:off x="675386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designrule lens 15"/>
          <p:cNvSpPr/>
          <p:nvPr/>
        </p:nvSpPr>
        <p:spPr>
          <a:xfrm>
            <a:off x="706628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designrule lens 16"/>
          <p:cNvSpPr/>
          <p:nvPr/>
        </p:nvSpPr>
        <p:spPr>
          <a:xfrm>
            <a:off x="737870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designrule lens 17"/>
          <p:cNvSpPr/>
          <p:nvPr/>
        </p:nvSpPr>
        <p:spPr>
          <a:xfrm>
            <a:off x="769112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designrule lens 18"/>
          <p:cNvSpPr/>
          <p:nvPr/>
        </p:nvSpPr>
        <p:spPr>
          <a:xfrm>
            <a:off x="800354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designrule lens 19"/>
          <p:cNvSpPr/>
          <p:nvPr/>
        </p:nvSpPr>
        <p:spPr>
          <a:xfrm>
            <a:off x="831596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designrule lens 20"/>
          <p:cNvSpPr/>
          <p:nvPr/>
        </p:nvSpPr>
        <p:spPr>
          <a:xfrm>
            <a:off x="8628380" y="3074670"/>
            <a:ext cx="312420" cy="31242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30000">
                <a:srgbClr val="FFFFFF">
                  <a:alpha val="100000"/>
                </a:srgbClr>
              </a:gs>
              <a:gs pos="50000">
                <a:srgbClr val="ECEFF1">
                  <a:alpha val="100000"/>
                </a:srgbClr>
              </a:gs>
              <a:gs pos="100000">
                <a:srgbClr val="ECEFF1">
                  <a:alpha val="100000"/>
                </a:srgbClr>
              </a:gs>
            </a:gsLst>
            <a:lin ang="5400000" scaled="0"/>
          </a:gradFill>
          <a:ln w="5588">
            <a:solidFill>
              <a:srgbClr val="9294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designrule glass"/>
          <p:cNvSpPr/>
          <p:nvPr/>
        </p:nvSpPr>
        <p:spPr>
          <a:xfrm>
            <a:off x="2692400" y="3230880"/>
            <a:ext cx="6248400" cy="447802"/>
          </a:xfrm>
          <a:prstGeom prst="rect">
            <a:avLst/>
          </a:prstGeom>
          <a:gradFill rotWithShape="1">
            <a:gsLst>
              <a:gs pos="0">
                <a:srgbClr val="EEF1F4">
                  <a:alpha val="100000"/>
                </a:srgbClr>
              </a:gs>
              <a:gs pos="100000">
                <a:srgbClr val="D9E0E6">
                  <a:alpha val="100000"/>
                </a:srgbClr>
              </a:gs>
            </a:gsLst>
            <a:lin ang="5400000" scaled="0"/>
          </a:gradFill>
          <a:ln w="6604">
            <a:solidFill>
              <a:srgbClr val="878B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designrule TCO"/>
          <p:cNvSpPr/>
          <p:nvPr/>
        </p:nvSpPr>
        <p:spPr>
          <a:xfrm>
            <a:off x="2692400" y="3678682"/>
            <a:ext cx="6248400" cy="83312"/>
          </a:xfrm>
          <a:prstGeom prst="rect">
            <a:avLst/>
          </a:prstGeom>
          <a:gradFill rotWithShape="1">
            <a:gsLst>
              <a:gs pos="0">
                <a:srgbClr val="D5E8EC">
                  <a:alpha val="100000"/>
                </a:srgbClr>
              </a:gs>
              <a:gs pos="100000">
                <a:srgbClr val="BEDBE2">
                  <a:alpha val="100000"/>
                </a:srgbClr>
              </a:gs>
            </a:gsLst>
            <a:lin ang="5400000" scaled="0"/>
          </a:gradFill>
          <a:ln w="5588">
            <a:solidFill>
              <a:srgbClr val="7688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designrule organic"/>
          <p:cNvSpPr/>
          <p:nvPr/>
        </p:nvSpPr>
        <p:spPr>
          <a:xfrm>
            <a:off x="2692400" y="3761994"/>
            <a:ext cx="6248400" cy="93726"/>
          </a:xfrm>
          <a:prstGeom prst="rect">
            <a:avLst/>
          </a:prstGeom>
          <a:gradFill rotWithShape="1">
            <a:gsLst>
              <a:gs pos="0">
                <a:srgbClr val="EEE2CD">
                  <a:alpha val="100000"/>
                </a:srgbClr>
              </a:gs>
              <a:gs pos="100000">
                <a:srgbClr val="E6D6B8">
                  <a:alpha val="100000"/>
                </a:srgbClr>
              </a:gs>
            </a:gsLst>
            <a:lin ang="5400000" scaled="0"/>
          </a:gradFill>
          <a:ln w="5588">
            <a:solidFill>
              <a:srgbClr val="8F85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designrule metal"/>
          <p:cNvSpPr/>
          <p:nvPr/>
        </p:nvSpPr>
        <p:spPr>
          <a:xfrm>
            <a:off x="2692400" y="3855720"/>
            <a:ext cx="6248400" cy="208280"/>
          </a:xfrm>
          <a:prstGeom prst="rect">
            <a:avLst/>
          </a:prstGeom>
          <a:gradFill rotWithShape="1">
            <a:gsLst>
              <a:gs pos="0">
                <a:srgbClr val="DEDCD9">
                  <a:alpha val="100000"/>
                </a:srgbClr>
              </a:gs>
              <a:gs pos="14000">
                <a:srgbClr val="C4C1BC">
                  <a:alpha val="100000"/>
                </a:srgbClr>
              </a:gs>
              <a:gs pos="40000">
                <a:srgbClr val="B5B2AB">
                  <a:alpha val="100000"/>
                </a:srgbClr>
              </a:gs>
              <a:gs pos="100000">
                <a:srgbClr val="989690">
                  <a:alpha val="100000"/>
                </a:srgbClr>
              </a:gs>
            </a:gsLst>
            <a:lin ang="5400000" scaled="0"/>
          </a:gradFill>
          <a:ln w="5588">
            <a:solidFill>
              <a:srgbClr val="706E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designrule TCO loss 1L"/>
          <p:cNvSpPr/>
          <p:nvPr/>
        </p:nvSpPr>
        <p:spPr>
          <a:xfrm>
            <a:off x="3944944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esignrule TCO loss 1R"/>
          <p:cNvSpPr/>
          <p:nvPr/>
        </p:nvSpPr>
        <p:spPr>
          <a:xfrm>
            <a:off x="4194880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esignrule TCO loss 2L"/>
          <p:cNvSpPr/>
          <p:nvPr/>
        </p:nvSpPr>
        <p:spPr>
          <a:xfrm>
            <a:off x="5194624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esignrule TCO loss 2R"/>
          <p:cNvSpPr/>
          <p:nvPr/>
        </p:nvSpPr>
        <p:spPr>
          <a:xfrm>
            <a:off x="5444560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designrule TCO loss 3L"/>
          <p:cNvSpPr/>
          <p:nvPr/>
        </p:nvSpPr>
        <p:spPr>
          <a:xfrm>
            <a:off x="6444304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esignrule TCO loss 3R"/>
          <p:cNvSpPr/>
          <p:nvPr/>
        </p:nvSpPr>
        <p:spPr>
          <a:xfrm>
            <a:off x="6694240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esignrule TCO loss 4L"/>
          <p:cNvSpPr/>
          <p:nvPr/>
        </p:nvSpPr>
        <p:spPr>
          <a:xfrm>
            <a:off x="7693984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esignrule TCO loss 4R"/>
          <p:cNvSpPr/>
          <p:nvPr/>
        </p:nvSpPr>
        <p:spPr>
          <a:xfrm>
            <a:off x="7943920" y="3714558"/>
            <a:ext cx="56756" cy="11560"/>
          </a:xfrm>
          <a:custGeom>
            <a:avLst/>
            <a:gdLst/>
            <a:ahLst/>
            <a:cxnLst/>
            <a:rect l="l" t="t" r="r" b="b"/>
            <a:pathLst>
              <a:path w="56756" h="11560">
                <a:moveTo>
                  <a:pt x="0" y="5780"/>
                </a:moveTo>
                <a:lnTo>
                  <a:pt x="1182" y="7276"/>
                </a:lnTo>
                <a:lnTo>
                  <a:pt x="2365" y="8670"/>
                </a:lnTo>
                <a:lnTo>
                  <a:pt x="3547" y="9867"/>
                </a:lnTo>
                <a:lnTo>
                  <a:pt x="4730" y="10785"/>
                </a:lnTo>
                <a:lnTo>
                  <a:pt x="5912" y="11363"/>
                </a:lnTo>
                <a:lnTo>
                  <a:pt x="7094" y="11560"/>
                </a:lnTo>
                <a:lnTo>
                  <a:pt x="8277" y="11363"/>
                </a:lnTo>
                <a:lnTo>
                  <a:pt x="9459" y="10785"/>
                </a:lnTo>
                <a:lnTo>
                  <a:pt x="10642" y="9867"/>
                </a:lnTo>
                <a:lnTo>
                  <a:pt x="11824" y="8670"/>
                </a:lnTo>
                <a:lnTo>
                  <a:pt x="13007" y="7276"/>
                </a:lnTo>
                <a:lnTo>
                  <a:pt x="14189" y="5780"/>
                </a:lnTo>
                <a:lnTo>
                  <a:pt x="15371" y="4284"/>
                </a:lnTo>
                <a:lnTo>
                  <a:pt x="16554" y="2890"/>
                </a:lnTo>
                <a:lnTo>
                  <a:pt x="17736" y="1693"/>
                </a:lnTo>
                <a:lnTo>
                  <a:pt x="18919" y="775"/>
                </a:lnTo>
                <a:lnTo>
                  <a:pt x="20101" y="197"/>
                </a:lnTo>
                <a:lnTo>
                  <a:pt x="21283" y="0"/>
                </a:lnTo>
                <a:lnTo>
                  <a:pt x="22466" y="197"/>
                </a:lnTo>
                <a:lnTo>
                  <a:pt x="23648" y="775"/>
                </a:lnTo>
                <a:lnTo>
                  <a:pt x="24831" y="1693"/>
                </a:lnTo>
                <a:lnTo>
                  <a:pt x="26013" y="2890"/>
                </a:lnTo>
                <a:lnTo>
                  <a:pt x="27196" y="4284"/>
                </a:lnTo>
                <a:lnTo>
                  <a:pt x="28378" y="5780"/>
                </a:lnTo>
                <a:lnTo>
                  <a:pt x="29560" y="7276"/>
                </a:lnTo>
                <a:lnTo>
                  <a:pt x="30743" y="8670"/>
                </a:lnTo>
                <a:lnTo>
                  <a:pt x="31925" y="9867"/>
                </a:lnTo>
                <a:lnTo>
                  <a:pt x="33108" y="10785"/>
                </a:lnTo>
                <a:lnTo>
                  <a:pt x="34290" y="11363"/>
                </a:lnTo>
                <a:lnTo>
                  <a:pt x="35473" y="11560"/>
                </a:lnTo>
                <a:lnTo>
                  <a:pt x="36655" y="11363"/>
                </a:lnTo>
                <a:lnTo>
                  <a:pt x="37837" y="10785"/>
                </a:lnTo>
                <a:lnTo>
                  <a:pt x="39020" y="9867"/>
                </a:lnTo>
                <a:lnTo>
                  <a:pt x="40202" y="8670"/>
                </a:lnTo>
                <a:lnTo>
                  <a:pt x="41385" y="7276"/>
                </a:lnTo>
                <a:lnTo>
                  <a:pt x="42567" y="5780"/>
                </a:lnTo>
                <a:lnTo>
                  <a:pt x="43749" y="4284"/>
                </a:lnTo>
                <a:lnTo>
                  <a:pt x="44932" y="2890"/>
                </a:lnTo>
                <a:lnTo>
                  <a:pt x="46114" y="1693"/>
                </a:lnTo>
                <a:lnTo>
                  <a:pt x="47297" y="775"/>
                </a:lnTo>
                <a:lnTo>
                  <a:pt x="48479" y="197"/>
                </a:lnTo>
                <a:lnTo>
                  <a:pt x="49662" y="0"/>
                </a:lnTo>
                <a:lnTo>
                  <a:pt x="50844" y="197"/>
                </a:lnTo>
                <a:lnTo>
                  <a:pt x="52026" y="775"/>
                </a:lnTo>
                <a:lnTo>
                  <a:pt x="53209" y="1693"/>
                </a:lnTo>
                <a:lnTo>
                  <a:pt x="54391" y="2890"/>
                </a:lnTo>
                <a:lnTo>
                  <a:pt x="55574" y="4284"/>
                </a:lnTo>
                <a:lnTo>
                  <a:pt x="56756" y="5780"/>
                </a:lnTo>
              </a:path>
            </a:pathLst>
          </a:custGeom>
          <a:noFill/>
          <a:ln w="4921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esignrule escape fan 1"/>
          <p:cNvSpPr/>
          <p:nvPr/>
        </p:nvSpPr>
        <p:spPr>
          <a:xfrm>
            <a:off x="2996545" y="26685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50000"/>
                </a:srgbClr>
              </a:gs>
              <a:gs pos="35000">
                <a:srgbClr val="1FC79B">
                  <a:alpha val="27500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designrule lit lens 1"/>
          <p:cNvSpPr/>
          <p:nvPr/>
        </p:nvSpPr>
        <p:spPr>
          <a:xfrm>
            <a:off x="3293808" y="30258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55000"/>
                </a:srgbClr>
              </a:gs>
              <a:gs pos="45000">
                <a:srgbClr val="1FC79B">
                  <a:alpha val="24750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designrule escape fan 2"/>
          <p:cNvSpPr/>
          <p:nvPr/>
        </p:nvSpPr>
        <p:spPr>
          <a:xfrm>
            <a:off x="4246225" y="26685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36689"/>
                </a:srgbClr>
              </a:gs>
              <a:gs pos="35000">
                <a:srgbClr val="1FC79B">
                  <a:alpha val="20179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designrule lit lens 2"/>
          <p:cNvSpPr/>
          <p:nvPr/>
        </p:nvSpPr>
        <p:spPr>
          <a:xfrm>
            <a:off x="4543488" y="30258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40358"/>
                </a:srgbClr>
              </a:gs>
              <a:gs pos="45000">
                <a:srgbClr val="1FC79B">
                  <a:alpha val="18161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designrule escape fan 3"/>
          <p:cNvSpPr/>
          <p:nvPr/>
        </p:nvSpPr>
        <p:spPr>
          <a:xfrm>
            <a:off x="5495905" y="26685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26922"/>
                </a:srgbClr>
              </a:gs>
              <a:gs pos="35000">
                <a:srgbClr val="1FC79B">
                  <a:alpha val="14807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designrule lit lens 3"/>
          <p:cNvSpPr/>
          <p:nvPr/>
        </p:nvSpPr>
        <p:spPr>
          <a:xfrm>
            <a:off x="5793168" y="30258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29615"/>
                </a:srgbClr>
              </a:gs>
              <a:gs pos="45000">
                <a:srgbClr val="1FC79B">
                  <a:alpha val="13326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designrule escape fan 4"/>
          <p:cNvSpPr/>
          <p:nvPr/>
        </p:nvSpPr>
        <p:spPr>
          <a:xfrm>
            <a:off x="6745585" y="26685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19755"/>
                </a:srgbClr>
              </a:gs>
              <a:gs pos="35000">
                <a:srgbClr val="1FC79B">
                  <a:alpha val="10865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designrule lit lens 4"/>
          <p:cNvSpPr/>
          <p:nvPr/>
        </p:nvSpPr>
        <p:spPr>
          <a:xfrm>
            <a:off x="7042848" y="30258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21731"/>
                </a:srgbClr>
              </a:gs>
              <a:gs pos="45000">
                <a:srgbClr val="1FC79B">
                  <a:alpha val="9779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designrule escape fan 5"/>
          <p:cNvSpPr/>
          <p:nvPr/>
        </p:nvSpPr>
        <p:spPr>
          <a:xfrm>
            <a:off x="7995265" y="2668524"/>
            <a:ext cx="953810" cy="562356"/>
          </a:xfrm>
          <a:custGeom>
            <a:avLst/>
            <a:gdLst/>
            <a:ahLst/>
            <a:cxnLst/>
            <a:rect l="l" t="t" r="r" b="b"/>
            <a:pathLst>
              <a:path w="953810" h="562356">
                <a:moveTo>
                  <a:pt x="476905" y="562356"/>
                </a:moveTo>
                <a:lnTo>
                  <a:pt x="0" y="264353"/>
                </a:lnTo>
                <a:lnTo>
                  <a:pt x="26805" y="225230"/>
                </a:lnTo>
                <a:lnTo>
                  <a:pt x="56811" y="188504"/>
                </a:lnTo>
                <a:lnTo>
                  <a:pt x="89805" y="154437"/>
                </a:lnTo>
                <a:lnTo>
                  <a:pt x="125551" y="123272"/>
                </a:lnTo>
                <a:lnTo>
                  <a:pt x="163797" y="95229"/>
                </a:lnTo>
                <a:lnTo>
                  <a:pt x="204269" y="70508"/>
                </a:lnTo>
                <a:lnTo>
                  <a:pt x="246681" y="49286"/>
                </a:lnTo>
                <a:lnTo>
                  <a:pt x="290730" y="31712"/>
                </a:lnTo>
                <a:lnTo>
                  <a:pt x="336102" y="17912"/>
                </a:lnTo>
                <a:lnTo>
                  <a:pt x="382476" y="7985"/>
                </a:lnTo>
                <a:lnTo>
                  <a:pt x="429522" y="2000"/>
                </a:lnTo>
                <a:lnTo>
                  <a:pt x="476905" y="0"/>
                </a:lnTo>
                <a:lnTo>
                  <a:pt x="524288" y="2000"/>
                </a:lnTo>
                <a:lnTo>
                  <a:pt x="571334" y="7985"/>
                </a:lnTo>
                <a:lnTo>
                  <a:pt x="617708" y="17912"/>
                </a:lnTo>
                <a:lnTo>
                  <a:pt x="663080" y="31712"/>
                </a:lnTo>
                <a:lnTo>
                  <a:pt x="707129" y="49286"/>
                </a:lnTo>
                <a:lnTo>
                  <a:pt x="749541" y="70508"/>
                </a:lnTo>
                <a:lnTo>
                  <a:pt x="790013" y="95229"/>
                </a:lnTo>
                <a:lnTo>
                  <a:pt x="828259" y="123272"/>
                </a:lnTo>
                <a:lnTo>
                  <a:pt x="864005" y="154437"/>
                </a:lnTo>
                <a:lnTo>
                  <a:pt x="896999" y="188504"/>
                </a:lnTo>
                <a:lnTo>
                  <a:pt x="927005" y="225230"/>
                </a:lnTo>
                <a:lnTo>
                  <a:pt x="953810" y="264353"/>
                </a:lnTo>
                <a:close/>
              </a:path>
            </a:pathLst>
          </a:custGeom>
          <a:gradFill rotWithShape="1">
            <a:gsLst>
              <a:gs pos="0">
                <a:srgbClr val="1FC79B">
                  <a:alpha val="14496"/>
                </a:srgbClr>
              </a:gs>
              <a:gs pos="35000">
                <a:srgbClr val="1FC79B">
                  <a:alpha val="7973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100000" r="50000" b="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designrule lit lens 5"/>
          <p:cNvSpPr/>
          <p:nvPr/>
        </p:nvSpPr>
        <p:spPr>
          <a:xfrm>
            <a:off x="8292528" y="3025854"/>
            <a:ext cx="359283" cy="269462"/>
          </a:xfrm>
          <a:prstGeom prst="ellipse">
            <a:avLst/>
          </a:prstGeom>
          <a:gradFill rotWithShape="1">
            <a:gsLst>
              <a:gs pos="0">
                <a:srgbClr val="1FC79B">
                  <a:alpha val="15946"/>
                </a:srgbClr>
              </a:gs>
              <a:gs pos="45000">
                <a:srgbClr val="1FC79B">
                  <a:alpha val="7175"/>
                </a:srgbClr>
              </a:gs>
              <a:gs pos="100000">
                <a:srgbClr val="1FC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designrule ray halo 1"/>
          <p:cNvCxnSpPr/>
          <p:nvPr/>
        </p:nvCxnSpPr>
        <p:spPr>
          <a:xfrm flipV="1">
            <a:off x="2932443" y="3230880"/>
            <a:ext cx="541007" cy="541007"/>
          </a:xfrm>
          <a:prstGeom prst="line">
            <a:avLst/>
          </a:prstGeom>
          <a:ln w="158293">
            <a:solidFill>
              <a:srgbClr val="1FC79B">
                <a:alpha val="2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designrule ray halo 2"/>
          <p:cNvCxnSpPr/>
          <p:nvPr/>
        </p:nvCxnSpPr>
        <p:spPr>
          <a:xfrm>
            <a:off x="3521354" y="3278784"/>
            <a:ext cx="543611" cy="543611"/>
          </a:xfrm>
          <a:prstGeom prst="line">
            <a:avLst/>
          </a:prstGeom>
          <a:ln w="127797">
            <a:solidFill>
              <a:srgbClr val="1FC79B">
                <a:alpha val="16733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designrule ray halo 3"/>
          <p:cNvCxnSpPr/>
          <p:nvPr/>
        </p:nvCxnSpPr>
        <p:spPr>
          <a:xfrm flipV="1">
            <a:off x="4131615" y="3230880"/>
            <a:ext cx="591515" cy="591515"/>
          </a:xfrm>
          <a:prstGeom prst="line">
            <a:avLst/>
          </a:prstGeom>
          <a:ln w="125500">
            <a:solidFill>
              <a:srgbClr val="1FC79B">
                <a:alpha val="16482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designrule ray halo 4"/>
          <p:cNvCxnSpPr/>
          <p:nvPr/>
        </p:nvCxnSpPr>
        <p:spPr>
          <a:xfrm>
            <a:off x="4771034" y="3278784"/>
            <a:ext cx="543611" cy="543611"/>
          </a:xfrm>
          <a:prstGeom prst="line">
            <a:avLst/>
          </a:prstGeom>
          <a:ln w="101322">
            <a:solidFill>
              <a:srgbClr val="1FC79B">
                <a:alpha val="13789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designrule ray halo 5"/>
          <p:cNvCxnSpPr/>
          <p:nvPr/>
        </p:nvCxnSpPr>
        <p:spPr>
          <a:xfrm flipV="1">
            <a:off x="5381295" y="3230880"/>
            <a:ext cx="591515" cy="591515"/>
          </a:xfrm>
          <a:prstGeom prst="line">
            <a:avLst/>
          </a:prstGeom>
          <a:ln w="99501">
            <a:solidFill>
              <a:srgbClr val="1FC79B">
                <a:alpha val="13583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designrule ray halo 6"/>
          <p:cNvCxnSpPr/>
          <p:nvPr/>
        </p:nvCxnSpPr>
        <p:spPr>
          <a:xfrm>
            <a:off x="6020714" y="3278784"/>
            <a:ext cx="543611" cy="543611"/>
          </a:xfrm>
          <a:prstGeom prst="line">
            <a:avLst/>
          </a:prstGeom>
          <a:ln w="80331">
            <a:solidFill>
              <a:srgbClr val="1FC79B">
                <a:alpha val="11364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designrule ray halo 7"/>
          <p:cNvCxnSpPr/>
          <p:nvPr/>
        </p:nvCxnSpPr>
        <p:spPr>
          <a:xfrm flipV="1">
            <a:off x="6630975" y="3230880"/>
            <a:ext cx="591515" cy="591515"/>
          </a:xfrm>
          <a:prstGeom prst="line">
            <a:avLst/>
          </a:prstGeom>
          <a:ln w="78887">
            <a:solidFill>
              <a:srgbClr val="1FC79B">
                <a:alpha val="11194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designrule ray halo 8"/>
          <p:cNvCxnSpPr/>
          <p:nvPr/>
        </p:nvCxnSpPr>
        <p:spPr>
          <a:xfrm>
            <a:off x="7270394" y="3278784"/>
            <a:ext cx="543611" cy="543611"/>
          </a:xfrm>
          <a:prstGeom prst="line">
            <a:avLst/>
          </a:prstGeom>
          <a:ln w="63689">
            <a:solidFill>
              <a:srgbClr val="1FC79B">
                <a:alpha val="9365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designrule ray halo 9"/>
          <p:cNvCxnSpPr/>
          <p:nvPr/>
        </p:nvCxnSpPr>
        <p:spPr>
          <a:xfrm flipV="1">
            <a:off x="7880655" y="3230880"/>
            <a:ext cx="591515" cy="591515"/>
          </a:xfrm>
          <a:prstGeom prst="line">
            <a:avLst/>
          </a:prstGeom>
          <a:ln w="62545">
            <a:solidFill>
              <a:srgbClr val="1FC79B">
                <a:alpha val="9225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designrule emitter glow"/>
          <p:cNvSpPr/>
          <p:nvPr/>
        </p:nvSpPr>
        <p:spPr>
          <a:xfrm>
            <a:off x="2739263" y="3683889"/>
            <a:ext cx="312420" cy="249936"/>
          </a:xfrm>
          <a:prstGeom prst="ellipse">
            <a:avLst/>
          </a:prstGeom>
          <a:gradFill rotWithShape="1">
            <a:gsLst>
              <a:gs pos="0">
                <a:srgbClr val="E8901F">
                  <a:alpha val="75000"/>
                </a:srgbClr>
              </a:gs>
              <a:gs pos="45000">
                <a:srgbClr val="E8901F">
                  <a:alpha val="33750"/>
                </a:srgbClr>
              </a:gs>
              <a:gs pos="100000">
                <a:srgbClr val="E8901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designrule ray emit"/>
          <p:cNvCxnSpPr/>
          <p:nvPr/>
        </p:nvCxnSpPr>
        <p:spPr>
          <a:xfrm flipV="1">
            <a:off x="2932443" y="3230880"/>
            <a:ext cx="541007" cy="541007"/>
          </a:xfrm>
          <a:prstGeom prst="line">
            <a:avLst/>
          </a:prstGeom>
          <a:ln w="4946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designrule ray down 1"/>
          <p:cNvCxnSpPr/>
          <p:nvPr/>
        </p:nvCxnSpPr>
        <p:spPr>
          <a:xfrm>
            <a:off x="3521354" y="3278784"/>
            <a:ext cx="543611" cy="543611"/>
          </a:xfrm>
          <a:prstGeom prst="line">
            <a:avLst/>
          </a:prstGeom>
          <a:ln w="3785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designrule ray up 1"/>
          <p:cNvCxnSpPr/>
          <p:nvPr/>
        </p:nvCxnSpPr>
        <p:spPr>
          <a:xfrm flipV="1">
            <a:off x="4131615" y="3230880"/>
            <a:ext cx="591515" cy="591515"/>
          </a:xfrm>
          <a:prstGeom prst="line">
            <a:avLst/>
          </a:prstGeom>
          <a:ln w="370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designrule ray down 2"/>
          <p:cNvCxnSpPr/>
          <p:nvPr/>
        </p:nvCxnSpPr>
        <p:spPr>
          <a:xfrm>
            <a:off x="4771034" y="3278784"/>
            <a:ext cx="543611" cy="543611"/>
          </a:xfrm>
          <a:prstGeom prst="line">
            <a:avLst/>
          </a:prstGeom>
          <a:ln w="28321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designrule ray up 2"/>
          <p:cNvCxnSpPr/>
          <p:nvPr/>
        </p:nvCxnSpPr>
        <p:spPr>
          <a:xfrm flipV="1">
            <a:off x="5381295" y="3230880"/>
            <a:ext cx="591515" cy="591515"/>
          </a:xfrm>
          <a:prstGeom prst="line">
            <a:avLst/>
          </a:prstGeom>
          <a:ln w="2768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designrule ray down 3"/>
          <p:cNvCxnSpPr/>
          <p:nvPr/>
        </p:nvCxnSpPr>
        <p:spPr>
          <a:xfrm>
            <a:off x="6020714" y="3278784"/>
            <a:ext cx="543611" cy="543611"/>
          </a:xfrm>
          <a:prstGeom prst="line">
            <a:avLst/>
          </a:prstGeom>
          <a:ln w="2118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designrule ray up 3"/>
          <p:cNvCxnSpPr/>
          <p:nvPr/>
        </p:nvCxnSpPr>
        <p:spPr>
          <a:xfrm flipV="1">
            <a:off x="6630975" y="3230880"/>
            <a:ext cx="591515" cy="591515"/>
          </a:xfrm>
          <a:prstGeom prst="line">
            <a:avLst/>
          </a:prstGeom>
          <a:ln w="2071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designrule ray down 4"/>
          <p:cNvCxnSpPr/>
          <p:nvPr/>
        </p:nvCxnSpPr>
        <p:spPr>
          <a:xfrm>
            <a:off x="7270394" y="3278784"/>
            <a:ext cx="543611" cy="543611"/>
          </a:xfrm>
          <a:prstGeom prst="line">
            <a:avLst/>
          </a:prstGeom>
          <a:ln w="15851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designrule ray up 4"/>
          <p:cNvCxnSpPr/>
          <p:nvPr/>
        </p:nvCxnSpPr>
        <p:spPr>
          <a:xfrm flipV="1">
            <a:off x="7880655" y="3230880"/>
            <a:ext cx="591515" cy="591515"/>
          </a:xfrm>
          <a:prstGeom prst="line">
            <a:avLst/>
          </a:prstGeom>
          <a:ln w="1549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designrule ray continues"/>
          <p:cNvCxnSpPr/>
          <p:nvPr/>
        </p:nvCxnSpPr>
        <p:spPr>
          <a:xfrm>
            <a:off x="8519033" y="3277743"/>
            <a:ext cx="421767" cy="421767"/>
          </a:xfrm>
          <a:prstGeom prst="line">
            <a:avLst/>
          </a:prstGeom>
          <a:ln w="11859">
            <a:solidFill>
              <a:srgbClr val="00A087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designrule escaping 1-1"/>
          <p:cNvCxnSpPr/>
          <p:nvPr/>
        </p:nvCxnSpPr>
        <p:spPr>
          <a:xfrm flipH="1" flipV="1">
            <a:off x="3151615" y="2838761"/>
            <a:ext cx="243730" cy="256837"/>
          </a:xfrm>
          <a:prstGeom prst="line">
            <a:avLst/>
          </a:prstGeom>
          <a:ln w="272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designrule escaping 1-2"/>
          <p:cNvCxnSpPr/>
          <p:nvPr/>
        </p:nvCxnSpPr>
        <p:spPr>
          <a:xfrm flipH="1" flipV="1">
            <a:off x="3407923" y="2667200"/>
            <a:ext cx="51912" cy="408064"/>
          </a:xfrm>
          <a:prstGeom prst="line">
            <a:avLst/>
          </a:prstGeom>
          <a:ln w="272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designrule escaping 1-3"/>
          <p:cNvCxnSpPr/>
          <p:nvPr/>
        </p:nvCxnSpPr>
        <p:spPr>
          <a:xfrm flipV="1">
            <a:off x="3531967" y="2776603"/>
            <a:ext cx="192611" cy="309442"/>
          </a:xfrm>
          <a:prstGeom prst="line">
            <a:avLst/>
          </a:prstGeom>
          <a:ln w="272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designrule escaping 2-1"/>
          <p:cNvCxnSpPr/>
          <p:nvPr/>
        </p:nvCxnSpPr>
        <p:spPr>
          <a:xfrm flipH="1" flipV="1">
            <a:off x="4401295" y="2838761"/>
            <a:ext cx="243730" cy="256837"/>
          </a:xfrm>
          <a:prstGeom prst="line">
            <a:avLst/>
          </a:prstGeom>
          <a:ln w="2035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designrule escaping 2-2"/>
          <p:cNvCxnSpPr/>
          <p:nvPr/>
        </p:nvCxnSpPr>
        <p:spPr>
          <a:xfrm flipH="1" flipV="1">
            <a:off x="4657603" y="2667200"/>
            <a:ext cx="51912" cy="408064"/>
          </a:xfrm>
          <a:prstGeom prst="line">
            <a:avLst/>
          </a:prstGeom>
          <a:ln w="2035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designrule escaping 2-3"/>
          <p:cNvCxnSpPr/>
          <p:nvPr/>
        </p:nvCxnSpPr>
        <p:spPr>
          <a:xfrm flipV="1">
            <a:off x="4781647" y="2776603"/>
            <a:ext cx="192611" cy="309442"/>
          </a:xfrm>
          <a:prstGeom prst="line">
            <a:avLst/>
          </a:prstGeom>
          <a:ln w="2035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designrule escaping 3-1"/>
          <p:cNvCxnSpPr/>
          <p:nvPr/>
        </p:nvCxnSpPr>
        <p:spPr>
          <a:xfrm flipH="1" flipV="1">
            <a:off x="5650975" y="2838761"/>
            <a:ext cx="243730" cy="256837"/>
          </a:xfrm>
          <a:prstGeom prst="line">
            <a:avLst/>
          </a:prstGeom>
          <a:ln w="1522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designrule escaping 3-2"/>
          <p:cNvCxnSpPr/>
          <p:nvPr/>
        </p:nvCxnSpPr>
        <p:spPr>
          <a:xfrm flipH="1" flipV="1">
            <a:off x="5907283" y="2667200"/>
            <a:ext cx="51912" cy="408064"/>
          </a:xfrm>
          <a:prstGeom prst="line">
            <a:avLst/>
          </a:prstGeom>
          <a:ln w="1522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designrule escaping 3-3"/>
          <p:cNvCxnSpPr/>
          <p:nvPr/>
        </p:nvCxnSpPr>
        <p:spPr>
          <a:xfrm flipV="1">
            <a:off x="6031327" y="2776603"/>
            <a:ext cx="192611" cy="309442"/>
          </a:xfrm>
          <a:prstGeom prst="line">
            <a:avLst/>
          </a:prstGeom>
          <a:ln w="1522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designrule escaping 4-1"/>
          <p:cNvCxnSpPr/>
          <p:nvPr/>
        </p:nvCxnSpPr>
        <p:spPr>
          <a:xfrm flipH="1" flipV="1">
            <a:off x="6900655" y="2838761"/>
            <a:ext cx="243730" cy="256837"/>
          </a:xfrm>
          <a:prstGeom prst="line">
            <a:avLst/>
          </a:prstGeom>
          <a:ln w="11392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designrule escaping 4-2"/>
          <p:cNvCxnSpPr/>
          <p:nvPr/>
        </p:nvCxnSpPr>
        <p:spPr>
          <a:xfrm flipH="1" flipV="1">
            <a:off x="7156963" y="2667200"/>
            <a:ext cx="51912" cy="408064"/>
          </a:xfrm>
          <a:prstGeom prst="line">
            <a:avLst/>
          </a:prstGeom>
          <a:ln w="11392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designrule escaping 4-3"/>
          <p:cNvCxnSpPr/>
          <p:nvPr/>
        </p:nvCxnSpPr>
        <p:spPr>
          <a:xfrm flipV="1">
            <a:off x="7281007" y="2776603"/>
            <a:ext cx="192611" cy="309442"/>
          </a:xfrm>
          <a:prstGeom prst="line">
            <a:avLst/>
          </a:prstGeom>
          <a:ln w="11392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designrule escaping 5-1"/>
          <p:cNvCxnSpPr/>
          <p:nvPr/>
        </p:nvCxnSpPr>
        <p:spPr>
          <a:xfrm flipH="1" flipV="1">
            <a:off x="8150335" y="2838761"/>
            <a:ext cx="243730" cy="256837"/>
          </a:xfrm>
          <a:prstGeom prst="line">
            <a:avLst/>
          </a:prstGeom>
          <a:ln w="852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designrule escaping 5-2"/>
          <p:cNvCxnSpPr/>
          <p:nvPr/>
        </p:nvCxnSpPr>
        <p:spPr>
          <a:xfrm flipH="1" flipV="1">
            <a:off x="8406643" y="2667200"/>
            <a:ext cx="51912" cy="408064"/>
          </a:xfrm>
          <a:prstGeom prst="line">
            <a:avLst/>
          </a:prstGeom>
          <a:ln w="852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designrule escaping 5-3"/>
          <p:cNvCxnSpPr/>
          <p:nvPr/>
        </p:nvCxnSpPr>
        <p:spPr>
          <a:xfrm flipV="1">
            <a:off x="8530687" y="2776603"/>
            <a:ext cx="192611" cy="309442"/>
          </a:xfrm>
          <a:prstGeom prst="line">
            <a:avLst/>
          </a:prstGeom>
          <a:ln w="852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designrule heat 1"/>
          <p:cNvSpPr/>
          <p:nvPr/>
        </p:nvSpPr>
        <p:spPr>
          <a:xfrm>
            <a:off x="3994021" y="3798372"/>
            <a:ext cx="208539" cy="114696"/>
          </a:xfrm>
          <a:prstGeom prst="ellipse">
            <a:avLst/>
          </a:prstGeom>
          <a:gradFill rotWithShape="1">
            <a:gsLst>
              <a:gs pos="0">
                <a:srgbClr val="E64B35">
                  <a:alpha val="5572"/>
                </a:srgbClr>
              </a:gs>
              <a:gs pos="45000">
                <a:srgbClr val="E64B35">
                  <a:alpha val="2507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designrule heat 2"/>
          <p:cNvSpPr/>
          <p:nvPr/>
        </p:nvSpPr>
        <p:spPr>
          <a:xfrm>
            <a:off x="5251144" y="3802465"/>
            <a:ext cx="193653" cy="106509"/>
          </a:xfrm>
          <a:prstGeom prst="ellipse">
            <a:avLst/>
          </a:prstGeom>
          <a:gradFill rotWithShape="1">
            <a:gsLst>
              <a:gs pos="0">
                <a:srgbClr val="E64B35">
                  <a:alpha val="3784"/>
                </a:srgbClr>
              </a:gs>
              <a:gs pos="45000">
                <a:srgbClr val="E64B35">
                  <a:alpha val="1702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designrule heat 3"/>
          <p:cNvSpPr/>
          <p:nvPr/>
        </p:nvSpPr>
        <p:spPr>
          <a:xfrm>
            <a:off x="6506501" y="3805588"/>
            <a:ext cx="182299" cy="100264"/>
          </a:xfrm>
          <a:prstGeom prst="ellipse">
            <a:avLst/>
          </a:prstGeom>
          <a:gradFill rotWithShape="1">
            <a:gsLst>
              <a:gs pos="0">
                <a:srgbClr val="E64B35">
                  <a:alpha val="2570"/>
                </a:srgbClr>
              </a:gs>
              <a:gs pos="45000">
                <a:srgbClr val="E64B35">
                  <a:alpha val="1156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designrule heat 4"/>
          <p:cNvSpPr/>
          <p:nvPr/>
        </p:nvSpPr>
        <p:spPr>
          <a:xfrm>
            <a:off x="7760511" y="3807970"/>
            <a:ext cx="173638" cy="95501"/>
          </a:xfrm>
          <a:prstGeom prst="ellipse">
            <a:avLst/>
          </a:prstGeom>
          <a:gradFill rotWithShape="1">
            <a:gsLst>
              <a:gs pos="0">
                <a:srgbClr val="E64B35">
                  <a:alpha val="1745"/>
                </a:srgbClr>
              </a:gs>
              <a:gs pos="45000">
                <a:srgbClr val="E64B35">
                  <a:alpha val="785"/>
                </a:srgbClr>
              </a:gs>
              <a:gs pos="100000">
                <a:srgbClr val="E64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designrule ohmic loss 1L"/>
          <p:cNvSpPr/>
          <p:nvPr/>
        </p:nvSpPr>
        <p:spPr>
          <a:xfrm>
            <a:off x="4009274" y="3813146"/>
            <a:ext cx="66577" cy="22761"/>
          </a:xfrm>
          <a:custGeom>
            <a:avLst/>
            <a:gdLst/>
            <a:ahLst/>
            <a:cxnLst/>
            <a:rect l="l" t="t" r="r" b="b"/>
            <a:pathLst>
              <a:path w="66577" h="22761">
                <a:moveTo>
                  <a:pt x="66577" y="11332"/>
                </a:moveTo>
                <a:lnTo>
                  <a:pt x="65190" y="15006"/>
                </a:lnTo>
                <a:lnTo>
                  <a:pt x="63803" y="18290"/>
                </a:lnTo>
                <a:lnTo>
                  <a:pt x="62416" y="20835"/>
                </a:lnTo>
                <a:lnTo>
                  <a:pt x="61029" y="22372"/>
                </a:lnTo>
                <a:lnTo>
                  <a:pt x="59642" y="22737"/>
                </a:lnTo>
                <a:lnTo>
                  <a:pt x="58255" y="21891"/>
                </a:lnTo>
                <a:lnTo>
                  <a:pt x="56868" y="19925"/>
                </a:lnTo>
                <a:lnTo>
                  <a:pt x="55481" y="17047"/>
                </a:lnTo>
                <a:lnTo>
                  <a:pt x="54094" y="13562"/>
                </a:lnTo>
                <a:lnTo>
                  <a:pt x="52707" y="9840"/>
                </a:lnTo>
                <a:lnTo>
                  <a:pt x="51320" y="6277"/>
                </a:lnTo>
                <a:lnTo>
                  <a:pt x="49933" y="3250"/>
                </a:lnTo>
                <a:lnTo>
                  <a:pt x="48546" y="1081"/>
                </a:lnTo>
                <a:lnTo>
                  <a:pt x="47159" y="0"/>
                </a:lnTo>
                <a:lnTo>
                  <a:pt x="45772" y="122"/>
                </a:lnTo>
                <a:lnTo>
                  <a:pt x="44385" y="1434"/>
                </a:lnTo>
                <a:lnTo>
                  <a:pt x="42998" y="3796"/>
                </a:lnTo>
                <a:lnTo>
                  <a:pt x="41611" y="6958"/>
                </a:lnTo>
                <a:lnTo>
                  <a:pt x="40224" y="10584"/>
                </a:lnTo>
                <a:lnTo>
                  <a:pt x="38837" y="14290"/>
                </a:lnTo>
                <a:lnTo>
                  <a:pt x="37450" y="17682"/>
                </a:lnTo>
                <a:lnTo>
                  <a:pt x="36063" y="20400"/>
                </a:lnTo>
                <a:lnTo>
                  <a:pt x="34676" y="22155"/>
                </a:lnTo>
                <a:lnTo>
                  <a:pt x="33289" y="22761"/>
                </a:lnTo>
                <a:lnTo>
                  <a:pt x="31902" y="22155"/>
                </a:lnTo>
                <a:lnTo>
                  <a:pt x="30515" y="20400"/>
                </a:lnTo>
                <a:lnTo>
                  <a:pt x="29128" y="17682"/>
                </a:lnTo>
                <a:lnTo>
                  <a:pt x="27741" y="14290"/>
                </a:lnTo>
                <a:lnTo>
                  <a:pt x="26354" y="10584"/>
                </a:lnTo>
                <a:lnTo>
                  <a:pt x="24967" y="6958"/>
                </a:lnTo>
                <a:lnTo>
                  <a:pt x="23580" y="3796"/>
                </a:lnTo>
                <a:lnTo>
                  <a:pt x="22193" y="1434"/>
                </a:lnTo>
                <a:lnTo>
                  <a:pt x="20806" y="122"/>
                </a:lnTo>
                <a:lnTo>
                  <a:pt x="19419" y="0"/>
                </a:lnTo>
                <a:lnTo>
                  <a:pt x="18032" y="1081"/>
                </a:lnTo>
                <a:lnTo>
                  <a:pt x="16645" y="3250"/>
                </a:lnTo>
                <a:lnTo>
                  <a:pt x="15258" y="6277"/>
                </a:lnTo>
                <a:lnTo>
                  <a:pt x="13871" y="9840"/>
                </a:lnTo>
                <a:lnTo>
                  <a:pt x="12484" y="13562"/>
                </a:lnTo>
                <a:lnTo>
                  <a:pt x="11097" y="17047"/>
                </a:lnTo>
                <a:lnTo>
                  <a:pt x="9710" y="19925"/>
                </a:lnTo>
                <a:lnTo>
                  <a:pt x="8323" y="21891"/>
                </a:lnTo>
                <a:lnTo>
                  <a:pt x="6936" y="22737"/>
                </a:lnTo>
                <a:lnTo>
                  <a:pt x="5549" y="22372"/>
                </a:lnTo>
                <a:lnTo>
                  <a:pt x="4161" y="20835"/>
                </a:lnTo>
                <a:lnTo>
                  <a:pt x="2774" y="18290"/>
                </a:lnTo>
                <a:lnTo>
                  <a:pt x="1387" y="15006"/>
                </a:lnTo>
                <a:lnTo>
                  <a:pt x="0" y="11332"/>
                </a:lnTo>
              </a:path>
            </a:pathLst>
          </a:custGeom>
          <a:noFill/>
          <a:ln w="8653">
            <a:solidFill>
              <a:srgbClr val="E64B35">
                <a:alpha val="53869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esignrule ohmic loss 1R"/>
          <p:cNvSpPr/>
          <p:nvPr/>
        </p:nvSpPr>
        <p:spPr>
          <a:xfrm>
            <a:off x="4120729" y="3813146"/>
            <a:ext cx="66577" cy="22761"/>
          </a:xfrm>
          <a:custGeom>
            <a:avLst/>
            <a:gdLst/>
            <a:ahLst/>
            <a:cxnLst/>
            <a:rect l="l" t="t" r="r" b="b"/>
            <a:pathLst>
              <a:path w="66577" h="22761">
                <a:moveTo>
                  <a:pt x="0" y="11332"/>
                </a:moveTo>
                <a:lnTo>
                  <a:pt x="1387" y="15006"/>
                </a:lnTo>
                <a:lnTo>
                  <a:pt x="2774" y="18290"/>
                </a:lnTo>
                <a:lnTo>
                  <a:pt x="4161" y="20835"/>
                </a:lnTo>
                <a:lnTo>
                  <a:pt x="5548" y="22372"/>
                </a:lnTo>
                <a:lnTo>
                  <a:pt x="6935" y="22737"/>
                </a:lnTo>
                <a:lnTo>
                  <a:pt x="8322" y="21891"/>
                </a:lnTo>
                <a:lnTo>
                  <a:pt x="9709" y="19925"/>
                </a:lnTo>
                <a:lnTo>
                  <a:pt x="11096" y="17047"/>
                </a:lnTo>
                <a:lnTo>
                  <a:pt x="12483" y="13562"/>
                </a:lnTo>
                <a:lnTo>
                  <a:pt x="13870" y="9840"/>
                </a:lnTo>
                <a:lnTo>
                  <a:pt x="15257" y="6277"/>
                </a:lnTo>
                <a:lnTo>
                  <a:pt x="16644" y="3250"/>
                </a:lnTo>
                <a:lnTo>
                  <a:pt x="18031" y="1081"/>
                </a:lnTo>
                <a:lnTo>
                  <a:pt x="19418" y="0"/>
                </a:lnTo>
                <a:lnTo>
                  <a:pt x="20805" y="122"/>
                </a:lnTo>
                <a:lnTo>
                  <a:pt x="22192" y="1434"/>
                </a:lnTo>
                <a:lnTo>
                  <a:pt x="23579" y="3796"/>
                </a:lnTo>
                <a:lnTo>
                  <a:pt x="24966" y="6958"/>
                </a:lnTo>
                <a:lnTo>
                  <a:pt x="26353" y="10584"/>
                </a:lnTo>
                <a:lnTo>
                  <a:pt x="27740" y="14290"/>
                </a:lnTo>
                <a:lnTo>
                  <a:pt x="29127" y="17682"/>
                </a:lnTo>
                <a:lnTo>
                  <a:pt x="30514" y="20400"/>
                </a:lnTo>
                <a:lnTo>
                  <a:pt x="31901" y="22155"/>
                </a:lnTo>
                <a:lnTo>
                  <a:pt x="33288" y="22761"/>
                </a:lnTo>
                <a:lnTo>
                  <a:pt x="34675" y="22155"/>
                </a:lnTo>
                <a:lnTo>
                  <a:pt x="36062" y="20400"/>
                </a:lnTo>
                <a:lnTo>
                  <a:pt x="37449" y="17682"/>
                </a:lnTo>
                <a:lnTo>
                  <a:pt x="38836" y="14290"/>
                </a:lnTo>
                <a:lnTo>
                  <a:pt x="40223" y="10584"/>
                </a:lnTo>
                <a:lnTo>
                  <a:pt x="41610" y="6958"/>
                </a:lnTo>
                <a:lnTo>
                  <a:pt x="42997" y="3796"/>
                </a:lnTo>
                <a:lnTo>
                  <a:pt x="44384" y="1434"/>
                </a:lnTo>
                <a:lnTo>
                  <a:pt x="45771" y="122"/>
                </a:lnTo>
                <a:lnTo>
                  <a:pt x="47158" y="0"/>
                </a:lnTo>
                <a:lnTo>
                  <a:pt x="48545" y="1081"/>
                </a:lnTo>
                <a:lnTo>
                  <a:pt x="49932" y="3250"/>
                </a:lnTo>
                <a:lnTo>
                  <a:pt x="51319" y="6277"/>
                </a:lnTo>
                <a:lnTo>
                  <a:pt x="52706" y="9840"/>
                </a:lnTo>
                <a:lnTo>
                  <a:pt x="54093" y="13562"/>
                </a:lnTo>
                <a:lnTo>
                  <a:pt x="55480" y="17047"/>
                </a:lnTo>
                <a:lnTo>
                  <a:pt x="56867" y="19925"/>
                </a:lnTo>
                <a:lnTo>
                  <a:pt x="58254" y="21891"/>
                </a:lnTo>
                <a:lnTo>
                  <a:pt x="59641" y="22737"/>
                </a:lnTo>
                <a:lnTo>
                  <a:pt x="61028" y="22372"/>
                </a:lnTo>
                <a:lnTo>
                  <a:pt x="62416" y="20835"/>
                </a:lnTo>
                <a:lnTo>
                  <a:pt x="63803" y="18290"/>
                </a:lnTo>
                <a:lnTo>
                  <a:pt x="65190" y="15006"/>
                </a:lnTo>
                <a:lnTo>
                  <a:pt x="66577" y="11332"/>
                </a:lnTo>
              </a:path>
            </a:pathLst>
          </a:custGeom>
          <a:noFill/>
          <a:ln w="8653">
            <a:solidFill>
              <a:srgbClr val="E64B35">
                <a:alpha val="53869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esignrule absorption 1"/>
          <p:cNvSpPr/>
          <p:nvPr/>
        </p:nvSpPr>
        <p:spPr>
          <a:xfrm>
            <a:off x="4070644" y="3828074"/>
            <a:ext cx="55292" cy="55292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3869"/>
            </a:srgbClr>
          </a:solidFill>
          <a:ln w="5080">
            <a:solidFill>
              <a:srgbClr val="E64B35">
                <a:alpha val="53869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designrule ohmic loss 2L"/>
          <p:cNvSpPr/>
          <p:nvPr/>
        </p:nvSpPr>
        <p:spPr>
          <a:xfrm>
            <a:off x="5266100" y="3813469"/>
            <a:ext cx="61922" cy="22113"/>
          </a:xfrm>
          <a:custGeom>
            <a:avLst/>
            <a:gdLst/>
            <a:ahLst/>
            <a:cxnLst/>
            <a:rect l="l" t="t" r="r" b="b"/>
            <a:pathLst>
              <a:path w="61922" h="22113">
                <a:moveTo>
                  <a:pt x="61922" y="11009"/>
                </a:moveTo>
                <a:lnTo>
                  <a:pt x="60632" y="14578"/>
                </a:lnTo>
                <a:lnTo>
                  <a:pt x="59342" y="17768"/>
                </a:lnTo>
                <a:lnTo>
                  <a:pt x="58052" y="20241"/>
                </a:lnTo>
                <a:lnTo>
                  <a:pt x="56762" y="21734"/>
                </a:lnTo>
                <a:lnTo>
                  <a:pt x="55472" y="22089"/>
                </a:lnTo>
                <a:lnTo>
                  <a:pt x="54182" y="21267"/>
                </a:lnTo>
                <a:lnTo>
                  <a:pt x="52892" y="19357"/>
                </a:lnTo>
                <a:lnTo>
                  <a:pt x="51602" y="16561"/>
                </a:lnTo>
                <a:lnTo>
                  <a:pt x="50312" y="13175"/>
                </a:lnTo>
                <a:lnTo>
                  <a:pt x="49022" y="9560"/>
                </a:lnTo>
                <a:lnTo>
                  <a:pt x="47732" y="6098"/>
                </a:lnTo>
                <a:lnTo>
                  <a:pt x="46442" y="3158"/>
                </a:lnTo>
                <a:lnTo>
                  <a:pt x="45152" y="1050"/>
                </a:lnTo>
                <a:lnTo>
                  <a:pt x="43862" y="0"/>
                </a:lnTo>
                <a:lnTo>
                  <a:pt x="42572" y="119"/>
                </a:lnTo>
                <a:lnTo>
                  <a:pt x="41282" y="1393"/>
                </a:lnTo>
                <a:lnTo>
                  <a:pt x="39991" y="3688"/>
                </a:lnTo>
                <a:lnTo>
                  <a:pt x="38701" y="6760"/>
                </a:lnTo>
                <a:lnTo>
                  <a:pt x="37411" y="10283"/>
                </a:lnTo>
                <a:lnTo>
                  <a:pt x="36121" y="13883"/>
                </a:lnTo>
                <a:lnTo>
                  <a:pt x="34831" y="17178"/>
                </a:lnTo>
                <a:lnTo>
                  <a:pt x="33541" y="19818"/>
                </a:lnTo>
                <a:lnTo>
                  <a:pt x="32251" y="21523"/>
                </a:lnTo>
                <a:lnTo>
                  <a:pt x="30961" y="22113"/>
                </a:lnTo>
                <a:lnTo>
                  <a:pt x="29671" y="21523"/>
                </a:lnTo>
                <a:lnTo>
                  <a:pt x="28381" y="19818"/>
                </a:lnTo>
                <a:lnTo>
                  <a:pt x="27091" y="17178"/>
                </a:lnTo>
                <a:lnTo>
                  <a:pt x="25801" y="13883"/>
                </a:lnTo>
                <a:lnTo>
                  <a:pt x="24511" y="10283"/>
                </a:lnTo>
                <a:lnTo>
                  <a:pt x="23221" y="6760"/>
                </a:lnTo>
                <a:lnTo>
                  <a:pt x="21931" y="3688"/>
                </a:lnTo>
                <a:lnTo>
                  <a:pt x="20641" y="1393"/>
                </a:lnTo>
                <a:lnTo>
                  <a:pt x="19351" y="119"/>
                </a:lnTo>
                <a:lnTo>
                  <a:pt x="18061" y="0"/>
                </a:lnTo>
                <a:lnTo>
                  <a:pt x="16771" y="1050"/>
                </a:lnTo>
                <a:lnTo>
                  <a:pt x="15481" y="3158"/>
                </a:lnTo>
                <a:lnTo>
                  <a:pt x="14190" y="6098"/>
                </a:lnTo>
                <a:lnTo>
                  <a:pt x="12900" y="9560"/>
                </a:lnTo>
                <a:lnTo>
                  <a:pt x="11610" y="13175"/>
                </a:lnTo>
                <a:lnTo>
                  <a:pt x="10320" y="16561"/>
                </a:lnTo>
                <a:lnTo>
                  <a:pt x="9030" y="19357"/>
                </a:lnTo>
                <a:lnTo>
                  <a:pt x="7740" y="21267"/>
                </a:lnTo>
                <a:lnTo>
                  <a:pt x="6450" y="22089"/>
                </a:lnTo>
                <a:lnTo>
                  <a:pt x="5160" y="21734"/>
                </a:lnTo>
                <a:lnTo>
                  <a:pt x="3870" y="20241"/>
                </a:lnTo>
                <a:lnTo>
                  <a:pt x="2580" y="17768"/>
                </a:lnTo>
                <a:lnTo>
                  <a:pt x="1290" y="14578"/>
                </a:lnTo>
                <a:lnTo>
                  <a:pt x="0" y="11009"/>
                </a:lnTo>
              </a:path>
            </a:pathLst>
          </a:custGeom>
          <a:noFill/>
          <a:ln w="8155">
            <a:solidFill>
              <a:srgbClr val="E64B35">
                <a:alpha val="52627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esignrule ohmic loss 2R"/>
          <p:cNvSpPr/>
          <p:nvPr/>
        </p:nvSpPr>
        <p:spPr>
          <a:xfrm>
            <a:off x="5367918" y="3813469"/>
            <a:ext cx="61922" cy="22113"/>
          </a:xfrm>
          <a:custGeom>
            <a:avLst/>
            <a:gdLst/>
            <a:ahLst/>
            <a:cxnLst/>
            <a:rect l="l" t="t" r="r" b="b"/>
            <a:pathLst>
              <a:path w="61922" h="22113">
                <a:moveTo>
                  <a:pt x="0" y="11009"/>
                </a:moveTo>
                <a:lnTo>
                  <a:pt x="1290" y="14578"/>
                </a:lnTo>
                <a:lnTo>
                  <a:pt x="2580" y="17768"/>
                </a:lnTo>
                <a:lnTo>
                  <a:pt x="3870" y="20241"/>
                </a:lnTo>
                <a:lnTo>
                  <a:pt x="5160" y="21734"/>
                </a:lnTo>
                <a:lnTo>
                  <a:pt x="6450" y="22089"/>
                </a:lnTo>
                <a:lnTo>
                  <a:pt x="7740" y="21267"/>
                </a:lnTo>
                <a:lnTo>
                  <a:pt x="9030" y="19357"/>
                </a:lnTo>
                <a:lnTo>
                  <a:pt x="10320" y="16561"/>
                </a:lnTo>
                <a:lnTo>
                  <a:pt x="11610" y="13175"/>
                </a:lnTo>
                <a:lnTo>
                  <a:pt x="12900" y="9560"/>
                </a:lnTo>
                <a:lnTo>
                  <a:pt x="14190" y="6098"/>
                </a:lnTo>
                <a:lnTo>
                  <a:pt x="15480" y="3158"/>
                </a:lnTo>
                <a:lnTo>
                  <a:pt x="16770" y="1050"/>
                </a:lnTo>
                <a:lnTo>
                  <a:pt x="18060" y="0"/>
                </a:lnTo>
                <a:lnTo>
                  <a:pt x="19350" y="119"/>
                </a:lnTo>
                <a:lnTo>
                  <a:pt x="20640" y="1393"/>
                </a:lnTo>
                <a:lnTo>
                  <a:pt x="21931" y="3688"/>
                </a:lnTo>
                <a:lnTo>
                  <a:pt x="23221" y="6760"/>
                </a:lnTo>
                <a:lnTo>
                  <a:pt x="24511" y="10283"/>
                </a:lnTo>
                <a:lnTo>
                  <a:pt x="25801" y="13883"/>
                </a:lnTo>
                <a:lnTo>
                  <a:pt x="27091" y="17178"/>
                </a:lnTo>
                <a:lnTo>
                  <a:pt x="28381" y="19818"/>
                </a:lnTo>
                <a:lnTo>
                  <a:pt x="29671" y="21523"/>
                </a:lnTo>
                <a:lnTo>
                  <a:pt x="30961" y="22113"/>
                </a:lnTo>
                <a:lnTo>
                  <a:pt x="32251" y="21523"/>
                </a:lnTo>
                <a:lnTo>
                  <a:pt x="33541" y="19818"/>
                </a:lnTo>
                <a:lnTo>
                  <a:pt x="34831" y="17178"/>
                </a:lnTo>
                <a:lnTo>
                  <a:pt x="36121" y="13883"/>
                </a:lnTo>
                <a:lnTo>
                  <a:pt x="37411" y="10283"/>
                </a:lnTo>
                <a:lnTo>
                  <a:pt x="38701" y="6760"/>
                </a:lnTo>
                <a:lnTo>
                  <a:pt x="39991" y="3688"/>
                </a:lnTo>
                <a:lnTo>
                  <a:pt x="41281" y="1393"/>
                </a:lnTo>
                <a:lnTo>
                  <a:pt x="42571" y="119"/>
                </a:lnTo>
                <a:lnTo>
                  <a:pt x="43861" y="0"/>
                </a:lnTo>
                <a:lnTo>
                  <a:pt x="45151" y="1050"/>
                </a:lnTo>
                <a:lnTo>
                  <a:pt x="46441" y="3158"/>
                </a:lnTo>
                <a:lnTo>
                  <a:pt x="47732" y="6098"/>
                </a:lnTo>
                <a:lnTo>
                  <a:pt x="49022" y="9560"/>
                </a:lnTo>
                <a:lnTo>
                  <a:pt x="50312" y="13175"/>
                </a:lnTo>
                <a:lnTo>
                  <a:pt x="51602" y="16561"/>
                </a:lnTo>
                <a:lnTo>
                  <a:pt x="52892" y="19357"/>
                </a:lnTo>
                <a:lnTo>
                  <a:pt x="54182" y="21267"/>
                </a:lnTo>
                <a:lnTo>
                  <a:pt x="55472" y="22089"/>
                </a:lnTo>
                <a:lnTo>
                  <a:pt x="56762" y="21734"/>
                </a:lnTo>
                <a:lnTo>
                  <a:pt x="58052" y="20241"/>
                </a:lnTo>
                <a:lnTo>
                  <a:pt x="59342" y="17768"/>
                </a:lnTo>
                <a:lnTo>
                  <a:pt x="60632" y="14578"/>
                </a:lnTo>
                <a:lnTo>
                  <a:pt x="61922" y="11009"/>
                </a:lnTo>
              </a:path>
            </a:pathLst>
          </a:custGeom>
          <a:noFill/>
          <a:ln w="8155">
            <a:solidFill>
              <a:srgbClr val="E64B35">
                <a:alpha val="52627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esignrule absorption 2"/>
          <p:cNvSpPr/>
          <p:nvPr/>
        </p:nvSpPr>
        <p:spPr>
          <a:xfrm>
            <a:off x="5322815" y="3830565"/>
            <a:ext cx="50309" cy="50309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2627"/>
            </a:srgbClr>
          </a:solidFill>
          <a:ln w="5080">
            <a:solidFill>
              <a:srgbClr val="E64B35">
                <a:alpha val="52627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designrule ohmic loss 3L"/>
          <p:cNvSpPr/>
          <p:nvPr/>
        </p:nvSpPr>
        <p:spPr>
          <a:xfrm>
            <a:off x="6520916" y="3813689"/>
            <a:ext cx="58761" cy="21671"/>
          </a:xfrm>
          <a:custGeom>
            <a:avLst/>
            <a:gdLst/>
            <a:ahLst/>
            <a:cxnLst/>
            <a:rect l="l" t="t" r="r" b="b"/>
            <a:pathLst>
              <a:path w="58761" h="21671">
                <a:moveTo>
                  <a:pt x="58761" y="10789"/>
                </a:moveTo>
                <a:lnTo>
                  <a:pt x="57537" y="14287"/>
                </a:lnTo>
                <a:lnTo>
                  <a:pt x="56313" y="17414"/>
                </a:lnTo>
                <a:lnTo>
                  <a:pt x="55089" y="19837"/>
                </a:lnTo>
                <a:lnTo>
                  <a:pt x="53865" y="21301"/>
                </a:lnTo>
                <a:lnTo>
                  <a:pt x="52640" y="21648"/>
                </a:lnTo>
                <a:lnTo>
                  <a:pt x="51416" y="20843"/>
                </a:lnTo>
                <a:lnTo>
                  <a:pt x="50192" y="18971"/>
                </a:lnTo>
                <a:lnTo>
                  <a:pt x="48968" y="16230"/>
                </a:lnTo>
                <a:lnTo>
                  <a:pt x="47744" y="12912"/>
                </a:lnTo>
                <a:lnTo>
                  <a:pt x="46519" y="9369"/>
                </a:lnTo>
                <a:lnTo>
                  <a:pt x="45295" y="5976"/>
                </a:lnTo>
                <a:lnTo>
                  <a:pt x="44071" y="3094"/>
                </a:lnTo>
                <a:lnTo>
                  <a:pt x="42847" y="1029"/>
                </a:lnTo>
                <a:lnTo>
                  <a:pt x="41623" y="0"/>
                </a:lnTo>
                <a:lnTo>
                  <a:pt x="40398" y="116"/>
                </a:lnTo>
                <a:lnTo>
                  <a:pt x="39174" y="1365"/>
                </a:lnTo>
                <a:lnTo>
                  <a:pt x="37950" y="3614"/>
                </a:lnTo>
                <a:lnTo>
                  <a:pt x="36726" y="6624"/>
                </a:lnTo>
                <a:lnTo>
                  <a:pt x="35502" y="10077"/>
                </a:lnTo>
                <a:lnTo>
                  <a:pt x="34277" y="13606"/>
                </a:lnTo>
                <a:lnTo>
                  <a:pt x="33053" y="16835"/>
                </a:lnTo>
                <a:lnTo>
                  <a:pt x="31829" y="19423"/>
                </a:lnTo>
                <a:lnTo>
                  <a:pt x="30605" y="21094"/>
                </a:lnTo>
                <a:lnTo>
                  <a:pt x="29381" y="21671"/>
                </a:lnTo>
                <a:lnTo>
                  <a:pt x="28157" y="21094"/>
                </a:lnTo>
                <a:lnTo>
                  <a:pt x="26932" y="19423"/>
                </a:lnTo>
                <a:lnTo>
                  <a:pt x="25708" y="16835"/>
                </a:lnTo>
                <a:lnTo>
                  <a:pt x="24484" y="13606"/>
                </a:lnTo>
                <a:lnTo>
                  <a:pt x="23260" y="10077"/>
                </a:lnTo>
                <a:lnTo>
                  <a:pt x="22036" y="6624"/>
                </a:lnTo>
                <a:lnTo>
                  <a:pt x="20811" y="3614"/>
                </a:lnTo>
                <a:lnTo>
                  <a:pt x="19587" y="1365"/>
                </a:lnTo>
                <a:lnTo>
                  <a:pt x="18363" y="116"/>
                </a:lnTo>
                <a:lnTo>
                  <a:pt x="17139" y="0"/>
                </a:lnTo>
                <a:lnTo>
                  <a:pt x="15915" y="1029"/>
                </a:lnTo>
                <a:lnTo>
                  <a:pt x="14690" y="3094"/>
                </a:lnTo>
                <a:lnTo>
                  <a:pt x="13466" y="5976"/>
                </a:lnTo>
                <a:lnTo>
                  <a:pt x="12242" y="9369"/>
                </a:lnTo>
                <a:lnTo>
                  <a:pt x="11018" y="12912"/>
                </a:lnTo>
                <a:lnTo>
                  <a:pt x="9794" y="16230"/>
                </a:lnTo>
                <a:lnTo>
                  <a:pt x="8569" y="18971"/>
                </a:lnTo>
                <a:lnTo>
                  <a:pt x="7345" y="20843"/>
                </a:lnTo>
                <a:lnTo>
                  <a:pt x="6121" y="21648"/>
                </a:lnTo>
                <a:lnTo>
                  <a:pt x="4897" y="21301"/>
                </a:lnTo>
                <a:lnTo>
                  <a:pt x="3673" y="19837"/>
                </a:lnTo>
                <a:lnTo>
                  <a:pt x="2448" y="17414"/>
                </a:lnTo>
                <a:lnTo>
                  <a:pt x="1224" y="14287"/>
                </a:lnTo>
                <a:lnTo>
                  <a:pt x="0" y="10789"/>
                </a:lnTo>
              </a:path>
            </a:pathLst>
          </a:custGeom>
          <a:noFill/>
          <a:ln w="7760">
            <a:solidFill>
              <a:srgbClr val="E64B35">
                <a:alpha val="51784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esignrule ohmic loss 3R"/>
          <p:cNvSpPr/>
          <p:nvPr/>
        </p:nvSpPr>
        <p:spPr>
          <a:xfrm>
            <a:off x="6615623" y="3813689"/>
            <a:ext cx="58761" cy="21671"/>
          </a:xfrm>
          <a:custGeom>
            <a:avLst/>
            <a:gdLst/>
            <a:ahLst/>
            <a:cxnLst/>
            <a:rect l="l" t="t" r="r" b="b"/>
            <a:pathLst>
              <a:path w="58761" h="21671">
                <a:moveTo>
                  <a:pt x="0" y="10789"/>
                </a:moveTo>
                <a:lnTo>
                  <a:pt x="1224" y="14287"/>
                </a:lnTo>
                <a:lnTo>
                  <a:pt x="2448" y="17414"/>
                </a:lnTo>
                <a:lnTo>
                  <a:pt x="3672" y="19837"/>
                </a:lnTo>
                <a:lnTo>
                  <a:pt x="4896" y="21301"/>
                </a:lnTo>
                <a:lnTo>
                  <a:pt x="6121" y="21648"/>
                </a:lnTo>
                <a:lnTo>
                  <a:pt x="7345" y="20843"/>
                </a:lnTo>
                <a:lnTo>
                  <a:pt x="8569" y="18971"/>
                </a:lnTo>
                <a:lnTo>
                  <a:pt x="9793" y="16230"/>
                </a:lnTo>
                <a:lnTo>
                  <a:pt x="11017" y="12912"/>
                </a:lnTo>
                <a:lnTo>
                  <a:pt x="12242" y="9369"/>
                </a:lnTo>
                <a:lnTo>
                  <a:pt x="13466" y="5976"/>
                </a:lnTo>
                <a:lnTo>
                  <a:pt x="14690" y="3094"/>
                </a:lnTo>
                <a:lnTo>
                  <a:pt x="15914" y="1029"/>
                </a:lnTo>
                <a:lnTo>
                  <a:pt x="17138" y="0"/>
                </a:lnTo>
                <a:lnTo>
                  <a:pt x="18363" y="116"/>
                </a:lnTo>
                <a:lnTo>
                  <a:pt x="19587" y="1365"/>
                </a:lnTo>
                <a:lnTo>
                  <a:pt x="20811" y="3614"/>
                </a:lnTo>
                <a:lnTo>
                  <a:pt x="22035" y="6624"/>
                </a:lnTo>
                <a:lnTo>
                  <a:pt x="23259" y="10077"/>
                </a:lnTo>
                <a:lnTo>
                  <a:pt x="24484" y="13606"/>
                </a:lnTo>
                <a:lnTo>
                  <a:pt x="25708" y="16835"/>
                </a:lnTo>
                <a:lnTo>
                  <a:pt x="26932" y="19423"/>
                </a:lnTo>
                <a:lnTo>
                  <a:pt x="28156" y="21094"/>
                </a:lnTo>
                <a:lnTo>
                  <a:pt x="29380" y="21671"/>
                </a:lnTo>
                <a:lnTo>
                  <a:pt x="30604" y="21094"/>
                </a:lnTo>
                <a:lnTo>
                  <a:pt x="31829" y="19423"/>
                </a:lnTo>
                <a:lnTo>
                  <a:pt x="33053" y="16835"/>
                </a:lnTo>
                <a:lnTo>
                  <a:pt x="34277" y="13606"/>
                </a:lnTo>
                <a:lnTo>
                  <a:pt x="35501" y="10077"/>
                </a:lnTo>
                <a:lnTo>
                  <a:pt x="36725" y="6624"/>
                </a:lnTo>
                <a:lnTo>
                  <a:pt x="37950" y="3614"/>
                </a:lnTo>
                <a:lnTo>
                  <a:pt x="39174" y="1365"/>
                </a:lnTo>
                <a:lnTo>
                  <a:pt x="40398" y="116"/>
                </a:lnTo>
                <a:lnTo>
                  <a:pt x="41622" y="0"/>
                </a:lnTo>
                <a:lnTo>
                  <a:pt x="42846" y="1029"/>
                </a:lnTo>
                <a:lnTo>
                  <a:pt x="44071" y="3094"/>
                </a:lnTo>
                <a:lnTo>
                  <a:pt x="45295" y="5976"/>
                </a:lnTo>
                <a:lnTo>
                  <a:pt x="46519" y="9369"/>
                </a:lnTo>
                <a:lnTo>
                  <a:pt x="47743" y="12912"/>
                </a:lnTo>
                <a:lnTo>
                  <a:pt x="48967" y="16230"/>
                </a:lnTo>
                <a:lnTo>
                  <a:pt x="50192" y="18971"/>
                </a:lnTo>
                <a:lnTo>
                  <a:pt x="51416" y="20843"/>
                </a:lnTo>
                <a:lnTo>
                  <a:pt x="52640" y="21648"/>
                </a:lnTo>
                <a:lnTo>
                  <a:pt x="53864" y="21301"/>
                </a:lnTo>
                <a:lnTo>
                  <a:pt x="55088" y="19837"/>
                </a:lnTo>
                <a:lnTo>
                  <a:pt x="56313" y="17414"/>
                </a:lnTo>
                <a:lnTo>
                  <a:pt x="57537" y="14287"/>
                </a:lnTo>
                <a:lnTo>
                  <a:pt x="58761" y="10789"/>
                </a:lnTo>
              </a:path>
            </a:pathLst>
          </a:custGeom>
          <a:noFill/>
          <a:ln w="7760">
            <a:solidFill>
              <a:srgbClr val="E64B35">
                <a:alpha val="51784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esignrule absorption 3"/>
          <p:cNvSpPr/>
          <p:nvPr/>
        </p:nvSpPr>
        <p:spPr>
          <a:xfrm>
            <a:off x="6574470" y="3832540"/>
            <a:ext cx="46359" cy="46359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1784"/>
            </a:srgbClr>
          </a:solidFill>
          <a:ln w="5080">
            <a:solidFill>
              <a:srgbClr val="E64B35">
                <a:alpha val="51784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designrule ohmic loss 4L"/>
          <p:cNvSpPr/>
          <p:nvPr/>
        </p:nvSpPr>
        <p:spPr>
          <a:xfrm>
            <a:off x="7774309" y="3813838"/>
            <a:ext cx="56614" cy="21372"/>
          </a:xfrm>
          <a:custGeom>
            <a:avLst/>
            <a:gdLst/>
            <a:ahLst/>
            <a:cxnLst/>
            <a:rect l="l" t="t" r="r" b="b"/>
            <a:pathLst>
              <a:path w="56614" h="21372">
                <a:moveTo>
                  <a:pt x="56614" y="10640"/>
                </a:moveTo>
                <a:lnTo>
                  <a:pt x="55435" y="14090"/>
                </a:lnTo>
                <a:lnTo>
                  <a:pt x="54255" y="17173"/>
                </a:lnTo>
                <a:lnTo>
                  <a:pt x="53076" y="19563"/>
                </a:lnTo>
                <a:lnTo>
                  <a:pt x="51896" y="21006"/>
                </a:lnTo>
                <a:lnTo>
                  <a:pt x="50717" y="21349"/>
                </a:lnTo>
                <a:lnTo>
                  <a:pt x="49537" y="20555"/>
                </a:lnTo>
                <a:lnTo>
                  <a:pt x="48358" y="18709"/>
                </a:lnTo>
                <a:lnTo>
                  <a:pt x="47179" y="16006"/>
                </a:lnTo>
                <a:lnTo>
                  <a:pt x="45999" y="12734"/>
                </a:lnTo>
                <a:lnTo>
                  <a:pt x="44820" y="9239"/>
                </a:lnTo>
                <a:lnTo>
                  <a:pt x="43640" y="5893"/>
                </a:lnTo>
                <a:lnTo>
                  <a:pt x="42461" y="3051"/>
                </a:lnTo>
                <a:lnTo>
                  <a:pt x="41281" y="1015"/>
                </a:lnTo>
                <a:lnTo>
                  <a:pt x="40102" y="0"/>
                </a:lnTo>
                <a:lnTo>
                  <a:pt x="38922" y="114"/>
                </a:lnTo>
                <a:lnTo>
                  <a:pt x="37743" y="1346"/>
                </a:lnTo>
                <a:lnTo>
                  <a:pt x="36563" y="3564"/>
                </a:lnTo>
                <a:lnTo>
                  <a:pt x="35384" y="6533"/>
                </a:lnTo>
                <a:lnTo>
                  <a:pt x="34204" y="9938"/>
                </a:lnTo>
                <a:lnTo>
                  <a:pt x="33025" y="13418"/>
                </a:lnTo>
                <a:lnTo>
                  <a:pt x="31845" y="16602"/>
                </a:lnTo>
                <a:lnTo>
                  <a:pt x="30666" y="19154"/>
                </a:lnTo>
                <a:lnTo>
                  <a:pt x="29487" y="20803"/>
                </a:lnTo>
                <a:lnTo>
                  <a:pt x="28307" y="21372"/>
                </a:lnTo>
                <a:lnTo>
                  <a:pt x="27128" y="20803"/>
                </a:lnTo>
                <a:lnTo>
                  <a:pt x="25948" y="19154"/>
                </a:lnTo>
                <a:lnTo>
                  <a:pt x="24769" y="16602"/>
                </a:lnTo>
                <a:lnTo>
                  <a:pt x="23589" y="13418"/>
                </a:lnTo>
                <a:lnTo>
                  <a:pt x="22410" y="9938"/>
                </a:lnTo>
                <a:lnTo>
                  <a:pt x="21230" y="6533"/>
                </a:lnTo>
                <a:lnTo>
                  <a:pt x="20051" y="3564"/>
                </a:lnTo>
                <a:lnTo>
                  <a:pt x="18871" y="1346"/>
                </a:lnTo>
                <a:lnTo>
                  <a:pt x="17692" y="114"/>
                </a:lnTo>
                <a:lnTo>
                  <a:pt x="16512" y="0"/>
                </a:lnTo>
                <a:lnTo>
                  <a:pt x="15333" y="1015"/>
                </a:lnTo>
                <a:lnTo>
                  <a:pt x="14153" y="3051"/>
                </a:lnTo>
                <a:lnTo>
                  <a:pt x="12974" y="5893"/>
                </a:lnTo>
                <a:lnTo>
                  <a:pt x="11794" y="9239"/>
                </a:lnTo>
                <a:lnTo>
                  <a:pt x="10615" y="12734"/>
                </a:lnTo>
                <a:lnTo>
                  <a:pt x="9436" y="16006"/>
                </a:lnTo>
                <a:lnTo>
                  <a:pt x="8256" y="18709"/>
                </a:lnTo>
                <a:lnTo>
                  <a:pt x="7077" y="20555"/>
                </a:lnTo>
                <a:lnTo>
                  <a:pt x="5897" y="21349"/>
                </a:lnTo>
                <a:lnTo>
                  <a:pt x="4718" y="21006"/>
                </a:lnTo>
                <a:lnTo>
                  <a:pt x="3538" y="19563"/>
                </a:lnTo>
                <a:lnTo>
                  <a:pt x="2359" y="17173"/>
                </a:lnTo>
                <a:lnTo>
                  <a:pt x="1179" y="14090"/>
                </a:lnTo>
                <a:lnTo>
                  <a:pt x="0" y="10640"/>
                </a:lnTo>
              </a:path>
            </a:pathLst>
          </a:custGeom>
          <a:noFill/>
          <a:ln w="7447">
            <a:solidFill>
              <a:srgbClr val="E64B35">
                <a:alpha val="51212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esignrule ohmic loss 4R"/>
          <p:cNvSpPr/>
          <p:nvPr/>
        </p:nvSpPr>
        <p:spPr>
          <a:xfrm>
            <a:off x="7863737" y="3813838"/>
            <a:ext cx="56614" cy="21372"/>
          </a:xfrm>
          <a:custGeom>
            <a:avLst/>
            <a:gdLst/>
            <a:ahLst/>
            <a:cxnLst/>
            <a:rect l="l" t="t" r="r" b="b"/>
            <a:pathLst>
              <a:path w="56614" h="21372">
                <a:moveTo>
                  <a:pt x="0" y="10640"/>
                </a:moveTo>
                <a:lnTo>
                  <a:pt x="1179" y="14090"/>
                </a:lnTo>
                <a:lnTo>
                  <a:pt x="2359" y="17173"/>
                </a:lnTo>
                <a:lnTo>
                  <a:pt x="3538" y="19563"/>
                </a:lnTo>
                <a:lnTo>
                  <a:pt x="4718" y="21006"/>
                </a:lnTo>
                <a:lnTo>
                  <a:pt x="5897" y="21349"/>
                </a:lnTo>
                <a:lnTo>
                  <a:pt x="7077" y="20555"/>
                </a:lnTo>
                <a:lnTo>
                  <a:pt x="8256" y="18709"/>
                </a:lnTo>
                <a:lnTo>
                  <a:pt x="9435" y="16006"/>
                </a:lnTo>
                <a:lnTo>
                  <a:pt x="10615" y="12734"/>
                </a:lnTo>
                <a:lnTo>
                  <a:pt x="11794" y="9239"/>
                </a:lnTo>
                <a:lnTo>
                  <a:pt x="12974" y="5893"/>
                </a:lnTo>
                <a:lnTo>
                  <a:pt x="14153" y="3051"/>
                </a:lnTo>
                <a:lnTo>
                  <a:pt x="15333" y="1015"/>
                </a:lnTo>
                <a:lnTo>
                  <a:pt x="16512" y="0"/>
                </a:lnTo>
                <a:lnTo>
                  <a:pt x="17692" y="114"/>
                </a:lnTo>
                <a:lnTo>
                  <a:pt x="18871" y="1346"/>
                </a:lnTo>
                <a:lnTo>
                  <a:pt x="20051" y="3564"/>
                </a:lnTo>
                <a:lnTo>
                  <a:pt x="21230" y="6533"/>
                </a:lnTo>
                <a:lnTo>
                  <a:pt x="22410" y="9938"/>
                </a:lnTo>
                <a:lnTo>
                  <a:pt x="23589" y="13418"/>
                </a:lnTo>
                <a:lnTo>
                  <a:pt x="24769" y="16602"/>
                </a:lnTo>
                <a:lnTo>
                  <a:pt x="25948" y="19154"/>
                </a:lnTo>
                <a:lnTo>
                  <a:pt x="27127" y="20803"/>
                </a:lnTo>
                <a:lnTo>
                  <a:pt x="28307" y="21372"/>
                </a:lnTo>
                <a:lnTo>
                  <a:pt x="29486" y="20803"/>
                </a:lnTo>
                <a:lnTo>
                  <a:pt x="30666" y="19154"/>
                </a:lnTo>
                <a:lnTo>
                  <a:pt x="31845" y="16602"/>
                </a:lnTo>
                <a:lnTo>
                  <a:pt x="33025" y="13418"/>
                </a:lnTo>
                <a:lnTo>
                  <a:pt x="34204" y="9938"/>
                </a:lnTo>
                <a:lnTo>
                  <a:pt x="35384" y="6533"/>
                </a:lnTo>
                <a:lnTo>
                  <a:pt x="36563" y="3564"/>
                </a:lnTo>
                <a:lnTo>
                  <a:pt x="37743" y="1346"/>
                </a:lnTo>
                <a:lnTo>
                  <a:pt x="38922" y="114"/>
                </a:lnTo>
                <a:lnTo>
                  <a:pt x="40102" y="0"/>
                </a:lnTo>
                <a:lnTo>
                  <a:pt x="41281" y="1015"/>
                </a:lnTo>
                <a:lnTo>
                  <a:pt x="42461" y="3051"/>
                </a:lnTo>
                <a:lnTo>
                  <a:pt x="43640" y="5893"/>
                </a:lnTo>
                <a:lnTo>
                  <a:pt x="44820" y="9239"/>
                </a:lnTo>
                <a:lnTo>
                  <a:pt x="45999" y="12734"/>
                </a:lnTo>
                <a:lnTo>
                  <a:pt x="47178" y="16006"/>
                </a:lnTo>
                <a:lnTo>
                  <a:pt x="48358" y="18709"/>
                </a:lnTo>
                <a:lnTo>
                  <a:pt x="49537" y="20555"/>
                </a:lnTo>
                <a:lnTo>
                  <a:pt x="50717" y="21349"/>
                </a:lnTo>
                <a:lnTo>
                  <a:pt x="51896" y="21006"/>
                </a:lnTo>
                <a:lnTo>
                  <a:pt x="53076" y="19563"/>
                </a:lnTo>
                <a:lnTo>
                  <a:pt x="54255" y="17173"/>
                </a:lnTo>
                <a:lnTo>
                  <a:pt x="55435" y="14090"/>
                </a:lnTo>
                <a:lnTo>
                  <a:pt x="56614" y="10640"/>
                </a:lnTo>
              </a:path>
            </a:pathLst>
          </a:custGeom>
          <a:noFill/>
          <a:ln w="7447">
            <a:solidFill>
              <a:srgbClr val="E64B35">
                <a:alpha val="51212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designrule absorption 4"/>
          <p:cNvSpPr/>
          <p:nvPr/>
        </p:nvSpPr>
        <p:spPr>
          <a:xfrm>
            <a:off x="7825716" y="3834106"/>
            <a:ext cx="43227" cy="43227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1212"/>
            </a:srgbClr>
          </a:solidFill>
          <a:ln w="5080">
            <a:solidFill>
              <a:srgbClr val="E64B35">
                <a:alpha val="51212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designrule emitter"/>
          <p:cNvSpPr/>
          <p:nvPr/>
        </p:nvSpPr>
        <p:spPr>
          <a:xfrm>
            <a:off x="2851214" y="3764598"/>
            <a:ext cx="88519" cy="88519"/>
          </a:xfrm>
          <a:prstGeom prst="star8">
            <a:avLst>
              <a:gd name="adj" fmla="val 40000"/>
            </a:avLst>
          </a:prstGeom>
          <a:solidFill>
            <a:srgbClr val="E8901F"/>
          </a:solidFill>
          <a:ln w="5080">
            <a:solidFill>
              <a:srgbClr val="6F430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designrule emitter core"/>
          <p:cNvSpPr/>
          <p:nvPr/>
        </p:nvSpPr>
        <p:spPr>
          <a:xfrm>
            <a:off x="2882976" y="3796360"/>
            <a:ext cx="24994" cy="24994"/>
          </a:xfrm>
          <a:prstGeom prst="ellipse">
            <a:avLst/>
          </a:prstGeom>
          <a:solidFill>
            <a:srgbClr val="FFF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8" name="designrule render" descr="emitting_area_render_designru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912366"/>
            <a:ext cx="2184400" cy="2184400"/>
          </a:xfrm>
          <a:prstGeom prst="rect">
            <a:avLst/>
          </a:prstGeom>
        </p:spPr>
      </p:pic>
      <p:sp>
        <p:nvSpPr>
          <p:cNvPr id="199" name="designrule: Low loss metal electrode"/>
          <p:cNvSpPr txBox="1"/>
          <p:nvPr/>
        </p:nvSpPr>
        <p:spPr>
          <a:xfrm>
            <a:off x="370626" y="3748264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Low loss metal electrode</a:t>
            </a:r>
          </a:p>
        </p:txBody>
      </p:sp>
      <p:sp>
        <p:nvSpPr>
          <p:cNvPr id="200" name="designrule: Organic layer"/>
          <p:cNvSpPr txBox="1"/>
          <p:nvPr/>
        </p:nvSpPr>
        <p:spPr>
          <a:xfrm>
            <a:off x="366206" y="3598844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Organic layer</a:t>
            </a:r>
          </a:p>
        </p:txBody>
      </p:sp>
      <p:sp>
        <p:nvSpPr>
          <p:cNvPr id="201" name="designrule: Low loss TCO"/>
          <p:cNvSpPr txBox="1"/>
          <p:nvPr/>
        </p:nvSpPr>
        <p:spPr>
          <a:xfrm>
            <a:off x="361932" y="3454438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Low loss TCO</a:t>
            </a:r>
          </a:p>
        </p:txBody>
      </p:sp>
      <p:sp>
        <p:nvSpPr>
          <p:cNvPr id="202" name="designrule: Glass"/>
          <p:cNvSpPr txBox="1"/>
          <p:nvPr/>
        </p:nvSpPr>
        <p:spPr>
          <a:xfrm>
            <a:off x="357908" y="3318455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Glass</a:t>
            </a:r>
          </a:p>
        </p:txBody>
      </p:sp>
      <p:sp>
        <p:nvSpPr>
          <p:cNvPr id="203" name="designrule: Outcoupling structure"/>
          <p:cNvSpPr txBox="1"/>
          <p:nvPr/>
        </p:nvSpPr>
        <p:spPr>
          <a:xfrm>
            <a:off x="353850" y="3181294"/>
            <a:ext cx="3352800" cy="1727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rial"/>
              </a:rPr>
              <a:t>Outcoupling structure</a:t>
            </a:r>
          </a:p>
        </p:txBody>
      </p:sp>
      <p:sp>
        <p:nvSpPr>
          <p:cNvPr id="204" name="legend frame"/>
          <p:cNvSpPr/>
          <p:nvPr/>
        </p:nvSpPr>
        <p:spPr>
          <a:xfrm>
            <a:off x="203200" y="4211320"/>
            <a:ext cx="8737600" cy="36576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C9CE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5" name="legend ray"/>
          <p:cNvCxnSpPr/>
          <p:nvPr/>
        </p:nvCxnSpPr>
        <p:spPr>
          <a:xfrm>
            <a:off x="482600" y="4394200"/>
            <a:ext cx="381000" cy="0"/>
          </a:xfrm>
          <a:prstGeom prst="line">
            <a:avLst/>
          </a:prstGeom>
          <a:ln w="3556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legend ray text"/>
          <p:cNvSpPr txBox="1"/>
          <p:nvPr/>
        </p:nvSpPr>
        <p:spPr>
          <a:xfrm>
            <a:off x="955040" y="4286250"/>
            <a:ext cx="1524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5585C"/>
                </a:solidFill>
                <a:latin typeface="Arial"/>
              </a:rPr>
              <a:t>Light ray</a:t>
            </a:r>
          </a:p>
        </p:txBody>
      </p:sp>
      <p:sp>
        <p:nvSpPr>
          <p:cNvPr id="207" name="legend emitter"/>
          <p:cNvSpPr/>
          <p:nvPr/>
        </p:nvSpPr>
        <p:spPr>
          <a:xfrm>
            <a:off x="2372360" y="4328160"/>
            <a:ext cx="132080" cy="132080"/>
          </a:xfrm>
          <a:prstGeom prst="star8">
            <a:avLst>
              <a:gd name="adj" fmla="val 40000"/>
            </a:avLst>
          </a:prstGeom>
          <a:solidFill>
            <a:srgbClr val="E8901F"/>
          </a:solidFill>
          <a:ln w="5080">
            <a:solidFill>
              <a:srgbClr val="6F430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legend emission text"/>
          <p:cNvSpPr txBox="1"/>
          <p:nvPr/>
        </p:nvSpPr>
        <p:spPr>
          <a:xfrm>
            <a:off x="2570480" y="4286250"/>
            <a:ext cx="18288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5585C"/>
                </a:solidFill>
                <a:latin typeface="Arial"/>
              </a:rPr>
              <a:t>Exciton emission</a:t>
            </a:r>
          </a:p>
        </p:txBody>
      </p:sp>
      <p:sp>
        <p:nvSpPr>
          <p:cNvPr id="209" name="legend loss"/>
          <p:cNvSpPr/>
          <p:nvPr/>
        </p:nvSpPr>
        <p:spPr>
          <a:xfrm>
            <a:off x="4419600" y="4372039"/>
            <a:ext cx="355600" cy="44513"/>
          </a:xfrm>
          <a:custGeom>
            <a:avLst/>
            <a:gdLst/>
            <a:ahLst/>
            <a:cxnLst/>
            <a:rect l="l" t="t" r="r" b="b"/>
            <a:pathLst>
              <a:path w="355600" h="44513">
                <a:moveTo>
                  <a:pt x="0" y="22161"/>
                </a:moveTo>
                <a:lnTo>
                  <a:pt x="7408" y="29346"/>
                </a:lnTo>
                <a:lnTo>
                  <a:pt x="14817" y="35768"/>
                </a:lnTo>
                <a:lnTo>
                  <a:pt x="22225" y="40746"/>
                </a:lnTo>
                <a:lnTo>
                  <a:pt x="29633" y="43751"/>
                </a:lnTo>
                <a:lnTo>
                  <a:pt x="37042" y="44465"/>
                </a:lnTo>
                <a:lnTo>
                  <a:pt x="44450" y="42812"/>
                </a:lnTo>
                <a:lnTo>
                  <a:pt x="51858" y="38966"/>
                </a:lnTo>
                <a:lnTo>
                  <a:pt x="59267" y="33337"/>
                </a:lnTo>
                <a:lnTo>
                  <a:pt x="66675" y="26522"/>
                </a:lnTo>
                <a:lnTo>
                  <a:pt x="74083" y="19243"/>
                </a:lnTo>
                <a:lnTo>
                  <a:pt x="81492" y="12275"/>
                </a:lnTo>
                <a:lnTo>
                  <a:pt x="88900" y="6356"/>
                </a:lnTo>
                <a:lnTo>
                  <a:pt x="96308" y="2114"/>
                </a:lnTo>
                <a:lnTo>
                  <a:pt x="103717" y="0"/>
                </a:lnTo>
                <a:lnTo>
                  <a:pt x="111125" y="238"/>
                </a:lnTo>
                <a:lnTo>
                  <a:pt x="118533" y="2804"/>
                </a:lnTo>
                <a:lnTo>
                  <a:pt x="125942" y="7423"/>
                </a:lnTo>
                <a:lnTo>
                  <a:pt x="133350" y="13607"/>
                </a:lnTo>
                <a:lnTo>
                  <a:pt x="140758" y="20699"/>
                </a:lnTo>
                <a:lnTo>
                  <a:pt x="148167" y="27946"/>
                </a:lnTo>
                <a:lnTo>
                  <a:pt x="155575" y="34579"/>
                </a:lnTo>
                <a:lnTo>
                  <a:pt x="162983" y="39894"/>
                </a:lnTo>
                <a:lnTo>
                  <a:pt x="170392" y="43327"/>
                </a:lnTo>
                <a:lnTo>
                  <a:pt x="177800" y="44513"/>
                </a:lnTo>
                <a:lnTo>
                  <a:pt x="185208" y="43327"/>
                </a:lnTo>
                <a:lnTo>
                  <a:pt x="192617" y="39894"/>
                </a:lnTo>
                <a:lnTo>
                  <a:pt x="200025" y="34579"/>
                </a:lnTo>
                <a:lnTo>
                  <a:pt x="207433" y="27946"/>
                </a:lnTo>
                <a:lnTo>
                  <a:pt x="214842" y="20699"/>
                </a:lnTo>
                <a:lnTo>
                  <a:pt x="222250" y="13607"/>
                </a:lnTo>
                <a:lnTo>
                  <a:pt x="229658" y="7423"/>
                </a:lnTo>
                <a:lnTo>
                  <a:pt x="237067" y="2804"/>
                </a:lnTo>
                <a:lnTo>
                  <a:pt x="244475" y="238"/>
                </a:lnTo>
                <a:lnTo>
                  <a:pt x="251883" y="0"/>
                </a:lnTo>
                <a:lnTo>
                  <a:pt x="259292" y="2114"/>
                </a:lnTo>
                <a:lnTo>
                  <a:pt x="266700" y="6356"/>
                </a:lnTo>
                <a:lnTo>
                  <a:pt x="274108" y="12275"/>
                </a:lnTo>
                <a:lnTo>
                  <a:pt x="281517" y="19243"/>
                </a:lnTo>
                <a:lnTo>
                  <a:pt x="288925" y="26522"/>
                </a:lnTo>
                <a:lnTo>
                  <a:pt x="296333" y="33337"/>
                </a:lnTo>
                <a:lnTo>
                  <a:pt x="303742" y="38966"/>
                </a:lnTo>
                <a:lnTo>
                  <a:pt x="311150" y="42812"/>
                </a:lnTo>
                <a:lnTo>
                  <a:pt x="318558" y="44465"/>
                </a:lnTo>
                <a:lnTo>
                  <a:pt x="325967" y="43751"/>
                </a:lnTo>
                <a:lnTo>
                  <a:pt x="333375" y="40746"/>
                </a:lnTo>
                <a:lnTo>
                  <a:pt x="340783" y="35768"/>
                </a:lnTo>
                <a:lnTo>
                  <a:pt x="348192" y="29346"/>
                </a:lnTo>
                <a:lnTo>
                  <a:pt x="355600" y="22161"/>
                </a:lnTo>
              </a:path>
            </a:pathLst>
          </a:custGeom>
          <a:noFill/>
          <a:ln w="14224">
            <a:solidFill>
              <a:srgbClr val="E64B35">
                <a:alpha val="95000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legend loss text"/>
          <p:cNvSpPr txBox="1"/>
          <p:nvPr/>
        </p:nvSpPr>
        <p:spPr>
          <a:xfrm>
            <a:off x="4851400" y="4286250"/>
            <a:ext cx="42672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5585C"/>
                </a:solidFill>
                <a:latin typeface="Arial"/>
              </a:rPr>
              <a:t>Absorption loss  (Joule dissipation at the metal or absorption in the TCO)</a:t>
            </a:r>
          </a:p>
        </p:txBody>
      </p:sp>
      <p:sp>
        <p:nvSpPr>
          <p:cNvPr id="211" name="b frame"/>
          <p:cNvSpPr/>
          <p:nvPr/>
        </p:nvSpPr>
        <p:spPr>
          <a:xfrm>
            <a:off x="914400" y="5019040"/>
            <a:ext cx="3022600" cy="1930400"/>
          </a:xfrm>
          <a:prstGeom prst="rect">
            <a:avLst/>
          </a:prstGeom>
          <a:noFill/>
          <a:ln w="8128">
            <a:solidFill>
              <a:srgbClr val="2B2B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2" name="b n tick"/>
          <p:cNvCxnSpPr/>
          <p:nvPr/>
        </p:nvCxnSpPr>
        <p:spPr>
          <a:xfrm flipV="1">
            <a:off x="1051791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b n tick label"/>
          <p:cNvSpPr txBox="1"/>
          <p:nvPr/>
        </p:nvSpPr>
        <p:spPr>
          <a:xfrm>
            <a:off x="645391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cxnSp>
        <p:nvCxnSpPr>
          <p:cNvPr id="214" name="b n tick"/>
          <p:cNvCxnSpPr/>
          <p:nvPr/>
        </p:nvCxnSpPr>
        <p:spPr>
          <a:xfrm flipV="1">
            <a:off x="1326573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b n tick label"/>
          <p:cNvSpPr txBox="1"/>
          <p:nvPr/>
        </p:nvSpPr>
        <p:spPr>
          <a:xfrm>
            <a:off x="920173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cxnSp>
        <p:nvCxnSpPr>
          <p:cNvPr id="216" name="b n tick"/>
          <p:cNvCxnSpPr/>
          <p:nvPr/>
        </p:nvCxnSpPr>
        <p:spPr>
          <a:xfrm flipV="1">
            <a:off x="1601355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b n tick label"/>
          <p:cNvSpPr txBox="1"/>
          <p:nvPr/>
        </p:nvSpPr>
        <p:spPr>
          <a:xfrm>
            <a:off x="1194955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218" name="b n tick"/>
          <p:cNvCxnSpPr/>
          <p:nvPr/>
        </p:nvCxnSpPr>
        <p:spPr>
          <a:xfrm flipV="1">
            <a:off x="1876136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b n tick label"/>
          <p:cNvSpPr txBox="1"/>
          <p:nvPr/>
        </p:nvSpPr>
        <p:spPr>
          <a:xfrm>
            <a:off x="1469736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cxnSp>
        <p:nvCxnSpPr>
          <p:cNvPr id="220" name="b n tick"/>
          <p:cNvCxnSpPr/>
          <p:nvPr/>
        </p:nvCxnSpPr>
        <p:spPr>
          <a:xfrm flipV="1">
            <a:off x="2150918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b n tick label"/>
          <p:cNvSpPr txBox="1"/>
          <p:nvPr/>
        </p:nvSpPr>
        <p:spPr>
          <a:xfrm>
            <a:off x="1744518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cxnSp>
        <p:nvCxnSpPr>
          <p:cNvPr id="222" name="b n tick"/>
          <p:cNvCxnSpPr/>
          <p:nvPr/>
        </p:nvCxnSpPr>
        <p:spPr>
          <a:xfrm flipV="1">
            <a:off x="242570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b n tick label"/>
          <p:cNvSpPr txBox="1"/>
          <p:nvPr/>
        </p:nvSpPr>
        <p:spPr>
          <a:xfrm>
            <a:off x="201930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cxnSp>
        <p:nvCxnSpPr>
          <p:cNvPr id="224" name="b n tick"/>
          <p:cNvCxnSpPr/>
          <p:nvPr/>
        </p:nvCxnSpPr>
        <p:spPr>
          <a:xfrm flipV="1">
            <a:off x="2700482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b n tick label"/>
          <p:cNvSpPr txBox="1"/>
          <p:nvPr/>
        </p:nvSpPr>
        <p:spPr>
          <a:xfrm>
            <a:off x="2294082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226" name="b n tick"/>
          <p:cNvCxnSpPr/>
          <p:nvPr/>
        </p:nvCxnSpPr>
        <p:spPr>
          <a:xfrm flipV="1">
            <a:off x="2975264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b n tick label"/>
          <p:cNvSpPr txBox="1"/>
          <p:nvPr/>
        </p:nvSpPr>
        <p:spPr>
          <a:xfrm>
            <a:off x="2568864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cxnSp>
        <p:nvCxnSpPr>
          <p:cNvPr id="228" name="b n tick"/>
          <p:cNvCxnSpPr/>
          <p:nvPr/>
        </p:nvCxnSpPr>
        <p:spPr>
          <a:xfrm flipV="1">
            <a:off x="3250045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b n tick label"/>
          <p:cNvSpPr txBox="1"/>
          <p:nvPr/>
        </p:nvSpPr>
        <p:spPr>
          <a:xfrm>
            <a:off x="2843645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cxnSp>
        <p:nvCxnSpPr>
          <p:cNvPr id="230" name="b n tick"/>
          <p:cNvCxnSpPr/>
          <p:nvPr/>
        </p:nvCxnSpPr>
        <p:spPr>
          <a:xfrm flipV="1">
            <a:off x="3524827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b n tick label"/>
          <p:cNvSpPr txBox="1"/>
          <p:nvPr/>
        </p:nvSpPr>
        <p:spPr>
          <a:xfrm>
            <a:off x="3118427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cxnSp>
        <p:nvCxnSpPr>
          <p:cNvPr id="232" name="b n tick"/>
          <p:cNvCxnSpPr/>
          <p:nvPr/>
        </p:nvCxnSpPr>
        <p:spPr>
          <a:xfrm flipV="1">
            <a:off x="3799609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b n tick label"/>
          <p:cNvSpPr txBox="1"/>
          <p:nvPr/>
        </p:nvSpPr>
        <p:spPr>
          <a:xfrm>
            <a:off x="3393209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cxnSp>
        <p:nvCxnSpPr>
          <p:cNvPr id="234" name="b left tick"/>
          <p:cNvCxnSpPr/>
          <p:nvPr/>
        </p:nvCxnSpPr>
        <p:spPr>
          <a:xfrm>
            <a:off x="914400" y="69494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b left tick label"/>
          <p:cNvSpPr txBox="1"/>
          <p:nvPr/>
        </p:nvSpPr>
        <p:spPr>
          <a:xfrm>
            <a:off x="182880" y="68544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cxnSp>
        <p:nvCxnSpPr>
          <p:cNvPr id="236" name="b left tick"/>
          <p:cNvCxnSpPr/>
          <p:nvPr/>
        </p:nvCxnSpPr>
        <p:spPr>
          <a:xfrm>
            <a:off x="914400" y="6520462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b left tick label"/>
          <p:cNvSpPr txBox="1"/>
          <p:nvPr/>
        </p:nvSpPr>
        <p:spPr>
          <a:xfrm>
            <a:off x="182880" y="6425466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0.1</a:t>
            </a:r>
          </a:p>
        </p:txBody>
      </p:sp>
      <p:cxnSp>
        <p:nvCxnSpPr>
          <p:cNvPr id="238" name="b left tick"/>
          <p:cNvCxnSpPr/>
          <p:nvPr/>
        </p:nvCxnSpPr>
        <p:spPr>
          <a:xfrm>
            <a:off x="914400" y="6091484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b left tick label"/>
          <p:cNvSpPr txBox="1"/>
          <p:nvPr/>
        </p:nvSpPr>
        <p:spPr>
          <a:xfrm>
            <a:off x="182880" y="5996488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cxnSp>
        <p:nvCxnSpPr>
          <p:cNvPr id="240" name="b left tick"/>
          <p:cNvCxnSpPr/>
          <p:nvPr/>
        </p:nvCxnSpPr>
        <p:spPr>
          <a:xfrm>
            <a:off x="914400" y="5662507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b left tick label"/>
          <p:cNvSpPr txBox="1"/>
          <p:nvPr/>
        </p:nvSpPr>
        <p:spPr>
          <a:xfrm>
            <a:off x="182880" y="5567511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0.3</a:t>
            </a:r>
          </a:p>
        </p:txBody>
      </p:sp>
      <p:cxnSp>
        <p:nvCxnSpPr>
          <p:cNvPr id="242" name="b left tick"/>
          <p:cNvCxnSpPr/>
          <p:nvPr/>
        </p:nvCxnSpPr>
        <p:spPr>
          <a:xfrm>
            <a:off x="914400" y="5233529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b left tick label"/>
          <p:cNvSpPr txBox="1"/>
          <p:nvPr/>
        </p:nvSpPr>
        <p:spPr>
          <a:xfrm>
            <a:off x="182880" y="5138533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cxnSp>
        <p:nvCxnSpPr>
          <p:cNvPr id="244" name="b right tick"/>
          <p:cNvCxnSpPr/>
          <p:nvPr/>
        </p:nvCxnSpPr>
        <p:spPr>
          <a:xfrm flipH="1">
            <a:off x="3881120" y="69494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b right tick label"/>
          <p:cNvSpPr txBox="1"/>
          <p:nvPr/>
        </p:nvSpPr>
        <p:spPr>
          <a:xfrm>
            <a:off x="4058920" y="68544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cxnSp>
        <p:nvCxnSpPr>
          <p:cNvPr id="246" name="b right tick"/>
          <p:cNvCxnSpPr/>
          <p:nvPr/>
        </p:nvCxnSpPr>
        <p:spPr>
          <a:xfrm flipH="1">
            <a:off x="3881120" y="656336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b right tick label"/>
          <p:cNvSpPr txBox="1"/>
          <p:nvPr/>
        </p:nvSpPr>
        <p:spPr>
          <a:xfrm>
            <a:off x="4058920" y="646836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cxnSp>
        <p:nvCxnSpPr>
          <p:cNvPr id="248" name="b right tick"/>
          <p:cNvCxnSpPr/>
          <p:nvPr/>
        </p:nvCxnSpPr>
        <p:spPr>
          <a:xfrm flipH="1">
            <a:off x="3881120" y="617728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b right tick label"/>
          <p:cNvSpPr txBox="1"/>
          <p:nvPr/>
        </p:nvSpPr>
        <p:spPr>
          <a:xfrm>
            <a:off x="4058920" y="608228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cxnSp>
        <p:nvCxnSpPr>
          <p:cNvPr id="250" name="b right tick"/>
          <p:cNvCxnSpPr/>
          <p:nvPr/>
        </p:nvCxnSpPr>
        <p:spPr>
          <a:xfrm flipH="1">
            <a:off x="3881120" y="579120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b right tick label"/>
          <p:cNvSpPr txBox="1"/>
          <p:nvPr/>
        </p:nvSpPr>
        <p:spPr>
          <a:xfrm>
            <a:off x="4058920" y="569620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cxnSp>
        <p:nvCxnSpPr>
          <p:cNvPr id="252" name="b right tick"/>
          <p:cNvCxnSpPr/>
          <p:nvPr/>
        </p:nvCxnSpPr>
        <p:spPr>
          <a:xfrm flipH="1">
            <a:off x="3881120" y="540512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b right tick label"/>
          <p:cNvSpPr txBox="1"/>
          <p:nvPr/>
        </p:nvSpPr>
        <p:spPr>
          <a:xfrm>
            <a:off x="4058920" y="531012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cxnSp>
        <p:nvCxnSpPr>
          <p:cNvPr id="254" name="b right tick"/>
          <p:cNvCxnSpPr/>
          <p:nvPr/>
        </p:nvCxnSpPr>
        <p:spPr>
          <a:xfrm flipH="1">
            <a:off x="3881120" y="50190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b right tick label"/>
          <p:cNvSpPr txBox="1"/>
          <p:nvPr/>
        </p:nvSpPr>
        <p:spPr>
          <a:xfrm>
            <a:off x="4058920" y="49240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sp>
        <p:nvSpPr>
          <p:cNvPr id="256" name="b x title"/>
          <p:cNvSpPr txBox="1"/>
          <p:nvPr/>
        </p:nvSpPr>
        <p:spPr>
          <a:xfrm>
            <a:off x="647700" y="7278370"/>
            <a:ext cx="3556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rial"/>
              </a:rPr>
              <a:t>Number of round trips</a:t>
            </a:r>
          </a:p>
        </p:txBody>
      </p:sp>
      <p:sp>
        <p:nvSpPr>
          <p:cNvPr id="257" name="b y title"/>
          <p:cNvSpPr txBox="1"/>
          <p:nvPr/>
        </p:nvSpPr>
        <p:spPr>
          <a:xfrm rot="16200000">
            <a:off x="-1168400" y="5876290"/>
            <a:ext cx="2540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rial"/>
              </a:rPr>
              <a:t>Escaped per pass</a:t>
            </a:r>
          </a:p>
        </p:txBody>
      </p:sp>
      <p:sp>
        <p:nvSpPr>
          <p:cNvPr id="258" name="b y2 title"/>
          <p:cNvSpPr txBox="1"/>
          <p:nvPr/>
        </p:nvSpPr>
        <p:spPr>
          <a:xfrm rot="5400000">
            <a:off x="3454400" y="5876290"/>
            <a:ext cx="2641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rial"/>
              </a:rPr>
              <a:t>Cumulative extraction</a:t>
            </a:r>
          </a:p>
        </p:txBody>
      </p:sp>
      <p:sp>
        <p:nvSpPr>
          <p:cNvPr id="259" name="b bar A'=0.02 n=0"/>
          <p:cNvSpPr/>
          <p:nvPr/>
        </p:nvSpPr>
        <p:spPr>
          <a:xfrm>
            <a:off x="944626" y="5233529"/>
            <a:ext cx="71443" cy="1715911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b bar A'=0.02 n=1"/>
          <p:cNvSpPr/>
          <p:nvPr/>
        </p:nvSpPr>
        <p:spPr>
          <a:xfrm>
            <a:off x="1219408" y="5940484"/>
            <a:ext cx="71443" cy="1008956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b bar A'=0.02 n=2"/>
          <p:cNvSpPr/>
          <p:nvPr/>
        </p:nvSpPr>
        <p:spPr>
          <a:xfrm>
            <a:off x="1494190" y="6356174"/>
            <a:ext cx="71443" cy="593266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b bar A'=0.02 n=3"/>
          <p:cNvSpPr/>
          <p:nvPr/>
        </p:nvSpPr>
        <p:spPr>
          <a:xfrm>
            <a:off x="1768971" y="6600600"/>
            <a:ext cx="71443" cy="348840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b bar A'=0.02 n=4"/>
          <p:cNvSpPr/>
          <p:nvPr/>
        </p:nvSpPr>
        <p:spPr>
          <a:xfrm>
            <a:off x="2043753" y="6744322"/>
            <a:ext cx="71443" cy="205118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b bar A'=0.02 n=5"/>
          <p:cNvSpPr/>
          <p:nvPr/>
        </p:nvSpPr>
        <p:spPr>
          <a:xfrm>
            <a:off x="2318535" y="6828831"/>
            <a:ext cx="71443" cy="120609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b bar A'=0.02 n=6"/>
          <p:cNvSpPr/>
          <p:nvPr/>
        </p:nvSpPr>
        <p:spPr>
          <a:xfrm>
            <a:off x="2593317" y="6878522"/>
            <a:ext cx="71443" cy="70918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b bar A'=0.02 n=7"/>
          <p:cNvSpPr/>
          <p:nvPr/>
        </p:nvSpPr>
        <p:spPr>
          <a:xfrm>
            <a:off x="2868099" y="6907740"/>
            <a:ext cx="71443" cy="41700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 bar A'=0.02 n=8"/>
          <p:cNvSpPr/>
          <p:nvPr/>
        </p:nvSpPr>
        <p:spPr>
          <a:xfrm>
            <a:off x="3142881" y="6924920"/>
            <a:ext cx="71443" cy="24520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b bar A'=0.02 n=9"/>
          <p:cNvSpPr/>
          <p:nvPr/>
        </p:nvSpPr>
        <p:spPr>
          <a:xfrm>
            <a:off x="3417662" y="6935022"/>
            <a:ext cx="71443" cy="14418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 bar A'=0.02 n=10"/>
          <p:cNvSpPr/>
          <p:nvPr/>
        </p:nvSpPr>
        <p:spPr>
          <a:xfrm>
            <a:off x="3692444" y="6940962"/>
            <a:ext cx="71443" cy="8478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b cumulative A'=0.02"/>
          <p:cNvSpPr/>
          <p:nvPr/>
        </p:nvSpPr>
        <p:spPr>
          <a:xfrm>
            <a:off x="1051791" y="5080710"/>
            <a:ext cx="2747818" cy="1096570"/>
          </a:xfrm>
          <a:custGeom>
            <a:avLst/>
            <a:gdLst/>
            <a:ahLst/>
            <a:cxnLst/>
            <a:rect l="l" t="t" r="r" b="b"/>
            <a:pathLst>
              <a:path w="2747818" h="1096570">
                <a:moveTo>
                  <a:pt x="0" y="1096570"/>
                </a:moveTo>
                <a:lnTo>
                  <a:pt x="22898" y="1048867"/>
                </a:lnTo>
                <a:lnTo>
                  <a:pt x="45797" y="1003228"/>
                </a:lnTo>
                <a:lnTo>
                  <a:pt x="68695" y="959565"/>
                </a:lnTo>
                <a:lnTo>
                  <a:pt x="91594" y="917792"/>
                </a:lnTo>
                <a:lnTo>
                  <a:pt x="114492" y="877828"/>
                </a:lnTo>
                <a:lnTo>
                  <a:pt x="137391" y="839593"/>
                </a:lnTo>
                <a:lnTo>
                  <a:pt x="160289" y="803013"/>
                </a:lnTo>
                <a:lnTo>
                  <a:pt x="183188" y="768017"/>
                </a:lnTo>
                <a:lnTo>
                  <a:pt x="206086" y="734536"/>
                </a:lnTo>
                <a:lnTo>
                  <a:pt x="228985" y="702504"/>
                </a:lnTo>
                <a:lnTo>
                  <a:pt x="251883" y="671859"/>
                </a:lnTo>
                <a:lnTo>
                  <a:pt x="274782" y="642540"/>
                </a:lnTo>
                <a:lnTo>
                  <a:pt x="297680" y="614490"/>
                </a:lnTo>
                <a:lnTo>
                  <a:pt x="320579" y="587655"/>
                </a:lnTo>
                <a:lnTo>
                  <a:pt x="343477" y="561981"/>
                </a:lnTo>
                <a:lnTo>
                  <a:pt x="366376" y="537419"/>
                </a:lnTo>
                <a:lnTo>
                  <a:pt x="389274" y="513919"/>
                </a:lnTo>
                <a:lnTo>
                  <a:pt x="412173" y="491437"/>
                </a:lnTo>
                <a:lnTo>
                  <a:pt x="435071" y="469929"/>
                </a:lnTo>
                <a:lnTo>
                  <a:pt x="457970" y="449351"/>
                </a:lnTo>
                <a:lnTo>
                  <a:pt x="480868" y="429664"/>
                </a:lnTo>
                <a:lnTo>
                  <a:pt x="503767" y="410829"/>
                </a:lnTo>
                <a:lnTo>
                  <a:pt x="526665" y="392810"/>
                </a:lnTo>
                <a:lnTo>
                  <a:pt x="549564" y="375570"/>
                </a:lnTo>
                <a:lnTo>
                  <a:pt x="572462" y="359077"/>
                </a:lnTo>
                <a:lnTo>
                  <a:pt x="595361" y="343298"/>
                </a:lnTo>
                <a:lnTo>
                  <a:pt x="618259" y="328202"/>
                </a:lnTo>
                <a:lnTo>
                  <a:pt x="641157" y="313759"/>
                </a:lnTo>
                <a:lnTo>
                  <a:pt x="664056" y="299941"/>
                </a:lnTo>
                <a:lnTo>
                  <a:pt x="686954" y="286722"/>
                </a:lnTo>
                <a:lnTo>
                  <a:pt x="709853" y="274075"/>
                </a:lnTo>
                <a:lnTo>
                  <a:pt x="732751" y="261975"/>
                </a:lnTo>
                <a:lnTo>
                  <a:pt x="755650" y="250399"/>
                </a:lnTo>
                <a:lnTo>
                  <a:pt x="778548" y="239324"/>
                </a:lnTo>
                <a:lnTo>
                  <a:pt x="801447" y="228729"/>
                </a:lnTo>
                <a:lnTo>
                  <a:pt x="824345" y="218592"/>
                </a:lnTo>
                <a:lnTo>
                  <a:pt x="847244" y="208894"/>
                </a:lnTo>
                <a:lnTo>
                  <a:pt x="870142" y="199616"/>
                </a:lnTo>
                <a:lnTo>
                  <a:pt x="893041" y="190739"/>
                </a:lnTo>
                <a:lnTo>
                  <a:pt x="915939" y="182247"/>
                </a:lnTo>
                <a:lnTo>
                  <a:pt x="938838" y="174122"/>
                </a:lnTo>
                <a:lnTo>
                  <a:pt x="961736" y="166349"/>
                </a:lnTo>
                <a:lnTo>
                  <a:pt x="984635" y="158913"/>
                </a:lnTo>
                <a:lnTo>
                  <a:pt x="1007533" y="151798"/>
                </a:lnTo>
                <a:lnTo>
                  <a:pt x="1030432" y="144991"/>
                </a:lnTo>
                <a:lnTo>
                  <a:pt x="1053330" y="138479"/>
                </a:lnTo>
                <a:lnTo>
                  <a:pt x="1076229" y="132249"/>
                </a:lnTo>
                <a:lnTo>
                  <a:pt x="1099127" y="126289"/>
                </a:lnTo>
                <a:lnTo>
                  <a:pt x="1122026" y="120586"/>
                </a:lnTo>
                <a:lnTo>
                  <a:pt x="1144924" y="115131"/>
                </a:lnTo>
                <a:lnTo>
                  <a:pt x="1167823" y="109911"/>
                </a:lnTo>
                <a:lnTo>
                  <a:pt x="1190721" y="104918"/>
                </a:lnTo>
                <a:lnTo>
                  <a:pt x="1213620" y="100141"/>
                </a:lnTo>
                <a:lnTo>
                  <a:pt x="1236518" y="95570"/>
                </a:lnTo>
                <a:lnTo>
                  <a:pt x="1259417" y="91197"/>
                </a:lnTo>
                <a:lnTo>
                  <a:pt x="1282315" y="87014"/>
                </a:lnTo>
                <a:lnTo>
                  <a:pt x="1305214" y="83012"/>
                </a:lnTo>
                <a:lnTo>
                  <a:pt x="1328112" y="79183"/>
                </a:lnTo>
                <a:lnTo>
                  <a:pt x="1351011" y="75519"/>
                </a:lnTo>
                <a:lnTo>
                  <a:pt x="1373909" y="72015"/>
                </a:lnTo>
                <a:lnTo>
                  <a:pt x="1396807" y="68662"/>
                </a:lnTo>
                <a:lnTo>
                  <a:pt x="1419706" y="65454"/>
                </a:lnTo>
                <a:lnTo>
                  <a:pt x="1442604" y="62385"/>
                </a:lnTo>
                <a:lnTo>
                  <a:pt x="1465503" y="59449"/>
                </a:lnTo>
                <a:lnTo>
                  <a:pt x="1488401" y="56639"/>
                </a:lnTo>
                <a:lnTo>
                  <a:pt x="1511300" y="53952"/>
                </a:lnTo>
                <a:lnTo>
                  <a:pt x="1534198" y="51381"/>
                </a:lnTo>
                <a:lnTo>
                  <a:pt x="1557097" y="48921"/>
                </a:lnTo>
                <a:lnTo>
                  <a:pt x="1579995" y="46568"/>
                </a:lnTo>
                <a:lnTo>
                  <a:pt x="1602894" y="44316"/>
                </a:lnTo>
                <a:lnTo>
                  <a:pt x="1625792" y="42162"/>
                </a:lnTo>
                <a:lnTo>
                  <a:pt x="1648691" y="40101"/>
                </a:lnTo>
                <a:lnTo>
                  <a:pt x="1671589" y="38130"/>
                </a:lnTo>
                <a:lnTo>
                  <a:pt x="1694488" y="36244"/>
                </a:lnTo>
                <a:lnTo>
                  <a:pt x="1717386" y="34439"/>
                </a:lnTo>
                <a:lnTo>
                  <a:pt x="1740285" y="32712"/>
                </a:lnTo>
                <a:lnTo>
                  <a:pt x="1763183" y="31061"/>
                </a:lnTo>
                <a:lnTo>
                  <a:pt x="1786082" y="29481"/>
                </a:lnTo>
                <a:lnTo>
                  <a:pt x="1808980" y="27969"/>
                </a:lnTo>
                <a:lnTo>
                  <a:pt x="1831879" y="26522"/>
                </a:lnTo>
                <a:lnTo>
                  <a:pt x="1854777" y="25139"/>
                </a:lnTo>
                <a:lnTo>
                  <a:pt x="1877676" y="23815"/>
                </a:lnTo>
                <a:lnTo>
                  <a:pt x="1900574" y="22548"/>
                </a:lnTo>
                <a:lnTo>
                  <a:pt x="1923473" y="21336"/>
                </a:lnTo>
                <a:lnTo>
                  <a:pt x="1946371" y="20177"/>
                </a:lnTo>
                <a:lnTo>
                  <a:pt x="1969270" y="19068"/>
                </a:lnTo>
                <a:lnTo>
                  <a:pt x="1992168" y="18007"/>
                </a:lnTo>
                <a:lnTo>
                  <a:pt x="2015067" y="16992"/>
                </a:lnTo>
                <a:lnTo>
                  <a:pt x="2037965" y="16020"/>
                </a:lnTo>
                <a:lnTo>
                  <a:pt x="2060864" y="15091"/>
                </a:lnTo>
                <a:lnTo>
                  <a:pt x="2083762" y="14202"/>
                </a:lnTo>
                <a:lnTo>
                  <a:pt x="2106661" y="13352"/>
                </a:lnTo>
                <a:lnTo>
                  <a:pt x="2129559" y="12538"/>
                </a:lnTo>
                <a:lnTo>
                  <a:pt x="2152457" y="11760"/>
                </a:lnTo>
                <a:lnTo>
                  <a:pt x="2175356" y="11015"/>
                </a:lnTo>
                <a:lnTo>
                  <a:pt x="2198254" y="10303"/>
                </a:lnTo>
                <a:lnTo>
                  <a:pt x="2221153" y="9621"/>
                </a:lnTo>
                <a:lnTo>
                  <a:pt x="2244051" y="8969"/>
                </a:lnTo>
                <a:lnTo>
                  <a:pt x="2266950" y="8345"/>
                </a:lnTo>
                <a:lnTo>
                  <a:pt x="2289848" y="7748"/>
                </a:lnTo>
                <a:lnTo>
                  <a:pt x="2312747" y="7177"/>
                </a:lnTo>
                <a:lnTo>
                  <a:pt x="2335645" y="6630"/>
                </a:lnTo>
                <a:lnTo>
                  <a:pt x="2358544" y="6108"/>
                </a:lnTo>
                <a:lnTo>
                  <a:pt x="2381442" y="5608"/>
                </a:lnTo>
                <a:lnTo>
                  <a:pt x="2404341" y="5129"/>
                </a:lnTo>
                <a:lnTo>
                  <a:pt x="2427239" y="4672"/>
                </a:lnTo>
                <a:lnTo>
                  <a:pt x="2450138" y="4234"/>
                </a:lnTo>
                <a:lnTo>
                  <a:pt x="2473036" y="3815"/>
                </a:lnTo>
                <a:lnTo>
                  <a:pt x="2495935" y="3414"/>
                </a:lnTo>
                <a:lnTo>
                  <a:pt x="2518833" y="3030"/>
                </a:lnTo>
                <a:lnTo>
                  <a:pt x="2541732" y="2664"/>
                </a:lnTo>
                <a:lnTo>
                  <a:pt x="2564630" y="2313"/>
                </a:lnTo>
                <a:lnTo>
                  <a:pt x="2587529" y="1977"/>
                </a:lnTo>
                <a:lnTo>
                  <a:pt x="2610427" y="1655"/>
                </a:lnTo>
                <a:lnTo>
                  <a:pt x="2633326" y="1348"/>
                </a:lnTo>
                <a:lnTo>
                  <a:pt x="2656224" y="1054"/>
                </a:lnTo>
                <a:lnTo>
                  <a:pt x="2679123" y="773"/>
                </a:lnTo>
                <a:lnTo>
                  <a:pt x="2702021" y="504"/>
                </a:lnTo>
                <a:lnTo>
                  <a:pt x="2724920" y="246"/>
                </a:lnTo>
                <a:lnTo>
                  <a:pt x="2747818" y="0"/>
                </a:lnTo>
              </a:path>
            </a:pathLst>
          </a:custGeom>
          <a:noFill/>
          <a:ln w="13208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b bar A'=0.10 n=0"/>
          <p:cNvSpPr/>
          <p:nvPr/>
        </p:nvSpPr>
        <p:spPr>
          <a:xfrm>
            <a:off x="1016069" y="5233529"/>
            <a:ext cx="71443" cy="1715911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b bar A'=0.10 n=1"/>
          <p:cNvSpPr/>
          <p:nvPr/>
        </p:nvSpPr>
        <p:spPr>
          <a:xfrm>
            <a:off x="1290851" y="6022848"/>
            <a:ext cx="71443" cy="926592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b bar A'=0.10 n=2"/>
          <p:cNvSpPr/>
          <p:nvPr/>
        </p:nvSpPr>
        <p:spPr>
          <a:xfrm>
            <a:off x="1565633" y="6449080"/>
            <a:ext cx="71443" cy="500360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b bar A'=0.10 n=3"/>
          <p:cNvSpPr/>
          <p:nvPr/>
        </p:nvSpPr>
        <p:spPr>
          <a:xfrm>
            <a:off x="1840415" y="6679246"/>
            <a:ext cx="71443" cy="270194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b bar A'=0.10 n=4"/>
          <p:cNvSpPr/>
          <p:nvPr/>
        </p:nvSpPr>
        <p:spPr>
          <a:xfrm>
            <a:off x="2115197" y="6803535"/>
            <a:ext cx="71443" cy="145905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b bar A'=0.10 n=5"/>
          <p:cNvSpPr/>
          <p:nvPr/>
        </p:nvSpPr>
        <p:spPr>
          <a:xfrm>
            <a:off x="2389978" y="6870651"/>
            <a:ext cx="71443" cy="78789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b bar A'=0.10 n=6"/>
          <p:cNvSpPr/>
          <p:nvPr/>
        </p:nvSpPr>
        <p:spPr>
          <a:xfrm>
            <a:off x="2664760" y="6906894"/>
            <a:ext cx="71443" cy="42546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b bar A'=0.10 n=7"/>
          <p:cNvSpPr/>
          <p:nvPr/>
        </p:nvSpPr>
        <p:spPr>
          <a:xfrm>
            <a:off x="2939542" y="6926465"/>
            <a:ext cx="71443" cy="22975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b bar A'=0.10 n=8"/>
          <p:cNvSpPr/>
          <p:nvPr/>
        </p:nvSpPr>
        <p:spPr>
          <a:xfrm>
            <a:off x="3214324" y="6937034"/>
            <a:ext cx="71443" cy="12406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b bar A'=0.10 n=9"/>
          <p:cNvSpPr/>
          <p:nvPr/>
        </p:nvSpPr>
        <p:spPr>
          <a:xfrm>
            <a:off x="3489106" y="6942741"/>
            <a:ext cx="71443" cy="6699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b cumulative A'=0.10"/>
          <p:cNvSpPr/>
          <p:nvPr/>
        </p:nvSpPr>
        <p:spPr>
          <a:xfrm>
            <a:off x="1051791" y="5272742"/>
            <a:ext cx="2747818" cy="904538"/>
          </a:xfrm>
          <a:custGeom>
            <a:avLst/>
            <a:gdLst/>
            <a:ahLst/>
            <a:cxnLst/>
            <a:rect l="l" t="t" r="r" b="b"/>
            <a:pathLst>
              <a:path w="2747818" h="904538">
                <a:moveTo>
                  <a:pt x="0" y="904538"/>
                </a:moveTo>
                <a:lnTo>
                  <a:pt x="22898" y="859168"/>
                </a:lnTo>
                <a:lnTo>
                  <a:pt x="45797" y="816068"/>
                </a:lnTo>
                <a:lnTo>
                  <a:pt x="68695" y="775126"/>
                </a:lnTo>
                <a:lnTo>
                  <a:pt x="91594" y="736233"/>
                </a:lnTo>
                <a:lnTo>
                  <a:pt x="114492" y="699287"/>
                </a:lnTo>
                <a:lnTo>
                  <a:pt x="137391" y="664190"/>
                </a:lnTo>
                <a:lnTo>
                  <a:pt x="160289" y="630850"/>
                </a:lnTo>
                <a:lnTo>
                  <a:pt x="183188" y="599179"/>
                </a:lnTo>
                <a:lnTo>
                  <a:pt x="206086" y="569093"/>
                </a:lnTo>
                <a:lnTo>
                  <a:pt x="228985" y="540512"/>
                </a:lnTo>
                <a:lnTo>
                  <a:pt x="251883" y="513362"/>
                </a:lnTo>
                <a:lnTo>
                  <a:pt x="274782" y="487572"/>
                </a:lnTo>
                <a:lnTo>
                  <a:pt x="297680" y="463072"/>
                </a:lnTo>
                <a:lnTo>
                  <a:pt x="320579" y="439798"/>
                </a:lnTo>
                <a:lnTo>
                  <a:pt x="343477" y="417689"/>
                </a:lnTo>
                <a:lnTo>
                  <a:pt x="366376" y="396687"/>
                </a:lnTo>
                <a:lnTo>
                  <a:pt x="389274" y="376736"/>
                </a:lnTo>
                <a:lnTo>
                  <a:pt x="412173" y="357784"/>
                </a:lnTo>
                <a:lnTo>
                  <a:pt x="435071" y="339780"/>
                </a:lnTo>
                <a:lnTo>
                  <a:pt x="457970" y="322678"/>
                </a:lnTo>
                <a:lnTo>
                  <a:pt x="480868" y="306431"/>
                </a:lnTo>
                <a:lnTo>
                  <a:pt x="503767" y="290998"/>
                </a:lnTo>
                <a:lnTo>
                  <a:pt x="526665" y="276337"/>
                </a:lnTo>
                <a:lnTo>
                  <a:pt x="549564" y="262410"/>
                </a:lnTo>
                <a:lnTo>
                  <a:pt x="572462" y="249180"/>
                </a:lnTo>
                <a:lnTo>
                  <a:pt x="595361" y="236612"/>
                </a:lnTo>
                <a:lnTo>
                  <a:pt x="618259" y="224673"/>
                </a:lnTo>
                <a:lnTo>
                  <a:pt x="641157" y="213332"/>
                </a:lnTo>
                <a:lnTo>
                  <a:pt x="664056" y="202559"/>
                </a:lnTo>
                <a:lnTo>
                  <a:pt x="686954" y="192324"/>
                </a:lnTo>
                <a:lnTo>
                  <a:pt x="709853" y="182602"/>
                </a:lnTo>
                <a:lnTo>
                  <a:pt x="732751" y="173367"/>
                </a:lnTo>
                <a:lnTo>
                  <a:pt x="755650" y="164594"/>
                </a:lnTo>
                <a:lnTo>
                  <a:pt x="778548" y="156260"/>
                </a:lnTo>
                <a:lnTo>
                  <a:pt x="801447" y="148343"/>
                </a:lnTo>
                <a:lnTo>
                  <a:pt x="824345" y="140822"/>
                </a:lnTo>
                <a:lnTo>
                  <a:pt x="847244" y="133678"/>
                </a:lnTo>
                <a:lnTo>
                  <a:pt x="870142" y="126892"/>
                </a:lnTo>
                <a:lnTo>
                  <a:pt x="893041" y="120445"/>
                </a:lnTo>
                <a:lnTo>
                  <a:pt x="915939" y="114320"/>
                </a:lnTo>
                <a:lnTo>
                  <a:pt x="938838" y="108503"/>
                </a:lnTo>
                <a:lnTo>
                  <a:pt x="961736" y="102976"/>
                </a:lnTo>
                <a:lnTo>
                  <a:pt x="984635" y="97726"/>
                </a:lnTo>
                <a:lnTo>
                  <a:pt x="1007533" y="92739"/>
                </a:lnTo>
                <a:lnTo>
                  <a:pt x="1030432" y="88002"/>
                </a:lnTo>
                <a:lnTo>
                  <a:pt x="1053330" y="83501"/>
                </a:lnTo>
                <a:lnTo>
                  <a:pt x="1076229" y="79226"/>
                </a:lnTo>
                <a:lnTo>
                  <a:pt x="1099127" y="75165"/>
                </a:lnTo>
                <a:lnTo>
                  <a:pt x="1122026" y="71307"/>
                </a:lnTo>
                <a:lnTo>
                  <a:pt x="1144924" y="67643"/>
                </a:lnTo>
                <a:lnTo>
                  <a:pt x="1167823" y="64161"/>
                </a:lnTo>
                <a:lnTo>
                  <a:pt x="1190721" y="60854"/>
                </a:lnTo>
                <a:lnTo>
                  <a:pt x="1213620" y="57713"/>
                </a:lnTo>
                <a:lnTo>
                  <a:pt x="1236518" y="54728"/>
                </a:lnTo>
                <a:lnTo>
                  <a:pt x="1259417" y="51893"/>
                </a:lnTo>
                <a:lnTo>
                  <a:pt x="1282315" y="49200"/>
                </a:lnTo>
                <a:lnTo>
                  <a:pt x="1305214" y="46642"/>
                </a:lnTo>
                <a:lnTo>
                  <a:pt x="1328112" y="44212"/>
                </a:lnTo>
                <a:lnTo>
                  <a:pt x="1351011" y="41903"/>
                </a:lnTo>
                <a:lnTo>
                  <a:pt x="1373909" y="39710"/>
                </a:lnTo>
                <a:lnTo>
                  <a:pt x="1396807" y="37627"/>
                </a:lnTo>
                <a:lnTo>
                  <a:pt x="1419706" y="35648"/>
                </a:lnTo>
                <a:lnTo>
                  <a:pt x="1442604" y="33768"/>
                </a:lnTo>
                <a:lnTo>
                  <a:pt x="1465503" y="31982"/>
                </a:lnTo>
                <a:lnTo>
                  <a:pt x="1488401" y="30286"/>
                </a:lnTo>
                <a:lnTo>
                  <a:pt x="1511300" y="28674"/>
                </a:lnTo>
                <a:lnTo>
                  <a:pt x="1534198" y="27143"/>
                </a:lnTo>
                <a:lnTo>
                  <a:pt x="1557097" y="25689"/>
                </a:lnTo>
                <a:lnTo>
                  <a:pt x="1579995" y="24308"/>
                </a:lnTo>
                <a:lnTo>
                  <a:pt x="1602894" y="22995"/>
                </a:lnTo>
                <a:lnTo>
                  <a:pt x="1625792" y="21749"/>
                </a:lnTo>
                <a:lnTo>
                  <a:pt x="1648691" y="20565"/>
                </a:lnTo>
                <a:lnTo>
                  <a:pt x="1671589" y="19440"/>
                </a:lnTo>
                <a:lnTo>
                  <a:pt x="1694488" y="18371"/>
                </a:lnTo>
                <a:lnTo>
                  <a:pt x="1717386" y="17356"/>
                </a:lnTo>
                <a:lnTo>
                  <a:pt x="1740285" y="16392"/>
                </a:lnTo>
                <a:lnTo>
                  <a:pt x="1763183" y="15475"/>
                </a:lnTo>
                <a:lnTo>
                  <a:pt x="1786082" y="14605"/>
                </a:lnTo>
                <a:lnTo>
                  <a:pt x="1808980" y="13779"/>
                </a:lnTo>
                <a:lnTo>
                  <a:pt x="1831879" y="12993"/>
                </a:lnTo>
                <a:lnTo>
                  <a:pt x="1854777" y="12247"/>
                </a:lnTo>
                <a:lnTo>
                  <a:pt x="1877676" y="11539"/>
                </a:lnTo>
                <a:lnTo>
                  <a:pt x="1900574" y="10865"/>
                </a:lnTo>
                <a:lnTo>
                  <a:pt x="1923473" y="10226"/>
                </a:lnTo>
                <a:lnTo>
                  <a:pt x="1946371" y="9619"/>
                </a:lnTo>
                <a:lnTo>
                  <a:pt x="1969270" y="9041"/>
                </a:lnTo>
                <a:lnTo>
                  <a:pt x="1992168" y="8493"/>
                </a:lnTo>
                <a:lnTo>
                  <a:pt x="2015067" y="7973"/>
                </a:lnTo>
                <a:lnTo>
                  <a:pt x="2037965" y="7478"/>
                </a:lnTo>
                <a:lnTo>
                  <a:pt x="2060864" y="7008"/>
                </a:lnTo>
                <a:lnTo>
                  <a:pt x="2083762" y="6561"/>
                </a:lnTo>
                <a:lnTo>
                  <a:pt x="2106661" y="6137"/>
                </a:lnTo>
                <a:lnTo>
                  <a:pt x="2129559" y="5735"/>
                </a:lnTo>
                <a:lnTo>
                  <a:pt x="2152457" y="5352"/>
                </a:lnTo>
                <a:lnTo>
                  <a:pt x="2175356" y="4988"/>
                </a:lnTo>
                <a:lnTo>
                  <a:pt x="2198254" y="4643"/>
                </a:lnTo>
                <a:lnTo>
                  <a:pt x="2221153" y="4315"/>
                </a:lnTo>
                <a:lnTo>
                  <a:pt x="2244051" y="4003"/>
                </a:lnTo>
                <a:lnTo>
                  <a:pt x="2266950" y="3707"/>
                </a:lnTo>
                <a:lnTo>
                  <a:pt x="2289848" y="3426"/>
                </a:lnTo>
                <a:lnTo>
                  <a:pt x="2312747" y="3159"/>
                </a:lnTo>
                <a:lnTo>
                  <a:pt x="2335645" y="2905"/>
                </a:lnTo>
                <a:lnTo>
                  <a:pt x="2358544" y="2664"/>
                </a:lnTo>
                <a:lnTo>
                  <a:pt x="2381442" y="2435"/>
                </a:lnTo>
                <a:lnTo>
                  <a:pt x="2404341" y="2218"/>
                </a:lnTo>
                <a:lnTo>
                  <a:pt x="2427239" y="2011"/>
                </a:lnTo>
                <a:lnTo>
                  <a:pt x="2450138" y="1815"/>
                </a:lnTo>
                <a:lnTo>
                  <a:pt x="2473036" y="1628"/>
                </a:lnTo>
                <a:lnTo>
                  <a:pt x="2495935" y="1451"/>
                </a:lnTo>
                <a:lnTo>
                  <a:pt x="2518833" y="1283"/>
                </a:lnTo>
                <a:lnTo>
                  <a:pt x="2541732" y="1123"/>
                </a:lnTo>
                <a:lnTo>
                  <a:pt x="2564630" y="971"/>
                </a:lnTo>
                <a:lnTo>
                  <a:pt x="2587529" y="827"/>
                </a:lnTo>
                <a:lnTo>
                  <a:pt x="2610427" y="690"/>
                </a:lnTo>
                <a:lnTo>
                  <a:pt x="2633326" y="560"/>
                </a:lnTo>
                <a:lnTo>
                  <a:pt x="2656224" y="436"/>
                </a:lnTo>
                <a:lnTo>
                  <a:pt x="2679123" y="319"/>
                </a:lnTo>
                <a:lnTo>
                  <a:pt x="2702021" y="207"/>
                </a:lnTo>
                <a:lnTo>
                  <a:pt x="2724920" y="101"/>
                </a:lnTo>
                <a:lnTo>
                  <a:pt x="2747818" y="0"/>
                </a:lnTo>
              </a:path>
            </a:pathLst>
          </a:custGeom>
          <a:noFill/>
          <a:ln w="13208">
            <a:solidFill>
              <a:srgbClr val="3F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b bar A'=0.15 n=0"/>
          <p:cNvSpPr/>
          <p:nvPr/>
        </p:nvSpPr>
        <p:spPr>
          <a:xfrm>
            <a:off x="1087513" y="5233529"/>
            <a:ext cx="71443" cy="1715911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b bar A'=0.15 n=1"/>
          <p:cNvSpPr/>
          <p:nvPr/>
        </p:nvSpPr>
        <p:spPr>
          <a:xfrm>
            <a:off x="1362294" y="6074325"/>
            <a:ext cx="71443" cy="875115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b bar A'=0.15 n=2"/>
          <p:cNvSpPr/>
          <p:nvPr/>
        </p:nvSpPr>
        <p:spPr>
          <a:xfrm>
            <a:off x="1637076" y="6503132"/>
            <a:ext cx="71443" cy="446308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b bar A'=0.15 n=3"/>
          <p:cNvSpPr/>
          <p:nvPr/>
        </p:nvSpPr>
        <p:spPr>
          <a:xfrm>
            <a:off x="1911858" y="6721823"/>
            <a:ext cx="71443" cy="227617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b bar A'=0.15 n=4"/>
          <p:cNvSpPr/>
          <p:nvPr/>
        </p:nvSpPr>
        <p:spPr>
          <a:xfrm>
            <a:off x="2186640" y="6833355"/>
            <a:ext cx="71443" cy="116085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 bar A'=0.15 n=5"/>
          <p:cNvSpPr/>
          <p:nvPr/>
        </p:nvSpPr>
        <p:spPr>
          <a:xfrm>
            <a:off x="2461422" y="6890237"/>
            <a:ext cx="71443" cy="59203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b bar A'=0.15 n=6"/>
          <p:cNvSpPr/>
          <p:nvPr/>
        </p:nvSpPr>
        <p:spPr>
          <a:xfrm>
            <a:off x="2736203" y="6919246"/>
            <a:ext cx="71443" cy="30194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b bar A'=0.15 n=7"/>
          <p:cNvSpPr/>
          <p:nvPr/>
        </p:nvSpPr>
        <p:spPr>
          <a:xfrm>
            <a:off x="3010985" y="6934041"/>
            <a:ext cx="71443" cy="15399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b bar A'=0.15 n=8"/>
          <p:cNvSpPr/>
          <p:nvPr/>
        </p:nvSpPr>
        <p:spPr>
          <a:xfrm>
            <a:off x="3285767" y="6941587"/>
            <a:ext cx="71443" cy="7853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 cumulative A'=0.15"/>
          <p:cNvSpPr/>
          <p:nvPr/>
        </p:nvSpPr>
        <p:spPr>
          <a:xfrm>
            <a:off x="1051791" y="5374560"/>
            <a:ext cx="2747818" cy="802720"/>
          </a:xfrm>
          <a:custGeom>
            <a:avLst/>
            <a:gdLst/>
            <a:ahLst/>
            <a:cxnLst/>
            <a:rect l="l" t="t" r="r" b="b"/>
            <a:pathLst>
              <a:path w="2747818" h="802720">
                <a:moveTo>
                  <a:pt x="0" y="802720"/>
                </a:moveTo>
                <a:lnTo>
                  <a:pt x="22898" y="758866"/>
                </a:lnTo>
                <a:lnTo>
                  <a:pt x="45797" y="717405"/>
                </a:lnTo>
                <a:lnTo>
                  <a:pt x="68695" y="678206"/>
                </a:lnTo>
                <a:lnTo>
                  <a:pt x="91594" y="641146"/>
                </a:lnTo>
                <a:lnTo>
                  <a:pt x="114492" y="606109"/>
                </a:lnTo>
                <a:lnTo>
                  <a:pt x="137391" y="572983"/>
                </a:lnTo>
                <a:lnTo>
                  <a:pt x="160289" y="541665"/>
                </a:lnTo>
                <a:lnTo>
                  <a:pt x="183188" y="512056"/>
                </a:lnTo>
                <a:lnTo>
                  <a:pt x="206086" y="484063"/>
                </a:lnTo>
                <a:lnTo>
                  <a:pt x="228985" y="457597"/>
                </a:lnTo>
                <a:lnTo>
                  <a:pt x="251883" y="432575"/>
                </a:lnTo>
                <a:lnTo>
                  <a:pt x="274782" y="408918"/>
                </a:lnTo>
                <a:lnTo>
                  <a:pt x="297680" y="386553"/>
                </a:lnTo>
                <a:lnTo>
                  <a:pt x="320579" y="365408"/>
                </a:lnTo>
                <a:lnTo>
                  <a:pt x="343477" y="345416"/>
                </a:lnTo>
                <a:lnTo>
                  <a:pt x="366376" y="326516"/>
                </a:lnTo>
                <a:lnTo>
                  <a:pt x="389274" y="308647"/>
                </a:lnTo>
                <a:lnTo>
                  <a:pt x="412173" y="291753"/>
                </a:lnTo>
                <a:lnTo>
                  <a:pt x="435071" y="275780"/>
                </a:lnTo>
                <a:lnTo>
                  <a:pt x="457970" y="260680"/>
                </a:lnTo>
                <a:lnTo>
                  <a:pt x="480868" y="246403"/>
                </a:lnTo>
                <a:lnTo>
                  <a:pt x="503767" y="232905"/>
                </a:lnTo>
                <a:lnTo>
                  <a:pt x="526665" y="220144"/>
                </a:lnTo>
                <a:lnTo>
                  <a:pt x="549564" y="208080"/>
                </a:lnTo>
                <a:lnTo>
                  <a:pt x="572462" y="196673"/>
                </a:lnTo>
                <a:lnTo>
                  <a:pt x="595361" y="185889"/>
                </a:lnTo>
                <a:lnTo>
                  <a:pt x="618259" y="175694"/>
                </a:lnTo>
                <a:lnTo>
                  <a:pt x="641157" y="166054"/>
                </a:lnTo>
                <a:lnTo>
                  <a:pt x="664056" y="156941"/>
                </a:lnTo>
                <a:lnTo>
                  <a:pt x="686954" y="148325"/>
                </a:lnTo>
                <a:lnTo>
                  <a:pt x="709853" y="140179"/>
                </a:lnTo>
                <a:lnTo>
                  <a:pt x="732751" y="132478"/>
                </a:lnTo>
                <a:lnTo>
                  <a:pt x="755650" y="125197"/>
                </a:lnTo>
                <a:lnTo>
                  <a:pt x="778548" y="118313"/>
                </a:lnTo>
                <a:lnTo>
                  <a:pt x="801447" y="111805"/>
                </a:lnTo>
                <a:lnTo>
                  <a:pt x="824345" y="105652"/>
                </a:lnTo>
                <a:lnTo>
                  <a:pt x="847244" y="99835"/>
                </a:lnTo>
                <a:lnTo>
                  <a:pt x="870142" y="94335"/>
                </a:lnTo>
                <a:lnTo>
                  <a:pt x="893041" y="89135"/>
                </a:lnTo>
                <a:lnTo>
                  <a:pt x="915939" y="84219"/>
                </a:lnTo>
                <a:lnTo>
                  <a:pt x="938838" y="79571"/>
                </a:lnTo>
                <a:lnTo>
                  <a:pt x="961736" y="75177"/>
                </a:lnTo>
                <a:lnTo>
                  <a:pt x="984635" y="71023"/>
                </a:lnTo>
                <a:lnTo>
                  <a:pt x="1007533" y="67095"/>
                </a:lnTo>
                <a:lnTo>
                  <a:pt x="1030432" y="63382"/>
                </a:lnTo>
                <a:lnTo>
                  <a:pt x="1053330" y="59871"/>
                </a:lnTo>
                <a:lnTo>
                  <a:pt x="1076229" y="56552"/>
                </a:lnTo>
                <a:lnTo>
                  <a:pt x="1099127" y="53414"/>
                </a:lnTo>
                <a:lnTo>
                  <a:pt x="1122026" y="50447"/>
                </a:lnTo>
                <a:lnTo>
                  <a:pt x="1144924" y="47642"/>
                </a:lnTo>
                <a:lnTo>
                  <a:pt x="1167823" y="44990"/>
                </a:lnTo>
                <a:lnTo>
                  <a:pt x="1190721" y="42483"/>
                </a:lnTo>
                <a:lnTo>
                  <a:pt x="1213620" y="40112"/>
                </a:lnTo>
                <a:lnTo>
                  <a:pt x="1236518" y="37871"/>
                </a:lnTo>
                <a:lnTo>
                  <a:pt x="1259417" y="35753"/>
                </a:lnTo>
                <a:lnTo>
                  <a:pt x="1282315" y="33750"/>
                </a:lnTo>
                <a:lnTo>
                  <a:pt x="1305214" y="31856"/>
                </a:lnTo>
                <a:lnTo>
                  <a:pt x="1328112" y="30065"/>
                </a:lnTo>
                <a:lnTo>
                  <a:pt x="1351011" y="28373"/>
                </a:lnTo>
                <a:lnTo>
                  <a:pt x="1373909" y="26772"/>
                </a:lnTo>
                <a:lnTo>
                  <a:pt x="1396807" y="25259"/>
                </a:lnTo>
                <a:lnTo>
                  <a:pt x="1419706" y="23829"/>
                </a:lnTo>
                <a:lnTo>
                  <a:pt x="1442604" y="22476"/>
                </a:lnTo>
                <a:lnTo>
                  <a:pt x="1465503" y="21197"/>
                </a:lnTo>
                <a:lnTo>
                  <a:pt x="1488401" y="19989"/>
                </a:lnTo>
                <a:lnTo>
                  <a:pt x="1511300" y="18846"/>
                </a:lnTo>
                <a:lnTo>
                  <a:pt x="1534198" y="17765"/>
                </a:lnTo>
                <a:lnTo>
                  <a:pt x="1557097" y="16744"/>
                </a:lnTo>
                <a:lnTo>
                  <a:pt x="1579995" y="15778"/>
                </a:lnTo>
                <a:lnTo>
                  <a:pt x="1602894" y="14865"/>
                </a:lnTo>
                <a:lnTo>
                  <a:pt x="1625792" y="14001"/>
                </a:lnTo>
                <a:lnTo>
                  <a:pt x="1648691" y="13185"/>
                </a:lnTo>
                <a:lnTo>
                  <a:pt x="1671589" y="12413"/>
                </a:lnTo>
                <a:lnTo>
                  <a:pt x="1694488" y="11684"/>
                </a:lnTo>
                <a:lnTo>
                  <a:pt x="1717386" y="10994"/>
                </a:lnTo>
                <a:lnTo>
                  <a:pt x="1740285" y="10342"/>
                </a:lnTo>
                <a:lnTo>
                  <a:pt x="1763183" y="9725"/>
                </a:lnTo>
                <a:lnTo>
                  <a:pt x="1786082" y="9142"/>
                </a:lnTo>
                <a:lnTo>
                  <a:pt x="1808980" y="8591"/>
                </a:lnTo>
                <a:lnTo>
                  <a:pt x="1831879" y="8070"/>
                </a:lnTo>
                <a:lnTo>
                  <a:pt x="1854777" y="7578"/>
                </a:lnTo>
                <a:lnTo>
                  <a:pt x="1877676" y="7112"/>
                </a:lnTo>
                <a:lnTo>
                  <a:pt x="1900574" y="6672"/>
                </a:lnTo>
                <a:lnTo>
                  <a:pt x="1923473" y="6256"/>
                </a:lnTo>
                <a:lnTo>
                  <a:pt x="1946371" y="5862"/>
                </a:lnTo>
                <a:lnTo>
                  <a:pt x="1969270" y="5490"/>
                </a:lnTo>
                <a:lnTo>
                  <a:pt x="1992168" y="5138"/>
                </a:lnTo>
                <a:lnTo>
                  <a:pt x="2015067" y="4806"/>
                </a:lnTo>
                <a:lnTo>
                  <a:pt x="2037965" y="4491"/>
                </a:lnTo>
                <a:lnTo>
                  <a:pt x="2060864" y="4194"/>
                </a:lnTo>
                <a:lnTo>
                  <a:pt x="2083762" y="3913"/>
                </a:lnTo>
                <a:lnTo>
                  <a:pt x="2106661" y="3647"/>
                </a:lnTo>
                <a:lnTo>
                  <a:pt x="2129559" y="3396"/>
                </a:lnTo>
                <a:lnTo>
                  <a:pt x="2152457" y="3158"/>
                </a:lnTo>
                <a:lnTo>
                  <a:pt x="2175356" y="2934"/>
                </a:lnTo>
                <a:lnTo>
                  <a:pt x="2198254" y="2722"/>
                </a:lnTo>
                <a:lnTo>
                  <a:pt x="2221153" y="2521"/>
                </a:lnTo>
                <a:lnTo>
                  <a:pt x="2244051" y="2331"/>
                </a:lnTo>
                <a:lnTo>
                  <a:pt x="2266950" y="2152"/>
                </a:lnTo>
                <a:lnTo>
                  <a:pt x="2289848" y="1982"/>
                </a:lnTo>
                <a:lnTo>
                  <a:pt x="2312747" y="1822"/>
                </a:lnTo>
                <a:lnTo>
                  <a:pt x="2335645" y="1670"/>
                </a:lnTo>
                <a:lnTo>
                  <a:pt x="2358544" y="1527"/>
                </a:lnTo>
                <a:lnTo>
                  <a:pt x="2381442" y="1391"/>
                </a:lnTo>
                <a:lnTo>
                  <a:pt x="2404341" y="1263"/>
                </a:lnTo>
                <a:lnTo>
                  <a:pt x="2427239" y="1142"/>
                </a:lnTo>
                <a:lnTo>
                  <a:pt x="2450138" y="1027"/>
                </a:lnTo>
                <a:lnTo>
                  <a:pt x="2473036" y="919"/>
                </a:lnTo>
                <a:lnTo>
                  <a:pt x="2495935" y="817"/>
                </a:lnTo>
                <a:lnTo>
                  <a:pt x="2518833" y="720"/>
                </a:lnTo>
                <a:lnTo>
                  <a:pt x="2541732" y="629"/>
                </a:lnTo>
                <a:lnTo>
                  <a:pt x="2564630" y="542"/>
                </a:lnTo>
                <a:lnTo>
                  <a:pt x="2587529" y="460"/>
                </a:lnTo>
                <a:lnTo>
                  <a:pt x="2610427" y="383"/>
                </a:lnTo>
                <a:lnTo>
                  <a:pt x="2633326" y="310"/>
                </a:lnTo>
                <a:lnTo>
                  <a:pt x="2656224" y="241"/>
                </a:lnTo>
                <a:lnTo>
                  <a:pt x="2679123" y="175"/>
                </a:lnTo>
                <a:lnTo>
                  <a:pt x="2702021" y="114"/>
                </a:lnTo>
                <a:lnTo>
                  <a:pt x="2724920" y="55"/>
                </a:lnTo>
                <a:lnTo>
                  <a:pt x="2747818" y="0"/>
                </a:lnTo>
              </a:path>
            </a:pathLst>
          </a:custGeom>
          <a:noFill/>
          <a:ln w="13208">
            <a:solidFill>
              <a:srgbClr val="DE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b key title"/>
          <p:cNvSpPr txBox="1"/>
          <p:nvPr/>
        </p:nvSpPr>
        <p:spPr>
          <a:xfrm>
            <a:off x="2727960" y="5587746"/>
            <a:ext cx="609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Arial"/>
              </a:rPr>
              <a:t>A</a:t>
            </a:r>
            <a:r>
              <a:rPr sz="1000" b="0" i="0">
                <a:solidFill>
                  <a:srgbClr val="1A1A1A"/>
                </a:solidFill>
                <a:latin typeface="Arial"/>
              </a:rPr>
              <a:t>'</a:t>
            </a:r>
          </a:p>
        </p:txBody>
      </p:sp>
      <p:sp>
        <p:nvSpPr>
          <p:cNvPr id="293" name="b key swatch 0"/>
          <p:cNvSpPr/>
          <p:nvPr/>
        </p:nvSpPr>
        <p:spPr>
          <a:xfrm>
            <a:off x="2727960" y="5807456"/>
            <a:ext cx="233680" cy="121920"/>
          </a:xfrm>
          <a:prstGeom prst="rect">
            <a:avLst/>
          </a:prstGeom>
          <a:solidFill>
            <a:srgbClr val="A1BAEA"/>
          </a:solidFill>
          <a:ln w="4064">
            <a:solidFill>
              <a:srgbClr val="7182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4" name="b key line 0"/>
          <p:cNvCxnSpPr/>
          <p:nvPr/>
        </p:nvCxnSpPr>
        <p:spPr>
          <a:xfrm>
            <a:off x="2727960" y="5939536"/>
            <a:ext cx="233680" cy="0"/>
          </a:xfrm>
          <a:prstGeom prst="line">
            <a:avLst/>
          </a:prstGeom>
          <a:ln w="13208">
            <a:solidFill>
              <a:srgbClr val="3B6F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b key text 0"/>
          <p:cNvSpPr txBox="1"/>
          <p:nvPr/>
        </p:nvSpPr>
        <p:spPr>
          <a:xfrm>
            <a:off x="3063240" y="5760466"/>
            <a:ext cx="609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0.02</a:t>
            </a:r>
          </a:p>
        </p:txBody>
      </p:sp>
      <p:sp>
        <p:nvSpPr>
          <p:cNvPr id="296" name="b key swatch 1"/>
          <p:cNvSpPr/>
          <p:nvPr/>
        </p:nvSpPr>
        <p:spPr>
          <a:xfrm>
            <a:off x="2727960" y="5980176"/>
            <a:ext cx="233680" cy="121920"/>
          </a:xfrm>
          <a:prstGeom prst="rect">
            <a:avLst/>
          </a:prstGeom>
          <a:solidFill>
            <a:srgbClr val="A3D0AA"/>
          </a:solidFill>
          <a:ln w="4064">
            <a:solidFill>
              <a:srgbClr val="7292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7" name="b key line 1"/>
          <p:cNvCxnSpPr/>
          <p:nvPr/>
        </p:nvCxnSpPr>
        <p:spPr>
          <a:xfrm>
            <a:off x="2727960" y="6112256"/>
            <a:ext cx="233680" cy="0"/>
          </a:xfrm>
          <a:prstGeom prst="line">
            <a:avLst/>
          </a:prstGeom>
          <a:ln w="13208">
            <a:solidFill>
              <a:srgbClr val="3F9E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b key text 1"/>
          <p:cNvSpPr txBox="1"/>
          <p:nvPr/>
        </p:nvSpPr>
        <p:spPr>
          <a:xfrm>
            <a:off x="3063240" y="5933186"/>
            <a:ext cx="609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0.10</a:t>
            </a:r>
          </a:p>
        </p:txBody>
      </p:sp>
      <p:sp>
        <p:nvSpPr>
          <p:cNvPr id="299" name="b key swatch 2"/>
          <p:cNvSpPr/>
          <p:nvPr/>
        </p:nvSpPr>
        <p:spPr>
          <a:xfrm>
            <a:off x="2727960" y="6152896"/>
            <a:ext cx="233680" cy="121920"/>
          </a:xfrm>
          <a:prstGeom prst="rect">
            <a:avLst/>
          </a:prstGeom>
          <a:solidFill>
            <a:srgbClr val="EFB0B0"/>
          </a:solidFill>
          <a:ln w="4064">
            <a:solidFill>
              <a:srgbClr val="A77B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0" name="b key line 2"/>
          <p:cNvCxnSpPr/>
          <p:nvPr/>
        </p:nvCxnSpPr>
        <p:spPr>
          <a:xfrm>
            <a:off x="2727960" y="6284976"/>
            <a:ext cx="233680" cy="0"/>
          </a:xfrm>
          <a:prstGeom prst="line">
            <a:avLst/>
          </a:prstGeom>
          <a:ln w="13208">
            <a:solidFill>
              <a:srgbClr val="DE5B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b key text 2"/>
          <p:cNvSpPr txBox="1"/>
          <p:nvPr/>
        </p:nvSpPr>
        <p:spPr>
          <a:xfrm>
            <a:off x="3063240" y="6105906"/>
            <a:ext cx="609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0.15</a:t>
            </a:r>
          </a:p>
        </p:txBody>
      </p:sp>
      <p:sp>
        <p:nvSpPr>
          <p:cNvPr id="302" name="b p label"/>
          <p:cNvSpPr txBox="1"/>
          <p:nvPr/>
        </p:nvSpPr>
        <p:spPr>
          <a:xfrm>
            <a:off x="1736344" y="5799074"/>
            <a:ext cx="1016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Arial"/>
              </a:rPr>
              <a:t>p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0.4</a:t>
            </a:r>
          </a:p>
        </p:txBody>
      </p:sp>
      <p:cxnSp>
        <p:nvCxnSpPr>
          <p:cNvPr id="303" name="b arrow bars"/>
          <p:cNvCxnSpPr/>
          <p:nvPr/>
        </p:nvCxnSpPr>
        <p:spPr>
          <a:xfrm flipH="1">
            <a:off x="1624711" y="6022848"/>
            <a:ext cx="196469" cy="260604"/>
          </a:xfrm>
          <a:prstGeom prst="line">
            <a:avLst/>
          </a:prstGeom>
          <a:ln w="9144">
            <a:solidFill>
              <a:srgbClr val="1A1A1A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b arrow lines"/>
          <p:cNvCxnSpPr/>
          <p:nvPr/>
        </p:nvCxnSpPr>
        <p:spPr>
          <a:xfrm flipV="1">
            <a:off x="1352677" y="5627116"/>
            <a:ext cx="211582" cy="260604"/>
          </a:xfrm>
          <a:prstGeom prst="line">
            <a:avLst/>
          </a:prstGeom>
          <a:ln w="9144">
            <a:solidFill>
              <a:srgbClr val="1A1A1A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c frame"/>
          <p:cNvSpPr/>
          <p:nvPr/>
        </p:nvSpPr>
        <p:spPr>
          <a:xfrm>
            <a:off x="5943600" y="5019040"/>
            <a:ext cx="2971800" cy="1930400"/>
          </a:xfrm>
          <a:prstGeom prst="rect">
            <a:avLst/>
          </a:prstGeom>
          <a:noFill/>
          <a:ln w="8128">
            <a:solidFill>
              <a:srgbClr val="2B2B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c R tick"/>
          <p:cNvCxnSpPr/>
          <p:nvPr/>
        </p:nvCxnSpPr>
        <p:spPr>
          <a:xfrm flipV="1">
            <a:off x="594360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c R tick label"/>
          <p:cNvSpPr txBox="1"/>
          <p:nvPr/>
        </p:nvSpPr>
        <p:spPr>
          <a:xfrm>
            <a:off x="553720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cxnSp>
        <p:nvCxnSpPr>
          <p:cNvPr id="308" name="c R tick"/>
          <p:cNvCxnSpPr/>
          <p:nvPr/>
        </p:nvCxnSpPr>
        <p:spPr>
          <a:xfrm flipV="1">
            <a:off x="653796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 R tick label"/>
          <p:cNvSpPr txBox="1"/>
          <p:nvPr/>
        </p:nvSpPr>
        <p:spPr>
          <a:xfrm>
            <a:off x="613156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cxnSp>
        <p:nvCxnSpPr>
          <p:cNvPr id="310" name="c R tick"/>
          <p:cNvCxnSpPr/>
          <p:nvPr/>
        </p:nvCxnSpPr>
        <p:spPr>
          <a:xfrm flipV="1">
            <a:off x="713232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c R tick label"/>
          <p:cNvSpPr txBox="1"/>
          <p:nvPr/>
        </p:nvSpPr>
        <p:spPr>
          <a:xfrm>
            <a:off x="672592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cxnSp>
        <p:nvCxnSpPr>
          <p:cNvPr id="312" name="c R tick"/>
          <p:cNvCxnSpPr/>
          <p:nvPr/>
        </p:nvCxnSpPr>
        <p:spPr>
          <a:xfrm flipV="1">
            <a:off x="772668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c R tick label"/>
          <p:cNvSpPr txBox="1"/>
          <p:nvPr/>
        </p:nvSpPr>
        <p:spPr>
          <a:xfrm>
            <a:off x="732028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cxnSp>
        <p:nvCxnSpPr>
          <p:cNvPr id="314" name="c R tick"/>
          <p:cNvCxnSpPr/>
          <p:nvPr/>
        </p:nvCxnSpPr>
        <p:spPr>
          <a:xfrm flipV="1">
            <a:off x="832104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c R tick label"/>
          <p:cNvSpPr txBox="1"/>
          <p:nvPr/>
        </p:nvSpPr>
        <p:spPr>
          <a:xfrm>
            <a:off x="791464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cxnSp>
        <p:nvCxnSpPr>
          <p:cNvPr id="316" name="c R tick"/>
          <p:cNvCxnSpPr/>
          <p:nvPr/>
        </p:nvCxnSpPr>
        <p:spPr>
          <a:xfrm flipV="1">
            <a:off x="8915400" y="6893560"/>
            <a:ext cx="0" cy="5588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c R tick label"/>
          <p:cNvSpPr txBox="1"/>
          <p:nvPr/>
        </p:nvSpPr>
        <p:spPr>
          <a:xfrm>
            <a:off x="8509000" y="6991604"/>
            <a:ext cx="8128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cxnSp>
        <p:nvCxnSpPr>
          <p:cNvPr id="318" name="c eta tick"/>
          <p:cNvCxnSpPr/>
          <p:nvPr/>
        </p:nvCxnSpPr>
        <p:spPr>
          <a:xfrm>
            <a:off x="5943600" y="69494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c eta tick label"/>
          <p:cNvSpPr txBox="1"/>
          <p:nvPr/>
        </p:nvSpPr>
        <p:spPr>
          <a:xfrm>
            <a:off x="5212080" y="68544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cxnSp>
        <p:nvCxnSpPr>
          <p:cNvPr id="320" name="c eta tick"/>
          <p:cNvCxnSpPr/>
          <p:nvPr/>
        </p:nvCxnSpPr>
        <p:spPr>
          <a:xfrm>
            <a:off x="5943600" y="64668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c eta tick label"/>
          <p:cNvSpPr txBox="1"/>
          <p:nvPr/>
        </p:nvSpPr>
        <p:spPr>
          <a:xfrm>
            <a:off x="5212080" y="63718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cxnSp>
        <p:nvCxnSpPr>
          <p:cNvPr id="322" name="c eta tick"/>
          <p:cNvCxnSpPr/>
          <p:nvPr/>
        </p:nvCxnSpPr>
        <p:spPr>
          <a:xfrm>
            <a:off x="5943600" y="59842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 eta tick label"/>
          <p:cNvSpPr txBox="1"/>
          <p:nvPr/>
        </p:nvSpPr>
        <p:spPr>
          <a:xfrm>
            <a:off x="5212080" y="58892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cxnSp>
        <p:nvCxnSpPr>
          <p:cNvPr id="324" name="c eta tick"/>
          <p:cNvCxnSpPr/>
          <p:nvPr/>
        </p:nvCxnSpPr>
        <p:spPr>
          <a:xfrm>
            <a:off x="5943600" y="55016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c eta tick label"/>
          <p:cNvSpPr txBox="1"/>
          <p:nvPr/>
        </p:nvSpPr>
        <p:spPr>
          <a:xfrm>
            <a:off x="5212080" y="54066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cxnSp>
        <p:nvCxnSpPr>
          <p:cNvPr id="326" name="c eta tick"/>
          <p:cNvCxnSpPr/>
          <p:nvPr/>
        </p:nvCxnSpPr>
        <p:spPr>
          <a:xfrm>
            <a:off x="5943600" y="5019040"/>
            <a:ext cx="55880" cy="0"/>
          </a:xfrm>
          <a:prstGeom prst="line">
            <a:avLst/>
          </a:prstGeom>
          <a:ln w="7112">
            <a:solidFill>
              <a:srgbClr val="2B2B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c eta tick label"/>
          <p:cNvSpPr txBox="1"/>
          <p:nvPr/>
        </p:nvSpPr>
        <p:spPr>
          <a:xfrm>
            <a:off x="5212080" y="4924044"/>
            <a:ext cx="609600" cy="18999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8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sp>
        <p:nvSpPr>
          <p:cNvPr id="328" name="c x title"/>
          <p:cNvSpPr txBox="1"/>
          <p:nvPr/>
        </p:nvSpPr>
        <p:spPr>
          <a:xfrm>
            <a:off x="5143500" y="7308850"/>
            <a:ext cx="4572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rial"/>
              </a:rPr>
              <a:t>Round-trip reflectance,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R</a:t>
            </a:r>
            <a:r>
              <a:rPr sz="1000" b="0" i="0" baseline="-25000">
                <a:solidFill>
                  <a:srgbClr val="1A1A1A"/>
                </a:solidFill>
                <a:latin typeface="Arial"/>
              </a:rPr>
              <a:t>LED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1 −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A</a:t>
            </a:r>
            <a:r>
              <a:rPr sz="1000" b="0" i="0">
                <a:solidFill>
                  <a:srgbClr val="1A1A1A"/>
                </a:solidFill>
                <a:latin typeface="Arial"/>
              </a:rPr>
              <a:t>'</a:t>
            </a:r>
          </a:p>
        </p:txBody>
      </p:sp>
      <p:sp>
        <p:nvSpPr>
          <p:cNvPr id="329" name="c y title"/>
          <p:cNvSpPr txBox="1"/>
          <p:nvPr/>
        </p:nvSpPr>
        <p:spPr>
          <a:xfrm rot="16200000">
            <a:off x="3530600" y="5876290"/>
            <a:ext cx="3048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rial"/>
              </a:rPr>
              <a:t>Extraction efficiency (</a:t>
            </a:r>
            <a:r>
              <a:rPr sz="1000" b="0" i="1">
                <a:solidFill>
                  <a:srgbClr val="1A1A1A"/>
                </a:solidFill>
                <a:latin typeface="Arial"/>
              </a:rPr>
              <a:t>η</a:t>
            </a:r>
            <a:r>
              <a:rPr sz="1000" b="0" i="0" baseline="-25000">
                <a:solidFill>
                  <a:srgbClr val="1A1A1A"/>
                </a:solidFill>
                <a:latin typeface="Arial"/>
              </a:rPr>
              <a:t>sta</a:t>
            </a:r>
            <a:r>
              <a:rPr sz="1000" b="0" i="0">
                <a:solidFill>
                  <a:srgbClr val="1A1A1A"/>
                </a:solidFill>
                <a:latin typeface="Arial"/>
              </a:rPr>
              <a:t>)</a:t>
            </a:r>
          </a:p>
        </p:txBody>
      </p:sp>
      <p:sp>
        <p:nvSpPr>
          <p:cNvPr id="330" name="c curve p=0.60"/>
          <p:cNvSpPr/>
          <p:nvPr/>
        </p:nvSpPr>
        <p:spPr>
          <a:xfrm>
            <a:off x="5943600" y="5019040"/>
            <a:ext cx="2971800" cy="965200"/>
          </a:xfrm>
          <a:custGeom>
            <a:avLst/>
            <a:gdLst/>
            <a:ahLst/>
            <a:cxnLst/>
            <a:rect l="l" t="t" r="r" b="b"/>
            <a:pathLst>
              <a:path w="2971800" h="965200">
                <a:moveTo>
                  <a:pt x="0" y="965200"/>
                </a:moveTo>
                <a:lnTo>
                  <a:pt x="18574" y="961571"/>
                </a:lnTo>
                <a:lnTo>
                  <a:pt x="37148" y="957925"/>
                </a:lnTo>
                <a:lnTo>
                  <a:pt x="55721" y="954259"/>
                </a:lnTo>
                <a:lnTo>
                  <a:pt x="74295" y="950576"/>
                </a:lnTo>
                <a:lnTo>
                  <a:pt x="92869" y="946873"/>
                </a:lnTo>
                <a:lnTo>
                  <a:pt x="111442" y="943152"/>
                </a:lnTo>
                <a:lnTo>
                  <a:pt x="130016" y="939412"/>
                </a:lnTo>
                <a:lnTo>
                  <a:pt x="148590" y="935653"/>
                </a:lnTo>
                <a:lnTo>
                  <a:pt x="167164" y="931875"/>
                </a:lnTo>
                <a:lnTo>
                  <a:pt x="185738" y="928077"/>
                </a:lnTo>
                <a:lnTo>
                  <a:pt x="204311" y="924260"/>
                </a:lnTo>
                <a:lnTo>
                  <a:pt x="222885" y="920423"/>
                </a:lnTo>
                <a:lnTo>
                  <a:pt x="241459" y="916566"/>
                </a:lnTo>
                <a:lnTo>
                  <a:pt x="260032" y="912689"/>
                </a:lnTo>
                <a:lnTo>
                  <a:pt x="278606" y="908792"/>
                </a:lnTo>
                <a:lnTo>
                  <a:pt x="297180" y="904875"/>
                </a:lnTo>
                <a:lnTo>
                  <a:pt x="315754" y="900937"/>
                </a:lnTo>
                <a:lnTo>
                  <a:pt x="334328" y="896979"/>
                </a:lnTo>
                <a:lnTo>
                  <a:pt x="352901" y="893000"/>
                </a:lnTo>
                <a:lnTo>
                  <a:pt x="371475" y="889000"/>
                </a:lnTo>
                <a:lnTo>
                  <a:pt x="390049" y="884979"/>
                </a:lnTo>
                <a:lnTo>
                  <a:pt x="408622" y="880937"/>
                </a:lnTo>
                <a:lnTo>
                  <a:pt x="427196" y="876873"/>
                </a:lnTo>
                <a:lnTo>
                  <a:pt x="445770" y="872787"/>
                </a:lnTo>
                <a:lnTo>
                  <a:pt x="464344" y="868680"/>
                </a:lnTo>
                <a:lnTo>
                  <a:pt x="482918" y="864551"/>
                </a:lnTo>
                <a:lnTo>
                  <a:pt x="501491" y="860399"/>
                </a:lnTo>
                <a:lnTo>
                  <a:pt x="520065" y="856226"/>
                </a:lnTo>
                <a:lnTo>
                  <a:pt x="538639" y="852030"/>
                </a:lnTo>
                <a:lnTo>
                  <a:pt x="557212" y="847811"/>
                </a:lnTo>
                <a:lnTo>
                  <a:pt x="575786" y="843569"/>
                </a:lnTo>
                <a:lnTo>
                  <a:pt x="594360" y="839304"/>
                </a:lnTo>
                <a:lnTo>
                  <a:pt x="612934" y="835016"/>
                </a:lnTo>
                <a:lnTo>
                  <a:pt x="631508" y="830705"/>
                </a:lnTo>
                <a:lnTo>
                  <a:pt x="650081" y="826370"/>
                </a:lnTo>
                <a:lnTo>
                  <a:pt x="668655" y="822011"/>
                </a:lnTo>
                <a:lnTo>
                  <a:pt x="687229" y="817628"/>
                </a:lnTo>
                <a:lnTo>
                  <a:pt x="705802" y="813221"/>
                </a:lnTo>
                <a:lnTo>
                  <a:pt x="724376" y="808789"/>
                </a:lnTo>
                <a:lnTo>
                  <a:pt x="742950" y="804333"/>
                </a:lnTo>
                <a:lnTo>
                  <a:pt x="761524" y="799852"/>
                </a:lnTo>
                <a:lnTo>
                  <a:pt x="780098" y="795346"/>
                </a:lnTo>
                <a:lnTo>
                  <a:pt x="798671" y="790815"/>
                </a:lnTo>
                <a:lnTo>
                  <a:pt x="817245" y="786258"/>
                </a:lnTo>
                <a:lnTo>
                  <a:pt x="835819" y="781676"/>
                </a:lnTo>
                <a:lnTo>
                  <a:pt x="854392" y="777068"/>
                </a:lnTo>
                <a:lnTo>
                  <a:pt x="872966" y="772433"/>
                </a:lnTo>
                <a:lnTo>
                  <a:pt x="891540" y="767773"/>
                </a:lnTo>
                <a:lnTo>
                  <a:pt x="910114" y="763085"/>
                </a:lnTo>
                <a:lnTo>
                  <a:pt x="928688" y="758371"/>
                </a:lnTo>
                <a:lnTo>
                  <a:pt x="947261" y="753630"/>
                </a:lnTo>
                <a:lnTo>
                  <a:pt x="965835" y="748862"/>
                </a:lnTo>
                <a:lnTo>
                  <a:pt x="984409" y="744066"/>
                </a:lnTo>
                <a:lnTo>
                  <a:pt x="1002982" y="739243"/>
                </a:lnTo>
                <a:lnTo>
                  <a:pt x="1021556" y="734391"/>
                </a:lnTo>
                <a:lnTo>
                  <a:pt x="1040130" y="729512"/>
                </a:lnTo>
                <a:lnTo>
                  <a:pt x="1058704" y="724603"/>
                </a:lnTo>
                <a:lnTo>
                  <a:pt x="1077278" y="719667"/>
                </a:lnTo>
                <a:lnTo>
                  <a:pt x="1095851" y="714701"/>
                </a:lnTo>
                <a:lnTo>
                  <a:pt x="1114425" y="709706"/>
                </a:lnTo>
                <a:lnTo>
                  <a:pt x="1132999" y="704681"/>
                </a:lnTo>
                <a:lnTo>
                  <a:pt x="1151572" y="699627"/>
                </a:lnTo>
                <a:lnTo>
                  <a:pt x="1170146" y="694543"/>
                </a:lnTo>
                <a:lnTo>
                  <a:pt x="1188720" y="689429"/>
                </a:lnTo>
                <a:lnTo>
                  <a:pt x="1207294" y="684284"/>
                </a:lnTo>
                <a:lnTo>
                  <a:pt x="1225868" y="679108"/>
                </a:lnTo>
                <a:lnTo>
                  <a:pt x="1244441" y="673901"/>
                </a:lnTo>
                <a:lnTo>
                  <a:pt x="1263015" y="668663"/>
                </a:lnTo>
                <a:lnTo>
                  <a:pt x="1281589" y="663393"/>
                </a:lnTo>
                <a:lnTo>
                  <a:pt x="1300162" y="658091"/>
                </a:lnTo>
                <a:lnTo>
                  <a:pt x="1318736" y="652757"/>
                </a:lnTo>
                <a:lnTo>
                  <a:pt x="1337310" y="647390"/>
                </a:lnTo>
                <a:lnTo>
                  <a:pt x="1355884" y="641991"/>
                </a:lnTo>
                <a:lnTo>
                  <a:pt x="1374458" y="636558"/>
                </a:lnTo>
                <a:lnTo>
                  <a:pt x="1393031" y="631092"/>
                </a:lnTo>
                <a:lnTo>
                  <a:pt x="1411605" y="625593"/>
                </a:lnTo>
                <a:lnTo>
                  <a:pt x="1430179" y="620059"/>
                </a:lnTo>
                <a:lnTo>
                  <a:pt x="1448752" y="614491"/>
                </a:lnTo>
                <a:lnTo>
                  <a:pt x="1467326" y="608888"/>
                </a:lnTo>
                <a:lnTo>
                  <a:pt x="1485900" y="603250"/>
                </a:lnTo>
                <a:lnTo>
                  <a:pt x="1504474" y="597577"/>
                </a:lnTo>
                <a:lnTo>
                  <a:pt x="1523048" y="591868"/>
                </a:lnTo>
                <a:lnTo>
                  <a:pt x="1541621" y="586123"/>
                </a:lnTo>
                <a:lnTo>
                  <a:pt x="1560195" y="580342"/>
                </a:lnTo>
                <a:lnTo>
                  <a:pt x="1578769" y="574524"/>
                </a:lnTo>
                <a:lnTo>
                  <a:pt x="1597342" y="568669"/>
                </a:lnTo>
                <a:lnTo>
                  <a:pt x="1615916" y="562776"/>
                </a:lnTo>
                <a:lnTo>
                  <a:pt x="1634490" y="556846"/>
                </a:lnTo>
                <a:lnTo>
                  <a:pt x="1653064" y="550878"/>
                </a:lnTo>
                <a:lnTo>
                  <a:pt x="1671638" y="544871"/>
                </a:lnTo>
                <a:lnTo>
                  <a:pt x="1690211" y="538825"/>
                </a:lnTo>
                <a:lnTo>
                  <a:pt x="1708785" y="532740"/>
                </a:lnTo>
                <a:lnTo>
                  <a:pt x="1727359" y="526616"/>
                </a:lnTo>
                <a:lnTo>
                  <a:pt x="1745932" y="520451"/>
                </a:lnTo>
                <a:lnTo>
                  <a:pt x="1764506" y="514246"/>
                </a:lnTo>
                <a:lnTo>
                  <a:pt x="1783080" y="508000"/>
                </a:lnTo>
                <a:lnTo>
                  <a:pt x="1801654" y="501713"/>
                </a:lnTo>
                <a:lnTo>
                  <a:pt x="1820228" y="495384"/>
                </a:lnTo>
                <a:lnTo>
                  <a:pt x="1838801" y="489013"/>
                </a:lnTo>
                <a:lnTo>
                  <a:pt x="1857375" y="482600"/>
                </a:lnTo>
                <a:lnTo>
                  <a:pt x="1875949" y="476144"/>
                </a:lnTo>
                <a:lnTo>
                  <a:pt x="1894522" y="469644"/>
                </a:lnTo>
                <a:lnTo>
                  <a:pt x="1913096" y="463101"/>
                </a:lnTo>
                <a:lnTo>
                  <a:pt x="1931670" y="456514"/>
                </a:lnTo>
                <a:lnTo>
                  <a:pt x="1950244" y="449881"/>
                </a:lnTo>
                <a:lnTo>
                  <a:pt x="1968818" y="443204"/>
                </a:lnTo>
                <a:lnTo>
                  <a:pt x="1987391" y="436481"/>
                </a:lnTo>
                <a:lnTo>
                  <a:pt x="2005965" y="429712"/>
                </a:lnTo>
                <a:lnTo>
                  <a:pt x="2024539" y="422897"/>
                </a:lnTo>
                <a:lnTo>
                  <a:pt x="2043112" y="416034"/>
                </a:lnTo>
                <a:lnTo>
                  <a:pt x="2061686" y="409125"/>
                </a:lnTo>
                <a:lnTo>
                  <a:pt x="2080260" y="402167"/>
                </a:lnTo>
                <a:lnTo>
                  <a:pt x="2098834" y="395160"/>
                </a:lnTo>
                <a:lnTo>
                  <a:pt x="2117408" y="388105"/>
                </a:lnTo>
                <a:lnTo>
                  <a:pt x="2135981" y="381000"/>
                </a:lnTo>
                <a:lnTo>
                  <a:pt x="2154555" y="373845"/>
                </a:lnTo>
                <a:lnTo>
                  <a:pt x="2173129" y="366640"/>
                </a:lnTo>
                <a:lnTo>
                  <a:pt x="2191702" y="359383"/>
                </a:lnTo>
                <a:lnTo>
                  <a:pt x="2210276" y="352075"/>
                </a:lnTo>
                <a:lnTo>
                  <a:pt x="2228850" y="344714"/>
                </a:lnTo>
                <a:lnTo>
                  <a:pt x="2247424" y="337301"/>
                </a:lnTo>
                <a:lnTo>
                  <a:pt x="2265998" y="329835"/>
                </a:lnTo>
                <a:lnTo>
                  <a:pt x="2284571" y="322314"/>
                </a:lnTo>
                <a:lnTo>
                  <a:pt x="2303145" y="314739"/>
                </a:lnTo>
                <a:lnTo>
                  <a:pt x="2321719" y="307109"/>
                </a:lnTo>
                <a:lnTo>
                  <a:pt x="2340292" y="299423"/>
                </a:lnTo>
                <a:lnTo>
                  <a:pt x="2358866" y="291681"/>
                </a:lnTo>
                <a:lnTo>
                  <a:pt x="2377440" y="283882"/>
                </a:lnTo>
                <a:lnTo>
                  <a:pt x="2396014" y="276026"/>
                </a:lnTo>
                <a:lnTo>
                  <a:pt x="2414588" y="268111"/>
                </a:lnTo>
                <a:lnTo>
                  <a:pt x="2433161" y="260138"/>
                </a:lnTo>
                <a:lnTo>
                  <a:pt x="2451735" y="252104"/>
                </a:lnTo>
                <a:lnTo>
                  <a:pt x="2470309" y="244011"/>
                </a:lnTo>
                <a:lnTo>
                  <a:pt x="2488882" y="235857"/>
                </a:lnTo>
                <a:lnTo>
                  <a:pt x="2507456" y="227642"/>
                </a:lnTo>
                <a:lnTo>
                  <a:pt x="2526030" y="219364"/>
                </a:lnTo>
                <a:lnTo>
                  <a:pt x="2544604" y="211023"/>
                </a:lnTo>
                <a:lnTo>
                  <a:pt x="2563178" y="202618"/>
                </a:lnTo>
                <a:lnTo>
                  <a:pt x="2581751" y="194149"/>
                </a:lnTo>
                <a:lnTo>
                  <a:pt x="2600325" y="185615"/>
                </a:lnTo>
                <a:lnTo>
                  <a:pt x="2618899" y="177015"/>
                </a:lnTo>
                <a:lnTo>
                  <a:pt x="2637472" y="168349"/>
                </a:lnTo>
                <a:lnTo>
                  <a:pt x="2656046" y="159615"/>
                </a:lnTo>
                <a:lnTo>
                  <a:pt x="2674620" y="150812"/>
                </a:lnTo>
                <a:lnTo>
                  <a:pt x="2693194" y="141941"/>
                </a:lnTo>
                <a:lnTo>
                  <a:pt x="2711768" y="133000"/>
                </a:lnTo>
                <a:lnTo>
                  <a:pt x="2730341" y="123988"/>
                </a:lnTo>
                <a:lnTo>
                  <a:pt x="2748915" y="114905"/>
                </a:lnTo>
                <a:lnTo>
                  <a:pt x="2767489" y="105749"/>
                </a:lnTo>
                <a:lnTo>
                  <a:pt x="2786062" y="96520"/>
                </a:lnTo>
                <a:lnTo>
                  <a:pt x="2804636" y="87217"/>
                </a:lnTo>
                <a:lnTo>
                  <a:pt x="2823210" y="77839"/>
                </a:lnTo>
                <a:lnTo>
                  <a:pt x="2841784" y="68385"/>
                </a:lnTo>
                <a:lnTo>
                  <a:pt x="2860358" y="58854"/>
                </a:lnTo>
                <a:lnTo>
                  <a:pt x="2878931" y="49245"/>
                </a:lnTo>
                <a:lnTo>
                  <a:pt x="2897505" y="39557"/>
                </a:lnTo>
                <a:lnTo>
                  <a:pt x="2916079" y="29790"/>
                </a:lnTo>
                <a:lnTo>
                  <a:pt x="2934652" y="19942"/>
                </a:lnTo>
                <a:lnTo>
                  <a:pt x="2953226" y="10012"/>
                </a:lnTo>
                <a:lnTo>
                  <a:pt x="2971800" y="0"/>
                </a:lnTo>
              </a:path>
            </a:pathLst>
          </a:custGeom>
          <a:noFill/>
          <a:ln w="13208">
            <a:solidFill>
              <a:srgbClr val="8A8A8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c curve p=0.25"/>
          <p:cNvSpPr/>
          <p:nvPr/>
        </p:nvSpPr>
        <p:spPr>
          <a:xfrm>
            <a:off x="5943600" y="5019040"/>
            <a:ext cx="2971800" cy="1809750"/>
          </a:xfrm>
          <a:custGeom>
            <a:avLst/>
            <a:gdLst/>
            <a:ahLst/>
            <a:cxnLst/>
            <a:rect l="l" t="t" r="r" b="b"/>
            <a:pathLst>
              <a:path w="2971800" h="1809750">
                <a:moveTo>
                  <a:pt x="0" y="1809750"/>
                </a:moveTo>
                <a:lnTo>
                  <a:pt x="18574" y="1806909"/>
                </a:lnTo>
                <a:lnTo>
                  <a:pt x="37148" y="1804041"/>
                </a:lnTo>
                <a:lnTo>
                  <a:pt x="55721" y="1801146"/>
                </a:lnTo>
                <a:lnTo>
                  <a:pt x="74295" y="1798223"/>
                </a:lnTo>
                <a:lnTo>
                  <a:pt x="92869" y="1795272"/>
                </a:lnTo>
                <a:lnTo>
                  <a:pt x="111442" y="1792293"/>
                </a:lnTo>
                <a:lnTo>
                  <a:pt x="130016" y="1789284"/>
                </a:lnTo>
                <a:lnTo>
                  <a:pt x="148590" y="1786247"/>
                </a:lnTo>
                <a:lnTo>
                  <a:pt x="167164" y="1783179"/>
                </a:lnTo>
                <a:lnTo>
                  <a:pt x="185738" y="1780082"/>
                </a:lnTo>
                <a:lnTo>
                  <a:pt x="204311" y="1776954"/>
                </a:lnTo>
                <a:lnTo>
                  <a:pt x="222885" y="1773795"/>
                </a:lnTo>
                <a:lnTo>
                  <a:pt x="241459" y="1770604"/>
                </a:lnTo>
                <a:lnTo>
                  <a:pt x="260032" y="1767381"/>
                </a:lnTo>
                <a:lnTo>
                  <a:pt x="278606" y="1764126"/>
                </a:lnTo>
                <a:lnTo>
                  <a:pt x="297180" y="1760838"/>
                </a:lnTo>
                <a:lnTo>
                  <a:pt x="315754" y="1757516"/>
                </a:lnTo>
                <a:lnTo>
                  <a:pt x="334328" y="1754160"/>
                </a:lnTo>
                <a:lnTo>
                  <a:pt x="352901" y="1750770"/>
                </a:lnTo>
                <a:lnTo>
                  <a:pt x="371475" y="1747345"/>
                </a:lnTo>
                <a:lnTo>
                  <a:pt x="390049" y="1743884"/>
                </a:lnTo>
                <a:lnTo>
                  <a:pt x="408622" y="1740387"/>
                </a:lnTo>
                <a:lnTo>
                  <a:pt x="427196" y="1736853"/>
                </a:lnTo>
                <a:lnTo>
                  <a:pt x="445770" y="1733282"/>
                </a:lnTo>
                <a:lnTo>
                  <a:pt x="464344" y="1729673"/>
                </a:lnTo>
                <a:lnTo>
                  <a:pt x="482918" y="1726025"/>
                </a:lnTo>
                <a:lnTo>
                  <a:pt x="501491" y="1722338"/>
                </a:lnTo>
                <a:lnTo>
                  <a:pt x="520065" y="1718612"/>
                </a:lnTo>
                <a:lnTo>
                  <a:pt x="538639" y="1714844"/>
                </a:lnTo>
                <a:lnTo>
                  <a:pt x="557212" y="1711036"/>
                </a:lnTo>
                <a:lnTo>
                  <a:pt x="575786" y="1707186"/>
                </a:lnTo>
                <a:lnTo>
                  <a:pt x="594360" y="1703294"/>
                </a:lnTo>
                <a:lnTo>
                  <a:pt x="612934" y="1699359"/>
                </a:lnTo>
                <a:lnTo>
                  <a:pt x="631508" y="1695379"/>
                </a:lnTo>
                <a:lnTo>
                  <a:pt x="650081" y="1691355"/>
                </a:lnTo>
                <a:lnTo>
                  <a:pt x="668655" y="1687286"/>
                </a:lnTo>
                <a:lnTo>
                  <a:pt x="687229" y="1683170"/>
                </a:lnTo>
                <a:lnTo>
                  <a:pt x="705802" y="1679008"/>
                </a:lnTo>
                <a:lnTo>
                  <a:pt x="724376" y="1674797"/>
                </a:lnTo>
                <a:lnTo>
                  <a:pt x="742950" y="1670538"/>
                </a:lnTo>
                <a:lnTo>
                  <a:pt x="761524" y="1666230"/>
                </a:lnTo>
                <a:lnTo>
                  <a:pt x="780098" y="1661872"/>
                </a:lnTo>
                <a:lnTo>
                  <a:pt x="798671" y="1657462"/>
                </a:lnTo>
                <a:lnTo>
                  <a:pt x="817245" y="1653000"/>
                </a:lnTo>
                <a:lnTo>
                  <a:pt x="835819" y="1648485"/>
                </a:lnTo>
                <a:lnTo>
                  <a:pt x="854392" y="1643916"/>
                </a:lnTo>
                <a:lnTo>
                  <a:pt x="872966" y="1639293"/>
                </a:lnTo>
                <a:lnTo>
                  <a:pt x="891540" y="1634613"/>
                </a:lnTo>
                <a:lnTo>
                  <a:pt x="910114" y="1629876"/>
                </a:lnTo>
                <a:lnTo>
                  <a:pt x="928688" y="1625082"/>
                </a:lnTo>
                <a:lnTo>
                  <a:pt x="947261" y="1620228"/>
                </a:lnTo>
                <a:lnTo>
                  <a:pt x="965835" y="1615314"/>
                </a:lnTo>
                <a:lnTo>
                  <a:pt x="984409" y="1610339"/>
                </a:lnTo>
                <a:lnTo>
                  <a:pt x="1002982" y="1605301"/>
                </a:lnTo>
                <a:lnTo>
                  <a:pt x="1021556" y="1600200"/>
                </a:lnTo>
                <a:lnTo>
                  <a:pt x="1040130" y="1595034"/>
                </a:lnTo>
                <a:lnTo>
                  <a:pt x="1058704" y="1589802"/>
                </a:lnTo>
                <a:lnTo>
                  <a:pt x="1077278" y="1584502"/>
                </a:lnTo>
                <a:lnTo>
                  <a:pt x="1095851" y="1579134"/>
                </a:lnTo>
                <a:lnTo>
                  <a:pt x="1114425" y="1573696"/>
                </a:lnTo>
                <a:lnTo>
                  <a:pt x="1132999" y="1568186"/>
                </a:lnTo>
                <a:lnTo>
                  <a:pt x="1151572" y="1562604"/>
                </a:lnTo>
                <a:lnTo>
                  <a:pt x="1170146" y="1556947"/>
                </a:lnTo>
                <a:lnTo>
                  <a:pt x="1188720" y="1551214"/>
                </a:lnTo>
                <a:lnTo>
                  <a:pt x="1207294" y="1545404"/>
                </a:lnTo>
                <a:lnTo>
                  <a:pt x="1225868" y="1539516"/>
                </a:lnTo>
                <a:lnTo>
                  <a:pt x="1244441" y="1533547"/>
                </a:lnTo>
                <a:lnTo>
                  <a:pt x="1263015" y="1527495"/>
                </a:lnTo>
                <a:lnTo>
                  <a:pt x="1281589" y="1521360"/>
                </a:lnTo>
                <a:lnTo>
                  <a:pt x="1300162" y="1515140"/>
                </a:lnTo>
                <a:lnTo>
                  <a:pt x="1318736" y="1508831"/>
                </a:lnTo>
                <a:lnTo>
                  <a:pt x="1337310" y="1502434"/>
                </a:lnTo>
                <a:lnTo>
                  <a:pt x="1355884" y="1495945"/>
                </a:lnTo>
                <a:lnTo>
                  <a:pt x="1374458" y="1489364"/>
                </a:lnTo>
                <a:lnTo>
                  <a:pt x="1393031" y="1482687"/>
                </a:lnTo>
                <a:lnTo>
                  <a:pt x="1411605" y="1475913"/>
                </a:lnTo>
                <a:lnTo>
                  <a:pt x="1430179" y="1469039"/>
                </a:lnTo>
                <a:lnTo>
                  <a:pt x="1448752" y="1462064"/>
                </a:lnTo>
                <a:lnTo>
                  <a:pt x="1467326" y="1454985"/>
                </a:lnTo>
                <a:lnTo>
                  <a:pt x="1485900" y="1447800"/>
                </a:lnTo>
                <a:lnTo>
                  <a:pt x="1504474" y="1440506"/>
                </a:lnTo>
                <a:lnTo>
                  <a:pt x="1523048" y="1433102"/>
                </a:lnTo>
                <a:lnTo>
                  <a:pt x="1541621" y="1425583"/>
                </a:lnTo>
                <a:lnTo>
                  <a:pt x="1560195" y="1417948"/>
                </a:lnTo>
                <a:lnTo>
                  <a:pt x="1578769" y="1410195"/>
                </a:lnTo>
                <a:lnTo>
                  <a:pt x="1597342" y="1402319"/>
                </a:lnTo>
                <a:lnTo>
                  <a:pt x="1615916" y="1394319"/>
                </a:lnTo>
                <a:lnTo>
                  <a:pt x="1634490" y="1386191"/>
                </a:lnTo>
                <a:lnTo>
                  <a:pt x="1653064" y="1377933"/>
                </a:lnTo>
                <a:lnTo>
                  <a:pt x="1671638" y="1369541"/>
                </a:lnTo>
                <a:lnTo>
                  <a:pt x="1690211" y="1361011"/>
                </a:lnTo>
                <a:lnTo>
                  <a:pt x="1708785" y="1352341"/>
                </a:lnTo>
                <a:lnTo>
                  <a:pt x="1727359" y="1343526"/>
                </a:lnTo>
                <a:lnTo>
                  <a:pt x="1745932" y="1334564"/>
                </a:lnTo>
                <a:lnTo>
                  <a:pt x="1764506" y="1325451"/>
                </a:lnTo>
                <a:lnTo>
                  <a:pt x="1783080" y="1316182"/>
                </a:lnTo>
                <a:lnTo>
                  <a:pt x="1801654" y="1306754"/>
                </a:lnTo>
                <a:lnTo>
                  <a:pt x="1820228" y="1297162"/>
                </a:lnTo>
                <a:lnTo>
                  <a:pt x="1838801" y="1287402"/>
                </a:lnTo>
                <a:lnTo>
                  <a:pt x="1857375" y="1277471"/>
                </a:lnTo>
                <a:lnTo>
                  <a:pt x="1875949" y="1267362"/>
                </a:lnTo>
                <a:lnTo>
                  <a:pt x="1894522" y="1257072"/>
                </a:lnTo>
                <a:lnTo>
                  <a:pt x="1913096" y="1246595"/>
                </a:lnTo>
                <a:lnTo>
                  <a:pt x="1931670" y="1235927"/>
                </a:lnTo>
                <a:lnTo>
                  <a:pt x="1950244" y="1225062"/>
                </a:lnTo>
                <a:lnTo>
                  <a:pt x="1968818" y="1213994"/>
                </a:lnTo>
                <a:lnTo>
                  <a:pt x="1987391" y="1202718"/>
                </a:lnTo>
                <a:lnTo>
                  <a:pt x="2005965" y="1191228"/>
                </a:lnTo>
                <a:lnTo>
                  <a:pt x="2024539" y="1179518"/>
                </a:lnTo>
                <a:lnTo>
                  <a:pt x="2043112" y="1167581"/>
                </a:lnTo>
                <a:lnTo>
                  <a:pt x="2061686" y="1155410"/>
                </a:lnTo>
                <a:lnTo>
                  <a:pt x="2080260" y="1143000"/>
                </a:lnTo>
                <a:lnTo>
                  <a:pt x="2098834" y="1130342"/>
                </a:lnTo>
                <a:lnTo>
                  <a:pt x="2117408" y="1117430"/>
                </a:lnTo>
                <a:lnTo>
                  <a:pt x="2135981" y="1104254"/>
                </a:lnTo>
                <a:lnTo>
                  <a:pt x="2154555" y="1090808"/>
                </a:lnTo>
                <a:lnTo>
                  <a:pt x="2173129" y="1077083"/>
                </a:lnTo>
                <a:lnTo>
                  <a:pt x="2191702" y="1063070"/>
                </a:lnTo>
                <a:lnTo>
                  <a:pt x="2210276" y="1048760"/>
                </a:lnTo>
                <a:lnTo>
                  <a:pt x="2228850" y="1034143"/>
                </a:lnTo>
                <a:lnTo>
                  <a:pt x="2247424" y="1019209"/>
                </a:lnTo>
                <a:lnTo>
                  <a:pt x="2265998" y="1003949"/>
                </a:lnTo>
                <a:lnTo>
                  <a:pt x="2284571" y="988351"/>
                </a:lnTo>
                <a:lnTo>
                  <a:pt x="2303145" y="972403"/>
                </a:lnTo>
                <a:lnTo>
                  <a:pt x="2321719" y="956094"/>
                </a:lnTo>
                <a:lnTo>
                  <a:pt x="2340292" y="939412"/>
                </a:lnTo>
                <a:lnTo>
                  <a:pt x="2358866" y="922344"/>
                </a:lnTo>
                <a:lnTo>
                  <a:pt x="2377440" y="904875"/>
                </a:lnTo>
                <a:lnTo>
                  <a:pt x="2396014" y="886992"/>
                </a:lnTo>
                <a:lnTo>
                  <a:pt x="2414588" y="868680"/>
                </a:lnTo>
                <a:lnTo>
                  <a:pt x="2433161" y="849923"/>
                </a:lnTo>
                <a:lnTo>
                  <a:pt x="2451735" y="830705"/>
                </a:lnTo>
                <a:lnTo>
                  <a:pt x="2470309" y="811008"/>
                </a:lnTo>
                <a:lnTo>
                  <a:pt x="2488882" y="790815"/>
                </a:lnTo>
                <a:lnTo>
                  <a:pt x="2507456" y="770106"/>
                </a:lnTo>
                <a:lnTo>
                  <a:pt x="2526030" y="748862"/>
                </a:lnTo>
                <a:lnTo>
                  <a:pt x="2544604" y="727061"/>
                </a:lnTo>
                <a:lnTo>
                  <a:pt x="2563178" y="704681"/>
                </a:lnTo>
                <a:lnTo>
                  <a:pt x="2581751" y="681700"/>
                </a:lnTo>
                <a:lnTo>
                  <a:pt x="2600325" y="658091"/>
                </a:lnTo>
                <a:lnTo>
                  <a:pt x="2618899" y="633829"/>
                </a:lnTo>
                <a:lnTo>
                  <a:pt x="2637472" y="608888"/>
                </a:lnTo>
                <a:lnTo>
                  <a:pt x="2656046" y="583237"/>
                </a:lnTo>
                <a:lnTo>
                  <a:pt x="2674620" y="556846"/>
                </a:lnTo>
                <a:lnTo>
                  <a:pt x="2693194" y="529683"/>
                </a:lnTo>
                <a:lnTo>
                  <a:pt x="2711768" y="501713"/>
                </a:lnTo>
                <a:lnTo>
                  <a:pt x="2730341" y="472899"/>
                </a:lnTo>
                <a:lnTo>
                  <a:pt x="2748915" y="443204"/>
                </a:lnTo>
                <a:lnTo>
                  <a:pt x="2767489" y="412585"/>
                </a:lnTo>
                <a:lnTo>
                  <a:pt x="2786062" y="381000"/>
                </a:lnTo>
                <a:lnTo>
                  <a:pt x="2804636" y="348401"/>
                </a:lnTo>
                <a:lnTo>
                  <a:pt x="2823210" y="314739"/>
                </a:lnTo>
                <a:lnTo>
                  <a:pt x="2841784" y="279961"/>
                </a:lnTo>
                <a:lnTo>
                  <a:pt x="2860358" y="244011"/>
                </a:lnTo>
                <a:lnTo>
                  <a:pt x="2878931" y="206829"/>
                </a:lnTo>
                <a:lnTo>
                  <a:pt x="2897505" y="168349"/>
                </a:lnTo>
                <a:lnTo>
                  <a:pt x="2916079" y="128503"/>
                </a:lnTo>
                <a:lnTo>
                  <a:pt x="2934652" y="87217"/>
                </a:lnTo>
                <a:lnTo>
                  <a:pt x="2953226" y="44411"/>
                </a:lnTo>
                <a:lnTo>
                  <a:pt x="2971800" y="0"/>
                </a:lnTo>
              </a:path>
            </a:pathLst>
          </a:custGeom>
          <a:noFill/>
          <a:ln w="1320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c curve p=0.40"/>
          <p:cNvSpPr/>
          <p:nvPr/>
        </p:nvSpPr>
        <p:spPr>
          <a:xfrm>
            <a:off x="5943600" y="5019040"/>
            <a:ext cx="2971800" cy="1447800"/>
          </a:xfrm>
          <a:custGeom>
            <a:avLst/>
            <a:gdLst/>
            <a:ahLst/>
            <a:cxnLst/>
            <a:rect l="l" t="t" r="r" b="b"/>
            <a:pathLst>
              <a:path w="2971800" h="1447800">
                <a:moveTo>
                  <a:pt x="0" y="1447800"/>
                </a:moveTo>
                <a:lnTo>
                  <a:pt x="18574" y="1444167"/>
                </a:lnTo>
                <a:lnTo>
                  <a:pt x="37148" y="1440506"/>
                </a:lnTo>
                <a:lnTo>
                  <a:pt x="55721" y="1436818"/>
                </a:lnTo>
                <a:lnTo>
                  <a:pt x="74295" y="1433102"/>
                </a:lnTo>
                <a:lnTo>
                  <a:pt x="92869" y="1429357"/>
                </a:lnTo>
                <a:lnTo>
                  <a:pt x="111442" y="1425583"/>
                </a:lnTo>
                <a:lnTo>
                  <a:pt x="130016" y="1421780"/>
                </a:lnTo>
                <a:lnTo>
                  <a:pt x="148590" y="1417948"/>
                </a:lnTo>
                <a:lnTo>
                  <a:pt x="167164" y="1414087"/>
                </a:lnTo>
                <a:lnTo>
                  <a:pt x="185738" y="1410195"/>
                </a:lnTo>
                <a:lnTo>
                  <a:pt x="204311" y="1406272"/>
                </a:lnTo>
                <a:lnTo>
                  <a:pt x="222885" y="1402319"/>
                </a:lnTo>
                <a:lnTo>
                  <a:pt x="241459" y="1398335"/>
                </a:lnTo>
                <a:lnTo>
                  <a:pt x="260032" y="1394319"/>
                </a:lnTo>
                <a:lnTo>
                  <a:pt x="278606" y="1390272"/>
                </a:lnTo>
                <a:lnTo>
                  <a:pt x="297180" y="1386191"/>
                </a:lnTo>
                <a:lnTo>
                  <a:pt x="315754" y="1382079"/>
                </a:lnTo>
                <a:lnTo>
                  <a:pt x="334328" y="1377933"/>
                </a:lnTo>
                <a:lnTo>
                  <a:pt x="352901" y="1373754"/>
                </a:lnTo>
                <a:lnTo>
                  <a:pt x="371475" y="1369541"/>
                </a:lnTo>
                <a:lnTo>
                  <a:pt x="390049" y="1365293"/>
                </a:lnTo>
                <a:lnTo>
                  <a:pt x="408622" y="1361011"/>
                </a:lnTo>
                <a:lnTo>
                  <a:pt x="427196" y="1356694"/>
                </a:lnTo>
                <a:lnTo>
                  <a:pt x="445770" y="1352341"/>
                </a:lnTo>
                <a:lnTo>
                  <a:pt x="464344" y="1347952"/>
                </a:lnTo>
                <a:lnTo>
                  <a:pt x="482918" y="1343526"/>
                </a:lnTo>
                <a:lnTo>
                  <a:pt x="501491" y="1339064"/>
                </a:lnTo>
                <a:lnTo>
                  <a:pt x="520065" y="1334564"/>
                </a:lnTo>
                <a:lnTo>
                  <a:pt x="538639" y="1330027"/>
                </a:lnTo>
                <a:lnTo>
                  <a:pt x="557212" y="1325451"/>
                </a:lnTo>
                <a:lnTo>
                  <a:pt x="575786" y="1320836"/>
                </a:lnTo>
                <a:lnTo>
                  <a:pt x="594360" y="1316182"/>
                </a:lnTo>
                <a:lnTo>
                  <a:pt x="612934" y="1311488"/>
                </a:lnTo>
                <a:lnTo>
                  <a:pt x="631508" y="1306754"/>
                </a:lnTo>
                <a:lnTo>
                  <a:pt x="650081" y="1301978"/>
                </a:lnTo>
                <a:lnTo>
                  <a:pt x="668655" y="1297162"/>
                </a:lnTo>
                <a:lnTo>
                  <a:pt x="687229" y="1292303"/>
                </a:lnTo>
                <a:lnTo>
                  <a:pt x="705802" y="1287402"/>
                </a:lnTo>
                <a:lnTo>
                  <a:pt x="724376" y="1282458"/>
                </a:lnTo>
                <a:lnTo>
                  <a:pt x="742950" y="1277471"/>
                </a:lnTo>
                <a:lnTo>
                  <a:pt x="761524" y="1272439"/>
                </a:lnTo>
                <a:lnTo>
                  <a:pt x="780098" y="1267362"/>
                </a:lnTo>
                <a:lnTo>
                  <a:pt x="798671" y="1262240"/>
                </a:lnTo>
                <a:lnTo>
                  <a:pt x="817245" y="1257072"/>
                </a:lnTo>
                <a:lnTo>
                  <a:pt x="835819" y="1251857"/>
                </a:lnTo>
                <a:lnTo>
                  <a:pt x="854392" y="1246595"/>
                </a:lnTo>
                <a:lnTo>
                  <a:pt x="872966" y="1241285"/>
                </a:lnTo>
                <a:lnTo>
                  <a:pt x="891540" y="1235927"/>
                </a:lnTo>
                <a:lnTo>
                  <a:pt x="910114" y="1230519"/>
                </a:lnTo>
                <a:lnTo>
                  <a:pt x="928688" y="1225062"/>
                </a:lnTo>
                <a:lnTo>
                  <a:pt x="947261" y="1219553"/>
                </a:lnTo>
                <a:lnTo>
                  <a:pt x="965835" y="1213994"/>
                </a:lnTo>
                <a:lnTo>
                  <a:pt x="984409" y="1208382"/>
                </a:lnTo>
                <a:lnTo>
                  <a:pt x="1002982" y="1202718"/>
                </a:lnTo>
                <a:lnTo>
                  <a:pt x="1021556" y="1197000"/>
                </a:lnTo>
                <a:lnTo>
                  <a:pt x="1040130" y="1191228"/>
                </a:lnTo>
                <a:lnTo>
                  <a:pt x="1058704" y="1185401"/>
                </a:lnTo>
                <a:lnTo>
                  <a:pt x="1077278" y="1179518"/>
                </a:lnTo>
                <a:lnTo>
                  <a:pt x="1095851" y="1173578"/>
                </a:lnTo>
                <a:lnTo>
                  <a:pt x="1114425" y="1167581"/>
                </a:lnTo>
                <a:lnTo>
                  <a:pt x="1132999" y="1161525"/>
                </a:lnTo>
                <a:lnTo>
                  <a:pt x="1151572" y="1155410"/>
                </a:lnTo>
                <a:lnTo>
                  <a:pt x="1170146" y="1149236"/>
                </a:lnTo>
                <a:lnTo>
                  <a:pt x="1188720" y="1143000"/>
                </a:lnTo>
                <a:lnTo>
                  <a:pt x="1207294" y="1136702"/>
                </a:lnTo>
                <a:lnTo>
                  <a:pt x="1225868" y="1130342"/>
                </a:lnTo>
                <a:lnTo>
                  <a:pt x="1244441" y="1123918"/>
                </a:lnTo>
                <a:lnTo>
                  <a:pt x="1263015" y="1117430"/>
                </a:lnTo>
                <a:lnTo>
                  <a:pt x="1281589" y="1110875"/>
                </a:lnTo>
                <a:lnTo>
                  <a:pt x="1300162" y="1104254"/>
                </a:lnTo>
                <a:lnTo>
                  <a:pt x="1318736" y="1097566"/>
                </a:lnTo>
                <a:lnTo>
                  <a:pt x="1337310" y="1090808"/>
                </a:lnTo>
                <a:lnTo>
                  <a:pt x="1355884" y="1083981"/>
                </a:lnTo>
                <a:lnTo>
                  <a:pt x="1374458" y="1077083"/>
                </a:lnTo>
                <a:lnTo>
                  <a:pt x="1393031" y="1070113"/>
                </a:lnTo>
                <a:lnTo>
                  <a:pt x="1411605" y="1063070"/>
                </a:lnTo>
                <a:lnTo>
                  <a:pt x="1430179" y="1055953"/>
                </a:lnTo>
                <a:lnTo>
                  <a:pt x="1448752" y="1048760"/>
                </a:lnTo>
                <a:lnTo>
                  <a:pt x="1467326" y="1041490"/>
                </a:lnTo>
                <a:lnTo>
                  <a:pt x="1485900" y="1034143"/>
                </a:lnTo>
                <a:lnTo>
                  <a:pt x="1504474" y="1026716"/>
                </a:lnTo>
                <a:lnTo>
                  <a:pt x="1523048" y="1019209"/>
                </a:lnTo>
                <a:lnTo>
                  <a:pt x="1541621" y="1011621"/>
                </a:lnTo>
                <a:lnTo>
                  <a:pt x="1560195" y="1003949"/>
                </a:lnTo>
                <a:lnTo>
                  <a:pt x="1578769" y="996193"/>
                </a:lnTo>
                <a:lnTo>
                  <a:pt x="1597342" y="988351"/>
                </a:lnTo>
                <a:lnTo>
                  <a:pt x="1615916" y="980421"/>
                </a:lnTo>
                <a:lnTo>
                  <a:pt x="1634490" y="972403"/>
                </a:lnTo>
                <a:lnTo>
                  <a:pt x="1653064" y="964295"/>
                </a:lnTo>
                <a:lnTo>
                  <a:pt x="1671638" y="956094"/>
                </a:lnTo>
                <a:lnTo>
                  <a:pt x="1690211" y="947801"/>
                </a:lnTo>
                <a:lnTo>
                  <a:pt x="1708785" y="939412"/>
                </a:lnTo>
                <a:lnTo>
                  <a:pt x="1727359" y="930927"/>
                </a:lnTo>
                <a:lnTo>
                  <a:pt x="1745932" y="922344"/>
                </a:lnTo>
                <a:lnTo>
                  <a:pt x="1764506" y="913660"/>
                </a:lnTo>
                <a:lnTo>
                  <a:pt x="1783080" y="904875"/>
                </a:lnTo>
                <a:lnTo>
                  <a:pt x="1801654" y="895986"/>
                </a:lnTo>
                <a:lnTo>
                  <a:pt x="1820228" y="886992"/>
                </a:lnTo>
                <a:lnTo>
                  <a:pt x="1838801" y="877891"/>
                </a:lnTo>
                <a:lnTo>
                  <a:pt x="1857375" y="868680"/>
                </a:lnTo>
                <a:lnTo>
                  <a:pt x="1875949" y="859358"/>
                </a:lnTo>
                <a:lnTo>
                  <a:pt x="1894522" y="849923"/>
                </a:lnTo>
                <a:lnTo>
                  <a:pt x="1913096" y="840373"/>
                </a:lnTo>
                <a:lnTo>
                  <a:pt x="1931670" y="830705"/>
                </a:lnTo>
                <a:lnTo>
                  <a:pt x="1950244" y="820918"/>
                </a:lnTo>
                <a:lnTo>
                  <a:pt x="1968818" y="811008"/>
                </a:lnTo>
                <a:lnTo>
                  <a:pt x="1987391" y="800975"/>
                </a:lnTo>
                <a:lnTo>
                  <a:pt x="2005965" y="790815"/>
                </a:lnTo>
                <a:lnTo>
                  <a:pt x="2024539" y="780526"/>
                </a:lnTo>
                <a:lnTo>
                  <a:pt x="2043112" y="770106"/>
                </a:lnTo>
                <a:lnTo>
                  <a:pt x="2061686" y="759552"/>
                </a:lnTo>
                <a:lnTo>
                  <a:pt x="2080260" y="748862"/>
                </a:lnTo>
                <a:lnTo>
                  <a:pt x="2098834" y="738033"/>
                </a:lnTo>
                <a:lnTo>
                  <a:pt x="2117408" y="727061"/>
                </a:lnTo>
                <a:lnTo>
                  <a:pt x="2135981" y="715945"/>
                </a:lnTo>
                <a:lnTo>
                  <a:pt x="2154555" y="704681"/>
                </a:lnTo>
                <a:lnTo>
                  <a:pt x="2173129" y="693267"/>
                </a:lnTo>
                <a:lnTo>
                  <a:pt x="2191702" y="681700"/>
                </a:lnTo>
                <a:lnTo>
                  <a:pt x="2210276" y="669975"/>
                </a:lnTo>
                <a:lnTo>
                  <a:pt x="2228850" y="658091"/>
                </a:lnTo>
                <a:lnTo>
                  <a:pt x="2247424" y="646043"/>
                </a:lnTo>
                <a:lnTo>
                  <a:pt x="2265998" y="633829"/>
                </a:lnTo>
                <a:lnTo>
                  <a:pt x="2284571" y="621445"/>
                </a:lnTo>
                <a:lnTo>
                  <a:pt x="2303145" y="608888"/>
                </a:lnTo>
                <a:lnTo>
                  <a:pt x="2321719" y="596153"/>
                </a:lnTo>
                <a:lnTo>
                  <a:pt x="2340292" y="583237"/>
                </a:lnTo>
                <a:lnTo>
                  <a:pt x="2358866" y="570136"/>
                </a:lnTo>
                <a:lnTo>
                  <a:pt x="2377440" y="556846"/>
                </a:lnTo>
                <a:lnTo>
                  <a:pt x="2396014" y="543363"/>
                </a:lnTo>
                <a:lnTo>
                  <a:pt x="2414588" y="529683"/>
                </a:lnTo>
                <a:lnTo>
                  <a:pt x="2433161" y="515801"/>
                </a:lnTo>
                <a:lnTo>
                  <a:pt x="2451735" y="501713"/>
                </a:lnTo>
                <a:lnTo>
                  <a:pt x="2470309" y="487414"/>
                </a:lnTo>
                <a:lnTo>
                  <a:pt x="2488882" y="472899"/>
                </a:lnTo>
                <a:lnTo>
                  <a:pt x="2507456" y="458165"/>
                </a:lnTo>
                <a:lnTo>
                  <a:pt x="2526030" y="443204"/>
                </a:lnTo>
                <a:lnTo>
                  <a:pt x="2544604" y="428013"/>
                </a:lnTo>
                <a:lnTo>
                  <a:pt x="2563178" y="412585"/>
                </a:lnTo>
                <a:lnTo>
                  <a:pt x="2581751" y="396916"/>
                </a:lnTo>
                <a:lnTo>
                  <a:pt x="2600325" y="381000"/>
                </a:lnTo>
                <a:lnTo>
                  <a:pt x="2618899" y="364830"/>
                </a:lnTo>
                <a:lnTo>
                  <a:pt x="2637472" y="348401"/>
                </a:lnTo>
                <a:lnTo>
                  <a:pt x="2656046" y="331706"/>
                </a:lnTo>
                <a:lnTo>
                  <a:pt x="2674620" y="314739"/>
                </a:lnTo>
                <a:lnTo>
                  <a:pt x="2693194" y="297493"/>
                </a:lnTo>
                <a:lnTo>
                  <a:pt x="2711768" y="279961"/>
                </a:lnTo>
                <a:lnTo>
                  <a:pt x="2730341" y="262136"/>
                </a:lnTo>
                <a:lnTo>
                  <a:pt x="2748915" y="244011"/>
                </a:lnTo>
                <a:lnTo>
                  <a:pt x="2767489" y="225578"/>
                </a:lnTo>
                <a:lnTo>
                  <a:pt x="2786062" y="206829"/>
                </a:lnTo>
                <a:lnTo>
                  <a:pt x="2804636" y="187755"/>
                </a:lnTo>
                <a:lnTo>
                  <a:pt x="2823210" y="168349"/>
                </a:lnTo>
                <a:lnTo>
                  <a:pt x="2841784" y="148601"/>
                </a:lnTo>
                <a:lnTo>
                  <a:pt x="2860358" y="128503"/>
                </a:lnTo>
                <a:lnTo>
                  <a:pt x="2878931" y="108045"/>
                </a:lnTo>
                <a:lnTo>
                  <a:pt x="2897505" y="87217"/>
                </a:lnTo>
                <a:lnTo>
                  <a:pt x="2916079" y="66009"/>
                </a:lnTo>
                <a:lnTo>
                  <a:pt x="2934652" y="44411"/>
                </a:lnTo>
                <a:lnTo>
                  <a:pt x="2953226" y="22412"/>
                </a:lnTo>
                <a:lnTo>
                  <a:pt x="2971800" y="0"/>
                </a:lnTo>
              </a:path>
            </a:pathLst>
          </a:custGeom>
          <a:noFill/>
          <a:ln w="13208">
            <a:solidFill>
              <a:srgbClr val="E82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c p06"/>
          <p:cNvSpPr txBox="1"/>
          <p:nvPr/>
        </p:nvSpPr>
        <p:spPr>
          <a:xfrm>
            <a:off x="5860288" y="5604575"/>
            <a:ext cx="1117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Arial"/>
              </a:rPr>
              <a:t>p</a:t>
            </a:r>
            <a:r>
              <a:rPr sz="1000" b="0" i="0">
                <a:solidFill>
                  <a:srgbClr val="8A8A8A"/>
                </a:solidFill>
                <a:latin typeface="Arial"/>
              </a:rPr>
              <a:t> = 0.6</a:t>
            </a:r>
          </a:p>
        </p:txBody>
      </p:sp>
      <p:sp>
        <p:nvSpPr>
          <p:cNvPr id="334" name="c p025"/>
          <p:cNvSpPr txBox="1"/>
          <p:nvPr/>
        </p:nvSpPr>
        <p:spPr>
          <a:xfrm>
            <a:off x="6284976" y="6723380"/>
            <a:ext cx="12192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Arial"/>
              </a:rPr>
              <a:t>p</a:t>
            </a:r>
            <a:r>
              <a:rPr sz="1000" b="0" i="0">
                <a:solidFill>
                  <a:srgbClr val="8A8A8A"/>
                </a:solidFill>
                <a:latin typeface="Arial"/>
              </a:rPr>
              <a:t> = 0.25</a:t>
            </a:r>
          </a:p>
        </p:txBody>
      </p:sp>
      <p:sp>
        <p:nvSpPr>
          <p:cNvPr id="335" name="c p04"/>
          <p:cNvSpPr txBox="1"/>
          <p:nvPr/>
        </p:nvSpPr>
        <p:spPr>
          <a:xfrm>
            <a:off x="5890006" y="6421977"/>
            <a:ext cx="11176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E8252A"/>
                </a:solidFill>
                <a:latin typeface="Arial"/>
              </a:rPr>
              <a:t>p</a:t>
            </a:r>
            <a:r>
              <a:rPr sz="1000" b="0" i="0">
                <a:solidFill>
                  <a:srgbClr val="E8252A"/>
                </a:solidFill>
                <a:latin typeface="Arial"/>
              </a:rPr>
              <a:t> = 0.4</a:t>
            </a:r>
          </a:p>
        </p:txBody>
      </p:sp>
      <p:cxnSp>
        <p:nvCxnSpPr>
          <p:cNvPr id="336" name="c marker Conventional"/>
          <p:cNvCxnSpPr/>
          <p:nvPr/>
        </p:nvCxnSpPr>
        <p:spPr>
          <a:xfrm flipV="1">
            <a:off x="8469630" y="5462244"/>
            <a:ext cx="0" cy="1487196"/>
          </a:xfrm>
          <a:prstGeom prst="line">
            <a:avLst/>
          </a:prstGeom>
          <a:ln w="11176">
            <a:solidFill>
              <a:srgbClr val="DE5B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c dot Conventional"/>
          <p:cNvSpPr/>
          <p:nvPr/>
        </p:nvSpPr>
        <p:spPr>
          <a:xfrm>
            <a:off x="8423910" y="5416524"/>
            <a:ext cx="91440" cy="91440"/>
          </a:xfrm>
          <a:prstGeom prst="ellipse">
            <a:avLst/>
          </a:prstGeom>
          <a:solidFill>
            <a:srgbClr val="DE5B5B"/>
          </a:solidFill>
          <a:ln w="6096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c note Conventional"/>
          <p:cNvSpPr txBox="1"/>
          <p:nvPr/>
        </p:nvSpPr>
        <p:spPr>
          <a:xfrm rot="16200000">
            <a:off x="7872730" y="6300978"/>
            <a:ext cx="889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DE5B5B"/>
                </a:solidFill>
                <a:latin typeface="Arial"/>
              </a:rPr>
              <a:t>Conventional</a:t>
            </a:r>
          </a:p>
        </p:txBody>
      </p:sp>
      <p:sp>
        <p:nvSpPr>
          <p:cNvPr id="339" name="c value Conventional"/>
          <p:cNvSpPr txBox="1"/>
          <p:nvPr/>
        </p:nvSpPr>
        <p:spPr>
          <a:xfrm rot="16200000">
            <a:off x="7710170" y="6300978"/>
            <a:ext cx="889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DE5B5B"/>
                </a:solidFill>
                <a:latin typeface="Arial"/>
              </a:rPr>
              <a:t>A</a:t>
            </a:r>
            <a:r>
              <a:rPr sz="1000" b="0" i="0">
                <a:solidFill>
                  <a:srgbClr val="DE5B5B"/>
                </a:solidFill>
                <a:latin typeface="Arial"/>
              </a:rPr>
              <a:t>' = 0.15</a:t>
            </a:r>
          </a:p>
        </p:txBody>
      </p:sp>
      <p:cxnSp>
        <p:nvCxnSpPr>
          <p:cNvPr id="340" name="c marker Low loss"/>
          <p:cNvCxnSpPr/>
          <p:nvPr/>
        </p:nvCxnSpPr>
        <p:spPr>
          <a:xfrm flipV="1">
            <a:off x="8855964" y="5089322"/>
            <a:ext cx="0" cy="1860118"/>
          </a:xfrm>
          <a:prstGeom prst="line">
            <a:avLst/>
          </a:prstGeom>
          <a:ln w="11176">
            <a:solidFill>
              <a:srgbClr val="3B6F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c dot Low loss"/>
          <p:cNvSpPr/>
          <p:nvPr/>
        </p:nvSpPr>
        <p:spPr>
          <a:xfrm>
            <a:off x="8810244" y="5043602"/>
            <a:ext cx="91440" cy="91440"/>
          </a:xfrm>
          <a:prstGeom prst="ellipse">
            <a:avLst/>
          </a:prstGeom>
          <a:solidFill>
            <a:srgbClr val="3B6FD4"/>
          </a:solidFill>
          <a:ln w="6096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c note Low loss"/>
          <p:cNvSpPr txBox="1"/>
          <p:nvPr/>
        </p:nvSpPr>
        <p:spPr>
          <a:xfrm rot="16200000">
            <a:off x="8259064" y="6300978"/>
            <a:ext cx="889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3B6FD4"/>
                </a:solidFill>
                <a:latin typeface="Arial"/>
              </a:rPr>
              <a:t>Low loss</a:t>
            </a:r>
          </a:p>
        </p:txBody>
      </p:sp>
      <p:sp>
        <p:nvSpPr>
          <p:cNvPr id="343" name="c value Low loss"/>
          <p:cNvSpPr txBox="1"/>
          <p:nvPr/>
        </p:nvSpPr>
        <p:spPr>
          <a:xfrm rot="16200000">
            <a:off x="8096504" y="6300978"/>
            <a:ext cx="889000" cy="2159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3B6FD4"/>
                </a:solidFill>
                <a:latin typeface="Arial"/>
              </a:rPr>
              <a:t>A</a:t>
            </a:r>
            <a:r>
              <a:rPr sz="1000" b="0" i="0">
                <a:solidFill>
                  <a:srgbClr val="3B6FD4"/>
                </a:solidFill>
                <a:latin typeface="Arial"/>
              </a:rPr>
              <a:t>' = 0.02</a:t>
            </a:r>
          </a:p>
        </p:txBody>
      </p:sp>
      <p:sp>
        <p:nvSpPr>
          <p:cNvPr id="344" name="panel a"/>
          <p:cNvSpPr txBox="1"/>
          <p:nvPr/>
        </p:nvSpPr>
        <p:spPr>
          <a:xfrm>
            <a:off x="66040" y="18542"/>
            <a:ext cx="457200" cy="26771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4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345" name="panel b"/>
          <p:cNvSpPr txBox="1"/>
          <p:nvPr/>
        </p:nvSpPr>
        <p:spPr>
          <a:xfrm>
            <a:off x="66040" y="4681982"/>
            <a:ext cx="457200" cy="26771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4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46" name="panel c"/>
          <p:cNvSpPr txBox="1"/>
          <p:nvPr/>
        </p:nvSpPr>
        <p:spPr>
          <a:xfrm>
            <a:off x="4648200" y="4681982"/>
            <a:ext cx="457200" cy="26771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4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