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457" r:id="rId2"/>
    <p:sldId id="1016" r:id="rId3"/>
    <p:sldId id="1017" r:id="rId4"/>
    <p:sldId id="1018" r:id="rId5"/>
    <p:sldId id="944" r:id="rId6"/>
    <p:sldId id="958" r:id="rId7"/>
    <p:sldId id="954" r:id="rId8"/>
    <p:sldId id="1012" r:id="rId9"/>
    <p:sldId id="953" r:id="rId10"/>
    <p:sldId id="1019" r:id="rId11"/>
    <p:sldId id="1007" r:id="rId12"/>
    <p:sldId id="985" r:id="rId13"/>
    <p:sldId id="1020" r:id="rId14"/>
    <p:sldId id="1021" r:id="rId15"/>
    <p:sldId id="970" r:id="rId16"/>
    <p:sldId id="994" r:id="rId17"/>
    <p:sldId id="971" r:id="rId18"/>
    <p:sldId id="1022" r:id="rId19"/>
    <p:sldId id="1024" r:id="rId20"/>
    <p:sldId id="1023" r:id="rId21"/>
    <p:sldId id="1014" r:id="rId22"/>
    <p:sldId id="1013" r:id="rId23"/>
    <p:sldId id="1025" r:id="rId50"/>
    <p:sldId id="946" r:id="rId24"/>
    <p:sldId id="974" r:id="rId25"/>
    <p:sldId id="977" r:id="rId26"/>
    <p:sldId id="986" r:id="rId27"/>
    <p:sldId id="1006" r:id="rId28"/>
    <p:sldId id="966" r:id="rId29"/>
    <p:sldId id="968" r:id="rId30"/>
    <p:sldId id="1010" r:id="rId31"/>
  </p:sldIdLst>
  <p:sldSz cx="12192000" cy="6858000"/>
  <p:notesSz cx="7102475" cy="10234613"/>
  <p:embeddedFontLst>
    <p:embeddedFont>
      <p:font typeface="Arial Narrow" panose="020B0606020202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Gill Sans MT" panose="020B0502020104020203" pitchFamily="34" charset="0"/>
      <p:regular r:id="rId39"/>
      <p:bold r:id="rId40"/>
      <p:italic r:id="rId41"/>
      <p:boldItalic r:id="rId42"/>
    </p:embeddedFont>
    <p:embeddedFont>
      <p:font typeface="맑은 고딕" panose="020B0503020000020004" pitchFamily="50" charset="-127"/>
      <p:regular r:id="rId43"/>
      <p:bold r:id="rId44"/>
    </p:embeddedFont>
  </p:embeddedFontLst>
  <p:custDataLst>
    <p:tags r:id="rId45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9C4CCFA-AA91-4D29-BDED-5DA2430A2C65}">
          <p14:sldIdLst>
            <p14:sldId id="457"/>
          </p14:sldIdLst>
        </p14:section>
        <p14:section name="Introduction" id="{BCD3F2B3-92D4-43DE-81D1-CE927FEE9019}">
          <p14:sldIdLst>
            <p14:sldId id="1016"/>
            <p14:sldId id="1017"/>
            <p14:sldId id="1018"/>
            <p14:sldId id="944"/>
            <p14:sldId id="958"/>
            <p14:sldId id="954"/>
            <p14:sldId id="1012"/>
            <p14:sldId id="953"/>
            <p14:sldId id="1019"/>
            <p14:sldId id="1007"/>
          </p14:sldIdLst>
        </p14:section>
        <p14:section name="Design of the framework" id="{ED2FFD84-BE28-4EA5-A9A4-03912D35CADE}">
          <p14:sldIdLst>
            <p14:sldId id="985"/>
            <p14:sldId id="1020"/>
            <p14:sldId id="1021"/>
          </p14:sldIdLst>
        </p14:section>
        <p14:section name="Design of the Adhesive point" id="{8B34E20F-85D0-4111-874E-948D22CEE859}">
          <p14:sldIdLst>
            <p14:sldId id="970"/>
            <p14:sldId id="994"/>
            <p14:sldId id="971"/>
            <p14:sldId id="1022"/>
            <p14:sldId id="1024"/>
          </p14:sldIdLst>
        </p14:section>
        <p14:section name="Experimental results" id="{ABB8A03C-18FA-4D41-B46C-AA4DE6211027}">
          <p14:sldIdLst>
            <p14:sldId id="1023"/>
            <p14:sldId id="1014"/>
            <p14:sldId id="1013"/>
            <p14:sldId id="946"/>
          </p14:sldIdLst>
        </p14:section>
        <p14:section name="Appendix" id="{FB6E15A4-63D5-44F2-B07C-8E305854D9B3}">
          <p14:sldIdLst>
            <p14:sldId id="974"/>
            <p14:sldId id="977"/>
            <p14:sldId id="986"/>
            <p14:sldId id="1006"/>
            <p14:sldId id="966"/>
            <p14:sldId id="968"/>
            <p14:sldId id="10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5BAB"/>
    <a:srgbClr val="63506F"/>
    <a:srgbClr val="0000FF"/>
    <a:srgbClr val="00FF00"/>
    <a:srgbClr val="1F4582"/>
    <a:srgbClr val="C00000"/>
    <a:srgbClr val="C20E0F"/>
    <a:srgbClr val="DE2F40"/>
    <a:srgbClr val="000000"/>
    <a:srgbClr val="A4A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84060" autoAdjust="0"/>
  </p:normalViewPr>
  <p:slideViewPr>
    <p:cSldViewPr>
      <p:cViewPr varScale="1">
        <p:scale>
          <a:sx n="93" d="100"/>
          <a:sy n="93" d="100"/>
        </p:scale>
        <p:origin x="12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5284"/>
    </p:cViewPr>
  </p:sorterViewPr>
  <p:notesViewPr>
    <p:cSldViewPr>
      <p:cViewPr varScale="1">
        <p:scale>
          <a:sx n="72" d="100"/>
          <a:sy n="72" d="100"/>
        </p:scale>
        <p:origin x="3246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notesMaster" Target="notesMasters/notesMaster1.xml"/><Relationship Id="rId33" Type="http://schemas.openxmlformats.org/officeDocument/2006/relationships/handoutMaster" Target="handoutMasters/handout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font" Target="fonts/font8.fntdata"/><Relationship Id="rId42" Type="http://schemas.openxmlformats.org/officeDocument/2006/relationships/font" Target="fonts/font9.fntdata"/><Relationship Id="rId43" Type="http://schemas.openxmlformats.org/officeDocument/2006/relationships/font" Target="fonts/font10.fntdata"/><Relationship Id="rId44" Type="http://schemas.openxmlformats.org/officeDocument/2006/relationships/font" Target="fonts/font11.fntdata"/><Relationship Id="rId45" Type="http://schemas.openxmlformats.org/officeDocument/2006/relationships/tags" Target="tags/tag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7260" cy="511382"/>
          </a:xfrm>
          <a:prstGeom prst="rect">
            <a:avLst/>
          </a:prstGeom>
        </p:spPr>
        <p:txBody>
          <a:bodyPr vert="horz" lIns="96869" tIns="48434" rIns="96869" bIns="4843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620" y="2"/>
            <a:ext cx="3077259" cy="511382"/>
          </a:xfrm>
          <a:prstGeom prst="rect">
            <a:avLst/>
          </a:prstGeom>
        </p:spPr>
        <p:txBody>
          <a:bodyPr vert="horz" lIns="96869" tIns="48434" rIns="96869" bIns="48434" rtlCol="0"/>
          <a:lstStyle>
            <a:lvl1pPr algn="r">
              <a:defRPr sz="1300"/>
            </a:lvl1pPr>
          </a:lstStyle>
          <a:p>
            <a:fld id="{AA67EDC7-558C-4839-B97C-A282BF3CB3A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487"/>
            <a:ext cx="3077260" cy="511382"/>
          </a:xfrm>
          <a:prstGeom prst="rect">
            <a:avLst/>
          </a:prstGeom>
        </p:spPr>
        <p:txBody>
          <a:bodyPr vert="horz" lIns="96869" tIns="48434" rIns="96869" bIns="4843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620" y="9721487"/>
            <a:ext cx="3077259" cy="511382"/>
          </a:xfrm>
          <a:prstGeom prst="rect">
            <a:avLst/>
          </a:prstGeom>
        </p:spPr>
        <p:txBody>
          <a:bodyPr vert="horz" lIns="96869" tIns="48434" rIns="96869" bIns="48434" rtlCol="0" anchor="b"/>
          <a:lstStyle>
            <a:lvl1pPr algn="r">
              <a:defRPr sz="1300"/>
            </a:lvl1pPr>
          </a:lstStyle>
          <a:p>
            <a:fld id="{7AC40E22-7A52-4471-A01D-DBD712AE13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4570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328" cy="511469"/>
          </a:xfrm>
          <a:prstGeom prst="rect">
            <a:avLst/>
          </a:prstGeom>
        </p:spPr>
        <p:txBody>
          <a:bodyPr vert="horz" lIns="97073" tIns="48536" rIns="97073" bIns="48536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2544" y="1"/>
            <a:ext cx="3078327" cy="511469"/>
          </a:xfrm>
          <a:prstGeom prst="rect">
            <a:avLst/>
          </a:prstGeom>
        </p:spPr>
        <p:txBody>
          <a:bodyPr vert="horz" lIns="97073" tIns="48536" rIns="97073" bIns="48536" rtlCol="0"/>
          <a:lstStyle>
            <a:lvl1pPr algn="r">
              <a:defRPr sz="1300"/>
            </a:lvl1pPr>
          </a:lstStyle>
          <a:p>
            <a:fld id="{A47D274A-8906-47D0-A0BC-DFE741BEAA5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19900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7073" tIns="48536" rIns="97073" bIns="4853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766" y="4861575"/>
            <a:ext cx="5682944" cy="4604965"/>
          </a:xfrm>
          <a:prstGeom prst="rect">
            <a:avLst/>
          </a:prstGeom>
        </p:spPr>
        <p:txBody>
          <a:bodyPr vert="horz" lIns="97073" tIns="48536" rIns="97073" bIns="48536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400"/>
            <a:ext cx="3078328" cy="511468"/>
          </a:xfrm>
          <a:prstGeom prst="rect">
            <a:avLst/>
          </a:prstGeom>
        </p:spPr>
        <p:txBody>
          <a:bodyPr vert="horz" lIns="97073" tIns="48536" rIns="97073" bIns="48536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2544" y="9721400"/>
            <a:ext cx="3078327" cy="511468"/>
          </a:xfrm>
          <a:prstGeom prst="rect">
            <a:avLst/>
          </a:prstGeom>
        </p:spPr>
        <p:txBody>
          <a:bodyPr vert="horz" lIns="97073" tIns="48536" rIns="97073" bIns="48536" rtlCol="0" anchor="b"/>
          <a:lstStyle>
            <a:lvl1pPr algn="r">
              <a:defRPr sz="1300"/>
            </a:lvl1pPr>
          </a:lstStyle>
          <a:p>
            <a:fld id="{69292975-7860-4E67-A19D-FDCB052777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391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41288" y="768350"/>
            <a:ext cx="6819900" cy="38354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4119301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3536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946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3812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20792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같은 위치에서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개의 값은 다른 데이터로 구분되어 합쳐져야 하고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합쳐진 결과는 가시적으로 보여져야 한다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6194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451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67170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 userDrawn="1"/>
        </p:nvSpPr>
        <p:spPr>
          <a:xfrm>
            <a:off x="10763482" y="5892800"/>
            <a:ext cx="1333036" cy="876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12192000" cy="1268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10001251" y="285751"/>
            <a:ext cx="1428749" cy="78581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800"/>
          </a:p>
        </p:txBody>
      </p:sp>
      <p:sp>
        <p:nvSpPr>
          <p:cNvPr id="16" name="TextBox 17"/>
          <p:cNvSpPr txBox="1">
            <a:spLocks noChangeArrowheads="1"/>
          </p:cNvSpPr>
          <p:nvPr/>
        </p:nvSpPr>
        <p:spPr bwMode="auto">
          <a:xfrm>
            <a:off x="1270000" y="1036639"/>
            <a:ext cx="10679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eaLnBrk="1" hangingPunct="1"/>
            <a:r>
              <a:rPr kumimoji="0" lang="en-US" altLang="ko-KR" sz="1200" b="1">
                <a:solidFill>
                  <a:schemeClr val="bg1"/>
                </a:solidFill>
                <a:latin typeface="Calibri" pitchFamily="34" charset="0"/>
                <a:ea typeface="맑은 고딕" pitchFamily="50" charset="-127"/>
              </a:rPr>
              <a:t>2</a:t>
            </a:r>
            <a:r>
              <a:rPr kumimoji="0" lang="ko-KR" altLang="en-US" sz="1200" b="1">
                <a:solidFill>
                  <a:schemeClr val="bg1"/>
                </a:solidFill>
                <a:latin typeface="Calibri" pitchFamily="34" charset="0"/>
                <a:ea typeface="맑은 고딕" pitchFamily="50" charset="-127"/>
              </a:rPr>
              <a:t>차년도 평가</a:t>
            </a:r>
            <a:endParaRPr kumimoji="0" lang="en-US" altLang="ko-KR" sz="1200" b="1">
              <a:solidFill>
                <a:schemeClr val="bg1"/>
              </a:solidFill>
              <a:latin typeface="Calibri" pitchFamily="34" charset="0"/>
              <a:ea typeface="맑은 고딕" pitchFamily="50" charset="-127"/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0" hasCustomPrompt="1"/>
          </p:nvPr>
        </p:nvSpPr>
        <p:spPr>
          <a:xfrm>
            <a:off x="937352" y="2132857"/>
            <a:ext cx="10727267" cy="792163"/>
          </a:xfrm>
        </p:spPr>
        <p:txBody>
          <a:bodyPr/>
          <a:lstStyle>
            <a:lvl1pPr marL="0" indent="0">
              <a:buNone/>
              <a:defRPr sz="3600" b="0">
                <a:latin typeface="Gill Sans MT" pitchFamily="34" charset="0"/>
              </a:defRPr>
            </a:lvl1pPr>
          </a:lstStyle>
          <a:p>
            <a:pPr lvl="0"/>
            <a:r>
              <a:rPr lang="en-US" altLang="ko-KR" dirty="0"/>
              <a:t>Put your main title here</a:t>
            </a:r>
            <a:endParaRPr lang="ko-KR" altLang="en-US" dirty="0"/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1" hasCustomPrompt="1"/>
          </p:nvPr>
        </p:nvSpPr>
        <p:spPr>
          <a:xfrm>
            <a:off x="943042" y="1284696"/>
            <a:ext cx="6560607" cy="333375"/>
          </a:xfrm>
          <a:ln>
            <a:noFill/>
          </a:ln>
        </p:spPr>
        <p:txBody>
          <a:bodyPr/>
          <a:lstStyle>
            <a:lvl1pPr marL="0" indent="0">
              <a:buFontTx/>
              <a:buNone/>
              <a:defRPr sz="1600" b="0">
                <a:solidFill>
                  <a:srgbClr val="0070C0"/>
                </a:solidFill>
                <a:latin typeface="Gill Sans MT" pitchFamily="34" charset="0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ko-KR" dirty="0"/>
              <a:t>MM-DD-YYYY </a:t>
            </a:r>
            <a:endParaRPr lang="ko-KR" altLang="en-US" dirty="0"/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2" hasCustomPrompt="1"/>
          </p:nvPr>
        </p:nvSpPr>
        <p:spPr>
          <a:xfrm>
            <a:off x="879543" y="4797153"/>
            <a:ext cx="6560607" cy="333375"/>
          </a:xfrm>
        </p:spPr>
        <p:txBody>
          <a:bodyPr/>
          <a:lstStyle>
            <a:lvl1pPr marL="0" indent="0">
              <a:buFontTx/>
              <a:buNone/>
              <a:defRPr sz="2000" b="0">
                <a:solidFill>
                  <a:schemeClr val="tx1"/>
                </a:solidFill>
                <a:latin typeface="Gill Sans MT" pitchFamily="34" charset="0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ko-KR" dirty="0"/>
              <a:t>Your name here</a:t>
            </a:r>
            <a:endParaRPr lang="ko-KR" altLang="en-US" dirty="0"/>
          </a:p>
        </p:txBody>
      </p:sp>
      <p:sp>
        <p:nvSpPr>
          <p:cNvPr id="26" name="텍스트 개체 틀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8758" y="5540473"/>
            <a:ext cx="6560607" cy="333375"/>
          </a:xfrm>
        </p:spPr>
        <p:txBody>
          <a:bodyPr/>
          <a:lstStyle>
            <a:lvl1pPr marL="0" indent="0">
              <a:buFontTx/>
              <a:buNone/>
              <a:defRPr sz="1600" b="0" i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itchFamily="34" charset="0"/>
              </a:defRPr>
            </a:lvl1pPr>
            <a:lvl5pPr marL="1828800" indent="0" algn="l">
              <a:buNone/>
              <a:defRPr/>
            </a:lvl5pPr>
          </a:lstStyle>
          <a:p>
            <a:pPr lvl="0"/>
            <a:r>
              <a:rPr lang="en-US" altLang="ko-KR" dirty="0"/>
              <a:t>Your email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2469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431370" y="188640"/>
            <a:ext cx="192023" cy="5263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01778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46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97D217C8-C1B9-4E84-BCEB-D9195FCD889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486404" y="547859"/>
            <a:ext cx="11208000" cy="0"/>
          </a:xfrm>
          <a:prstGeom prst="line">
            <a:avLst/>
          </a:prstGeom>
          <a:ln w="3175"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 userDrawn="1"/>
        </p:nvSpPr>
        <p:spPr>
          <a:xfrm>
            <a:off x="10925241" y="178527"/>
            <a:ext cx="679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A308CA5-DE14-4AC3-A1BF-EDFE94DB6667}" type="slidenum">
              <a:rPr lang="en-US" sz="1800" smtClean="0">
                <a:latin typeface="Arial Narrow" panose="020B0606020202030204" pitchFamily="34" charset="0"/>
              </a:rPr>
              <a:t>‹#›</a:t>
            </a:fld>
            <a:r>
              <a:rPr lang="en-US" sz="1800" dirty="0">
                <a:latin typeface="Arial Narrow" panose="020B0606020202030204" pitchFamily="34" charset="0"/>
              </a:rPr>
              <a:t>/42</a:t>
            </a:r>
          </a:p>
        </p:txBody>
      </p:sp>
    </p:spTree>
    <p:extLst>
      <p:ext uri="{BB962C8B-B14F-4D97-AF65-F5344CB8AC3E}">
        <p14:creationId xmlns:p14="http://schemas.microsoft.com/office/powerpoint/2010/main" val="309970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 userDrawn="1"/>
        </p:nvSpPr>
        <p:spPr>
          <a:xfrm>
            <a:off x="11396431" y="6455440"/>
            <a:ext cx="436338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0" indent="0">
              <a:buFont typeface="Arial" pitchFamily="34" charset="0"/>
              <a:buNone/>
            </a:pPr>
            <a:fld id="{B0EADD09-5044-484F-98C8-EE9579992C6B}" type="slidenum">
              <a:rPr lang="ko-KR" altLang="en-US" sz="1600" b="1" u="none" smtClean="0">
                <a:solidFill>
                  <a:schemeClr val="bg2">
                    <a:lumMod val="50000"/>
                  </a:schemeClr>
                </a:solidFill>
                <a:latin typeface="Gill Sans MT" pitchFamily="34" charset="0"/>
                <a:cs typeface="Calibri" pitchFamily="34" charset="0"/>
              </a:rPr>
              <a:pPr marL="0" indent="0">
                <a:buFont typeface="Arial" pitchFamily="34" charset="0"/>
                <a:buNone/>
              </a:pPr>
              <a:t>‹#›</a:t>
            </a:fld>
            <a:endParaRPr lang="ko-KR" altLang="en-US" sz="1400" b="1" u="none" dirty="0">
              <a:solidFill>
                <a:schemeClr val="bg2">
                  <a:lumMod val="50000"/>
                </a:schemeClr>
              </a:solidFill>
              <a:latin typeface="Gill Sans MT" pitchFamily="34" charset="0"/>
              <a:cs typeface="Calibri" pitchFamily="34" charset="0"/>
            </a:endParaRPr>
          </a:p>
        </p:txBody>
      </p:sp>
      <p:sp>
        <p:nvSpPr>
          <p:cNvPr id="20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335360" y="70300"/>
            <a:ext cx="11521280" cy="982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25" name="Rectangle 1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5360" y="1493838"/>
            <a:ext cx="11329259" cy="4925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 Second level</a:t>
            </a:r>
          </a:p>
          <a:p>
            <a:pPr lvl="2"/>
            <a:r>
              <a:rPr lang="en-US" altLang="ko-KR" dirty="0"/>
              <a:t> Third level</a:t>
            </a:r>
          </a:p>
        </p:txBody>
      </p:sp>
    </p:spTree>
    <p:extLst>
      <p:ext uri="{BB962C8B-B14F-4D97-AF65-F5344CB8AC3E}">
        <p14:creationId xmlns:p14="http://schemas.microsoft.com/office/powerpoint/2010/main" val="124468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5" r:id="rId2"/>
    <p:sldLayoutId id="2147483674" r:id="rId3"/>
    <p:sldLayoutId id="2147483675" r:id="rId4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70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ts val="1200"/>
        </a:spcBef>
        <a:spcAft>
          <a:spcPts val="600"/>
        </a:spcAft>
        <a:buClr>
          <a:srgbClr val="FFC000"/>
        </a:buClr>
        <a:buFont typeface="Wingdings" pitchFamily="2" charset="2"/>
        <a:buChar char="l"/>
        <a:defRPr sz="2800" b="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rgbClr val="0070C0"/>
        </a:buClr>
        <a:buFont typeface="Wingdings" pitchFamily="2" charset="2"/>
        <a:buChar char="§"/>
        <a:defRPr sz="2800" b="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rgbClr val="00B050"/>
        </a:buClr>
        <a:buFont typeface="Arial" pitchFamily="34" charset="0"/>
        <a:buChar char="•"/>
        <a:defRPr sz="2400" b="0" kern="1200">
          <a:solidFill>
            <a:schemeClr val="tx1"/>
          </a:solidFill>
          <a:latin typeface="Gill Sans MT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rgbClr val="92D050"/>
        </a:buClr>
        <a:buFont typeface="Wingdings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rgbClr val="92D050"/>
        </a:buClr>
        <a:buFont typeface="Wingdings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1.jpeg"/><Relationship Id="rId5" Type="http://schemas.openxmlformats.org/officeDocument/2006/relationships/image" Target="../media/image12.png"/><Relationship Id="rId6" Type="http://schemas.openxmlformats.org/officeDocument/2006/relationships/image" Target="../media/image13.jpeg"/><Relationship Id="rId7" Type="http://schemas.openxmlformats.org/officeDocument/2006/relationships/image" Target="../media/image1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3" Type="http://schemas.openxmlformats.org/officeDocument/2006/relationships/image" Target="../media/image16.jpeg"/><Relationship Id="rId4" Type="http://schemas.openxmlformats.org/officeDocument/2006/relationships/image" Target="../media/image17.jpeg"/><Relationship Id="rId5" Type="http://schemas.openxmlformats.org/officeDocument/2006/relationships/image" Target="../media/image18.jpeg"/><Relationship Id="rId6" Type="http://schemas.openxmlformats.org/officeDocument/2006/relationships/image" Target="../media/image19.jpeg"/><Relationship Id="rId7" Type="http://schemas.openxmlformats.org/officeDocument/2006/relationships/image" Target="../media/image20.png"/><Relationship Id="rId8" Type="http://schemas.openxmlformats.org/officeDocument/2006/relationships/image" Target="../media/image21.jpeg"/><Relationship Id="rId9" Type="http://schemas.openxmlformats.org/officeDocument/2006/relationships/image" Target="../media/image2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25.gif"/><Relationship Id="rId12" Type="http://schemas.openxmlformats.org/officeDocument/2006/relationships/image" Target="../media/image26.gif"/><Relationship Id="rId13" Type="http://schemas.openxmlformats.org/officeDocument/2006/relationships/image" Target="../media/image27.png"/><Relationship Id="rId14" Type="http://schemas.openxmlformats.org/officeDocument/2006/relationships/image" Target="../media/image2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eg"/><Relationship Id="rId3" Type="http://schemas.openxmlformats.org/officeDocument/2006/relationships/image" Target="../media/image30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jpe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54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0.png"/><Relationship Id="rId4" Type="http://schemas.openxmlformats.org/officeDocument/2006/relationships/image" Target="../media/image56.png"/><Relationship Id="rId5" Type="http://schemas.openxmlformats.org/officeDocument/2006/relationships/image" Target="../media/image600.png"/><Relationship Id="rId6" Type="http://schemas.openxmlformats.org/officeDocument/2006/relationships/image" Target="../media/image1380.png"/><Relationship Id="rId7" Type="http://schemas.openxmlformats.org/officeDocument/2006/relationships/image" Target="../media/image610.png"/><Relationship Id="rId8" Type="http://schemas.openxmlformats.org/officeDocument/2006/relationships/image" Target="../media/image620.png"/><Relationship Id="rId9" Type="http://schemas.openxmlformats.org/officeDocument/2006/relationships/image" Target="../media/image630.png"/><Relationship Id="rId10" Type="http://schemas.openxmlformats.org/officeDocument/2006/relationships/image" Target="../media/image640.png"/><Relationship Id="rId11" Type="http://schemas.openxmlformats.org/officeDocument/2006/relationships/image" Target="../media/image1390.png"/><Relationship Id="rId12" Type="http://schemas.openxmlformats.org/officeDocument/2006/relationships/image" Target="../media/image57.png"/><Relationship Id="rId13" Type="http://schemas.openxmlformats.org/officeDocument/2006/relationships/image" Target="../media/image1410.png"/><Relationship Id="rId14" Type="http://schemas.openxmlformats.org/officeDocument/2006/relationships/image" Target="../media/image68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9.png"/><Relationship Id="rId4" Type="http://schemas.openxmlformats.org/officeDocument/2006/relationships/image" Target="../media/image260.png"/><Relationship Id="rId5" Type="http://schemas.openxmlformats.org/officeDocument/2006/relationships/image" Target="../media/image70.png"/><Relationship Id="rId6" Type="http://schemas.openxmlformats.org/officeDocument/2006/relationships/image" Target="../media/image177.png"/><Relationship Id="rId7" Type="http://schemas.openxmlformats.org/officeDocument/2006/relationships/image" Target="../media/image71.png"/><Relationship Id="rId8" Type="http://schemas.openxmlformats.org/officeDocument/2006/relationships/image" Target="../media/image179.png"/><Relationship Id="rId9" Type="http://schemas.openxmlformats.org/officeDocument/2006/relationships/image" Target="../media/image72.png"/><Relationship Id="rId11" Type="http://schemas.openxmlformats.org/officeDocument/2006/relationships/image" Target="../media/image18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Relationship Id="rId14" Type="http://schemas.openxmlformats.org/officeDocument/2006/relationships/image" Target="../media/image75.png"/><Relationship Id="rId15" Type="http://schemas.openxmlformats.org/officeDocument/2006/relationships/image" Target="../media/image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Relationship Id="rId4" Type="http://schemas.openxmlformats.org/officeDocument/2006/relationships/image" Target="../media/image14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jpeg"/><Relationship Id="rId3" Type="http://schemas.openxmlformats.org/officeDocument/2006/relationships/image" Target="../media/image81.jpeg"/><Relationship Id="rId4" Type="http://schemas.openxmlformats.org/officeDocument/2006/relationships/image" Target="../media/image82.jpeg"/><Relationship Id="rId5" Type="http://schemas.openxmlformats.org/officeDocument/2006/relationships/image" Target="../media/image83.jpeg"/><Relationship Id="rId6" Type="http://schemas.openxmlformats.org/officeDocument/2006/relationships/image" Target="../media/image84.emf"/><Relationship Id="rId7" Type="http://schemas.openxmlformats.org/officeDocument/2006/relationships/image" Target="../media/image7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jpeg"/><Relationship Id="rId3" Type="http://schemas.openxmlformats.org/officeDocument/2006/relationships/image" Target="../media/image86.jpeg"/><Relationship Id="rId4" Type="http://schemas.openxmlformats.org/officeDocument/2006/relationships/image" Target="../media/image87.jpeg"/><Relationship Id="rId5" Type="http://schemas.openxmlformats.org/officeDocument/2006/relationships/image" Target="../media/image88.jpeg"/><Relationship Id="rId6" Type="http://schemas.openxmlformats.org/officeDocument/2006/relationships/image" Target="../media/image89.jpeg"/><Relationship Id="rId7" Type="http://schemas.openxmlformats.org/officeDocument/2006/relationships/image" Target="../media/image90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1.jpe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jpeg"/><Relationship Id="rId14" Type="http://schemas.openxmlformats.org/officeDocument/2006/relationships/image" Target="../media/image102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109.png"/><Relationship Id="rId9" Type="http://schemas.openxmlformats.org/officeDocument/2006/relationships/image" Target="../media/image110.png"/><Relationship Id="rId10" Type="http://schemas.openxmlformats.org/officeDocument/2006/relationships/image" Target="../media/image111.png"/><Relationship Id="rId11" Type="http://schemas.openxmlformats.org/officeDocument/2006/relationships/image" Target="../media/image112.png"/><Relationship Id="rId12" Type="http://schemas.openxmlformats.org/officeDocument/2006/relationships/image" Target="../media/image113.png"/><Relationship Id="rId13" Type="http://schemas.openxmlformats.org/officeDocument/2006/relationships/image" Target="../media/image114.png"/><Relationship Id="rId14" Type="http://schemas.openxmlformats.org/officeDocument/2006/relationships/image" Target="../media/image115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16.wmf"/><Relationship Id="rId4" Type="http://schemas.openxmlformats.org/officeDocument/2006/relationships/oleObject" Target="../embeddings/oleObject2.bin"/><Relationship Id="rId5" Type="http://schemas.openxmlformats.org/officeDocument/2006/relationships/image" Target="../media/image117.w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118.w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119.wmf"/><Relationship Id="rId11" Type="http://schemas.openxmlformats.org/officeDocument/2006/relationships/image" Target="../media/image104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5.bin"/><Relationship Id="rId3" Type="http://schemas.openxmlformats.org/officeDocument/2006/relationships/image" Target="../media/image120.wmf"/><Relationship Id="rId4" Type="http://schemas.openxmlformats.org/officeDocument/2006/relationships/oleObject" Target="../embeddings/oleObject6.bin"/><Relationship Id="rId5" Type="http://schemas.openxmlformats.org/officeDocument/2006/relationships/image" Target="../media/image121.wmf"/><Relationship Id="rId6" Type="http://schemas.openxmlformats.org/officeDocument/2006/relationships/oleObject" Target="../embeddings/oleObject7.bin"/><Relationship Id="rId7" Type="http://schemas.openxmlformats.org/officeDocument/2006/relationships/image" Target="../media/image122.wmf"/><Relationship Id="rId8" Type="http://schemas.openxmlformats.org/officeDocument/2006/relationships/oleObject" Target="../embeddings/oleObject8.bin"/><Relationship Id="rId9" Type="http://schemas.openxmlformats.org/officeDocument/2006/relationships/image" Target="../media/image123.wmf"/><Relationship Id="rId11" Type="http://schemas.openxmlformats.org/officeDocument/2006/relationships/image" Target="../media/image104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24.wmf"/><Relationship Id="rId5" Type="http://schemas.openxmlformats.org/officeDocument/2006/relationships/image" Target="../media/image125.png"/><Relationship Id="rId6" Type="http://schemas.openxmlformats.org/officeDocument/2006/relationships/image" Target="../media/image126.png"/><Relationship Id="rId7" Type="http://schemas.openxmlformats.org/officeDocument/2006/relationships/image" Target="../media/image127.png"/><Relationship Id="rId8" Type="http://schemas.openxmlformats.org/officeDocument/2006/relationships/image" Target="../media/image2100.png"/><Relationship Id="rId9" Type="http://schemas.openxmlformats.org/officeDocument/2006/relationships/oleObject" Target="../embeddings/oleObject10.bin"/><Relationship Id="rId10" Type="http://schemas.openxmlformats.org/officeDocument/2006/relationships/image" Target="../media/image128.wmf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12" Type="http://schemas.openxmlformats.org/officeDocument/2006/relationships/image" Target="../media/image510.png"/><Relationship Id="rId13" Type="http://schemas.openxmlformats.org/officeDocument/2006/relationships/image" Target="../media/image137.png"/><Relationship Id="rId14" Type="http://schemas.openxmlformats.org/officeDocument/2006/relationships/image" Target="../media/image13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10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76B59A6-76FE-488B-9744-6953D7E693E7}"/>
              </a:ext>
            </a:extLst>
          </p:cNvPr>
          <p:cNvSpPr/>
          <p:nvPr/>
        </p:nvSpPr>
        <p:spPr>
          <a:xfrm>
            <a:off x="11033992" y="6441896"/>
            <a:ext cx="1127448" cy="397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4" descr="M:\Marketing\CD\CD_Logos\UzK_Logo_Quadrat_uniblau\UzK_LogoQuadrat.jpg">
            <a:extLst>
              <a:ext uri="{FF2B5EF4-FFF2-40B4-BE49-F238E27FC236}">
                <a16:creationId xmlns:a16="http://schemas.microsoft.com/office/drawing/2014/main" id="{9385E754-D77D-40E2-9328-672F1B837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88"/>
          <a:stretch/>
        </p:blipFill>
        <p:spPr bwMode="auto">
          <a:xfrm>
            <a:off x="10522411" y="196272"/>
            <a:ext cx="791257" cy="771672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7B3C6949-0211-8BF6-943D-CE1911A00F2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auto">
          <a:xfrm>
            <a:off x="9689533" y="219345"/>
            <a:ext cx="667526" cy="750457"/>
          </a:xfrm>
          <a:prstGeom prst="rect">
            <a:avLst/>
          </a:prstGeom>
        </p:spPr>
      </p:pic>
      <p:pic>
        <p:nvPicPr>
          <p:cNvPr id="21" name="Picture 8" descr="university-of-st-andrews-logo - Around the CASPIAN">
            <a:extLst>
              <a:ext uri="{FF2B5EF4-FFF2-40B4-BE49-F238E27FC236}">
                <a16:creationId xmlns:a16="http://schemas.microsoft.com/office/drawing/2014/main" id="{B78D702D-9D29-53CB-1C1B-0EF9884595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00"/>
          <a:stretch/>
        </p:blipFill>
        <p:spPr bwMode="auto">
          <a:xfrm>
            <a:off x="11527640" y="242652"/>
            <a:ext cx="470286" cy="752711"/>
          </a:xfrm>
          <a:prstGeom prst="rect">
            <a:avLst/>
          </a:prstGeom>
          <a:noFill/>
        </p:spPr>
      </p:pic>
      <p:pic>
        <p:nvPicPr>
          <p:cNvPr id="23" name="Picture 2" descr="European Commission Call for Applications: Marie Skłodowska-Curie Postdoctoral  Fellowships 2025 - MESA">
            <a:extLst>
              <a:ext uri="{FF2B5EF4-FFF2-40B4-BE49-F238E27FC236}">
                <a16:creationId xmlns:a16="http://schemas.microsoft.com/office/drawing/2014/main" id="{9021E46B-B852-06C5-E28D-F913807D3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56102" y="121325"/>
            <a:ext cx="995363" cy="99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751F81B3-2966-FA8E-E4E9-A28CBCB0C766}"/>
              </a:ext>
            </a:extLst>
          </p:cNvPr>
          <p:cNvSpPr/>
          <p:nvPr/>
        </p:nvSpPr>
        <p:spPr bwMode="auto">
          <a:xfrm>
            <a:off x="2534463" y="5114113"/>
            <a:ext cx="7488833" cy="7874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lang="en-US" altLang="ko-KR" sz="2400" dirty="0" err="1"/>
              <a:t>Junho</a:t>
            </a:r>
            <a:r>
              <a:rPr lang="en-US" altLang="ko-KR" sz="2400" dirty="0"/>
              <a:t> Kim</a:t>
            </a:r>
          </a:p>
          <a:p>
            <a:pPr algn="ctr"/>
            <a:r>
              <a:rPr lang="en-US" altLang="ko-KR" dirty="0"/>
              <a:t>(e-mail : junho.kim@uni-koeln.de / jhk4733@gmail.com)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245377-70CB-1E95-AD95-23857A38A238}"/>
              </a:ext>
            </a:extLst>
          </p:cNvPr>
          <p:cNvSpPr txBox="1"/>
          <p:nvPr/>
        </p:nvSpPr>
        <p:spPr>
          <a:xfrm>
            <a:off x="1686504" y="2488914"/>
            <a:ext cx="88681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Displays without image distortion - Hybrid Auxetic Metamaterial Platforms</a:t>
            </a:r>
          </a:p>
          <a:p>
            <a:pPr algn="ctr"/>
            <a:endParaRPr lang="ko-KR" altLang="en-US" sz="3200" dirty="0"/>
          </a:p>
        </p:txBody>
      </p:sp>
      <p:sp>
        <p:nvSpPr>
          <p:cNvPr id="28" name="TextBox 27"/>
          <p:cNvSpPr txBox="1"/>
          <p:nvPr/>
        </p:nvSpPr>
        <p:spPr>
          <a:xfrm>
            <a:off x="1682496" y="4224528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7F7F7F"/>
                </a:solidFill>
                <a:latin typeface="Arial"/>
              </a:rPr>
              <a:t>Kim, S.-B.†, Kim, J.† et al., Nature Communications 17, 7389 (2026) · doi:10.1038/s41467-026-74141-6  († equal contribution)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350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원형 화살표 7">
            <a:extLst>
              <a:ext uri="{FF2B5EF4-FFF2-40B4-BE49-F238E27FC236}">
                <a16:creationId xmlns:a16="http://schemas.microsoft.com/office/drawing/2014/main" id="{F1586D15-62A4-D37A-38A2-DCE036F8CC70}"/>
              </a:ext>
            </a:extLst>
          </p:cNvPr>
          <p:cNvSpPr/>
          <p:nvPr/>
        </p:nvSpPr>
        <p:spPr>
          <a:xfrm flipV="1">
            <a:off x="912908" y="1754897"/>
            <a:ext cx="10676847" cy="6258556"/>
          </a:xfrm>
          <a:custGeom>
            <a:avLst/>
            <a:gdLst>
              <a:gd name="csX0" fmla="*/ 3554296 w 6535882"/>
              <a:gd name="csY0" fmla="*/ 3954463 h 3954463"/>
              <a:gd name="csX1" fmla="*/ 789735 w 6535882"/>
              <a:gd name="csY1" fmla="*/ 3203802 h 3954463"/>
              <a:gd name="csX2" fmla="*/ 120 w 6535882"/>
              <a:gd name="csY2" fmla="*/ 1721693 h 3954463"/>
              <a:gd name="csX3" fmla="*/ 745116 w 6535882"/>
              <a:gd name="csY3" fmla="*/ 571467 h 3954463"/>
              <a:gd name="csX4" fmla="*/ 2842072 w 6535882"/>
              <a:gd name="csY4" fmla="*/ 17678 h 3954463"/>
              <a:gd name="csX5" fmla="*/ 5309192 w 6535882"/>
              <a:gd name="csY5" fmla="*/ 560549 h 3954463"/>
              <a:gd name="csX6" fmla="*/ 5554106 w 6535882"/>
              <a:gd name="csY6" fmla="*/ 0 h 3954463"/>
              <a:gd name="csX7" fmla="*/ 6535882 w 6535882"/>
              <a:gd name="csY7" fmla="*/ 1301155 h 3954463"/>
              <a:gd name="csX8" fmla="*/ 4571443 w 6535882"/>
              <a:gd name="csY8" fmla="*/ 1599371 h 3954463"/>
              <a:gd name="csX9" fmla="*/ 5052021 w 6535882"/>
              <a:gd name="csY9" fmla="*/ 1124286 h 3954463"/>
              <a:gd name="csX10" fmla="*/ 2760560 w 6535882"/>
              <a:gd name="csY10" fmla="*/ 1053802 h 3954463"/>
              <a:gd name="csX11" fmla="*/ 994995 w 6535882"/>
              <a:gd name="csY11" fmla="*/ 2146936 h 3954463"/>
              <a:gd name="csX12" fmla="*/ 3554296 w 6535882"/>
              <a:gd name="csY12" fmla="*/ 3954463 h 3954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6535882" h="3954463">
                <a:moveTo>
                  <a:pt x="3554296" y="3954463"/>
                </a:moveTo>
                <a:cubicBezTo>
                  <a:pt x="1890712" y="3389096"/>
                  <a:pt x="1382098" y="3575930"/>
                  <a:pt x="789735" y="3203802"/>
                </a:cubicBezTo>
                <a:cubicBezTo>
                  <a:pt x="197372" y="2831674"/>
                  <a:pt x="7556" y="2160415"/>
                  <a:pt x="120" y="1721693"/>
                </a:cubicBezTo>
                <a:cubicBezTo>
                  <a:pt x="-7316" y="1282971"/>
                  <a:pt x="330052" y="822767"/>
                  <a:pt x="745116" y="571467"/>
                </a:cubicBezTo>
                <a:cubicBezTo>
                  <a:pt x="1160180" y="320167"/>
                  <a:pt x="2081393" y="19498"/>
                  <a:pt x="2842072" y="17678"/>
                </a:cubicBezTo>
                <a:cubicBezTo>
                  <a:pt x="3602751" y="15858"/>
                  <a:pt x="4390016" y="141437"/>
                  <a:pt x="5309192" y="560549"/>
                </a:cubicBezTo>
                <a:lnTo>
                  <a:pt x="5554106" y="0"/>
                </a:lnTo>
                <a:lnTo>
                  <a:pt x="6535882" y="1301155"/>
                </a:lnTo>
                <a:lnTo>
                  <a:pt x="4571443" y="1599371"/>
                </a:lnTo>
                <a:lnTo>
                  <a:pt x="5052021" y="1124286"/>
                </a:lnTo>
                <a:cubicBezTo>
                  <a:pt x="4757988" y="1012565"/>
                  <a:pt x="3436731" y="883360"/>
                  <a:pt x="2760560" y="1053802"/>
                </a:cubicBezTo>
                <a:cubicBezTo>
                  <a:pt x="2084389" y="1224244"/>
                  <a:pt x="862706" y="1663493"/>
                  <a:pt x="994995" y="2146936"/>
                </a:cubicBezTo>
                <a:cubicBezTo>
                  <a:pt x="1127284" y="2630379"/>
                  <a:pt x="2280450" y="3075929"/>
                  <a:pt x="3554296" y="3954463"/>
                </a:cubicBezTo>
                <a:close/>
              </a:path>
            </a:pathLst>
          </a:custGeom>
          <a:solidFill>
            <a:schemeClr val="bg1">
              <a:lumMod val="65000"/>
              <a:alpha val="39000"/>
            </a:schemeClr>
          </a:solidFill>
          <a:ln w="6350">
            <a:solidFill>
              <a:srgbClr val="8E8E8E"/>
            </a:solidFill>
          </a:ln>
          <a:effectLst>
            <a:softEdge rad="127000"/>
          </a:effectLst>
          <a:scene3d>
            <a:camera prst="perspectiveFront" fov="3000000">
              <a:rot lat="18000000" lon="18600000" rev="3000000"/>
            </a:camera>
            <a:lightRig rig="threePt" dir="t">
              <a:rot lat="0" lon="0" rev="0"/>
            </a:lightRig>
          </a:scene3d>
          <a:sp3d prstMaterial="clear">
            <a:bevelT w="0" h="0" prst="softRound"/>
            <a:bevelB w="0" h="0" prst="softRound"/>
            <a:extrusionClr>
              <a:schemeClr val="bg1">
                <a:lumMod val="65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원형 화살표 7">
            <a:extLst>
              <a:ext uri="{FF2B5EF4-FFF2-40B4-BE49-F238E27FC236}">
                <a16:creationId xmlns:a16="http://schemas.microsoft.com/office/drawing/2014/main" id="{1964C3A3-FF1C-4AA9-ABAF-FBD8B9593445}"/>
              </a:ext>
            </a:extLst>
          </p:cNvPr>
          <p:cNvSpPr/>
          <p:nvPr/>
        </p:nvSpPr>
        <p:spPr>
          <a:xfrm flipV="1">
            <a:off x="1053105" y="1607758"/>
            <a:ext cx="10955102" cy="5419087"/>
          </a:xfrm>
          <a:custGeom>
            <a:avLst/>
            <a:gdLst>
              <a:gd name="csX0" fmla="*/ 3364610 w 6706218"/>
              <a:gd name="csY0" fmla="*/ 3424046 h 3424046"/>
              <a:gd name="csX1" fmla="*/ 846661 w 6706218"/>
              <a:gd name="csY1" fmla="*/ 2956399 h 3424046"/>
              <a:gd name="csX2" fmla="*/ 342 w 6706218"/>
              <a:gd name="csY2" fmla="*/ 1713162 h 3424046"/>
              <a:gd name="csX3" fmla="*/ 768019 w 6706218"/>
              <a:gd name="csY3" fmla="*/ 562935 h 3424046"/>
              <a:gd name="csX4" fmla="*/ 3012408 w 6706218"/>
              <a:gd name="csY4" fmla="*/ 17678 h 3424046"/>
              <a:gd name="csX5" fmla="*/ 5479528 w 6706218"/>
              <a:gd name="csY5" fmla="*/ 560549 h 3424046"/>
              <a:gd name="csX6" fmla="*/ 5724442 w 6706218"/>
              <a:gd name="csY6" fmla="*/ 0 h 3424046"/>
              <a:gd name="csX7" fmla="*/ 6706218 w 6706218"/>
              <a:gd name="csY7" fmla="*/ 1301155 h 3424046"/>
              <a:gd name="csX8" fmla="*/ 4741779 w 6706218"/>
              <a:gd name="csY8" fmla="*/ 1599371 h 3424046"/>
              <a:gd name="csX9" fmla="*/ 5222357 w 6706218"/>
              <a:gd name="csY9" fmla="*/ 1124286 h 3424046"/>
              <a:gd name="csX10" fmla="*/ 2976260 w 6706218"/>
              <a:gd name="csY10" fmla="*/ 1181770 h 3424046"/>
              <a:gd name="csX11" fmla="*/ 1210695 w 6706218"/>
              <a:gd name="csY11" fmla="*/ 2036031 h 3424046"/>
              <a:gd name="csX12" fmla="*/ 2235744 w 6706218"/>
              <a:gd name="csY12" fmla="*/ 2970203 h 3424046"/>
              <a:gd name="csX13" fmla="*/ 3364610 w 6706218"/>
              <a:gd name="csY13" fmla="*/ 3424046 h 3424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706218" h="3424046">
                <a:moveTo>
                  <a:pt x="3364610" y="3424046"/>
                </a:moveTo>
                <a:cubicBezTo>
                  <a:pt x="1595390" y="3221553"/>
                  <a:pt x="1407372" y="3241546"/>
                  <a:pt x="846661" y="2956399"/>
                </a:cubicBezTo>
                <a:cubicBezTo>
                  <a:pt x="285950" y="2671252"/>
                  <a:pt x="13449" y="2112073"/>
                  <a:pt x="342" y="1713162"/>
                </a:cubicBezTo>
                <a:cubicBezTo>
                  <a:pt x="-12765" y="1314251"/>
                  <a:pt x="352955" y="814235"/>
                  <a:pt x="768019" y="562935"/>
                </a:cubicBezTo>
                <a:cubicBezTo>
                  <a:pt x="1183083" y="311635"/>
                  <a:pt x="2227157" y="18076"/>
                  <a:pt x="3012408" y="17678"/>
                </a:cubicBezTo>
                <a:cubicBezTo>
                  <a:pt x="3797659" y="17280"/>
                  <a:pt x="4560352" y="141437"/>
                  <a:pt x="5479528" y="560549"/>
                </a:cubicBezTo>
                <a:lnTo>
                  <a:pt x="5724442" y="0"/>
                </a:lnTo>
                <a:lnTo>
                  <a:pt x="6706218" y="1301155"/>
                </a:lnTo>
                <a:lnTo>
                  <a:pt x="4741779" y="1599371"/>
                </a:lnTo>
                <a:lnTo>
                  <a:pt x="5222357" y="1124286"/>
                </a:lnTo>
                <a:cubicBezTo>
                  <a:pt x="4928324" y="1012565"/>
                  <a:pt x="3644870" y="1029813"/>
                  <a:pt x="2976260" y="1181770"/>
                </a:cubicBezTo>
                <a:cubicBezTo>
                  <a:pt x="2307650" y="1333728"/>
                  <a:pt x="1335163" y="1735795"/>
                  <a:pt x="1210695" y="2036031"/>
                </a:cubicBezTo>
                <a:cubicBezTo>
                  <a:pt x="1086227" y="2336267"/>
                  <a:pt x="1826443" y="2758342"/>
                  <a:pt x="2235744" y="2970203"/>
                </a:cubicBezTo>
                <a:cubicBezTo>
                  <a:pt x="2645045" y="3182064"/>
                  <a:pt x="2367753" y="3069448"/>
                  <a:pt x="3364610" y="3424046"/>
                </a:cubicBezTo>
                <a:close/>
              </a:path>
            </a:pathLst>
          </a:custGeom>
          <a:gradFill flip="none" rotWithShape="1">
            <a:gsLst>
              <a:gs pos="45000">
                <a:srgbClr val="9AE0F9"/>
              </a:gs>
              <a:gs pos="100000">
                <a:srgbClr val="00B0F0">
                  <a:lumMod val="70000"/>
                  <a:lumOff val="30000"/>
                </a:srgbClr>
              </a:gs>
              <a:gs pos="0">
                <a:schemeClr val="bg1">
                  <a:lumMod val="100000"/>
                </a:schemeClr>
              </a:gs>
            </a:gsLst>
            <a:lin ang="0" scaled="1"/>
            <a:tileRect/>
          </a:gradFill>
          <a:ln w="34925">
            <a:noFill/>
          </a:ln>
          <a:effectLst/>
          <a:scene3d>
            <a:camera prst="perspectiveFront" fov="3000000">
              <a:rot lat="18000000" lon="18600000" rev="3000000"/>
            </a:camera>
            <a:lightRig rig="threePt" dir="t">
              <a:rot lat="0" lon="0" rev="0"/>
            </a:lightRig>
          </a:scene3d>
          <a:sp3d extrusionH="209550" prstMaterial="clear">
            <a:bevelT w="0" h="0" prst="softRound"/>
            <a:bevelB w="0" h="0" prst="softRound"/>
            <a:extrusionClr>
              <a:schemeClr val="bg1">
                <a:lumMod val="65000"/>
              </a:schemeClr>
            </a:extrusionClr>
            <a:contourClr>
              <a:schemeClr val="bg1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Samsung Galaxy S II Price in India, Specifications, Comparison ...">
            <a:extLst>
              <a:ext uri="{FF2B5EF4-FFF2-40B4-BE49-F238E27FC236}">
                <a16:creationId xmlns:a16="http://schemas.microsoft.com/office/drawing/2014/main" id="{5D44391F-4E58-E47D-913E-10CEBE6373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01869" y="2650335"/>
            <a:ext cx="553433" cy="1058764"/>
          </a:xfrm>
          <a:prstGeom prst="rect">
            <a:avLst/>
          </a:prstGeom>
          <a:noFill/>
          <a:effectLst>
            <a:reflection blurRad="6350" stA="52000" endA="300" endPos="20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DBEA38C-7016-A15D-389F-36986F98AE30}"/>
              </a:ext>
            </a:extLst>
          </p:cNvPr>
          <p:cNvSpPr txBox="1"/>
          <p:nvPr/>
        </p:nvSpPr>
        <p:spPr>
          <a:xfrm>
            <a:off x="4143748" y="2047466"/>
            <a:ext cx="667202" cy="52322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indent="-457200" algn="ctr" latinLnBrk="0">
              <a:lnSpc>
                <a:spcPct val="100000"/>
              </a:lnSpc>
              <a:buClr>
                <a:srgbClr val="FF0080"/>
              </a:buClr>
            </a:pPr>
            <a:r>
              <a:rPr lang="en-US" altLang="ko-KR" sz="1400" kern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Flat</a:t>
            </a:r>
          </a:p>
          <a:p>
            <a:pPr indent="-457200" algn="ctr" latinLnBrk="0">
              <a:lnSpc>
                <a:spcPct val="100000"/>
              </a:lnSpc>
              <a:buClr>
                <a:srgbClr val="FF0080"/>
              </a:buClr>
            </a:pPr>
            <a:r>
              <a:rPr lang="en-US" altLang="ko-KR" sz="1400" kern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endParaRPr lang="ko-KR" altLang="en-US" sz="1400" kern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395B25-9E7C-39AE-668C-B43770F44E5D}"/>
              </a:ext>
            </a:extLst>
          </p:cNvPr>
          <p:cNvSpPr txBox="1"/>
          <p:nvPr/>
        </p:nvSpPr>
        <p:spPr>
          <a:xfrm>
            <a:off x="2877113" y="5382535"/>
            <a:ext cx="1254202" cy="52322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indent="-457200" algn="ctr" latinLnBrk="0">
              <a:lnSpc>
                <a:spcPct val="100000"/>
              </a:lnSpc>
              <a:buClr>
                <a:srgbClr val="FF0080"/>
              </a:buClr>
            </a:pPr>
            <a:r>
              <a:rPr lang="en-US" altLang="ko-KR" sz="1400" kern="0" dirty="0">
                <a:solidFill>
                  <a:srgbClr val="558ED5"/>
                </a:solidFill>
              </a:rPr>
              <a:t>Flexible</a:t>
            </a:r>
            <a:br>
              <a:rPr lang="en-US" altLang="ko-KR" sz="1400" kern="0" dirty="0">
                <a:solidFill>
                  <a:srgbClr val="558ED5"/>
                </a:solidFill>
              </a:rPr>
            </a:br>
            <a:r>
              <a:rPr lang="en-US" altLang="ko-KR" sz="1400" kern="0" dirty="0">
                <a:solidFill>
                  <a:srgbClr val="558ED5"/>
                </a:solidFill>
              </a:rPr>
              <a:t>(2013~)</a:t>
            </a:r>
            <a:endParaRPr lang="ko-KR" altLang="en-US" sz="1400" kern="0" dirty="0">
              <a:solidFill>
                <a:srgbClr val="558ED5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C04831-23EB-0474-DD54-795021960B30}"/>
              </a:ext>
            </a:extLst>
          </p:cNvPr>
          <p:cNvSpPr txBox="1"/>
          <p:nvPr/>
        </p:nvSpPr>
        <p:spPr>
          <a:xfrm>
            <a:off x="1541530" y="2396090"/>
            <a:ext cx="1009143" cy="52322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indent="-457200" algn="ctr" latinLnBrk="0">
              <a:lnSpc>
                <a:spcPct val="100000"/>
              </a:lnSpc>
              <a:buClr>
                <a:srgbClr val="FF0080"/>
              </a:buClr>
            </a:pPr>
            <a:r>
              <a:rPr lang="en-US" altLang="ko-KR" sz="1400" kern="0" dirty="0">
                <a:solidFill>
                  <a:srgbClr val="558ED5"/>
                </a:solidFill>
              </a:rPr>
              <a:t>Curved (2013)</a:t>
            </a:r>
            <a:endParaRPr lang="ko-KR" altLang="en-US" sz="1400" kern="0" dirty="0">
              <a:solidFill>
                <a:srgbClr val="558ED5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F7D02F-F719-41D2-558F-C150929831EF}"/>
              </a:ext>
            </a:extLst>
          </p:cNvPr>
          <p:cNvSpPr txBox="1"/>
          <p:nvPr/>
        </p:nvSpPr>
        <p:spPr>
          <a:xfrm>
            <a:off x="9641047" y="1528771"/>
            <a:ext cx="1443076" cy="369332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indent="-457200" algn="ctr" latinLnBrk="0">
              <a:lnSpc>
                <a:spcPct val="100000"/>
              </a:lnSpc>
              <a:buClr>
                <a:srgbClr val="FF0080"/>
              </a:buClr>
            </a:pPr>
            <a:r>
              <a:rPr lang="en-US" altLang="ko-KR" kern="0" dirty="0">
                <a:solidFill>
                  <a:srgbClr val="FF0000"/>
                </a:solidFill>
              </a:rPr>
              <a:t>Stretchable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52E93960-6ECF-DBD2-EE89-F4D34F77D3B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325367" y="2864238"/>
            <a:ext cx="1448657" cy="1307326"/>
          </a:xfrm>
          <a:prstGeom prst="rect">
            <a:avLst/>
          </a:prstGeom>
          <a:effectLst>
            <a:reflection blurRad="6350" stA="52000" endPos="20000" dir="5400000" sy="-100000" algn="bl" rotWithShape="0"/>
          </a:effectLst>
        </p:spPr>
      </p:pic>
      <p:pic>
        <p:nvPicPr>
          <p:cNvPr id="25" name="그림 24" descr="플렉서블 디스플레이의 진화는 계속 된다!">
            <a:extLst>
              <a:ext uri="{FF2B5EF4-FFF2-40B4-BE49-F238E27FC236}">
                <a16:creationId xmlns:a16="http://schemas.microsoft.com/office/drawing/2014/main" id="{B7E1924C-2264-6984-297F-2C017F14BEC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548342" y="4212405"/>
            <a:ext cx="1987152" cy="1074868"/>
          </a:xfrm>
          <a:prstGeom prst="rect">
            <a:avLst/>
          </a:prstGeom>
          <a:effectLst>
            <a:reflection blurRad="6350" stA="52000" endPos="20000" dist="12700" dir="5400000" sy="-100000" algn="bl" rotWithShape="0"/>
          </a:effectLst>
        </p:spPr>
      </p:pic>
      <p:pic>
        <p:nvPicPr>
          <p:cNvPr id="26" name="그림 25" descr="First Galaxy Z Fold 8 CAD renders show familiar design, marginally thicker  than Z Fold 7 - Notebookcheck News">
            <a:extLst>
              <a:ext uri="{FF2B5EF4-FFF2-40B4-BE49-F238E27FC236}">
                <a16:creationId xmlns:a16="http://schemas.microsoft.com/office/drawing/2014/main" id="{8AC20349-AA6A-CB06-5B62-56C7128F8EC1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968061" y="3447750"/>
            <a:ext cx="2063019" cy="1648233"/>
          </a:xfrm>
          <a:prstGeom prst="rect">
            <a:avLst/>
          </a:prstGeom>
          <a:effectLst>
            <a:reflection blurRad="6350" stA="52000" endPos="20000" dist="12700" dir="5400000" sy="-100000" algn="bl" rotWithShape="0"/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8E66316-0844-B819-2A19-C20DEF844820}"/>
              </a:ext>
            </a:extLst>
          </p:cNvPr>
          <p:cNvSpPr txBox="1"/>
          <p:nvPr/>
        </p:nvSpPr>
        <p:spPr>
          <a:xfrm>
            <a:off x="6409711" y="5247258"/>
            <a:ext cx="1254202" cy="52322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indent="-457200" algn="ctr" latinLnBrk="0">
              <a:lnSpc>
                <a:spcPct val="100000"/>
              </a:lnSpc>
              <a:buClr>
                <a:srgbClr val="FF0080"/>
              </a:buClr>
            </a:pPr>
            <a:r>
              <a:rPr lang="en-US" altLang="ko-KR" sz="1400" kern="0" dirty="0">
                <a:solidFill>
                  <a:srgbClr val="558ED5"/>
                </a:solidFill>
              </a:rPr>
              <a:t>Foldable</a:t>
            </a:r>
            <a:br>
              <a:rPr lang="en-US" altLang="ko-KR" sz="1400" kern="0" dirty="0">
                <a:solidFill>
                  <a:srgbClr val="558ED5"/>
                </a:solidFill>
              </a:rPr>
            </a:br>
            <a:r>
              <a:rPr lang="en-US" altLang="ko-KR" sz="1400" kern="0" dirty="0">
                <a:solidFill>
                  <a:srgbClr val="558ED5"/>
                </a:solidFill>
              </a:rPr>
              <a:t>(2019~)</a:t>
            </a:r>
            <a:endParaRPr lang="ko-KR" altLang="en-US" sz="1400" kern="0" dirty="0">
              <a:solidFill>
                <a:srgbClr val="558ED5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E66316-0844-B819-2A19-C20DEF844820}"/>
              </a:ext>
            </a:extLst>
          </p:cNvPr>
          <p:cNvSpPr txBox="1"/>
          <p:nvPr/>
        </p:nvSpPr>
        <p:spPr>
          <a:xfrm>
            <a:off x="8247888" y="4553712"/>
            <a:ext cx="1600200" cy="523220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indent="-457200" algn="ctr" latinLnBrk="0">
              <a:lnSpc>
                <a:spcPct val="100000"/>
              </a:lnSpc>
              <a:buClr>
                <a:srgbClr val="FF0080"/>
              </a:buClr>
            </a:pPr>
            <a:r>
              <a:rPr lang="en-US" altLang="ko-KR" sz="1400" kern="0" dirty="0">
                <a:solidFill>
                  <a:srgbClr val="558ED5"/>
                </a:solidFill>
              </a:rPr>
              <a:t>Rollable (2020~)</a:t>
            </a:r>
            <a:br>
              <a:rPr lang="en-US" altLang="ko-KR" sz="1400" kern="0" dirty="0">
                <a:solidFill>
                  <a:srgbClr val="558ED5"/>
                </a:solidFill>
              </a:rPr>
            </a:br>
            <a:endParaRPr lang="ko-KR" altLang="en-US" sz="1400" kern="0" dirty="0">
              <a:solidFill>
                <a:srgbClr val="558ED5"/>
              </a:solidFill>
            </a:endParaRPr>
          </a:p>
        </p:txBody>
      </p:sp>
      <p:pic>
        <p:nvPicPr>
          <p:cNvPr id="29" name="그림 28" descr="world's first stretchable screen by LG display can be twisted and expanded  without breaking">
            <a:extLst>
              <a:ext uri="{FF2B5EF4-FFF2-40B4-BE49-F238E27FC236}">
                <a16:creationId xmlns:a16="http://schemas.microsoft.com/office/drawing/2014/main" id="{0082C5E2-2580-5248-EABF-9D7FD0BC011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736127" y="1971672"/>
            <a:ext cx="1380512" cy="2496315"/>
          </a:xfrm>
          <a:prstGeom prst="rect">
            <a:avLst/>
          </a:prstGeom>
          <a:effectLst>
            <a:reflection blurRad="6350" stA="52000" endPos="20000" dist="12700" dir="5400000" sy="-100000" algn="bl" rotWithShape="0"/>
          </a:effectLst>
        </p:spPr>
      </p:pic>
      <p:sp>
        <p:nvSpPr>
          <p:cNvPr id="34" name="제목 2">
            <a:extLst>
              <a:ext uri="{FF2B5EF4-FFF2-40B4-BE49-F238E27FC236}">
                <a16:creationId xmlns:a16="http://schemas.microsoft.com/office/drawing/2014/main" id="{0C36DEAD-6CF4-B0FF-77B6-70A51091ACC5}"/>
              </a:ext>
            </a:extLst>
          </p:cNvPr>
          <p:cNvSpPr txBox="1">
            <a:spLocks/>
          </p:cNvSpPr>
          <p:nvPr/>
        </p:nvSpPr>
        <p:spPr>
          <a:xfrm>
            <a:off x="799445" y="146319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Display form factor</a:t>
            </a:r>
            <a:endParaRPr lang="ko-KR" altLang="en-US" sz="3200" dirty="0"/>
          </a:p>
        </p:txBody>
      </p:sp>
      <p:sp>
        <p:nvSpPr>
          <p:cNvPr id="35" name="TextBox 34"/>
          <p:cNvSpPr txBox="1"/>
          <p:nvPr/>
        </p:nvSpPr>
        <p:spPr>
          <a:xfrm>
            <a:off x="795528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1">
                <a:solidFill>
                  <a:srgbClr val="7F7F7F"/>
                </a:solidFill>
                <a:latin typeface="Arial"/>
              </a:rPr>
              <a:t>Product images: manufacturers' press materials</a:t>
            </a:r>
          </a:p>
        </p:txBody>
      </p:sp>
    </p:spTree>
    <p:extLst>
      <p:ext uri="{BB962C8B-B14F-4D97-AF65-F5344CB8AC3E}">
        <p14:creationId xmlns:p14="http://schemas.microsoft.com/office/powerpoint/2010/main" val="196868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CAFE4BE-FC3C-6A56-61AA-6F14CE20816F}"/>
              </a:ext>
            </a:extLst>
          </p:cNvPr>
          <p:cNvSpPr txBox="1">
            <a:spLocks/>
          </p:cNvSpPr>
          <p:nvPr/>
        </p:nvSpPr>
        <p:spPr>
          <a:xfrm>
            <a:off x="799445" y="146319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Stretchable display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6690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9C8320A-39CA-B75B-2E04-26CF93E60205}"/>
              </a:ext>
            </a:extLst>
          </p:cNvPr>
          <p:cNvSpPr txBox="1">
            <a:spLocks/>
          </p:cNvSpPr>
          <p:nvPr/>
        </p:nvSpPr>
        <p:spPr>
          <a:xfrm>
            <a:off x="799445" y="146319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Stretchable electronics applications</a:t>
            </a:r>
            <a:endParaRPr lang="ko-KR" altLang="en-US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B893A2-4421-ACC5-1153-69E0883ED967}"/>
              </a:ext>
            </a:extLst>
          </p:cNvPr>
          <p:cNvSpPr txBox="1"/>
          <p:nvPr/>
        </p:nvSpPr>
        <p:spPr>
          <a:xfrm>
            <a:off x="280099" y="1492693"/>
            <a:ext cx="3275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Wearable / Skin display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452A72-46C2-3A8A-AE3C-9ADB4B7D9685}"/>
              </a:ext>
            </a:extLst>
          </p:cNvPr>
          <p:cNvSpPr txBox="1"/>
          <p:nvPr/>
        </p:nvSpPr>
        <p:spPr>
          <a:xfrm>
            <a:off x="6744072" y="1124744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Soft robotics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0267D9-3E91-3924-8104-6B7EF5D7DA80}"/>
              </a:ext>
            </a:extLst>
          </p:cNvPr>
          <p:cNvSpPr txBox="1"/>
          <p:nvPr/>
        </p:nvSpPr>
        <p:spPr>
          <a:xfrm>
            <a:off x="7320136" y="2574107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Bioelectronics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2BD46B-F907-D7A8-E963-3CC39015BABF}"/>
              </a:ext>
            </a:extLst>
          </p:cNvPr>
          <p:cNvSpPr txBox="1"/>
          <p:nvPr/>
        </p:nvSpPr>
        <p:spPr>
          <a:xfrm>
            <a:off x="6744072" y="4293096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Interactive surface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8FE8898-7A0A-972D-1D6C-7A21D5A90AC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352" y="2494056"/>
            <a:ext cx="3275191" cy="28712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AD1DFD-B27A-89EE-A60A-34BA4BBFAF90}"/>
              </a:ext>
            </a:extLst>
          </p:cNvPr>
          <p:cNvSpPr txBox="1"/>
          <p:nvPr/>
        </p:nvSpPr>
        <p:spPr>
          <a:xfrm>
            <a:off x="923700" y="5413286"/>
            <a:ext cx="261484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altLang="ko-KR" sz="800" dirty="0">
                <a:solidFill>
                  <a:schemeClr val="bg1">
                    <a:lumMod val="50000"/>
                  </a:schemeClr>
                </a:solidFill>
              </a:rPr>
              <a:t>IEEE Spectrum, vol. 58, no. 6, pp. 38-43, June 2021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8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2">
            <a:extLst>
              <a:ext uri="{FF2B5EF4-FFF2-40B4-BE49-F238E27FC236}">
                <a16:creationId xmlns:a16="http://schemas.microsoft.com/office/drawing/2014/main" id="{DF905578-6588-4D98-830E-F0AC22FE2FD5}"/>
              </a:ext>
            </a:extLst>
          </p:cNvPr>
          <p:cNvSpPr txBox="1">
            <a:spLocks/>
          </p:cNvSpPr>
          <p:nvPr/>
        </p:nvSpPr>
        <p:spPr>
          <a:xfrm>
            <a:off x="799445" y="146319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Introduction</a:t>
            </a:r>
            <a:endParaRPr lang="ko-KR" altLang="en-US" sz="3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30A9E99-0F29-477D-9969-25C5CA8ADB2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248128" y="1873076"/>
            <a:ext cx="1969642" cy="1886857"/>
          </a:xfrm>
          <a:prstGeom prst="rect">
            <a:avLst/>
          </a:prstGeom>
          <a:ln w="3175">
            <a:noFill/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AAA07C-B0F2-406A-A85D-6C71B67E48A5}"/>
              </a:ext>
            </a:extLst>
          </p:cNvPr>
          <p:cNvSpPr/>
          <p:nvPr/>
        </p:nvSpPr>
        <p:spPr>
          <a:xfrm>
            <a:off x="7248128" y="1539443"/>
            <a:ext cx="1969642" cy="338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latin typeface="+mj-lt"/>
                <a:ea typeface="맑은 고딕" panose="020B0503020000020004" pitchFamily="50" charset="-127"/>
                <a:cs typeface="Times New Roman" panose="02020603050405020304" pitchFamily="18" charset="0"/>
              </a:rPr>
              <a:t>PDMS</a:t>
            </a:r>
            <a:endParaRPr lang="ko-KR" altLang="ko-KR" sz="1600" kern="100" dirty="0">
              <a:latin typeface="+mj-lt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501D7A-48F8-46AE-9594-DC5EC705D9F9}"/>
              </a:ext>
            </a:extLst>
          </p:cNvPr>
          <p:cNvSpPr/>
          <p:nvPr/>
        </p:nvSpPr>
        <p:spPr>
          <a:xfrm>
            <a:off x="7072215" y="764704"/>
            <a:ext cx="4682567" cy="36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Substrate of stretchable electronics</a:t>
            </a:r>
            <a:endParaRPr lang="ko-KR" altLang="ko-KR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20FA2D-5FC8-45D1-9EEC-20D41BC66A9E}"/>
              </a:ext>
            </a:extLst>
          </p:cNvPr>
          <p:cNvSpPr/>
          <p:nvPr/>
        </p:nvSpPr>
        <p:spPr>
          <a:xfrm>
            <a:off x="9689514" y="1562700"/>
            <a:ext cx="2004060" cy="338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 err="1">
                <a:latin typeface="+mj-lt"/>
                <a:ea typeface="맑은 고딕" panose="020B0503020000020004" pitchFamily="50" charset="-127"/>
                <a:cs typeface="Times New Roman" panose="02020603050405020304" pitchFamily="18" charset="0"/>
              </a:rPr>
              <a:t>Ecoflex</a:t>
            </a:r>
            <a:endParaRPr lang="ko-KR" altLang="ko-KR" sz="1600" kern="100" dirty="0">
              <a:latin typeface="+mj-lt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A3D7FDE-D54E-4A9B-B6E0-C012E61D7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025599"/>
              </p:ext>
            </p:extLst>
          </p:nvPr>
        </p:nvGraphicFramePr>
        <p:xfrm>
          <a:off x="670135" y="5210644"/>
          <a:ext cx="5613852" cy="14872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3463">
                  <a:extLst>
                    <a:ext uri="{9D8B030D-6E8A-4147-A177-3AD203B41FA5}">
                      <a16:colId xmlns:a16="http://schemas.microsoft.com/office/drawing/2014/main" val="2268055693"/>
                    </a:ext>
                  </a:extLst>
                </a:gridCol>
                <a:gridCol w="1403463">
                  <a:extLst>
                    <a:ext uri="{9D8B030D-6E8A-4147-A177-3AD203B41FA5}">
                      <a16:colId xmlns:a16="http://schemas.microsoft.com/office/drawing/2014/main" val="4100852306"/>
                    </a:ext>
                  </a:extLst>
                </a:gridCol>
                <a:gridCol w="1403463">
                  <a:extLst>
                    <a:ext uri="{9D8B030D-6E8A-4147-A177-3AD203B41FA5}">
                      <a16:colId xmlns:a16="http://schemas.microsoft.com/office/drawing/2014/main" val="3984077139"/>
                    </a:ext>
                  </a:extLst>
                </a:gridCol>
                <a:gridCol w="1403463">
                  <a:extLst>
                    <a:ext uri="{9D8B030D-6E8A-4147-A177-3AD203B41FA5}">
                      <a16:colId xmlns:a16="http://schemas.microsoft.com/office/drawing/2014/main" val="2221719525"/>
                    </a:ext>
                  </a:extLst>
                </a:gridCol>
              </a:tblGrid>
              <a:tr h="188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Rubber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PET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0.43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407957"/>
                  </a:ext>
                </a:extLst>
              </a:tr>
              <a:tr h="1889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PDMS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0.45~0.5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Glass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0.18~0.3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04684"/>
                  </a:ext>
                </a:extLst>
              </a:tr>
              <a:tr h="377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Gold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0.42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Foam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0.1~0.5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590104"/>
                  </a:ext>
                </a:extLst>
              </a:tr>
              <a:tr h="3778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Copper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Ice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0.33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3169527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349164" y="953390"/>
            <a:ext cx="3859550" cy="36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Poisson’s ratio</a:t>
            </a:r>
            <a:endParaRPr lang="ko-KR" altLang="ko-KR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197F0E23-27FD-4643-82CF-75A242BD1246}"/>
              </a:ext>
            </a:extLst>
          </p:cNvPr>
          <p:cNvGrpSpPr/>
          <p:nvPr/>
        </p:nvGrpSpPr>
        <p:grpSpPr>
          <a:xfrm>
            <a:off x="301162" y="1730295"/>
            <a:ext cx="3117433" cy="2422166"/>
            <a:chOff x="535995" y="1524000"/>
            <a:chExt cx="3117433" cy="2422166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2166BAA8-EAD2-44B9-97DA-19D488DB7D14}"/>
                </a:ext>
              </a:extLst>
            </p:cNvPr>
            <p:cNvSpPr/>
            <p:nvPr/>
          </p:nvSpPr>
          <p:spPr>
            <a:xfrm>
              <a:off x="1323974" y="2028825"/>
              <a:ext cx="2295525" cy="1152525"/>
            </a:xfrm>
            <a:prstGeom prst="rect">
              <a:avLst/>
            </a:prstGeom>
            <a:noFill/>
            <a:ln w="38100">
              <a:solidFill>
                <a:schemeClr val="accent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4E49913-0468-462A-92D7-3CC58CECBD86}"/>
                </a:ext>
              </a:extLst>
            </p:cNvPr>
            <p:cNvSpPr/>
            <p:nvPr/>
          </p:nvSpPr>
          <p:spPr>
            <a:xfrm>
              <a:off x="1923728" y="1524000"/>
              <a:ext cx="1080120" cy="2133600"/>
            </a:xfrm>
            <a:prstGeom prst="rect">
              <a:avLst/>
            </a:prstGeom>
            <a:noFill/>
            <a:ln w="381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4CB63AD1-A3F5-4497-9E13-F0F77F3CDB51}"/>
                </a:ext>
              </a:extLst>
            </p:cNvPr>
            <p:cNvGrpSpPr/>
            <p:nvPr/>
          </p:nvGrpSpPr>
          <p:grpSpPr>
            <a:xfrm>
              <a:off x="535995" y="3153358"/>
              <a:ext cx="920074" cy="748050"/>
              <a:chOff x="6350" y="2994422"/>
              <a:chExt cx="920074" cy="748050"/>
            </a:xfrm>
          </p:grpSpPr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5AF092DA-C514-40E3-9174-7494E47B5368}"/>
                  </a:ext>
                </a:extLst>
              </p:cNvPr>
              <p:cNvCxnSpPr/>
              <p:nvPr/>
            </p:nvCxnSpPr>
            <p:spPr>
              <a:xfrm flipV="1">
                <a:off x="467258" y="2997000"/>
                <a:ext cx="0" cy="4320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369E86CB-8356-4354-B568-6051352A6AD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67308" y="3193850"/>
                <a:ext cx="0" cy="43200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85256EC-41D7-4A22-A4E2-8FB65B0BD29B}"/>
                  </a:ext>
                </a:extLst>
              </p:cNvPr>
              <p:cNvSpPr txBox="1"/>
              <p:nvPr/>
            </p:nvSpPr>
            <p:spPr>
              <a:xfrm>
                <a:off x="6350" y="2994422"/>
                <a:ext cx="551384" cy="366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i="1" dirty="0"/>
                  <a:t>y</a:t>
                </a:r>
                <a:endParaRPr lang="ko-KR" altLang="en-US" i="1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08062E2-7A97-4BF3-8C34-9AEA5AD55CD9}"/>
                  </a:ext>
                </a:extLst>
              </p:cNvPr>
              <p:cNvSpPr txBox="1"/>
              <p:nvPr/>
            </p:nvSpPr>
            <p:spPr>
              <a:xfrm>
                <a:off x="375040" y="3375965"/>
                <a:ext cx="551384" cy="366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i="1" dirty="0"/>
                  <a:t>x</a:t>
                </a:r>
                <a:endParaRPr lang="ko-KR" altLang="en-US" i="1" dirty="0"/>
              </a:p>
            </p:txBody>
          </p:sp>
        </p:grpSp>
        <p:sp>
          <p:nvSpPr>
            <p:cNvPr id="38" name="화살표: 오른쪽 37">
              <a:extLst>
                <a:ext uri="{FF2B5EF4-FFF2-40B4-BE49-F238E27FC236}">
                  <a16:creationId xmlns:a16="http://schemas.microsoft.com/office/drawing/2014/main" id="{4E3B22DA-6005-42CD-8A2D-392C65BEAA51}"/>
                </a:ext>
              </a:extLst>
            </p:cNvPr>
            <p:cNvSpPr/>
            <p:nvPr/>
          </p:nvSpPr>
          <p:spPr>
            <a:xfrm>
              <a:off x="3086100" y="2396057"/>
              <a:ext cx="457199" cy="41806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DEE62B29-3D16-416B-A423-82E91BE7E360}"/>
                </a:ext>
              </a:extLst>
            </p:cNvPr>
            <p:cNvSpPr/>
            <p:nvPr/>
          </p:nvSpPr>
          <p:spPr>
            <a:xfrm rot="10800000">
              <a:off x="1395252" y="2396057"/>
              <a:ext cx="457199" cy="41806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F84956F9-771F-4C10-B1F8-5D063FF39320}"/>
                </a:ext>
              </a:extLst>
            </p:cNvPr>
            <p:cNvSpPr/>
            <p:nvPr/>
          </p:nvSpPr>
          <p:spPr>
            <a:xfrm rot="5400000">
              <a:off x="2283788" y="1567383"/>
              <a:ext cx="360000" cy="41806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화살표: 오른쪽 44">
              <a:extLst>
                <a:ext uri="{FF2B5EF4-FFF2-40B4-BE49-F238E27FC236}">
                  <a16:creationId xmlns:a16="http://schemas.microsoft.com/office/drawing/2014/main" id="{90E9BF68-CDC0-4B27-A061-B50130078F80}"/>
                </a:ext>
              </a:extLst>
            </p:cNvPr>
            <p:cNvSpPr/>
            <p:nvPr/>
          </p:nvSpPr>
          <p:spPr>
            <a:xfrm rot="16200000">
              <a:off x="2283788" y="3200820"/>
              <a:ext cx="360000" cy="41806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8AE57A9-3FE9-43E5-9669-A3EFCD9A73FC}"/>
                </a:ext>
              </a:extLst>
            </p:cNvPr>
            <p:cNvSpPr txBox="1"/>
            <p:nvPr/>
          </p:nvSpPr>
          <p:spPr>
            <a:xfrm>
              <a:off x="3005356" y="2713504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 dirty="0" err="1">
                  <a:solidFill>
                    <a:schemeClr val="accent2">
                      <a:lumMod val="75000"/>
                    </a:schemeClr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ko-KR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axial</a:t>
              </a:r>
              <a:endParaRPr lang="ko-KR" altLang="en-US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41ED4B5-410A-438B-95FE-E5A89C28E1B6}"/>
                </a:ext>
              </a:extLst>
            </p:cNvPr>
            <p:cNvSpPr txBox="1"/>
            <p:nvPr/>
          </p:nvSpPr>
          <p:spPr>
            <a:xfrm>
              <a:off x="2105542" y="3576834"/>
              <a:ext cx="7329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 dirty="0" err="1">
                  <a:solidFill>
                    <a:schemeClr val="accent3">
                      <a:lumMod val="75000"/>
                    </a:schemeClr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ko-KR" b="1" baseline="-25000" dirty="0" err="1">
                  <a:solidFill>
                    <a:schemeClr val="accent3">
                      <a:lumMod val="75000"/>
                    </a:schemeClr>
                  </a:solidFill>
                </a:rPr>
                <a:t>trans</a:t>
              </a:r>
              <a:endParaRPr lang="ko-KR" altLang="en-US" b="1" baseline="-250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2DDCA2B-2E98-4259-84F8-0D4D51C0E2EA}"/>
                  </a:ext>
                </a:extLst>
              </p:cNvPr>
              <p:cNvSpPr txBox="1"/>
              <p:nvPr/>
            </p:nvSpPr>
            <p:spPr>
              <a:xfrm>
                <a:off x="3634948" y="2723707"/>
                <a:ext cx="2304256" cy="559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m:rPr>
                              <m:sty m:val="p"/>
                            </m:rPr>
                            <a:rPr lang="en-US" altLang="ko-KR" sz="1600" b="0" i="0" baseline="-25000" smtClean="0">
                              <a:latin typeface="Cambria Math" panose="02040503050406030204" pitchFamily="18" charset="0"/>
                            </a:rPr>
                            <m:t>trans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m:rPr>
                              <m:sty m:val="p"/>
                            </m:rPr>
                            <a:rPr lang="en-US" altLang="ko-KR" sz="1600" b="0" i="0" baseline="-25000" smtClean="0">
                              <a:latin typeface="Cambria Math" panose="02040503050406030204" pitchFamily="18" charset="0"/>
                            </a:rPr>
                            <m:t>axial</m:t>
                          </m:r>
                        </m:den>
                      </m:f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ko-KR" sz="1600" b="0" i="1" baseline="-2500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ko-KR" sz="1600" i="1" baseline="-2500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2DDCA2B-2E98-4259-84F8-0D4D51C0E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948" y="2723707"/>
                <a:ext cx="2304256" cy="5598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E668D16F-4588-4BA7-9267-70714BF4924C}"/>
              </a:ext>
            </a:extLst>
          </p:cNvPr>
          <p:cNvSpPr txBox="1"/>
          <p:nvPr/>
        </p:nvSpPr>
        <p:spPr>
          <a:xfrm>
            <a:off x="3752687" y="2308505"/>
            <a:ext cx="2122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Poisson’s ratio (</a:t>
            </a:r>
            <a:r>
              <a:rPr lang="en-US" altLang="ko-KR" i="1" dirty="0">
                <a:latin typeface="Symbol" panose="05050102010706020507" pitchFamily="18" charset="2"/>
              </a:rPr>
              <a:t>n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08DCA5A-E354-45FF-91B3-A6543CD49223}"/>
              </a:ext>
            </a:extLst>
          </p:cNvPr>
          <p:cNvSpPr/>
          <p:nvPr/>
        </p:nvSpPr>
        <p:spPr>
          <a:xfrm>
            <a:off x="3694299" y="2235120"/>
            <a:ext cx="2244905" cy="11525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279B854-8EF2-40BD-AA6D-3948EE3DCF8E}"/>
              </a:ext>
            </a:extLst>
          </p:cNvPr>
          <p:cNvSpPr/>
          <p:nvPr/>
        </p:nvSpPr>
        <p:spPr>
          <a:xfrm>
            <a:off x="166121" y="4393606"/>
            <a:ext cx="3859550" cy="36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Poisson’s ratio of material</a:t>
            </a:r>
            <a:endParaRPr lang="ko-KR" altLang="ko-KR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83127000-0BE2-4678-9EB4-A66381352C4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89513" y="1901274"/>
            <a:ext cx="2004061" cy="189367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7C272F04-73DC-462B-91DC-430D2A546E2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4272" y="4384378"/>
            <a:ext cx="1946501" cy="1868357"/>
          </a:xfrm>
          <a:prstGeom prst="rect">
            <a:avLst/>
          </a:prstGeom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F6BA60D4-9ABE-4546-BCBF-CE3E1BDC2446}"/>
              </a:ext>
            </a:extLst>
          </p:cNvPr>
          <p:cNvSpPr/>
          <p:nvPr/>
        </p:nvSpPr>
        <p:spPr>
          <a:xfrm>
            <a:off x="8544272" y="4056263"/>
            <a:ext cx="1975280" cy="338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altLang="ko-KR" sz="1600" kern="100" dirty="0">
                <a:latin typeface="+mj-lt"/>
                <a:ea typeface="맑은 고딕" panose="020B0503020000020004" pitchFamily="50" charset="-127"/>
                <a:cs typeface="Times New Roman" panose="02020603050405020304" pitchFamily="18" charset="0"/>
              </a:rPr>
              <a:t>SEBS</a:t>
            </a:r>
            <a:endParaRPr lang="ko-KR" altLang="ko-KR" sz="1600" kern="100" dirty="0">
              <a:latin typeface="+mj-lt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9852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그룹 27">
            <a:extLst>
              <a:ext uri="{FF2B5EF4-FFF2-40B4-BE49-F238E27FC236}">
                <a16:creationId xmlns:a16="http://schemas.microsoft.com/office/drawing/2014/main" id="{342C5AB0-5BC0-4553-924F-B0567D0F1DDD}"/>
              </a:ext>
            </a:extLst>
          </p:cNvPr>
          <p:cNvGrpSpPr/>
          <p:nvPr/>
        </p:nvGrpSpPr>
        <p:grpSpPr>
          <a:xfrm>
            <a:off x="688187" y="1003678"/>
            <a:ext cx="4704342" cy="4369538"/>
            <a:chOff x="479036" y="1348859"/>
            <a:chExt cx="4704342" cy="4369538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DA9B24B-39C2-44A7-A7DF-BF2E58E917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82814" y="1352125"/>
              <a:ext cx="2300217" cy="1625045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A140A13-7083-4052-8839-36DD1CCF9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83163" y="3799168"/>
              <a:ext cx="2300215" cy="1918309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D890447-283C-4BB6-B4EB-F98432206C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2815" y="3078396"/>
              <a:ext cx="2300215" cy="1016374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B57A75A-457F-4DFE-B83D-2CFE5BE588C4}"/>
                </a:ext>
              </a:extLst>
            </p:cNvPr>
            <p:cNvSpPr/>
            <p:nvPr/>
          </p:nvSpPr>
          <p:spPr>
            <a:xfrm>
              <a:off x="2355742" y="1389509"/>
              <a:ext cx="384745" cy="308033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</p:spPr>
          <p:txBody>
            <a:bodyPr wrap="square">
              <a:spAutoFit/>
            </a:bodyPr>
            <a:lstStyle/>
            <a:p>
              <a:pPr lvl="0"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ko-KR" sz="1400" b="1" kern="100" dirty="0">
                  <a:latin typeface="+mj-lt"/>
                  <a:ea typeface="맑은 고딕" panose="020B0503020000020004" pitchFamily="50" charset="-127"/>
                  <a:cs typeface="Times New Roman" panose="02020603050405020304" pitchFamily="18" charset="0"/>
                </a:rPr>
                <a:t>[1] </a:t>
              </a:r>
              <a:endParaRPr lang="ko-KR" altLang="ko-KR" sz="1400" b="1" kern="100" dirty="0">
                <a:latin typeface="+mj-lt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6D9CE70-80DD-4ECE-A34C-152633D26C49}"/>
                </a:ext>
              </a:extLst>
            </p:cNvPr>
            <p:cNvSpPr/>
            <p:nvPr/>
          </p:nvSpPr>
          <p:spPr>
            <a:xfrm>
              <a:off x="4761518" y="3841047"/>
              <a:ext cx="384745" cy="308033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</p:spPr>
          <p:txBody>
            <a:bodyPr wrap="square">
              <a:spAutoFit/>
            </a:bodyPr>
            <a:lstStyle/>
            <a:p>
              <a:pPr lvl="0"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ko-KR" sz="1400" b="1" kern="100" dirty="0">
                  <a:latin typeface="+mj-lt"/>
                  <a:ea typeface="맑은 고딕" panose="020B0503020000020004" pitchFamily="50" charset="-127"/>
                  <a:cs typeface="Times New Roman" panose="02020603050405020304" pitchFamily="18" charset="0"/>
                </a:rPr>
                <a:t>[4] </a:t>
              </a:r>
              <a:endParaRPr lang="ko-KR" altLang="ko-KR" sz="1400" b="1" kern="100" dirty="0">
                <a:latin typeface="+mj-lt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EEFABED-8D7D-49E9-80C1-1ECE8E513362}"/>
                </a:ext>
              </a:extLst>
            </p:cNvPr>
            <p:cNvSpPr/>
            <p:nvPr/>
          </p:nvSpPr>
          <p:spPr>
            <a:xfrm>
              <a:off x="2355741" y="3136405"/>
              <a:ext cx="384745" cy="308033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</p:spPr>
          <p:txBody>
            <a:bodyPr wrap="square">
              <a:spAutoFit/>
            </a:bodyPr>
            <a:lstStyle/>
            <a:p>
              <a:pPr lvl="0"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ko-KR" sz="1400" b="1" kern="100" dirty="0">
                  <a:latin typeface="+mj-lt"/>
                  <a:ea typeface="맑은 고딕" panose="020B0503020000020004" pitchFamily="50" charset="-127"/>
                  <a:cs typeface="Times New Roman" panose="02020603050405020304" pitchFamily="18" charset="0"/>
                </a:rPr>
                <a:t>[3] </a:t>
              </a:r>
              <a:endParaRPr lang="ko-KR" altLang="ko-KR" sz="1400" b="1" kern="100" dirty="0">
                <a:latin typeface="+mj-lt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3AE74E4C-E861-47F8-9188-309C1DBB05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2883164" y="1348859"/>
              <a:ext cx="2300214" cy="2307522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DA10E0A-A64B-49D5-A14E-834FE24CFF60}"/>
                </a:ext>
              </a:extLst>
            </p:cNvPr>
            <p:cNvSpPr/>
            <p:nvPr/>
          </p:nvSpPr>
          <p:spPr>
            <a:xfrm>
              <a:off x="4761518" y="1389509"/>
              <a:ext cx="384745" cy="308033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</p:spPr>
          <p:txBody>
            <a:bodyPr wrap="square">
              <a:spAutoFit/>
            </a:bodyPr>
            <a:lstStyle/>
            <a:p>
              <a:pPr lvl="0"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ko-KR" sz="1400" b="1" kern="100" dirty="0">
                  <a:latin typeface="+mj-lt"/>
                  <a:ea typeface="맑은 고딕" panose="020B0503020000020004" pitchFamily="50" charset="-127"/>
                  <a:cs typeface="Times New Roman" panose="02020603050405020304" pitchFamily="18" charset="0"/>
                </a:rPr>
                <a:t>[2] </a:t>
              </a:r>
              <a:endParaRPr lang="ko-KR" altLang="ko-KR" sz="1400" b="1" kern="100" dirty="0">
                <a:latin typeface="+mj-lt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1A7B798-EBCB-436A-9B4E-5259CBAA8F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79036" y="4166778"/>
              <a:ext cx="2300215" cy="1551619"/>
            </a:xfrm>
            <a:prstGeom prst="rect">
              <a:avLst/>
            </a:prstGeom>
          </p:spPr>
        </p:pic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C73B22-C8E4-4DF2-8E70-02ADF7976A59}"/>
              </a:ext>
            </a:extLst>
          </p:cNvPr>
          <p:cNvSpPr/>
          <p:nvPr/>
        </p:nvSpPr>
        <p:spPr>
          <a:xfrm>
            <a:off x="244490" y="7035470"/>
            <a:ext cx="12000656" cy="3044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</a:pPr>
            <a:r>
              <a:rPr lang="en-US" altLang="ko-KR" sz="1400" kern="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[1] A </a:t>
            </a:r>
            <a:r>
              <a:rPr lang="en-US" altLang="ko-KR" sz="1400" kern="100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kirigami</a:t>
            </a:r>
            <a:r>
              <a:rPr lang="en-US" altLang="ko-KR" sz="1400" kern="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-inspired island-chain design for wearable </a:t>
            </a:r>
            <a:r>
              <a:rPr lang="en-US" altLang="ko-KR" sz="1400" kern="100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moistureproof</a:t>
            </a:r>
            <a:r>
              <a:rPr lang="en-US" altLang="ko-KR" sz="1400" kern="1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perovskite solar cells with high stretchability and performance stability†</a:t>
            </a:r>
            <a:endParaRPr lang="ko-KR" altLang="ko-KR" sz="1400" kern="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31E031-BF7B-4AAA-8FF8-CF31A08CAA6A}"/>
              </a:ext>
            </a:extLst>
          </p:cNvPr>
          <p:cNvSpPr/>
          <p:nvPr/>
        </p:nvSpPr>
        <p:spPr>
          <a:xfrm>
            <a:off x="244490" y="8058821"/>
            <a:ext cx="120006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[3] 3D-Printed Liquid Metal Interconnects for Stretchable Electronics</a:t>
            </a:r>
            <a:endParaRPr lang="ko-KR" altLang="ko-KR" sz="1050" kern="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4D490F-67A4-4C8D-925F-3F4F08377B09}"/>
              </a:ext>
            </a:extLst>
          </p:cNvPr>
          <p:cNvSpPr/>
          <p:nvPr/>
        </p:nvSpPr>
        <p:spPr>
          <a:xfrm>
            <a:off x="244490" y="7375475"/>
            <a:ext cx="120006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[4] Highly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stretchableelectroluminescent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 skin for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</a:rPr>
              <a:t>opticalsignaling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</a:rPr>
              <a:t> and tactile sensing</a:t>
            </a:r>
            <a:endParaRPr lang="ko-KR" altLang="ko-KR" sz="1050" kern="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53ED0D1-3E91-493D-B0AF-F1772FBA1381}"/>
              </a:ext>
            </a:extLst>
          </p:cNvPr>
          <p:cNvSpPr/>
          <p:nvPr/>
        </p:nvSpPr>
        <p:spPr>
          <a:xfrm>
            <a:off x="244490" y="8603528"/>
            <a:ext cx="120006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[2] Shi, Xiang, et al. "A self-healing and stretchable light-emitting device." </a:t>
            </a:r>
            <a:r>
              <a:rPr lang="en-US" altLang="ko-KR" sz="1200" i="1" dirty="0">
                <a:latin typeface="Arial" panose="020B0604020202020204" pitchFamily="34" charset="0"/>
                <a:cs typeface="Arial" panose="020B0604020202020204" pitchFamily="34" charset="0"/>
              </a:rPr>
              <a:t>Journal of Materials Chemistry C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 6.47 (2018): 12774-12780.</a:t>
            </a:r>
            <a:endParaRPr lang="ko-KR" altLang="ko-KR" sz="1200" kern="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67A7DE0-E7CE-494E-AD31-E2A173B4B58C}"/>
              </a:ext>
            </a:extLst>
          </p:cNvPr>
          <p:cNvSpPr/>
          <p:nvPr/>
        </p:nvSpPr>
        <p:spPr>
          <a:xfrm>
            <a:off x="244490" y="8957318"/>
            <a:ext cx="120006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[5]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Muth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 J.T.; Vogt, D.M.;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Truby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 R.L.;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Mengüç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 Y.;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Kolesky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D.B.;Wood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, R.J.; Lewis, J.A. Embedded 3D printing of strain sensors</a:t>
            </a:r>
          </a:p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within highly stretchable elastomers. Adv. Mater. 2014, 26, 6307–6312. [</a:t>
            </a:r>
            <a:r>
              <a:rPr lang="en-US" altLang="ko-KR" sz="1200" dirty="0" err="1">
                <a:latin typeface="Arial" panose="020B0604020202020204" pitchFamily="34" charset="0"/>
                <a:cs typeface="Arial" panose="020B0604020202020204" pitchFamily="34" charset="0"/>
              </a:rPr>
              <a:t>CrossRef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] [PubMed]</a:t>
            </a:r>
            <a:endParaRPr lang="ko-KR" altLang="ko-KR" sz="1200" kern="1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" name="제목 2">
            <a:extLst>
              <a:ext uri="{FF2B5EF4-FFF2-40B4-BE49-F238E27FC236}">
                <a16:creationId xmlns:a16="http://schemas.microsoft.com/office/drawing/2014/main" id="{3F866B40-5DA7-42C8-8063-56719DD148A7}"/>
              </a:ext>
            </a:extLst>
          </p:cNvPr>
          <p:cNvSpPr txBox="1">
            <a:spLocks/>
          </p:cNvSpPr>
          <p:nvPr/>
        </p:nvSpPr>
        <p:spPr>
          <a:xfrm>
            <a:off x="721386" y="190924"/>
            <a:ext cx="11294449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dirty="0"/>
              <a:t>Research issues in stretchable displays</a:t>
            </a:r>
            <a:endParaRPr lang="ko-KR" altLang="en-US" sz="2700" dirty="0"/>
          </a:p>
        </p:txBody>
      </p:sp>
      <p:grpSp>
        <p:nvGrpSpPr>
          <p:cNvPr id="5" name="그룹 4"/>
          <p:cNvGrpSpPr/>
          <p:nvPr/>
        </p:nvGrpSpPr>
        <p:grpSpPr>
          <a:xfrm>
            <a:off x="5807968" y="1003914"/>
            <a:ext cx="6139543" cy="4369302"/>
            <a:chOff x="5807968" y="1003914"/>
            <a:chExt cx="6139543" cy="4369302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65C6D8E-6DF0-41A1-9D19-78F65105F4C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83020" y="1040399"/>
              <a:ext cx="3999346" cy="1308172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C63E0C0A-1F0F-4775-B257-CF066BAA5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57567" y="1040399"/>
              <a:ext cx="1815380" cy="4300572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67625" y="2603013"/>
              <a:ext cx="3801909" cy="2647483"/>
            </a:xfrm>
            <a:prstGeom prst="rect">
              <a:avLst/>
            </a:prstGeom>
          </p:spPr>
        </p:pic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DA10E0A-A64B-49D5-A14E-834FE24CFF60}"/>
                </a:ext>
              </a:extLst>
            </p:cNvPr>
            <p:cNvSpPr/>
            <p:nvPr/>
          </p:nvSpPr>
          <p:spPr>
            <a:xfrm>
              <a:off x="11401014" y="1003914"/>
              <a:ext cx="384745" cy="30803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07000"/>
                </a:lnSpc>
                <a:spcAft>
                  <a:spcPts val="800"/>
                </a:spcAft>
              </a:pPr>
              <a:r>
                <a:rPr lang="en-US" altLang="ko-KR" sz="1400" b="1" kern="100">
                  <a:latin typeface="+mj-lt"/>
                  <a:ea typeface="맑은 고딕" panose="020B0503020000020004" pitchFamily="50" charset="-127"/>
                  <a:cs typeface="Times New Roman" panose="02020603050405020304" pitchFamily="18" charset="0"/>
                </a:rPr>
                <a:t>[5]</a:t>
              </a:r>
              <a:endParaRPr lang="ko-KR" altLang="ko-KR" sz="1400" b="1" kern="100" dirty="0">
                <a:latin typeface="+mj-lt"/>
                <a:ea typeface="맑은 고딕" panose="020B0503020000020004" pitchFamily="50" charset="-127"/>
                <a:cs typeface="Times New Roman" panose="02020603050405020304" pitchFamily="18" charset="0"/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5807968" y="1003914"/>
              <a:ext cx="6139543" cy="436930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468122" y="5517232"/>
            <a:ext cx="50405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6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Using intrinsically stretchable materials as a substrate, image distortion is unavoidable.</a:t>
            </a:r>
            <a:endParaRPr lang="ko-KR" altLang="ko-KR" sz="16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5807968" y="5517232"/>
            <a:ext cx="61395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6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Although a LED with a stretchable auxetic structure was implemented, </a:t>
            </a:r>
            <a:r>
              <a:rPr lang="en-US" altLang="ko-KR" sz="1600" kern="100" dirty="0">
                <a:solidFill>
                  <a:srgbClr val="FF0000"/>
                </a:solidFill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substrate selection</a:t>
            </a:r>
            <a:r>
              <a:rPr lang="en-US" altLang="ko-KR" sz="16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 options were limited and the </a:t>
            </a:r>
            <a:r>
              <a:rPr lang="en-US" altLang="ko-KR" sz="1600" kern="100" dirty="0">
                <a:solidFill>
                  <a:srgbClr val="FF0000"/>
                </a:solidFill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distortion-free area</a:t>
            </a:r>
            <a:r>
              <a:rPr lang="en-US" altLang="ko-KR" sz="16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 was restricted.</a:t>
            </a:r>
            <a:endParaRPr lang="ko-KR" altLang="ko-KR" sz="16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463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67A1172A-33C7-4793-88A9-6DC37DE258F9}"/>
              </a:ext>
            </a:extLst>
          </p:cNvPr>
          <p:cNvSpPr txBox="1">
            <a:spLocks/>
          </p:cNvSpPr>
          <p:nvPr/>
        </p:nvSpPr>
        <p:spPr>
          <a:xfrm>
            <a:off x="644988" y="179772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/>
              <a:t>Utilization of auxetic structures</a:t>
            </a:r>
            <a:endParaRPr lang="ko-KR" altLang="en-US" sz="28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3A1634-B363-4874-B3AC-4CBEDFA9B267}"/>
              </a:ext>
            </a:extLst>
          </p:cNvPr>
          <p:cNvSpPr/>
          <p:nvPr/>
        </p:nvSpPr>
        <p:spPr>
          <a:xfrm>
            <a:off x="6353065" y="197660"/>
            <a:ext cx="5670468" cy="52322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Auxetics</a:t>
            </a:r>
            <a:r>
              <a:rPr lang="en-US" altLang="ko-K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structures for materials that have a </a:t>
            </a:r>
            <a:r>
              <a:rPr lang="en-US" altLang="ko-KR" sz="1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Poisson’s ratio</a:t>
            </a:r>
            <a:r>
              <a:rPr lang="en-US" altLang="ko-KR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When stretched, they become thicker perpendicular to the applied force</a:t>
            </a:r>
            <a:endParaRPr lang="ko-KR" alt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32348" y="4493880"/>
            <a:ext cx="2950802" cy="2357021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202" y="4437112"/>
            <a:ext cx="1237373" cy="2400018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2783632" y="4365104"/>
            <a:ext cx="231514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i="1" dirty="0" err="1">
                <a:solidFill>
                  <a:schemeClr val="bg1">
                    <a:lumMod val="50000"/>
                  </a:schemeClr>
                </a:solidFill>
              </a:rPr>
              <a:t>Extrem</a:t>
            </a:r>
            <a:r>
              <a:rPr lang="en-US" altLang="ko-KR" sz="1000" i="1" dirty="0">
                <a:solidFill>
                  <a:schemeClr val="bg1">
                    <a:lumMod val="50000"/>
                  </a:schemeClr>
                </a:solidFill>
              </a:rPr>
              <a:t>. Mech. Lett.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</a:rPr>
              <a:t>2017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ko-KR" sz="1000" i="1" dirty="0">
                <a:solidFill>
                  <a:schemeClr val="bg1">
                    <a:lumMod val="50000"/>
                  </a:schemeClr>
                </a:solidFill>
              </a:rPr>
              <a:t>12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77–85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92877" y="787006"/>
            <a:ext cx="4492775" cy="36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Various auxetic structures</a:t>
            </a:r>
            <a:endParaRPr lang="ko-KR" altLang="ko-KR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5919763" y="1175475"/>
            <a:ext cx="1688405" cy="1841961"/>
            <a:chOff x="6009144" y="1206438"/>
            <a:chExt cx="1688405" cy="1841961"/>
          </a:xfrm>
        </p:grpSpPr>
        <p:grpSp>
          <p:nvGrpSpPr>
            <p:cNvPr id="85" name="그룹 84"/>
            <p:cNvGrpSpPr/>
            <p:nvPr/>
          </p:nvGrpSpPr>
          <p:grpSpPr>
            <a:xfrm>
              <a:off x="6009144" y="1370195"/>
              <a:ext cx="1688405" cy="1678204"/>
              <a:chOff x="6816080" y="1289128"/>
              <a:chExt cx="1688405" cy="1678204"/>
            </a:xfrm>
          </p:grpSpPr>
          <p:sp>
            <p:nvSpPr>
              <p:cNvPr id="32" name="직사각형 31"/>
              <p:cNvSpPr/>
              <p:nvPr/>
            </p:nvSpPr>
            <p:spPr>
              <a:xfrm rot="659479">
                <a:off x="6878383" y="1351162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직사각형 56"/>
              <p:cNvSpPr/>
              <p:nvPr/>
            </p:nvSpPr>
            <p:spPr>
              <a:xfrm rot="20940521" flipV="1">
                <a:off x="6878383" y="2187997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/>
              <p:cNvSpPr/>
              <p:nvPr/>
            </p:nvSpPr>
            <p:spPr>
              <a:xfrm rot="659479" flipH="1" flipV="1">
                <a:off x="7722451" y="2185298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/>
              <p:cNvSpPr/>
              <p:nvPr/>
            </p:nvSpPr>
            <p:spPr>
              <a:xfrm rot="20940521" flipH="1">
                <a:off x="7722451" y="1353860"/>
                <a:ext cx="720000" cy="72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원호 59"/>
              <p:cNvSpPr/>
              <p:nvPr/>
            </p:nvSpPr>
            <p:spPr>
              <a:xfrm>
                <a:off x="7081040" y="1558331"/>
                <a:ext cx="288000" cy="288000"/>
              </a:xfrm>
              <a:prstGeom prst="arc">
                <a:avLst>
                  <a:gd name="adj1" fmla="val 16200000"/>
                  <a:gd name="adj2" fmla="val 12974096"/>
                </a:avLst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타원 60"/>
              <p:cNvSpPr/>
              <p:nvPr/>
            </p:nvSpPr>
            <p:spPr>
              <a:xfrm>
                <a:off x="7189094" y="1665221"/>
                <a:ext cx="72008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타원 61"/>
              <p:cNvSpPr/>
              <p:nvPr/>
            </p:nvSpPr>
            <p:spPr>
              <a:xfrm>
                <a:off x="8046447" y="1665221"/>
                <a:ext cx="72008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타원 62"/>
              <p:cNvSpPr/>
              <p:nvPr/>
            </p:nvSpPr>
            <p:spPr>
              <a:xfrm>
                <a:off x="8050695" y="2507101"/>
                <a:ext cx="72008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타원 63"/>
              <p:cNvSpPr/>
              <p:nvPr/>
            </p:nvSpPr>
            <p:spPr>
              <a:xfrm>
                <a:off x="7189094" y="2509298"/>
                <a:ext cx="72008" cy="72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원호 64"/>
              <p:cNvSpPr/>
              <p:nvPr/>
            </p:nvSpPr>
            <p:spPr>
              <a:xfrm flipH="1">
                <a:off x="7938451" y="1558331"/>
                <a:ext cx="288000" cy="288000"/>
              </a:xfrm>
              <a:prstGeom prst="arc">
                <a:avLst>
                  <a:gd name="adj1" fmla="val 16200000"/>
                  <a:gd name="adj2" fmla="val 12974096"/>
                </a:avLst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원호 65"/>
              <p:cNvSpPr/>
              <p:nvPr/>
            </p:nvSpPr>
            <p:spPr>
              <a:xfrm flipH="1" flipV="1">
                <a:off x="7935111" y="2402399"/>
                <a:ext cx="288000" cy="288000"/>
              </a:xfrm>
              <a:prstGeom prst="arc">
                <a:avLst>
                  <a:gd name="adj1" fmla="val 16200000"/>
                  <a:gd name="adj2" fmla="val 12974096"/>
                </a:avLst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원호 66"/>
              <p:cNvSpPr/>
              <p:nvPr/>
            </p:nvSpPr>
            <p:spPr>
              <a:xfrm flipV="1">
                <a:off x="7081040" y="2402616"/>
                <a:ext cx="288000" cy="288000"/>
              </a:xfrm>
              <a:prstGeom prst="arc">
                <a:avLst>
                  <a:gd name="adj1" fmla="val 16200000"/>
                  <a:gd name="adj2" fmla="val 12974096"/>
                </a:avLst>
              </a:prstGeom>
              <a:ln w="127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화살표 연결선 68"/>
              <p:cNvCxnSpPr/>
              <p:nvPr/>
            </p:nvCxnSpPr>
            <p:spPr>
              <a:xfrm>
                <a:off x="7509396" y="1941413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화살표 연결선 69"/>
              <p:cNvCxnSpPr/>
              <p:nvPr/>
            </p:nvCxnSpPr>
            <p:spPr>
              <a:xfrm>
                <a:off x="7812286" y="1943795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화살표 연결선 70"/>
              <p:cNvCxnSpPr/>
              <p:nvPr/>
            </p:nvCxnSpPr>
            <p:spPr>
              <a:xfrm rot="5400000" flipH="1" flipV="1">
                <a:off x="8404746" y="2182998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직선 화살표 연결선 71"/>
              <p:cNvCxnSpPr/>
              <p:nvPr/>
            </p:nvCxnSpPr>
            <p:spPr>
              <a:xfrm rot="5400000" flipH="1" flipV="1">
                <a:off x="7562255" y="2735448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직선 화살표 연결선 72"/>
              <p:cNvCxnSpPr/>
              <p:nvPr/>
            </p:nvCxnSpPr>
            <p:spPr>
              <a:xfrm rot="16200000" flipV="1">
                <a:off x="6921227" y="1880579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직선 화살표 연결선 73"/>
              <p:cNvCxnSpPr/>
              <p:nvPr/>
            </p:nvCxnSpPr>
            <p:spPr>
              <a:xfrm rot="16200000" flipV="1">
                <a:off x="6935987" y="2185380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직선 화살표 연결선 74"/>
              <p:cNvCxnSpPr/>
              <p:nvPr/>
            </p:nvCxnSpPr>
            <p:spPr>
              <a:xfrm flipV="1">
                <a:off x="6973614" y="1304316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직선 화살표 연결선 75"/>
              <p:cNvCxnSpPr/>
              <p:nvPr/>
            </p:nvCxnSpPr>
            <p:spPr>
              <a:xfrm flipV="1">
                <a:off x="7507486" y="2137753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직선 화살표 연결선 76"/>
              <p:cNvCxnSpPr/>
              <p:nvPr/>
            </p:nvCxnSpPr>
            <p:spPr>
              <a:xfrm flipV="1">
                <a:off x="7812286" y="2132991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직선 화살표 연결선 77"/>
              <p:cNvCxnSpPr/>
              <p:nvPr/>
            </p:nvCxnSpPr>
            <p:spPr>
              <a:xfrm>
                <a:off x="6966472" y="2765325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직사각형 35"/>
              <p:cNvSpPr/>
              <p:nvPr/>
            </p:nvSpPr>
            <p:spPr>
              <a:xfrm>
                <a:off x="6816080" y="1289128"/>
                <a:ext cx="1688405" cy="167820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79" name="직선 화살표 연결선 78"/>
              <p:cNvCxnSpPr/>
              <p:nvPr/>
            </p:nvCxnSpPr>
            <p:spPr>
              <a:xfrm rot="16200000" flipV="1">
                <a:off x="7759427" y="1337654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직선 화살표 연결선 79"/>
              <p:cNvCxnSpPr/>
              <p:nvPr/>
            </p:nvCxnSpPr>
            <p:spPr>
              <a:xfrm rot="16200000" flipV="1">
                <a:off x="7759899" y="2728305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화살표 연결선 80"/>
              <p:cNvCxnSpPr/>
              <p:nvPr/>
            </p:nvCxnSpPr>
            <p:spPr>
              <a:xfrm rot="5400000" flipH="1" flipV="1">
                <a:off x="7562255" y="1344798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직선 화살표 연결선 81"/>
              <p:cNvCxnSpPr/>
              <p:nvPr/>
            </p:nvCxnSpPr>
            <p:spPr>
              <a:xfrm>
                <a:off x="8350449" y="2777233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화살표 연결선 82"/>
              <p:cNvCxnSpPr/>
              <p:nvPr/>
            </p:nvCxnSpPr>
            <p:spPr>
              <a:xfrm flipV="1">
                <a:off x="8355212" y="1294792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화살표 연결선 83"/>
              <p:cNvCxnSpPr/>
              <p:nvPr/>
            </p:nvCxnSpPr>
            <p:spPr>
              <a:xfrm rot="5400000" flipH="1" flipV="1">
                <a:off x="8404746" y="1897248"/>
                <a:ext cx="0" cy="180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원호 85"/>
            <p:cNvSpPr/>
            <p:nvPr/>
          </p:nvSpPr>
          <p:spPr>
            <a:xfrm rot="10800000">
              <a:off x="6574661" y="1206438"/>
              <a:ext cx="576000" cy="576000"/>
            </a:xfrm>
            <a:prstGeom prst="arc">
              <a:avLst>
                <a:gd name="adj1" fmla="val 15683343"/>
                <a:gd name="adj2" fmla="val 16955358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602726" y="1727205"/>
              <a:ext cx="4412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i="1">
                  <a:latin typeface="Symbol" panose="05050102010706020507" pitchFamily="18" charset="2"/>
                </a:rPr>
                <a:t>q</a:t>
              </a:r>
              <a:endParaRPr lang="ko-KR" altLang="en-US" sz="1400" baseline="-25000">
                <a:latin typeface="+mj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10248900" y="1376676"/>
                <a:ext cx="2047055" cy="791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  <m:oMath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ko-KR" alt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ko-KR" altLang="en-US" sz="14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40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8900" y="1376676"/>
                <a:ext cx="2047055" cy="7918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/>
              <p:cNvSpPr txBox="1"/>
              <p:nvPr/>
            </p:nvSpPr>
            <p:spPr>
              <a:xfrm>
                <a:off x="10411961" y="2335276"/>
                <a:ext cx="1509484" cy="50161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br>
                  <a:rPr lang="en-US" altLang="ko-KR" sz="1400" b="1"/>
                </a:br>
                <a:endParaRPr lang="ko-KR" altLang="en-US" sz="1400" b="1"/>
              </a:p>
            </p:txBody>
          </p:sp>
        </mc:Choice>
        <mc:Fallback xmlns="">
          <p:sp>
            <p:nvSpPr>
              <p:cNvPr id="98" name="TextBox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1961" y="2335276"/>
                <a:ext cx="1509484" cy="501612"/>
              </a:xfrm>
              <a:prstGeom prst="rect">
                <a:avLst/>
              </a:prstGeom>
              <a:blipFill>
                <a:blip r:embed="rId10"/>
                <a:stretch>
                  <a:fillRect b="-1163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" name="그룹 107"/>
          <p:cNvGrpSpPr/>
          <p:nvPr/>
        </p:nvGrpSpPr>
        <p:grpSpPr>
          <a:xfrm>
            <a:off x="7832277" y="780011"/>
            <a:ext cx="2318868" cy="2360957"/>
            <a:chOff x="7832277" y="867039"/>
            <a:chExt cx="2318868" cy="2360957"/>
          </a:xfrm>
        </p:grpSpPr>
        <p:sp>
          <p:nvSpPr>
            <p:cNvPr id="52" name="직사각형 51"/>
            <p:cNvSpPr/>
            <p:nvPr/>
          </p:nvSpPr>
          <p:spPr>
            <a:xfrm rot="1784293">
              <a:off x="8315395" y="1393666"/>
              <a:ext cx="720000" cy="72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/>
            <p:cNvSpPr/>
            <p:nvPr/>
          </p:nvSpPr>
          <p:spPr>
            <a:xfrm rot="19815707" flipV="1">
              <a:off x="8315395" y="2375989"/>
              <a:ext cx="720000" cy="72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/>
            <p:cNvSpPr/>
            <p:nvPr/>
          </p:nvSpPr>
          <p:spPr>
            <a:xfrm rot="19815707" flipH="1">
              <a:off x="9297720" y="1393665"/>
              <a:ext cx="720000" cy="72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/>
            <p:cNvSpPr/>
            <p:nvPr/>
          </p:nvSpPr>
          <p:spPr>
            <a:xfrm rot="1784293" flipH="1" flipV="1">
              <a:off x="9297720" y="2375988"/>
              <a:ext cx="720000" cy="72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8184232" y="1262502"/>
              <a:ext cx="1964649" cy="1964647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원호 87"/>
            <p:cNvSpPr/>
            <p:nvPr/>
          </p:nvSpPr>
          <p:spPr>
            <a:xfrm rot="10800000">
              <a:off x="8878556" y="1332172"/>
              <a:ext cx="576000" cy="576000"/>
            </a:xfrm>
            <a:prstGeom prst="arc">
              <a:avLst>
                <a:gd name="adj1" fmla="val 14384170"/>
                <a:gd name="adj2" fmla="val 1797571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8838357" y="1881998"/>
              <a:ext cx="6254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i="1">
                  <a:latin typeface="Symbol" panose="05050102010706020507" pitchFamily="18" charset="2"/>
                </a:rPr>
                <a:t>q </a:t>
              </a:r>
              <a:r>
                <a:rPr lang="en-US" altLang="ko-KR" sz="1200">
                  <a:latin typeface="Symbol" panose="05050102010706020507" pitchFamily="18" charset="2"/>
                </a:rPr>
                <a:t>+</a:t>
              </a:r>
              <a:r>
                <a:rPr lang="en-US" altLang="ko-KR" sz="1200" i="1">
                  <a:latin typeface="+mj-lt"/>
                </a:rPr>
                <a:t>d</a:t>
              </a:r>
              <a:r>
                <a:rPr lang="en-US" altLang="ko-KR" sz="1200" i="1">
                  <a:latin typeface="Symbol" panose="05050102010706020507" pitchFamily="18" charset="2"/>
                </a:rPr>
                <a:t>q</a:t>
              </a:r>
              <a:endParaRPr lang="ko-KR" altLang="en-US" sz="1200" baseline="-25000"/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8326241" y="1421642"/>
              <a:ext cx="1688405" cy="1678204"/>
            </a:xfrm>
            <a:prstGeom prst="rect">
              <a:avLst/>
            </a:prstGeom>
            <a:noFill/>
            <a:ln>
              <a:solidFill>
                <a:schemeClr val="tx1">
                  <a:alpha val="4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8484740" y="1697092"/>
              <a:ext cx="1615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endParaRPr lang="ko-KR" altLang="en-US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자유형 93"/>
            <p:cNvSpPr/>
            <p:nvPr/>
          </p:nvSpPr>
          <p:spPr>
            <a:xfrm>
              <a:off x="8192293" y="1833122"/>
              <a:ext cx="266701" cy="44097"/>
            </a:xfrm>
            <a:custGeom>
              <a:avLst/>
              <a:gdLst>
                <a:gd name="connsiteX0" fmla="*/ 0 w 273050"/>
                <a:gd name="connsiteY0" fmla="*/ 60263 h 60263"/>
                <a:gd name="connsiteX1" fmla="*/ 136525 w 273050"/>
                <a:gd name="connsiteY1" fmla="*/ 3113 h 60263"/>
                <a:gd name="connsiteX2" fmla="*/ 273050 w 273050"/>
                <a:gd name="connsiteY2" fmla="*/ 12638 h 60263"/>
                <a:gd name="connsiteX0" fmla="*/ 0 w 265907"/>
                <a:gd name="connsiteY0" fmla="*/ 57368 h 57368"/>
                <a:gd name="connsiteX1" fmla="*/ 136525 w 265907"/>
                <a:gd name="connsiteY1" fmla="*/ 218 h 57368"/>
                <a:gd name="connsiteX2" fmla="*/ 265907 w 265907"/>
                <a:gd name="connsiteY2" fmla="*/ 38318 h 57368"/>
                <a:gd name="connsiteX0" fmla="*/ 0 w 265907"/>
                <a:gd name="connsiteY0" fmla="*/ 45573 h 45573"/>
                <a:gd name="connsiteX1" fmla="*/ 117475 w 265907"/>
                <a:gd name="connsiteY1" fmla="*/ 329 h 45573"/>
                <a:gd name="connsiteX2" fmla="*/ 265907 w 265907"/>
                <a:gd name="connsiteY2" fmla="*/ 26523 h 45573"/>
                <a:gd name="connsiteX0" fmla="*/ 0 w 265907"/>
                <a:gd name="connsiteY0" fmla="*/ 46007 h 46007"/>
                <a:gd name="connsiteX1" fmla="*/ 117475 w 265907"/>
                <a:gd name="connsiteY1" fmla="*/ 763 h 46007"/>
                <a:gd name="connsiteX2" fmla="*/ 265907 w 265907"/>
                <a:gd name="connsiteY2" fmla="*/ 26957 h 46007"/>
                <a:gd name="connsiteX0" fmla="*/ 0 w 289720"/>
                <a:gd name="connsiteY0" fmla="*/ 45306 h 45306"/>
                <a:gd name="connsiteX1" fmla="*/ 117475 w 289720"/>
                <a:gd name="connsiteY1" fmla="*/ 62 h 45306"/>
                <a:gd name="connsiteX2" fmla="*/ 289720 w 289720"/>
                <a:gd name="connsiteY2" fmla="*/ 38162 h 45306"/>
                <a:gd name="connsiteX0" fmla="*/ 0 w 289720"/>
                <a:gd name="connsiteY0" fmla="*/ 45306 h 45306"/>
                <a:gd name="connsiteX1" fmla="*/ 117475 w 289720"/>
                <a:gd name="connsiteY1" fmla="*/ 62 h 45306"/>
                <a:gd name="connsiteX2" fmla="*/ 289720 w 289720"/>
                <a:gd name="connsiteY2" fmla="*/ 38162 h 45306"/>
                <a:gd name="connsiteX0" fmla="*/ 0 w 292101"/>
                <a:gd name="connsiteY0" fmla="*/ 33384 h 38146"/>
                <a:gd name="connsiteX1" fmla="*/ 119856 w 292101"/>
                <a:gd name="connsiteY1" fmla="*/ 46 h 38146"/>
                <a:gd name="connsiteX2" fmla="*/ 292101 w 292101"/>
                <a:gd name="connsiteY2" fmla="*/ 38146 h 38146"/>
                <a:gd name="connsiteX0" fmla="*/ 0 w 292101"/>
                <a:gd name="connsiteY0" fmla="*/ 33417 h 38179"/>
                <a:gd name="connsiteX1" fmla="*/ 119856 w 292101"/>
                <a:gd name="connsiteY1" fmla="*/ 79 h 38179"/>
                <a:gd name="connsiteX2" fmla="*/ 292101 w 292101"/>
                <a:gd name="connsiteY2" fmla="*/ 38179 h 38179"/>
                <a:gd name="connsiteX0" fmla="*/ 0 w 292101"/>
                <a:gd name="connsiteY0" fmla="*/ 33417 h 38179"/>
                <a:gd name="connsiteX1" fmla="*/ 148431 w 292101"/>
                <a:gd name="connsiteY1" fmla="*/ 79 h 38179"/>
                <a:gd name="connsiteX2" fmla="*/ 292101 w 292101"/>
                <a:gd name="connsiteY2" fmla="*/ 38179 h 38179"/>
                <a:gd name="connsiteX0" fmla="*/ 0 w 292101"/>
                <a:gd name="connsiteY0" fmla="*/ 33417 h 38179"/>
                <a:gd name="connsiteX1" fmla="*/ 148431 w 292101"/>
                <a:gd name="connsiteY1" fmla="*/ 79 h 38179"/>
                <a:gd name="connsiteX2" fmla="*/ 292101 w 292101"/>
                <a:gd name="connsiteY2" fmla="*/ 38179 h 38179"/>
                <a:gd name="connsiteX0" fmla="*/ 0 w 266701"/>
                <a:gd name="connsiteY0" fmla="*/ 37036 h 37036"/>
                <a:gd name="connsiteX1" fmla="*/ 148431 w 266701"/>
                <a:gd name="connsiteY1" fmla="*/ 3698 h 37036"/>
                <a:gd name="connsiteX2" fmla="*/ 266701 w 266701"/>
                <a:gd name="connsiteY2" fmla="*/ 16398 h 37036"/>
                <a:gd name="connsiteX0" fmla="*/ 0 w 266701"/>
                <a:gd name="connsiteY0" fmla="*/ 35324 h 35324"/>
                <a:gd name="connsiteX1" fmla="*/ 123031 w 266701"/>
                <a:gd name="connsiteY1" fmla="*/ 5161 h 35324"/>
                <a:gd name="connsiteX2" fmla="*/ 266701 w 266701"/>
                <a:gd name="connsiteY2" fmla="*/ 14686 h 35324"/>
                <a:gd name="connsiteX0" fmla="*/ 0 w 266701"/>
                <a:gd name="connsiteY0" fmla="*/ 44097 h 44097"/>
                <a:gd name="connsiteX1" fmla="*/ 116681 w 266701"/>
                <a:gd name="connsiteY1" fmla="*/ 1234 h 44097"/>
                <a:gd name="connsiteX2" fmla="*/ 266701 w 266701"/>
                <a:gd name="connsiteY2" fmla="*/ 23459 h 4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01" h="44097">
                  <a:moveTo>
                    <a:pt x="0" y="44097"/>
                  </a:moveTo>
                  <a:cubicBezTo>
                    <a:pt x="69320" y="14728"/>
                    <a:pt x="72231" y="4674"/>
                    <a:pt x="116681" y="1234"/>
                  </a:cubicBezTo>
                  <a:cubicBezTo>
                    <a:pt x="161131" y="-2206"/>
                    <a:pt x="202142" y="440"/>
                    <a:pt x="266701" y="23459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자유형 94"/>
            <p:cNvSpPr/>
            <p:nvPr/>
          </p:nvSpPr>
          <p:spPr>
            <a:xfrm rot="3874469">
              <a:off x="8616328" y="2080317"/>
              <a:ext cx="292842" cy="37142"/>
            </a:xfrm>
            <a:custGeom>
              <a:avLst/>
              <a:gdLst>
                <a:gd name="connsiteX0" fmla="*/ 0 w 273050"/>
                <a:gd name="connsiteY0" fmla="*/ 60263 h 60263"/>
                <a:gd name="connsiteX1" fmla="*/ 136525 w 273050"/>
                <a:gd name="connsiteY1" fmla="*/ 3113 h 60263"/>
                <a:gd name="connsiteX2" fmla="*/ 273050 w 273050"/>
                <a:gd name="connsiteY2" fmla="*/ 12638 h 60263"/>
                <a:gd name="connsiteX0" fmla="*/ 0 w 281759"/>
                <a:gd name="connsiteY0" fmla="*/ 50173 h 50173"/>
                <a:gd name="connsiteX1" fmla="*/ 145234 w 281759"/>
                <a:gd name="connsiteY1" fmla="*/ 2436 h 50173"/>
                <a:gd name="connsiteX2" fmla="*/ 281759 w 281759"/>
                <a:gd name="connsiteY2" fmla="*/ 11961 h 50173"/>
                <a:gd name="connsiteX0" fmla="*/ 0 w 281759"/>
                <a:gd name="connsiteY0" fmla="*/ 50173 h 50173"/>
                <a:gd name="connsiteX1" fmla="*/ 145234 w 281759"/>
                <a:gd name="connsiteY1" fmla="*/ 2436 h 50173"/>
                <a:gd name="connsiteX2" fmla="*/ 281759 w 281759"/>
                <a:gd name="connsiteY2" fmla="*/ 11961 h 50173"/>
                <a:gd name="connsiteX0" fmla="*/ 0 w 281759"/>
                <a:gd name="connsiteY0" fmla="*/ 59730 h 59730"/>
                <a:gd name="connsiteX1" fmla="*/ 145022 w 281759"/>
                <a:gd name="connsiteY1" fmla="*/ 1346 h 59730"/>
                <a:gd name="connsiteX2" fmla="*/ 281759 w 281759"/>
                <a:gd name="connsiteY2" fmla="*/ 21518 h 59730"/>
                <a:gd name="connsiteX0" fmla="*/ 0 w 281759"/>
                <a:gd name="connsiteY0" fmla="*/ 58782 h 58782"/>
                <a:gd name="connsiteX1" fmla="*/ 145022 w 281759"/>
                <a:gd name="connsiteY1" fmla="*/ 398 h 58782"/>
                <a:gd name="connsiteX2" fmla="*/ 281759 w 281759"/>
                <a:gd name="connsiteY2" fmla="*/ 20570 h 58782"/>
                <a:gd name="connsiteX0" fmla="*/ 0 w 281759"/>
                <a:gd name="connsiteY0" fmla="*/ 59149 h 59149"/>
                <a:gd name="connsiteX1" fmla="*/ 145022 w 281759"/>
                <a:gd name="connsiteY1" fmla="*/ 765 h 59149"/>
                <a:gd name="connsiteX2" fmla="*/ 281759 w 281759"/>
                <a:gd name="connsiteY2" fmla="*/ 20937 h 59149"/>
                <a:gd name="connsiteX0" fmla="*/ 0 w 289127"/>
                <a:gd name="connsiteY0" fmla="*/ 64378 h 64378"/>
                <a:gd name="connsiteX1" fmla="*/ 152390 w 289127"/>
                <a:gd name="connsiteY1" fmla="*/ 1586 h 64378"/>
                <a:gd name="connsiteX2" fmla="*/ 289127 w 289127"/>
                <a:gd name="connsiteY2" fmla="*/ 21758 h 64378"/>
                <a:gd name="connsiteX0" fmla="*/ 0 w 307694"/>
                <a:gd name="connsiteY0" fmla="*/ 63846 h 63846"/>
                <a:gd name="connsiteX1" fmla="*/ 152390 w 307694"/>
                <a:gd name="connsiteY1" fmla="*/ 1054 h 63846"/>
                <a:gd name="connsiteX2" fmla="*/ 307694 w 307694"/>
                <a:gd name="connsiteY2" fmla="*/ 26538 h 63846"/>
                <a:gd name="connsiteX0" fmla="*/ 0 w 326403"/>
                <a:gd name="connsiteY0" fmla="*/ 50921 h 50921"/>
                <a:gd name="connsiteX1" fmla="*/ 171099 w 326403"/>
                <a:gd name="connsiteY1" fmla="*/ 539 h 50921"/>
                <a:gd name="connsiteX2" fmla="*/ 326403 w 326403"/>
                <a:gd name="connsiteY2" fmla="*/ 26023 h 50921"/>
                <a:gd name="connsiteX0" fmla="*/ 0 w 326403"/>
                <a:gd name="connsiteY0" fmla="*/ 50921 h 50921"/>
                <a:gd name="connsiteX1" fmla="*/ 171099 w 326403"/>
                <a:gd name="connsiteY1" fmla="*/ 539 h 50921"/>
                <a:gd name="connsiteX2" fmla="*/ 326403 w 326403"/>
                <a:gd name="connsiteY2" fmla="*/ 26023 h 50921"/>
                <a:gd name="connsiteX0" fmla="*/ 0 w 301302"/>
                <a:gd name="connsiteY0" fmla="*/ 34234 h 34234"/>
                <a:gd name="connsiteX1" fmla="*/ 145998 w 301302"/>
                <a:gd name="connsiteY1" fmla="*/ 7074 h 34234"/>
                <a:gd name="connsiteX2" fmla="*/ 301302 w 301302"/>
                <a:gd name="connsiteY2" fmla="*/ 32558 h 34234"/>
                <a:gd name="connsiteX0" fmla="*/ 0 w 301302"/>
                <a:gd name="connsiteY0" fmla="*/ 35080 h 35080"/>
                <a:gd name="connsiteX1" fmla="*/ 145998 w 301302"/>
                <a:gd name="connsiteY1" fmla="*/ 7920 h 35080"/>
                <a:gd name="connsiteX2" fmla="*/ 301302 w 301302"/>
                <a:gd name="connsiteY2" fmla="*/ 33404 h 35080"/>
                <a:gd name="connsiteX0" fmla="*/ 0 w 301302"/>
                <a:gd name="connsiteY0" fmla="*/ 43435 h 43435"/>
                <a:gd name="connsiteX1" fmla="*/ 152814 w 301302"/>
                <a:gd name="connsiteY1" fmla="*/ 1937 h 43435"/>
                <a:gd name="connsiteX2" fmla="*/ 301302 w 301302"/>
                <a:gd name="connsiteY2" fmla="*/ 41759 h 43435"/>
                <a:gd name="connsiteX0" fmla="*/ 0 w 301302"/>
                <a:gd name="connsiteY0" fmla="*/ 45246 h 45246"/>
                <a:gd name="connsiteX1" fmla="*/ 152814 w 301302"/>
                <a:gd name="connsiteY1" fmla="*/ 3748 h 45246"/>
                <a:gd name="connsiteX2" fmla="*/ 301302 w 301302"/>
                <a:gd name="connsiteY2" fmla="*/ 43570 h 45246"/>
                <a:gd name="connsiteX0" fmla="*/ 0 w 301302"/>
                <a:gd name="connsiteY0" fmla="*/ 51974 h 51974"/>
                <a:gd name="connsiteX1" fmla="*/ 156903 w 301302"/>
                <a:gd name="connsiteY1" fmla="*/ 1874 h 51974"/>
                <a:gd name="connsiteX2" fmla="*/ 301302 w 301302"/>
                <a:gd name="connsiteY2" fmla="*/ 50298 h 51974"/>
                <a:gd name="connsiteX0" fmla="*/ 0 w 301302"/>
                <a:gd name="connsiteY0" fmla="*/ 51544 h 51544"/>
                <a:gd name="connsiteX1" fmla="*/ 156903 w 301302"/>
                <a:gd name="connsiteY1" fmla="*/ 1444 h 51544"/>
                <a:gd name="connsiteX2" fmla="*/ 301302 w 301302"/>
                <a:gd name="connsiteY2" fmla="*/ 49868 h 51544"/>
                <a:gd name="connsiteX0" fmla="*/ 0 w 301302"/>
                <a:gd name="connsiteY0" fmla="*/ 30949 h 30949"/>
                <a:gd name="connsiteX1" fmla="*/ 141767 w 301302"/>
                <a:gd name="connsiteY1" fmla="*/ 5294 h 30949"/>
                <a:gd name="connsiteX2" fmla="*/ 301302 w 301302"/>
                <a:gd name="connsiteY2" fmla="*/ 29273 h 30949"/>
                <a:gd name="connsiteX0" fmla="*/ 0 w 301302"/>
                <a:gd name="connsiteY0" fmla="*/ 45692 h 45692"/>
                <a:gd name="connsiteX1" fmla="*/ 139980 w 301302"/>
                <a:gd name="connsiteY1" fmla="*/ 1610 h 45692"/>
                <a:gd name="connsiteX2" fmla="*/ 301302 w 301302"/>
                <a:gd name="connsiteY2" fmla="*/ 44016 h 45692"/>
                <a:gd name="connsiteX0" fmla="*/ 0 w 301302"/>
                <a:gd name="connsiteY0" fmla="*/ 45142 h 45142"/>
                <a:gd name="connsiteX1" fmla="*/ 139980 w 301302"/>
                <a:gd name="connsiteY1" fmla="*/ 1060 h 45142"/>
                <a:gd name="connsiteX2" fmla="*/ 301302 w 301302"/>
                <a:gd name="connsiteY2" fmla="*/ 43466 h 45142"/>
                <a:gd name="connsiteX0" fmla="*/ 0 w 301302"/>
                <a:gd name="connsiteY0" fmla="*/ 44752 h 44752"/>
                <a:gd name="connsiteX1" fmla="*/ 139980 w 301302"/>
                <a:gd name="connsiteY1" fmla="*/ 670 h 44752"/>
                <a:gd name="connsiteX2" fmla="*/ 301302 w 301302"/>
                <a:gd name="connsiteY2" fmla="*/ 43076 h 44752"/>
                <a:gd name="connsiteX0" fmla="*/ 0 w 275919"/>
                <a:gd name="connsiteY0" fmla="*/ 39898 h 47248"/>
                <a:gd name="connsiteX1" fmla="*/ 114597 w 275919"/>
                <a:gd name="connsiteY1" fmla="*/ 4842 h 47248"/>
                <a:gd name="connsiteX2" fmla="*/ 275919 w 275919"/>
                <a:gd name="connsiteY2" fmla="*/ 47248 h 47248"/>
                <a:gd name="connsiteX0" fmla="*/ 0 w 275919"/>
                <a:gd name="connsiteY0" fmla="*/ 39344 h 46694"/>
                <a:gd name="connsiteX1" fmla="*/ 138759 w 275919"/>
                <a:gd name="connsiteY1" fmla="*/ 5228 h 46694"/>
                <a:gd name="connsiteX2" fmla="*/ 275919 w 275919"/>
                <a:gd name="connsiteY2" fmla="*/ 46694 h 46694"/>
                <a:gd name="connsiteX0" fmla="*/ 0 w 275919"/>
                <a:gd name="connsiteY0" fmla="*/ 44980 h 52330"/>
                <a:gd name="connsiteX1" fmla="*/ 142850 w 275919"/>
                <a:gd name="connsiteY1" fmla="*/ 2262 h 52330"/>
                <a:gd name="connsiteX2" fmla="*/ 275919 w 275919"/>
                <a:gd name="connsiteY2" fmla="*/ 52330 h 52330"/>
                <a:gd name="connsiteX0" fmla="*/ 0 w 275919"/>
                <a:gd name="connsiteY0" fmla="*/ 43738 h 51088"/>
                <a:gd name="connsiteX1" fmla="*/ 142850 w 275919"/>
                <a:gd name="connsiteY1" fmla="*/ 1020 h 51088"/>
                <a:gd name="connsiteX2" fmla="*/ 275919 w 275919"/>
                <a:gd name="connsiteY2" fmla="*/ 51088 h 51088"/>
                <a:gd name="connsiteX0" fmla="*/ 0 w 275919"/>
                <a:gd name="connsiteY0" fmla="*/ 34686 h 42036"/>
                <a:gd name="connsiteX1" fmla="*/ 141628 w 275919"/>
                <a:gd name="connsiteY1" fmla="*/ 1934 h 42036"/>
                <a:gd name="connsiteX2" fmla="*/ 275919 w 275919"/>
                <a:gd name="connsiteY2" fmla="*/ 42036 h 42036"/>
                <a:gd name="connsiteX0" fmla="*/ 0 w 275919"/>
                <a:gd name="connsiteY0" fmla="*/ 38013 h 45363"/>
                <a:gd name="connsiteX1" fmla="*/ 141628 w 275919"/>
                <a:gd name="connsiteY1" fmla="*/ 5261 h 45363"/>
                <a:gd name="connsiteX2" fmla="*/ 275919 w 275919"/>
                <a:gd name="connsiteY2" fmla="*/ 45363 h 45363"/>
                <a:gd name="connsiteX0" fmla="*/ 0 w 275919"/>
                <a:gd name="connsiteY0" fmla="*/ 38013 h 45363"/>
                <a:gd name="connsiteX1" fmla="*/ 141628 w 275919"/>
                <a:gd name="connsiteY1" fmla="*/ 5261 h 45363"/>
                <a:gd name="connsiteX2" fmla="*/ 275919 w 275919"/>
                <a:gd name="connsiteY2" fmla="*/ 45363 h 45363"/>
                <a:gd name="connsiteX0" fmla="*/ 0 w 275919"/>
                <a:gd name="connsiteY0" fmla="*/ 46558 h 53908"/>
                <a:gd name="connsiteX1" fmla="*/ 144213 w 275919"/>
                <a:gd name="connsiteY1" fmla="*/ 973 h 53908"/>
                <a:gd name="connsiteX2" fmla="*/ 275919 w 275919"/>
                <a:gd name="connsiteY2" fmla="*/ 53908 h 53908"/>
                <a:gd name="connsiteX0" fmla="*/ 0 w 275919"/>
                <a:gd name="connsiteY0" fmla="*/ 45984 h 53334"/>
                <a:gd name="connsiteX1" fmla="*/ 144213 w 275919"/>
                <a:gd name="connsiteY1" fmla="*/ 399 h 53334"/>
                <a:gd name="connsiteX2" fmla="*/ 275919 w 275919"/>
                <a:gd name="connsiteY2" fmla="*/ 53334 h 53334"/>
                <a:gd name="connsiteX0" fmla="*/ 0 w 275919"/>
                <a:gd name="connsiteY0" fmla="*/ 54046 h 61396"/>
                <a:gd name="connsiteX1" fmla="*/ 141205 w 275919"/>
                <a:gd name="connsiteY1" fmla="*/ 0 h 61396"/>
                <a:gd name="connsiteX2" fmla="*/ 275919 w 275919"/>
                <a:gd name="connsiteY2" fmla="*/ 61396 h 61396"/>
                <a:gd name="connsiteX0" fmla="*/ 0 w 275919"/>
                <a:gd name="connsiteY0" fmla="*/ 56741 h 64091"/>
                <a:gd name="connsiteX1" fmla="*/ 141205 w 275919"/>
                <a:gd name="connsiteY1" fmla="*/ 2695 h 64091"/>
                <a:gd name="connsiteX2" fmla="*/ 275919 w 275919"/>
                <a:gd name="connsiteY2" fmla="*/ 64091 h 64091"/>
                <a:gd name="connsiteX0" fmla="*/ 0 w 292842"/>
                <a:gd name="connsiteY0" fmla="*/ 60069 h 61402"/>
                <a:gd name="connsiteX1" fmla="*/ 158128 w 292842"/>
                <a:gd name="connsiteY1" fmla="*/ 6 h 61402"/>
                <a:gd name="connsiteX2" fmla="*/ 292842 w 292842"/>
                <a:gd name="connsiteY2" fmla="*/ 61402 h 61402"/>
                <a:gd name="connsiteX0" fmla="*/ 0 w 292842"/>
                <a:gd name="connsiteY0" fmla="*/ 60065 h 61398"/>
                <a:gd name="connsiteX1" fmla="*/ 158128 w 292842"/>
                <a:gd name="connsiteY1" fmla="*/ 2 h 61398"/>
                <a:gd name="connsiteX2" fmla="*/ 292842 w 292842"/>
                <a:gd name="connsiteY2" fmla="*/ 61398 h 61398"/>
                <a:gd name="connsiteX0" fmla="*/ 0 w 292842"/>
                <a:gd name="connsiteY0" fmla="*/ 44365 h 45698"/>
                <a:gd name="connsiteX1" fmla="*/ 154180 w 292842"/>
                <a:gd name="connsiteY1" fmla="*/ 3 h 45698"/>
                <a:gd name="connsiteX2" fmla="*/ 292842 w 292842"/>
                <a:gd name="connsiteY2" fmla="*/ 45698 h 45698"/>
                <a:gd name="connsiteX0" fmla="*/ 0 w 292842"/>
                <a:gd name="connsiteY0" fmla="*/ 35768 h 37101"/>
                <a:gd name="connsiteX1" fmla="*/ 150090 w 292842"/>
                <a:gd name="connsiteY1" fmla="*/ 9 h 37101"/>
                <a:gd name="connsiteX2" fmla="*/ 292842 w 292842"/>
                <a:gd name="connsiteY2" fmla="*/ 37101 h 37101"/>
                <a:gd name="connsiteX0" fmla="*/ 0 w 292842"/>
                <a:gd name="connsiteY0" fmla="*/ 35809 h 37142"/>
                <a:gd name="connsiteX1" fmla="*/ 150090 w 292842"/>
                <a:gd name="connsiteY1" fmla="*/ 50 h 37142"/>
                <a:gd name="connsiteX2" fmla="*/ 292842 w 292842"/>
                <a:gd name="connsiteY2" fmla="*/ 37142 h 37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2842" h="37142">
                  <a:moveTo>
                    <a:pt x="0" y="35809"/>
                  </a:moveTo>
                  <a:cubicBezTo>
                    <a:pt x="66660" y="3681"/>
                    <a:pt x="111248" y="1050"/>
                    <a:pt x="150090" y="50"/>
                  </a:cubicBezTo>
                  <a:cubicBezTo>
                    <a:pt x="188932" y="-950"/>
                    <a:pt x="237085" y="12993"/>
                    <a:pt x="292842" y="37142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오른쪽 화살표 99"/>
            <p:cNvSpPr/>
            <p:nvPr/>
          </p:nvSpPr>
          <p:spPr>
            <a:xfrm rot="8062463">
              <a:off x="8181969" y="3083996"/>
              <a:ext cx="144000" cy="144000"/>
            </a:xfrm>
            <a:prstGeom prst="rightArrow">
              <a:avLst>
                <a:gd name="adj1" fmla="val 32858"/>
                <a:gd name="adj2" fmla="val 500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오른쪽 화살표 100"/>
            <p:cNvSpPr/>
            <p:nvPr/>
          </p:nvSpPr>
          <p:spPr>
            <a:xfrm rot="13537537" flipH="1">
              <a:off x="10007145" y="3083996"/>
              <a:ext cx="144000" cy="144000"/>
            </a:xfrm>
            <a:prstGeom prst="rightArrow">
              <a:avLst>
                <a:gd name="adj1" fmla="val 32858"/>
                <a:gd name="adj2" fmla="val 500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오른쪽 화살표 101"/>
            <p:cNvSpPr/>
            <p:nvPr/>
          </p:nvSpPr>
          <p:spPr>
            <a:xfrm rot="8062463" flipH="1" flipV="1">
              <a:off x="10002382" y="1273109"/>
              <a:ext cx="144000" cy="144000"/>
            </a:xfrm>
            <a:prstGeom prst="rightArrow">
              <a:avLst>
                <a:gd name="adj1" fmla="val 32858"/>
                <a:gd name="adj2" fmla="val 500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오른쪽 화살표 102"/>
            <p:cNvSpPr/>
            <p:nvPr/>
          </p:nvSpPr>
          <p:spPr>
            <a:xfrm rot="13537537" flipV="1">
              <a:off x="8201018" y="1282150"/>
              <a:ext cx="144000" cy="144000"/>
            </a:xfrm>
            <a:prstGeom prst="rightArrow">
              <a:avLst>
                <a:gd name="adj1" fmla="val 32858"/>
                <a:gd name="adj2" fmla="val 50001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7832277" y="1143264"/>
              <a:ext cx="4147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/>
                <a:t>dx</a:t>
              </a:r>
              <a:endParaRPr lang="ko-KR" altLang="en-US" i="1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8070402" y="867039"/>
              <a:ext cx="4147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i="1"/>
                <a:t>dy</a:t>
              </a:r>
              <a:endParaRPr lang="ko-KR" altLang="en-US" i="1"/>
            </a:p>
          </p:txBody>
        </p:sp>
      </p:grpSp>
      <p:sp>
        <p:nvSpPr>
          <p:cNvPr id="107" name="직사각형 106"/>
          <p:cNvSpPr/>
          <p:nvPr/>
        </p:nvSpPr>
        <p:spPr>
          <a:xfrm>
            <a:off x="10272464" y="2874422"/>
            <a:ext cx="176041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/>
              <a:t>(ideal, rigid theory)</a:t>
            </a:r>
            <a:endParaRPr lang="ko-KR" altLang="en-US" sz="1600"/>
          </a:p>
        </p:txBody>
      </p:sp>
      <p:pic>
        <p:nvPicPr>
          <p:cNvPr id="3072" name="그림 3071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V="1">
            <a:off x="616944" y="1148106"/>
            <a:ext cx="1637135" cy="2166476"/>
          </a:xfrm>
          <a:prstGeom prst="rect">
            <a:avLst/>
          </a:prstGeom>
        </p:spPr>
      </p:pic>
      <p:pic>
        <p:nvPicPr>
          <p:cNvPr id="3073" name="그림 3072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8566" y="1548940"/>
            <a:ext cx="2310619" cy="1510356"/>
          </a:xfrm>
          <a:prstGeom prst="rect">
            <a:avLst/>
          </a:prstGeom>
        </p:spPr>
      </p:pic>
      <p:sp>
        <p:nvSpPr>
          <p:cNvPr id="3074" name="TextBox 3073"/>
          <p:cNvSpPr txBox="1"/>
          <p:nvPr/>
        </p:nvSpPr>
        <p:spPr>
          <a:xfrm>
            <a:off x="214382" y="3057684"/>
            <a:ext cx="17107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Re-entrant type, honeycomb</a:t>
            </a:r>
            <a:endParaRPr lang="ko-KR" altLang="en-US" sz="1400" dirty="0"/>
          </a:p>
        </p:txBody>
      </p:sp>
      <p:sp>
        <p:nvSpPr>
          <p:cNvPr id="132" name="TextBox 131"/>
          <p:cNvSpPr txBox="1"/>
          <p:nvPr/>
        </p:nvSpPr>
        <p:spPr>
          <a:xfrm>
            <a:off x="3086671" y="3052454"/>
            <a:ext cx="1582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/>
              <a:t>Chiral type,</a:t>
            </a:r>
            <a:br>
              <a:rPr lang="en-US" altLang="ko-KR" sz="1400"/>
            </a:br>
            <a:r>
              <a:rPr lang="en-US" altLang="ko-KR" sz="1400"/>
              <a:t>tetrachiral</a:t>
            </a:r>
            <a:endParaRPr lang="ko-KR" altLang="en-US" sz="1400"/>
          </a:p>
        </p:txBody>
      </p:sp>
      <p:sp>
        <p:nvSpPr>
          <p:cNvPr id="133" name="TextBox 132"/>
          <p:cNvSpPr txBox="1"/>
          <p:nvPr/>
        </p:nvSpPr>
        <p:spPr>
          <a:xfrm>
            <a:off x="6395067" y="3235985"/>
            <a:ext cx="29189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Rotating unit type, square</a:t>
            </a:r>
            <a:endParaRPr lang="ko-KR" altLang="en-US" sz="1600" dirty="0"/>
          </a:p>
        </p:txBody>
      </p:sp>
      <p:cxnSp>
        <p:nvCxnSpPr>
          <p:cNvPr id="134" name="직선 연결선 133"/>
          <p:cNvCxnSpPr/>
          <p:nvPr/>
        </p:nvCxnSpPr>
        <p:spPr>
          <a:xfrm rot="16200000">
            <a:off x="6098475" y="-2258959"/>
            <a:ext cx="0" cy="1209600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5" name="TextBox 3074"/>
          <p:cNvSpPr txBox="1"/>
          <p:nvPr/>
        </p:nvSpPr>
        <p:spPr>
          <a:xfrm>
            <a:off x="3778100" y="1106113"/>
            <a:ext cx="1309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bg1">
                    <a:lumMod val="50000"/>
                  </a:schemeClr>
                </a:solidFill>
              </a:rPr>
              <a:t>from wikimedia</a:t>
            </a:r>
            <a:endParaRPr lang="ko-KR" alt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92876" y="3893744"/>
            <a:ext cx="5931116" cy="36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kern="10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Mechanical characteristics of rotating square unit</a:t>
            </a:r>
            <a:endParaRPr lang="ko-KR" altLang="ko-KR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077" name="그림 3076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03726" y="4543643"/>
            <a:ext cx="4083119" cy="1810158"/>
          </a:xfrm>
          <a:prstGeom prst="rect">
            <a:avLst/>
          </a:prstGeom>
        </p:spPr>
      </p:pic>
      <p:pic>
        <p:nvPicPr>
          <p:cNvPr id="3079" name="그림 3078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3825" y="4517023"/>
            <a:ext cx="1822233" cy="1807577"/>
          </a:xfrm>
          <a:prstGeom prst="rect">
            <a:avLst/>
          </a:prstGeom>
        </p:spPr>
      </p:pic>
      <p:sp>
        <p:nvSpPr>
          <p:cNvPr id="3080" name="오른쪽 화살표 3079"/>
          <p:cNvSpPr/>
          <p:nvPr/>
        </p:nvSpPr>
        <p:spPr>
          <a:xfrm>
            <a:off x="5115397" y="5260466"/>
            <a:ext cx="418743" cy="347953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81" name="직사각형 3080"/>
          <p:cNvSpPr/>
          <p:nvPr/>
        </p:nvSpPr>
        <p:spPr>
          <a:xfrm>
            <a:off x="5602188" y="6444264"/>
            <a:ext cx="239518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 i="1">
                <a:solidFill>
                  <a:schemeClr val="bg1">
                    <a:lumMod val="50000"/>
                  </a:schemeClr>
                </a:solidFill>
              </a:rPr>
              <a:t>Adv. Funct. Mater.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b="1">
                <a:solidFill>
                  <a:schemeClr val="bg1">
                    <a:lumMod val="50000"/>
                  </a:schemeClr>
                </a:solidFill>
              </a:rPr>
              <a:t>2022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ko-KR" sz="1000" i="1">
                <a:solidFill>
                  <a:schemeClr val="bg1">
                    <a:lumMod val="50000"/>
                  </a:schemeClr>
                </a:solidFill>
              </a:rPr>
              <a:t>32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 (22), 2113299.</a:t>
            </a:r>
            <a:endParaRPr lang="ko-KR" altLang="en-US" sz="10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82" name="직사각형 3081"/>
          <p:cNvSpPr/>
          <p:nvPr/>
        </p:nvSpPr>
        <p:spPr>
          <a:xfrm>
            <a:off x="8762749" y="6439303"/>
            <a:ext cx="221977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i="1">
                <a:solidFill>
                  <a:schemeClr val="bg1">
                    <a:lumMod val="50000"/>
                  </a:schemeClr>
                </a:solidFill>
              </a:rPr>
              <a:t>Nano Energy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b="1">
                <a:solidFill>
                  <a:schemeClr val="bg1">
                    <a:lumMod val="50000"/>
                  </a:schemeClr>
                </a:solidFill>
              </a:rPr>
              <a:t>2021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ko-KR" sz="1000" i="1">
                <a:solidFill>
                  <a:schemeClr val="bg1">
                    <a:lumMod val="50000"/>
                  </a:schemeClr>
                </a:solidFill>
              </a:rPr>
              <a:t>89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 (Part B), 106447.</a:t>
            </a:r>
            <a:endParaRPr lang="ko-KR" altLang="en-US" sz="10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1108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2">
            <a:extLst>
              <a:ext uri="{FF2B5EF4-FFF2-40B4-BE49-F238E27FC236}">
                <a16:creationId xmlns:a16="http://schemas.microsoft.com/office/drawing/2014/main" id="{3F866B40-5DA7-42C8-8063-56719DD148A7}"/>
              </a:ext>
            </a:extLst>
          </p:cNvPr>
          <p:cNvSpPr txBox="1">
            <a:spLocks/>
          </p:cNvSpPr>
          <p:nvPr/>
        </p:nvSpPr>
        <p:spPr>
          <a:xfrm>
            <a:off x="721386" y="190924"/>
            <a:ext cx="11294449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dirty="0"/>
              <a:t>Recent research &amp; limitations</a:t>
            </a:r>
            <a:endParaRPr lang="ko-KR" altLang="en-US" sz="27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6583819" y="5691832"/>
            <a:ext cx="504056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5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Promising, but distortion-free behavior is limited to the centers of the rotating squares — the rest of the substrate is still distorted.</a:t>
            </a:r>
            <a:endParaRPr lang="ko-KR" altLang="ko-KR" sz="15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172481" y="5589240"/>
            <a:ext cx="6211551" cy="887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5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Even an ideal ν = 0 does not preserve the aspect ratio — the stretched axis still elongates the image by (1+ε); only ν = −1 preserves it.</a:t>
            </a:r>
          </a:p>
          <a:p>
            <a:pPr marL="342900" lvl="0" indent="-34290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5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In practice the Poisson's ratio is not exactly zero, and local non-uniformity induces additional image distortion inside the substrate.</a:t>
            </a:r>
            <a:endParaRPr lang="ko-KR" altLang="ko-KR" sz="15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294190-1C7B-4C7E-B646-DA117197D64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4032" y="1628800"/>
            <a:ext cx="5343699" cy="34347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15F3712-76BC-4A5D-A36A-CDA3FDAB3DB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7448" y="1648088"/>
            <a:ext cx="4508838" cy="351954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0C46C68-3416-413F-A4F2-466A1797AB33}"/>
              </a:ext>
            </a:extLst>
          </p:cNvPr>
          <p:cNvSpPr/>
          <p:nvPr/>
        </p:nvSpPr>
        <p:spPr>
          <a:xfrm>
            <a:off x="9696400" y="5203069"/>
            <a:ext cx="204735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ko-KR" sz="1100" i="1" dirty="0">
                <a:solidFill>
                  <a:srgbClr val="222222"/>
                </a:solidFill>
              </a:rPr>
              <a:t>Nat Commun</a:t>
            </a:r>
            <a:r>
              <a:rPr lang="fr-FR" altLang="ko-KR" sz="1100" dirty="0">
                <a:solidFill>
                  <a:srgbClr val="222222"/>
                </a:solidFill>
              </a:rPr>
              <a:t> </a:t>
            </a:r>
            <a:r>
              <a:rPr lang="fr-FR" altLang="ko-KR" sz="1100" b="1" dirty="0">
                <a:solidFill>
                  <a:srgbClr val="222222"/>
                </a:solidFill>
              </a:rPr>
              <a:t>15</a:t>
            </a:r>
            <a:r>
              <a:rPr lang="fr-FR" altLang="ko-KR" sz="1100" dirty="0">
                <a:solidFill>
                  <a:srgbClr val="222222"/>
                </a:solidFill>
              </a:rPr>
              <a:t>, 7146 (2024)</a:t>
            </a:r>
            <a:endParaRPr lang="ko-KR" altLang="en-US" sz="11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DE6A7AF-A020-422A-8444-32CE7749508E}"/>
              </a:ext>
            </a:extLst>
          </p:cNvPr>
          <p:cNvSpPr/>
          <p:nvPr/>
        </p:nvSpPr>
        <p:spPr>
          <a:xfrm>
            <a:off x="2999656" y="5203069"/>
            <a:ext cx="254589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i="1" dirty="0" err="1">
                <a:solidFill>
                  <a:srgbClr val="222222"/>
                </a:solidFill>
              </a:rPr>
              <a:t>Adv</a:t>
            </a:r>
            <a:r>
              <a:rPr lang="ko-KR" altLang="en-US" sz="1100" i="1" dirty="0">
                <a:solidFill>
                  <a:srgbClr val="222222"/>
                </a:solidFill>
              </a:rPr>
              <a:t>. </a:t>
            </a:r>
            <a:r>
              <a:rPr lang="ko-KR" altLang="en-US" sz="1100" i="1" dirty="0" err="1">
                <a:solidFill>
                  <a:srgbClr val="222222"/>
                </a:solidFill>
              </a:rPr>
              <a:t>Funct</a:t>
            </a:r>
            <a:r>
              <a:rPr lang="ko-KR" altLang="en-US" sz="1100" i="1" dirty="0">
                <a:solidFill>
                  <a:srgbClr val="222222"/>
                </a:solidFill>
              </a:rPr>
              <a:t>. </a:t>
            </a:r>
            <a:r>
              <a:rPr lang="ko-KR" altLang="en-US" sz="1100" i="1" dirty="0" err="1">
                <a:solidFill>
                  <a:srgbClr val="222222"/>
                </a:solidFill>
              </a:rPr>
              <a:t>Mater</a:t>
            </a:r>
            <a:r>
              <a:rPr lang="ko-KR" altLang="en-US" sz="1100" i="1" dirty="0">
                <a:solidFill>
                  <a:srgbClr val="222222"/>
                </a:solidFill>
              </a:rPr>
              <a:t>.</a:t>
            </a:r>
            <a:r>
              <a:rPr lang="ko-KR" altLang="en-US" sz="1100" dirty="0">
                <a:solidFill>
                  <a:srgbClr val="222222"/>
                </a:solidFill>
              </a:rPr>
              <a:t> 2024, </a:t>
            </a:r>
            <a:r>
              <a:rPr lang="ko-KR" altLang="en-US" sz="1100" b="1" dirty="0">
                <a:solidFill>
                  <a:srgbClr val="222222"/>
                </a:solidFill>
              </a:rPr>
              <a:t>34</a:t>
            </a:r>
            <a:r>
              <a:rPr lang="ko-KR" altLang="en-US" sz="1100" dirty="0">
                <a:solidFill>
                  <a:srgbClr val="222222"/>
                </a:solidFill>
              </a:rPr>
              <a:t>, 2406725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E008B41-6BAA-4532-9364-CDB558FD29F6}"/>
              </a:ext>
            </a:extLst>
          </p:cNvPr>
          <p:cNvSpPr/>
          <p:nvPr/>
        </p:nvSpPr>
        <p:spPr>
          <a:xfrm>
            <a:off x="6074432" y="1144604"/>
            <a:ext cx="5575425" cy="336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6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Auxetic substrate with Poisson’s ratio of -1</a:t>
            </a:r>
            <a:endParaRPr lang="ko-KR" altLang="ko-KR" sz="16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B31BD66-1FE2-4309-8F02-57D3DA834E24}"/>
              </a:ext>
            </a:extLst>
          </p:cNvPr>
          <p:cNvSpPr/>
          <p:nvPr/>
        </p:nvSpPr>
        <p:spPr>
          <a:xfrm>
            <a:off x="388506" y="1144604"/>
            <a:ext cx="5575425" cy="336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600" kern="100" dirty="0">
                <a:ea typeface="맑은 고딕" panose="020B0503020000020004" pitchFamily="50" charset="-127"/>
                <a:cs typeface="Arial" panose="020B0604020202020204" pitchFamily="34" charset="0"/>
              </a:rPr>
              <a:t>Bidirectional auxetic substrate with Poisson’s ratio of 0</a:t>
            </a:r>
            <a:endParaRPr lang="ko-KR" altLang="ko-KR" sz="1600" kern="100" dirty="0"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654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042B83E0-6D85-469C-B72F-1C2E14182489}"/>
              </a:ext>
            </a:extLst>
          </p:cNvPr>
          <p:cNvSpPr txBox="1">
            <a:spLocks/>
          </p:cNvSpPr>
          <p:nvPr/>
        </p:nvSpPr>
        <p:spPr>
          <a:xfrm>
            <a:off x="663270" y="167834"/>
            <a:ext cx="11074228" cy="61838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/>
              <a:t>Limitations of rotating square based auxetic structures</a:t>
            </a:r>
            <a:endParaRPr lang="ko-KR" altLang="en-US" sz="2800" dirty="0"/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6796" y="1773932"/>
            <a:ext cx="3815165" cy="2066466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015263" y="2197098"/>
            <a:ext cx="335836" cy="1590346"/>
          </a:xfrm>
          <a:prstGeom prst="rect">
            <a:avLst/>
          </a:prstGeom>
          <a:noFill/>
        </p:spPr>
      </p:pic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90678" y="2179256"/>
            <a:ext cx="3542125" cy="1594485"/>
          </a:xfrm>
          <a:prstGeom prst="rect">
            <a:avLst/>
          </a:prstGeom>
          <a:noFill/>
        </p:spPr>
      </p:pic>
      <p:sp>
        <p:nvSpPr>
          <p:cNvPr id="73" name="TextBox 72"/>
          <p:cNvSpPr txBox="1"/>
          <p:nvPr/>
        </p:nvSpPr>
        <p:spPr>
          <a:xfrm>
            <a:off x="4578631" y="1631512"/>
            <a:ext cx="104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Von Mises Stress (N/m</a:t>
            </a:r>
            <a:r>
              <a:rPr lang="en-US" altLang="ko-KR" sz="1200" baseline="30000" dirty="0"/>
              <a:t>2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5" name="직사각형 74"/>
          <p:cNvSpPr/>
          <p:nvPr/>
        </p:nvSpPr>
        <p:spPr>
          <a:xfrm>
            <a:off x="2352782" y="3758843"/>
            <a:ext cx="203955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 i="1" dirty="0">
                <a:solidFill>
                  <a:schemeClr val="bg1">
                    <a:lumMod val="50000"/>
                  </a:schemeClr>
                </a:solidFill>
              </a:rPr>
              <a:t>Polymers (Basel).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</a:rPr>
              <a:t>2019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ko-KR" sz="1000" i="1" dirty="0">
                <a:solidFill>
                  <a:schemeClr val="bg1">
                    <a:lumMod val="50000"/>
                  </a:schemeClr>
                </a:solidFill>
              </a:rPr>
              <a:t>11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(6).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296959" y="3748568"/>
            <a:ext cx="24360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i="1" dirty="0">
                <a:solidFill>
                  <a:schemeClr val="bg1">
                    <a:lumMod val="50000"/>
                  </a:schemeClr>
                </a:solidFill>
              </a:rPr>
              <a:t>Nano Energy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ko-KR" sz="1000" b="1" dirty="0">
                <a:solidFill>
                  <a:schemeClr val="bg1">
                    <a:lumMod val="50000"/>
                  </a:schemeClr>
                </a:solidFill>
              </a:rPr>
              <a:t>2021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ko-KR" sz="1000" i="1" dirty="0">
                <a:solidFill>
                  <a:schemeClr val="bg1">
                    <a:lumMod val="50000"/>
                  </a:schemeClr>
                </a:solidFill>
              </a:rPr>
              <a:t>89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(Part B), 106447.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타원 77"/>
          <p:cNvSpPr/>
          <p:nvPr/>
        </p:nvSpPr>
        <p:spPr>
          <a:xfrm>
            <a:off x="7968447" y="2488622"/>
            <a:ext cx="836840" cy="81391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/>
          <p:cNvCxnSpPr>
            <a:stCxn id="78" idx="0"/>
          </p:cNvCxnSpPr>
          <p:nvPr/>
        </p:nvCxnSpPr>
        <p:spPr>
          <a:xfrm>
            <a:off x="8386867" y="2488622"/>
            <a:ext cx="720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098334" y="1074027"/>
            <a:ext cx="2903541" cy="59511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82" name="TextBox 81"/>
          <p:cNvSpPr txBox="1"/>
          <p:nvPr/>
        </p:nvSpPr>
        <p:spPr>
          <a:xfrm>
            <a:off x="7585297" y="1892029"/>
            <a:ext cx="1202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: Detector area</a:t>
            </a:r>
            <a:endParaRPr lang="ko-KR" altLang="en-US" sz="1200"/>
          </a:p>
        </p:txBody>
      </p:sp>
      <p:sp>
        <p:nvSpPr>
          <p:cNvPr id="83" name="타원 82"/>
          <p:cNvSpPr/>
          <p:nvPr/>
        </p:nvSpPr>
        <p:spPr>
          <a:xfrm>
            <a:off x="7390605" y="1934381"/>
            <a:ext cx="216000" cy="2160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114005" y="878874"/>
            <a:ext cx="5575425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20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Uniaxial strain applied to rotating square unit</a:t>
            </a:r>
            <a:endParaRPr lang="ko-KR" altLang="ko-KR" sz="20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9" t="819" r="904" b="695"/>
          <a:stretch/>
        </p:blipFill>
        <p:spPr>
          <a:xfrm>
            <a:off x="9246778" y="1573766"/>
            <a:ext cx="2300716" cy="2293739"/>
          </a:xfrm>
          <a:prstGeom prst="rect">
            <a:avLst/>
          </a:prstGeom>
        </p:spPr>
      </p:pic>
      <p:cxnSp>
        <p:nvCxnSpPr>
          <p:cNvPr id="94" name="직선 화살표 연결선 93"/>
          <p:cNvCxnSpPr/>
          <p:nvPr/>
        </p:nvCxnSpPr>
        <p:spPr>
          <a:xfrm>
            <a:off x="11335010" y="2261100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/>
          <p:nvPr/>
        </p:nvCxnSpPr>
        <p:spPr>
          <a:xfrm>
            <a:off x="11335010" y="2433752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/>
          <p:nvPr/>
        </p:nvCxnSpPr>
        <p:spPr>
          <a:xfrm>
            <a:off x="11335010" y="3747565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/>
          <p:cNvCxnSpPr/>
          <p:nvPr/>
        </p:nvCxnSpPr>
        <p:spPr>
          <a:xfrm flipH="1">
            <a:off x="10811172" y="2990965"/>
            <a:ext cx="18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/>
          <p:nvPr/>
        </p:nvCxnSpPr>
        <p:spPr>
          <a:xfrm flipH="1">
            <a:off x="10820697" y="3205277"/>
            <a:ext cx="18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 flipH="1">
            <a:off x="10820697" y="1681277"/>
            <a:ext cx="180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1399655" y="1942918"/>
            <a:ext cx="7450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/>
              <a:t>F</a:t>
            </a:r>
            <a:r>
              <a:rPr lang="en-US" altLang="ko-KR" sz="1600" b="1" baseline="-25000"/>
              <a:t>handle</a:t>
            </a:r>
            <a:endParaRPr lang="ko-KR" altLang="en-US" sz="1600" b="1" baseline="-25000"/>
          </a:p>
        </p:txBody>
      </p:sp>
      <p:sp>
        <p:nvSpPr>
          <p:cNvPr id="102" name="TextBox 101"/>
          <p:cNvSpPr txBox="1"/>
          <p:nvPr/>
        </p:nvSpPr>
        <p:spPr>
          <a:xfrm>
            <a:off x="10832118" y="1268760"/>
            <a:ext cx="92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/>
              <a:t>F</a:t>
            </a:r>
            <a:r>
              <a:rPr lang="en-US" altLang="ko-KR" sz="1600" i="1"/>
              <a:t>’</a:t>
            </a:r>
            <a:r>
              <a:rPr lang="en-US" altLang="ko-KR" sz="1600" b="1" baseline="-25000"/>
              <a:t>handle</a:t>
            </a:r>
            <a:endParaRPr lang="ko-KR" altLang="en-US" sz="1600" b="1" baseline="30000"/>
          </a:p>
        </p:txBody>
      </p:sp>
      <p:cxnSp>
        <p:nvCxnSpPr>
          <p:cNvPr id="104" name="직선 화살표 연결선 103"/>
          <p:cNvCxnSpPr/>
          <p:nvPr/>
        </p:nvCxnSpPr>
        <p:spPr>
          <a:xfrm>
            <a:off x="10599717" y="1673657"/>
            <a:ext cx="10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/>
          <p:nvPr/>
        </p:nvCxnSpPr>
        <p:spPr>
          <a:xfrm>
            <a:off x="10609242" y="2991282"/>
            <a:ext cx="10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/>
          <p:nvPr/>
        </p:nvCxnSpPr>
        <p:spPr>
          <a:xfrm>
            <a:off x="10599717" y="3191307"/>
            <a:ext cx="1080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10092816" y="1273628"/>
            <a:ext cx="925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i="1"/>
              <a:t>F</a:t>
            </a:r>
            <a:r>
              <a:rPr lang="en-US" altLang="ko-KR" sz="1600" i="1"/>
              <a:t>”</a:t>
            </a:r>
            <a:r>
              <a:rPr lang="en-US" altLang="ko-KR" sz="1600" b="1" baseline="-25000"/>
              <a:t>handle</a:t>
            </a:r>
            <a:endParaRPr lang="ko-KR" altLang="en-US" sz="1600" b="1" baseline="30000"/>
          </a:p>
        </p:txBody>
      </p:sp>
      <p:cxnSp>
        <p:nvCxnSpPr>
          <p:cNvPr id="110" name="직선 화살표 연결선 109"/>
          <p:cNvCxnSpPr/>
          <p:nvPr/>
        </p:nvCxnSpPr>
        <p:spPr>
          <a:xfrm>
            <a:off x="11357969" y="2967152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>
            <a:off x="11350825" y="3226708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>
            <a:off x="11360350" y="1728108"/>
            <a:ext cx="1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6" name="그림 1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362" y="4239286"/>
            <a:ext cx="4410784" cy="2398437"/>
          </a:xfrm>
          <a:prstGeom prst="roundRect">
            <a:avLst>
              <a:gd name="adj" fmla="val 6985"/>
            </a:avLst>
          </a:prstGeom>
        </p:spPr>
      </p:pic>
      <p:sp>
        <p:nvSpPr>
          <p:cNvPr id="127" name="직사각형 126"/>
          <p:cNvSpPr/>
          <p:nvPr/>
        </p:nvSpPr>
        <p:spPr>
          <a:xfrm>
            <a:off x="940108" y="4629120"/>
            <a:ext cx="3668876" cy="2184256"/>
          </a:xfrm>
          <a:custGeom>
            <a:avLst/>
            <a:gdLst>
              <a:gd name="connsiteX0" fmla="*/ 0 w 1944216"/>
              <a:gd name="connsiteY0" fmla="*/ 0 h 1224136"/>
              <a:gd name="connsiteX1" fmla="*/ 1944216 w 1944216"/>
              <a:gd name="connsiteY1" fmla="*/ 0 h 1224136"/>
              <a:gd name="connsiteX2" fmla="*/ 1944216 w 1944216"/>
              <a:gd name="connsiteY2" fmla="*/ 1224136 h 1224136"/>
              <a:gd name="connsiteX3" fmla="*/ 0 w 1944216"/>
              <a:gd name="connsiteY3" fmla="*/ 1224136 h 1224136"/>
              <a:gd name="connsiteX4" fmla="*/ 0 w 1944216"/>
              <a:gd name="connsiteY4" fmla="*/ 0 h 1224136"/>
              <a:gd name="connsiteX0" fmla="*/ 1282700 w 3226916"/>
              <a:gd name="connsiteY0" fmla="*/ 0 h 1224136"/>
              <a:gd name="connsiteX1" fmla="*/ 3226916 w 3226916"/>
              <a:gd name="connsiteY1" fmla="*/ 0 h 1224136"/>
              <a:gd name="connsiteX2" fmla="*/ 3226916 w 3226916"/>
              <a:gd name="connsiteY2" fmla="*/ 1224136 h 1224136"/>
              <a:gd name="connsiteX3" fmla="*/ 0 w 3226916"/>
              <a:gd name="connsiteY3" fmla="*/ 1186036 h 1224136"/>
              <a:gd name="connsiteX4" fmla="*/ 1282700 w 3226916"/>
              <a:gd name="connsiteY4" fmla="*/ 0 h 1224136"/>
              <a:gd name="connsiteX0" fmla="*/ 1282700 w 3226916"/>
              <a:gd name="connsiteY0" fmla="*/ 0 h 2214736"/>
              <a:gd name="connsiteX1" fmla="*/ 3226916 w 3226916"/>
              <a:gd name="connsiteY1" fmla="*/ 0 h 2214736"/>
              <a:gd name="connsiteX2" fmla="*/ 2566516 w 3226916"/>
              <a:gd name="connsiteY2" fmla="*/ 2214736 h 2214736"/>
              <a:gd name="connsiteX3" fmla="*/ 0 w 3226916"/>
              <a:gd name="connsiteY3" fmla="*/ 1186036 h 2214736"/>
              <a:gd name="connsiteX4" fmla="*/ 1282700 w 3226916"/>
              <a:gd name="connsiteY4" fmla="*/ 0 h 2214736"/>
              <a:gd name="connsiteX0" fmla="*/ 1282700 w 3798416"/>
              <a:gd name="connsiteY0" fmla="*/ 0 h 2214736"/>
              <a:gd name="connsiteX1" fmla="*/ 3798416 w 3798416"/>
              <a:gd name="connsiteY1" fmla="*/ 812800 h 2214736"/>
              <a:gd name="connsiteX2" fmla="*/ 2566516 w 3798416"/>
              <a:gd name="connsiteY2" fmla="*/ 2214736 h 2214736"/>
              <a:gd name="connsiteX3" fmla="*/ 0 w 3798416"/>
              <a:gd name="connsiteY3" fmla="*/ 1186036 h 2214736"/>
              <a:gd name="connsiteX4" fmla="*/ 1282700 w 3798416"/>
              <a:gd name="connsiteY4" fmla="*/ 0 h 2214736"/>
              <a:gd name="connsiteX0" fmla="*/ 1282700 w 3668876"/>
              <a:gd name="connsiteY0" fmla="*/ 0 h 2214736"/>
              <a:gd name="connsiteX1" fmla="*/ 3668876 w 3668876"/>
              <a:gd name="connsiteY1" fmla="*/ 759460 h 2214736"/>
              <a:gd name="connsiteX2" fmla="*/ 2566516 w 3668876"/>
              <a:gd name="connsiteY2" fmla="*/ 2214736 h 2214736"/>
              <a:gd name="connsiteX3" fmla="*/ 0 w 3668876"/>
              <a:gd name="connsiteY3" fmla="*/ 1186036 h 2214736"/>
              <a:gd name="connsiteX4" fmla="*/ 1282700 w 3668876"/>
              <a:gd name="connsiteY4" fmla="*/ 0 h 2214736"/>
              <a:gd name="connsiteX0" fmla="*/ 1282700 w 3668876"/>
              <a:gd name="connsiteY0" fmla="*/ 0 h 2130916"/>
              <a:gd name="connsiteX1" fmla="*/ 3668876 w 3668876"/>
              <a:gd name="connsiteY1" fmla="*/ 759460 h 2130916"/>
              <a:gd name="connsiteX2" fmla="*/ 2505556 w 3668876"/>
              <a:gd name="connsiteY2" fmla="*/ 2130916 h 2130916"/>
              <a:gd name="connsiteX3" fmla="*/ 0 w 3668876"/>
              <a:gd name="connsiteY3" fmla="*/ 1186036 h 2130916"/>
              <a:gd name="connsiteX4" fmla="*/ 1282700 w 3668876"/>
              <a:gd name="connsiteY4" fmla="*/ 0 h 2130916"/>
              <a:gd name="connsiteX0" fmla="*/ 1282700 w 3668876"/>
              <a:gd name="connsiteY0" fmla="*/ 0 h 2184256"/>
              <a:gd name="connsiteX1" fmla="*/ 3668876 w 3668876"/>
              <a:gd name="connsiteY1" fmla="*/ 759460 h 2184256"/>
              <a:gd name="connsiteX2" fmla="*/ 2520796 w 3668876"/>
              <a:gd name="connsiteY2" fmla="*/ 2184256 h 2184256"/>
              <a:gd name="connsiteX3" fmla="*/ 0 w 3668876"/>
              <a:gd name="connsiteY3" fmla="*/ 1186036 h 2184256"/>
              <a:gd name="connsiteX4" fmla="*/ 1282700 w 3668876"/>
              <a:gd name="connsiteY4" fmla="*/ 0 h 2184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68876" h="2184256">
                <a:moveTo>
                  <a:pt x="1282700" y="0"/>
                </a:moveTo>
                <a:lnTo>
                  <a:pt x="3668876" y="759460"/>
                </a:lnTo>
                <a:lnTo>
                  <a:pt x="2520796" y="2184256"/>
                </a:lnTo>
                <a:lnTo>
                  <a:pt x="0" y="1186036"/>
                </a:lnTo>
                <a:lnTo>
                  <a:pt x="1282700" y="0"/>
                </a:lnTo>
                <a:close/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6"/>
          <p:cNvSpPr/>
          <p:nvPr/>
        </p:nvSpPr>
        <p:spPr>
          <a:xfrm>
            <a:off x="2241858" y="5086320"/>
            <a:ext cx="1085542" cy="628918"/>
          </a:xfrm>
          <a:custGeom>
            <a:avLst/>
            <a:gdLst>
              <a:gd name="connsiteX0" fmla="*/ 0 w 1944216"/>
              <a:gd name="connsiteY0" fmla="*/ 0 h 1224136"/>
              <a:gd name="connsiteX1" fmla="*/ 1944216 w 1944216"/>
              <a:gd name="connsiteY1" fmla="*/ 0 h 1224136"/>
              <a:gd name="connsiteX2" fmla="*/ 1944216 w 1944216"/>
              <a:gd name="connsiteY2" fmla="*/ 1224136 h 1224136"/>
              <a:gd name="connsiteX3" fmla="*/ 0 w 1944216"/>
              <a:gd name="connsiteY3" fmla="*/ 1224136 h 1224136"/>
              <a:gd name="connsiteX4" fmla="*/ 0 w 1944216"/>
              <a:gd name="connsiteY4" fmla="*/ 0 h 1224136"/>
              <a:gd name="connsiteX0" fmla="*/ 1282700 w 3226916"/>
              <a:gd name="connsiteY0" fmla="*/ 0 h 1224136"/>
              <a:gd name="connsiteX1" fmla="*/ 3226916 w 3226916"/>
              <a:gd name="connsiteY1" fmla="*/ 0 h 1224136"/>
              <a:gd name="connsiteX2" fmla="*/ 3226916 w 3226916"/>
              <a:gd name="connsiteY2" fmla="*/ 1224136 h 1224136"/>
              <a:gd name="connsiteX3" fmla="*/ 0 w 3226916"/>
              <a:gd name="connsiteY3" fmla="*/ 1186036 h 1224136"/>
              <a:gd name="connsiteX4" fmla="*/ 1282700 w 3226916"/>
              <a:gd name="connsiteY4" fmla="*/ 0 h 1224136"/>
              <a:gd name="connsiteX0" fmla="*/ 1282700 w 3226916"/>
              <a:gd name="connsiteY0" fmla="*/ 0 h 2214736"/>
              <a:gd name="connsiteX1" fmla="*/ 3226916 w 3226916"/>
              <a:gd name="connsiteY1" fmla="*/ 0 h 2214736"/>
              <a:gd name="connsiteX2" fmla="*/ 2566516 w 3226916"/>
              <a:gd name="connsiteY2" fmla="*/ 2214736 h 2214736"/>
              <a:gd name="connsiteX3" fmla="*/ 0 w 3226916"/>
              <a:gd name="connsiteY3" fmla="*/ 1186036 h 2214736"/>
              <a:gd name="connsiteX4" fmla="*/ 1282700 w 3226916"/>
              <a:gd name="connsiteY4" fmla="*/ 0 h 2214736"/>
              <a:gd name="connsiteX0" fmla="*/ 1282700 w 3798416"/>
              <a:gd name="connsiteY0" fmla="*/ 0 h 2214736"/>
              <a:gd name="connsiteX1" fmla="*/ 3798416 w 3798416"/>
              <a:gd name="connsiteY1" fmla="*/ 812800 h 2214736"/>
              <a:gd name="connsiteX2" fmla="*/ 2566516 w 3798416"/>
              <a:gd name="connsiteY2" fmla="*/ 2214736 h 2214736"/>
              <a:gd name="connsiteX3" fmla="*/ 0 w 3798416"/>
              <a:gd name="connsiteY3" fmla="*/ 1186036 h 2214736"/>
              <a:gd name="connsiteX4" fmla="*/ 1282700 w 3798416"/>
              <a:gd name="connsiteY4" fmla="*/ 0 h 2214736"/>
              <a:gd name="connsiteX0" fmla="*/ 1282700 w 3668876"/>
              <a:gd name="connsiteY0" fmla="*/ 0 h 2214736"/>
              <a:gd name="connsiteX1" fmla="*/ 3668876 w 3668876"/>
              <a:gd name="connsiteY1" fmla="*/ 759460 h 2214736"/>
              <a:gd name="connsiteX2" fmla="*/ 2566516 w 3668876"/>
              <a:gd name="connsiteY2" fmla="*/ 2214736 h 2214736"/>
              <a:gd name="connsiteX3" fmla="*/ 0 w 3668876"/>
              <a:gd name="connsiteY3" fmla="*/ 1186036 h 2214736"/>
              <a:gd name="connsiteX4" fmla="*/ 1282700 w 3668876"/>
              <a:gd name="connsiteY4" fmla="*/ 0 h 2214736"/>
              <a:gd name="connsiteX0" fmla="*/ 1282700 w 3668876"/>
              <a:gd name="connsiteY0" fmla="*/ 0 h 2130916"/>
              <a:gd name="connsiteX1" fmla="*/ 3668876 w 3668876"/>
              <a:gd name="connsiteY1" fmla="*/ 759460 h 2130916"/>
              <a:gd name="connsiteX2" fmla="*/ 2505556 w 3668876"/>
              <a:gd name="connsiteY2" fmla="*/ 2130916 h 2130916"/>
              <a:gd name="connsiteX3" fmla="*/ 0 w 3668876"/>
              <a:gd name="connsiteY3" fmla="*/ 1186036 h 2130916"/>
              <a:gd name="connsiteX4" fmla="*/ 1282700 w 3668876"/>
              <a:gd name="connsiteY4" fmla="*/ 0 h 2130916"/>
              <a:gd name="connsiteX0" fmla="*/ 1282700 w 3668876"/>
              <a:gd name="connsiteY0" fmla="*/ 0 h 2184256"/>
              <a:gd name="connsiteX1" fmla="*/ 3668876 w 3668876"/>
              <a:gd name="connsiteY1" fmla="*/ 759460 h 2184256"/>
              <a:gd name="connsiteX2" fmla="*/ 2520796 w 3668876"/>
              <a:gd name="connsiteY2" fmla="*/ 2184256 h 2184256"/>
              <a:gd name="connsiteX3" fmla="*/ 0 w 3668876"/>
              <a:gd name="connsiteY3" fmla="*/ 1186036 h 2184256"/>
              <a:gd name="connsiteX4" fmla="*/ 1282700 w 3668876"/>
              <a:gd name="connsiteY4" fmla="*/ 0 h 2184256"/>
              <a:gd name="connsiteX0" fmla="*/ 1065855 w 3452031"/>
              <a:gd name="connsiteY0" fmla="*/ 0 h 2184256"/>
              <a:gd name="connsiteX1" fmla="*/ 3452031 w 3452031"/>
              <a:gd name="connsiteY1" fmla="*/ 759460 h 2184256"/>
              <a:gd name="connsiteX2" fmla="*/ 2303951 w 3452031"/>
              <a:gd name="connsiteY2" fmla="*/ 2184256 h 2184256"/>
              <a:gd name="connsiteX3" fmla="*/ 0 w 3452031"/>
              <a:gd name="connsiteY3" fmla="*/ 1411960 h 2184256"/>
              <a:gd name="connsiteX4" fmla="*/ 1065855 w 3452031"/>
              <a:gd name="connsiteY4" fmla="*/ 0 h 2184256"/>
              <a:gd name="connsiteX0" fmla="*/ 915732 w 3452031"/>
              <a:gd name="connsiteY0" fmla="*/ 219547 h 1424796"/>
              <a:gd name="connsiteX1" fmla="*/ 3452031 w 3452031"/>
              <a:gd name="connsiteY1" fmla="*/ 0 h 1424796"/>
              <a:gd name="connsiteX2" fmla="*/ 2303951 w 3452031"/>
              <a:gd name="connsiteY2" fmla="*/ 1424796 h 1424796"/>
              <a:gd name="connsiteX3" fmla="*/ 0 w 3452031"/>
              <a:gd name="connsiteY3" fmla="*/ 652500 h 1424796"/>
              <a:gd name="connsiteX4" fmla="*/ 915732 w 3452031"/>
              <a:gd name="connsiteY4" fmla="*/ 219547 h 1424796"/>
              <a:gd name="connsiteX0" fmla="*/ 915732 w 2851537"/>
              <a:gd name="connsiteY0" fmla="*/ 0 h 1205249"/>
              <a:gd name="connsiteX1" fmla="*/ 2851537 w 2851537"/>
              <a:gd name="connsiteY1" fmla="*/ 322672 h 1205249"/>
              <a:gd name="connsiteX2" fmla="*/ 2303951 w 2851537"/>
              <a:gd name="connsiteY2" fmla="*/ 1205249 h 1205249"/>
              <a:gd name="connsiteX3" fmla="*/ 0 w 2851537"/>
              <a:gd name="connsiteY3" fmla="*/ 432953 h 1205249"/>
              <a:gd name="connsiteX4" fmla="*/ 915732 w 2851537"/>
              <a:gd name="connsiteY4" fmla="*/ 0 h 1205249"/>
              <a:gd name="connsiteX0" fmla="*/ 915732 w 2851537"/>
              <a:gd name="connsiteY0" fmla="*/ 0 h 745869"/>
              <a:gd name="connsiteX1" fmla="*/ 2851537 w 2851537"/>
              <a:gd name="connsiteY1" fmla="*/ 322672 h 745869"/>
              <a:gd name="connsiteX2" fmla="*/ 1953662 w 2851537"/>
              <a:gd name="connsiteY2" fmla="*/ 745869 h 745869"/>
              <a:gd name="connsiteX3" fmla="*/ 0 w 2851537"/>
              <a:gd name="connsiteY3" fmla="*/ 432953 h 745869"/>
              <a:gd name="connsiteX4" fmla="*/ 915732 w 2851537"/>
              <a:gd name="connsiteY4" fmla="*/ 0 h 745869"/>
              <a:gd name="connsiteX0" fmla="*/ 915732 w 2851537"/>
              <a:gd name="connsiteY0" fmla="*/ 0 h 745869"/>
              <a:gd name="connsiteX1" fmla="*/ 1817353 w 2851537"/>
              <a:gd name="connsiteY1" fmla="*/ 143403 h 745869"/>
              <a:gd name="connsiteX2" fmla="*/ 2851537 w 2851537"/>
              <a:gd name="connsiteY2" fmla="*/ 322672 h 745869"/>
              <a:gd name="connsiteX3" fmla="*/ 1953662 w 2851537"/>
              <a:gd name="connsiteY3" fmla="*/ 745869 h 745869"/>
              <a:gd name="connsiteX4" fmla="*/ 0 w 2851537"/>
              <a:gd name="connsiteY4" fmla="*/ 432953 h 745869"/>
              <a:gd name="connsiteX5" fmla="*/ 915732 w 2851537"/>
              <a:gd name="connsiteY5" fmla="*/ 0 h 745869"/>
              <a:gd name="connsiteX0" fmla="*/ 915732 w 2851537"/>
              <a:gd name="connsiteY0" fmla="*/ 0 h 745869"/>
              <a:gd name="connsiteX1" fmla="*/ 1850714 w 2851537"/>
              <a:gd name="connsiteY1" fmla="*/ 113280 h 745869"/>
              <a:gd name="connsiteX2" fmla="*/ 2851537 w 2851537"/>
              <a:gd name="connsiteY2" fmla="*/ 322672 h 745869"/>
              <a:gd name="connsiteX3" fmla="*/ 1953662 w 2851537"/>
              <a:gd name="connsiteY3" fmla="*/ 745869 h 745869"/>
              <a:gd name="connsiteX4" fmla="*/ 0 w 2851537"/>
              <a:gd name="connsiteY4" fmla="*/ 432953 h 745869"/>
              <a:gd name="connsiteX5" fmla="*/ 915732 w 2851537"/>
              <a:gd name="connsiteY5" fmla="*/ 0 h 745869"/>
              <a:gd name="connsiteX0" fmla="*/ 915732 w 2851537"/>
              <a:gd name="connsiteY0" fmla="*/ 0 h 745869"/>
              <a:gd name="connsiteX1" fmla="*/ 1917435 w 2851537"/>
              <a:gd name="connsiteY1" fmla="*/ 113280 h 745869"/>
              <a:gd name="connsiteX2" fmla="*/ 2851537 w 2851537"/>
              <a:gd name="connsiteY2" fmla="*/ 322672 h 745869"/>
              <a:gd name="connsiteX3" fmla="*/ 1953662 w 2851537"/>
              <a:gd name="connsiteY3" fmla="*/ 745869 h 745869"/>
              <a:gd name="connsiteX4" fmla="*/ 0 w 2851537"/>
              <a:gd name="connsiteY4" fmla="*/ 432953 h 745869"/>
              <a:gd name="connsiteX5" fmla="*/ 915732 w 2851537"/>
              <a:gd name="connsiteY5" fmla="*/ 0 h 745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1537" h="745869">
                <a:moveTo>
                  <a:pt x="915732" y="0"/>
                </a:moveTo>
                <a:lnTo>
                  <a:pt x="1917435" y="113280"/>
                </a:lnTo>
                <a:lnTo>
                  <a:pt x="2851537" y="322672"/>
                </a:lnTo>
                <a:lnTo>
                  <a:pt x="1953662" y="745869"/>
                </a:lnTo>
                <a:lnTo>
                  <a:pt x="0" y="432953"/>
                </a:lnTo>
                <a:lnTo>
                  <a:pt x="915732" y="0"/>
                </a:lnTo>
                <a:close/>
              </a:path>
            </a:pathLst>
          </a:cu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5297535" y="4377322"/>
            <a:ext cx="64789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600" dirty="0"/>
              <a:t>The handles suppress the rotation of nearby squares: rotation is reduced near the handles and only gradually recovers toward the interior — spatial uniformity is inherently limited.</a:t>
            </a:r>
            <a:endParaRPr lang="ko-KR" altLang="ko-KR" sz="16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2117221" y="5579539"/>
            <a:ext cx="958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i="1"/>
              <a:t>A</a:t>
            </a:r>
            <a:r>
              <a:rPr lang="en-US" altLang="ko-KR" sz="2000" b="1" baseline="-25000"/>
              <a:t>active</a:t>
            </a:r>
            <a:endParaRPr lang="ko-KR" altLang="en-US" sz="2000" b="1" baseline="-25000"/>
          </a:p>
        </p:txBody>
      </p:sp>
      <p:sp>
        <p:nvSpPr>
          <p:cNvPr id="131" name="TextBox 130"/>
          <p:cNvSpPr txBox="1"/>
          <p:nvPr/>
        </p:nvSpPr>
        <p:spPr>
          <a:xfrm>
            <a:off x="1166534" y="6036740"/>
            <a:ext cx="958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i="1">
                <a:solidFill>
                  <a:srgbClr val="FF0000"/>
                </a:solidFill>
              </a:rPr>
              <a:t>A</a:t>
            </a:r>
            <a:r>
              <a:rPr lang="en-US" altLang="ko-KR" sz="2000" b="1" baseline="-25000">
                <a:solidFill>
                  <a:srgbClr val="FF0000"/>
                </a:solidFill>
              </a:rPr>
              <a:t>total</a:t>
            </a:r>
            <a:endParaRPr lang="ko-KR" altLang="en-US" sz="2000" b="1" baseline="-25000">
              <a:solidFill>
                <a:srgbClr val="FF0000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3022817" y="4664700"/>
            <a:ext cx="1862266" cy="338554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i="1" dirty="0" err="1"/>
              <a:t>A</a:t>
            </a:r>
            <a:r>
              <a:rPr lang="en-US" altLang="ko-KR" sz="1600" baseline="-25000" dirty="0" err="1"/>
              <a:t>active</a:t>
            </a:r>
            <a:r>
              <a:rPr lang="en-US" altLang="ko-KR" sz="1600" dirty="0"/>
              <a:t>/</a:t>
            </a:r>
            <a:r>
              <a:rPr lang="en-US" altLang="ko-KR" sz="1600" i="1" dirty="0" err="1"/>
              <a:t>A</a:t>
            </a:r>
            <a:r>
              <a:rPr lang="en-US" altLang="ko-KR" sz="1600" baseline="-25000" dirty="0" err="1"/>
              <a:t>total</a:t>
            </a:r>
            <a:r>
              <a:rPr lang="en-US" altLang="ko-KR" sz="1600" dirty="0"/>
              <a:t> ~12%</a:t>
            </a:r>
            <a:endParaRPr lang="ko-KR" altLang="en-US" sz="1600" dirty="0"/>
          </a:p>
        </p:txBody>
      </p:sp>
      <p:sp>
        <p:nvSpPr>
          <p:cNvPr id="134" name="직사각형 133"/>
          <p:cNvSpPr/>
          <p:nvPr/>
        </p:nvSpPr>
        <p:spPr>
          <a:xfrm>
            <a:off x="5297535" y="5547856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600" dirty="0"/>
              <a:t>To prevent image distortion in LED applications, it's crucial to ensure not only a simple strain uniformity but also an </a:t>
            </a:r>
            <a:r>
              <a:rPr lang="en-US" altLang="ko-KR" sz="1600" dirty="0">
                <a:solidFill>
                  <a:srgbClr val="FF0000"/>
                </a:solidFill>
              </a:rPr>
              <a:t>effective area where uniformity is maintained</a:t>
            </a:r>
            <a:r>
              <a:rPr lang="en-US" altLang="ko-KR" sz="1600" dirty="0"/>
              <a:t>.</a:t>
            </a:r>
            <a:endParaRPr lang="ko-KR" altLang="ko-KR" sz="1600" kern="100" dirty="0"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67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C542BF13-AE1C-18D8-12B8-22DC3BB3AFC1}"/>
              </a:ext>
            </a:extLst>
          </p:cNvPr>
          <p:cNvGrpSpPr>
            <a:grpSpLocks noChangeAspect="1"/>
          </p:cNvGrpSpPr>
          <p:nvPr/>
        </p:nvGrpSpPr>
        <p:grpSpPr>
          <a:xfrm>
            <a:off x="976045" y="1385341"/>
            <a:ext cx="4355588" cy="4193526"/>
            <a:chOff x="540897" y="1157771"/>
            <a:chExt cx="4687994" cy="451356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9C007D2-7ACA-F02E-0559-E77587B01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05155" y="1157771"/>
              <a:ext cx="2060557" cy="1602609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B8C3FFC-63E3-D468-0CD3-682E25A19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40897" y="2883404"/>
              <a:ext cx="2047756" cy="278793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21DABAB-B7A0-FBB5-954D-93F08C55C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184680" y="1344698"/>
              <a:ext cx="2044211" cy="1397797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FB506F2-B50E-B84C-55DF-CA70B8C5A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116"/>
            <a:stretch>
              <a:fillRect/>
            </a:stretch>
          </p:blipFill>
          <p:spPr>
            <a:xfrm>
              <a:off x="3125769" y="2883405"/>
              <a:ext cx="2103122" cy="2787930"/>
            </a:xfrm>
            <a:prstGeom prst="rect">
              <a:avLst/>
            </a:prstGeom>
          </p:spPr>
        </p:pic>
      </p:grpSp>
      <p:sp>
        <p:nvSpPr>
          <p:cNvPr id="13" name="제목 2">
            <a:extLst>
              <a:ext uri="{FF2B5EF4-FFF2-40B4-BE49-F238E27FC236}">
                <a16:creationId xmlns:a16="http://schemas.microsoft.com/office/drawing/2014/main" id="{88FEAB8B-3B2A-E072-06A3-C7F158F51D73}"/>
              </a:ext>
            </a:extLst>
          </p:cNvPr>
          <p:cNvSpPr txBox="1">
            <a:spLocks/>
          </p:cNvSpPr>
          <p:nvPr/>
        </p:nvSpPr>
        <p:spPr>
          <a:xfrm>
            <a:off x="663270" y="167834"/>
            <a:ext cx="11074228" cy="61838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/>
              <a:t>Isotropic expansion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F6B50EF-1AAB-321D-E99D-E7D050F262AF}"/>
              </a:ext>
            </a:extLst>
          </p:cNvPr>
          <p:cNvGrpSpPr>
            <a:grpSpLocks noChangeAspect="1"/>
          </p:cNvGrpSpPr>
          <p:nvPr/>
        </p:nvGrpSpPr>
        <p:grpSpPr>
          <a:xfrm>
            <a:off x="6298058" y="1144937"/>
            <a:ext cx="5486399" cy="4226241"/>
            <a:chOff x="5950317" y="836712"/>
            <a:chExt cx="5998527" cy="462074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8C9E7B7-CA23-C906-32A2-DA6E7709B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50317" y="836712"/>
              <a:ext cx="5998527" cy="462074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B95D0DD-A41B-D0A9-D54D-B9DCCB4419EF}"/>
                </a:ext>
              </a:extLst>
            </p:cNvPr>
            <p:cNvSpPr/>
            <p:nvPr/>
          </p:nvSpPr>
          <p:spPr>
            <a:xfrm>
              <a:off x="5950318" y="836712"/>
              <a:ext cx="430206" cy="3147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F49808-F147-FFE4-BC02-719B6D6A1203}"/>
              </a:ext>
            </a:extLst>
          </p:cNvPr>
          <p:cNvSpPr/>
          <p:nvPr/>
        </p:nvSpPr>
        <p:spPr>
          <a:xfrm>
            <a:off x="694093" y="5902205"/>
            <a:ext cx="108593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dirty="0"/>
              <a:t>The rotation-based unit-cell kinematics are not locally isotropic — even when the outer boundary exhibits ν = −1, interior points expand anisotropically. Gripping parts add further non-uniformity, addressed separately in the framework optimization.</a:t>
            </a:r>
            <a:endParaRPr lang="ko-KR" altLang="ko-KR" kern="100" dirty="0"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732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4F1699BB-E3E7-4939-8DBF-2A726B792FCF}"/>
              </a:ext>
            </a:extLst>
          </p:cNvPr>
          <p:cNvSpPr txBox="1">
            <a:spLocks/>
          </p:cNvSpPr>
          <p:nvPr/>
        </p:nvSpPr>
        <p:spPr>
          <a:xfrm>
            <a:off x="695400" y="190153"/>
            <a:ext cx="11168999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Hybrid auxetic metamaterial platform</a:t>
            </a:r>
            <a:endParaRPr lang="ko-KR" altLang="en-US" sz="3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19323F-76E8-8855-D307-0D6E4BC20E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768"/>
            <a:ext cx="12192000" cy="392638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BE138F6-4557-73A1-2274-5B2141573CB1}"/>
              </a:ext>
            </a:extLst>
          </p:cNvPr>
          <p:cNvSpPr/>
          <p:nvPr/>
        </p:nvSpPr>
        <p:spPr>
          <a:xfrm>
            <a:off x="0" y="1340768"/>
            <a:ext cx="407368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4AE20AC-B115-8FAA-A7C3-DC330FA45C58}"/>
              </a:ext>
            </a:extLst>
          </p:cNvPr>
          <p:cNvSpPr/>
          <p:nvPr/>
        </p:nvSpPr>
        <p:spPr>
          <a:xfrm>
            <a:off x="8184232" y="1340768"/>
            <a:ext cx="407368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0B69BE-B888-CB5D-9C02-4E75D76FC596}"/>
              </a:ext>
            </a:extLst>
          </p:cNvPr>
          <p:cNvSpPr txBox="1"/>
          <p:nvPr/>
        </p:nvSpPr>
        <p:spPr>
          <a:xfrm>
            <a:off x="519588" y="5661248"/>
            <a:ext cx="80648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000" dirty="0"/>
              <a:t>Optimized auxetic framework</a:t>
            </a:r>
          </a:p>
          <a:p>
            <a:pPr marL="342900" indent="-342900">
              <a:buAutoNum type="arabicPeriod"/>
            </a:pPr>
            <a:r>
              <a:rPr lang="en-US" altLang="ko-KR" sz="2000" dirty="0"/>
              <a:t>Defining optimized connection points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78622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917900C-C5F0-4012-9087-C7B95B7104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67187" y="1543585"/>
            <a:ext cx="2246528" cy="2257862"/>
          </a:xfrm>
          <a:prstGeom prst="rect">
            <a:avLst/>
          </a:prstGeom>
          <a:noFill/>
          <a:ln w="3175">
            <a:solidFill>
              <a:schemeClr val="tx1"/>
            </a:solidFill>
            <a:prstDash val="solid"/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0220001-7E3B-4495-A3A6-B9DEE41EB36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9011" y="1257521"/>
            <a:ext cx="7155573" cy="5366680"/>
          </a:xfrm>
          <a:prstGeom prst="rect">
            <a:avLst/>
          </a:prstGeom>
        </p:spPr>
      </p:pic>
      <p:sp>
        <p:nvSpPr>
          <p:cNvPr id="2" name="제목 2">
            <a:extLst>
              <a:ext uri="{FF2B5EF4-FFF2-40B4-BE49-F238E27FC236}">
                <a16:creationId xmlns:a16="http://schemas.microsoft.com/office/drawing/2014/main" id="{9C6ABD21-56F9-453A-B093-AF87F3958251}"/>
              </a:ext>
            </a:extLst>
          </p:cNvPr>
          <p:cNvSpPr txBox="1">
            <a:spLocks/>
          </p:cNvSpPr>
          <p:nvPr/>
        </p:nvSpPr>
        <p:spPr>
          <a:xfrm>
            <a:off x="713619" y="189350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dirty="0"/>
              <a:t>Simulation</a:t>
            </a:r>
            <a:r>
              <a:rPr lang="ko-KR" altLang="en-US" sz="2700" dirty="0"/>
              <a:t> </a:t>
            </a:r>
            <a:r>
              <a:rPr lang="en-US" altLang="ko-KR" sz="2700" dirty="0"/>
              <a:t>model of auxetic framework </a:t>
            </a:r>
            <a:endParaRPr lang="ko-KR" altLang="en-US" sz="2700" dirty="0"/>
          </a:p>
        </p:txBody>
      </p:sp>
      <p:cxnSp>
        <p:nvCxnSpPr>
          <p:cNvPr id="17" name="직선 화살표 연결선 16"/>
          <p:cNvCxnSpPr>
            <a:cxnSpLocks/>
          </p:cNvCxnSpPr>
          <p:nvPr/>
        </p:nvCxnSpPr>
        <p:spPr>
          <a:xfrm flipV="1">
            <a:off x="3072918" y="2057936"/>
            <a:ext cx="0" cy="4000499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cxnSpLocks/>
          </p:cNvCxnSpPr>
          <p:nvPr/>
        </p:nvCxnSpPr>
        <p:spPr>
          <a:xfrm>
            <a:off x="1132940" y="4015486"/>
            <a:ext cx="3867150" cy="0"/>
          </a:xfrm>
          <a:prstGeom prst="straightConnector1">
            <a:avLst/>
          </a:prstGeom>
          <a:ln w="1905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6818C083-C8A8-4449-B9EB-990EE60B9023}"/>
              </a:ext>
            </a:extLst>
          </p:cNvPr>
          <p:cNvSpPr/>
          <p:nvPr/>
        </p:nvSpPr>
        <p:spPr>
          <a:xfrm>
            <a:off x="3261338" y="2224936"/>
            <a:ext cx="108000" cy="108000"/>
          </a:xfrm>
          <a:prstGeom prst="ellipse">
            <a:avLst/>
          </a:prstGeom>
          <a:solidFill>
            <a:srgbClr val="1F458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D7C3B5E-4CD7-4381-9A19-25B25D61B297}"/>
              </a:ext>
            </a:extLst>
          </p:cNvPr>
          <p:cNvSpPr/>
          <p:nvPr/>
        </p:nvSpPr>
        <p:spPr>
          <a:xfrm>
            <a:off x="4765224" y="3718495"/>
            <a:ext cx="108000" cy="108000"/>
          </a:xfrm>
          <a:prstGeom prst="ellipse">
            <a:avLst/>
          </a:prstGeom>
          <a:solidFill>
            <a:srgbClr val="DE2F4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E27AB2-E596-4CC8-B894-26E62D6221BB}"/>
              </a:ext>
            </a:extLst>
          </p:cNvPr>
          <p:cNvSpPr/>
          <p:nvPr/>
        </p:nvSpPr>
        <p:spPr>
          <a:xfrm>
            <a:off x="4455484" y="1959510"/>
            <a:ext cx="1181100" cy="1143000"/>
          </a:xfrm>
          <a:prstGeom prst="rect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0FDF5FA-0D79-4980-B20F-14EF586313DE}"/>
              </a:ext>
            </a:extLst>
          </p:cNvPr>
          <p:cNvCxnSpPr>
            <a:cxnSpLocks/>
          </p:cNvCxnSpPr>
          <p:nvPr/>
        </p:nvCxnSpPr>
        <p:spPr>
          <a:xfrm flipV="1">
            <a:off x="5647790" y="1522630"/>
            <a:ext cx="2102672" cy="4400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8931A77-4580-429B-99BC-AD2D6646A81D}"/>
              </a:ext>
            </a:extLst>
          </p:cNvPr>
          <p:cNvCxnSpPr>
            <a:cxnSpLocks/>
          </p:cNvCxnSpPr>
          <p:nvPr/>
        </p:nvCxnSpPr>
        <p:spPr>
          <a:xfrm>
            <a:off x="5641963" y="3104004"/>
            <a:ext cx="2101327" cy="691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F9F88E4-7601-4CD2-86F5-C6401EE6363F}"/>
              </a:ext>
            </a:extLst>
          </p:cNvPr>
          <p:cNvCxnSpPr>
            <a:cxnSpLocks/>
          </p:cNvCxnSpPr>
          <p:nvPr/>
        </p:nvCxnSpPr>
        <p:spPr>
          <a:xfrm>
            <a:off x="8879555" y="3820060"/>
            <a:ext cx="0" cy="24114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8ADD412-4243-48EB-97DA-ADEE3AD88E6D}"/>
              </a:ext>
            </a:extLst>
          </p:cNvPr>
          <p:cNvCxnSpPr>
            <a:cxnSpLocks/>
          </p:cNvCxnSpPr>
          <p:nvPr/>
        </p:nvCxnSpPr>
        <p:spPr>
          <a:xfrm>
            <a:off x="8690325" y="4001667"/>
            <a:ext cx="161365" cy="0"/>
          </a:xfrm>
          <a:prstGeom prst="straightConnector1">
            <a:avLst/>
          </a:prstGeom>
          <a:ln w="1270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F0263AD-03C7-407A-BA8E-005E51482D2A}"/>
              </a:ext>
            </a:extLst>
          </p:cNvPr>
          <p:cNvCxnSpPr>
            <a:cxnSpLocks/>
          </p:cNvCxnSpPr>
          <p:nvPr/>
        </p:nvCxnSpPr>
        <p:spPr>
          <a:xfrm flipH="1">
            <a:off x="8971481" y="4001667"/>
            <a:ext cx="161365" cy="0"/>
          </a:xfrm>
          <a:prstGeom prst="straightConnector1">
            <a:avLst/>
          </a:prstGeom>
          <a:ln w="1270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99F4387-A231-4137-87AB-2A883AD9CD00}"/>
                  </a:ext>
                </a:extLst>
              </p:cNvPr>
              <p:cNvSpPr/>
              <p:nvPr/>
            </p:nvSpPr>
            <p:spPr>
              <a:xfrm>
                <a:off x="8729774" y="3988959"/>
                <a:ext cx="36377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F99F4387-A231-4137-87AB-2A883AD9CD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774" y="3988959"/>
                <a:ext cx="36377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EDB11528-38B5-4E59-9A64-BEB37F0B4F8E}"/>
              </a:ext>
            </a:extLst>
          </p:cNvPr>
          <p:cNvCxnSpPr>
            <a:cxnSpLocks/>
          </p:cNvCxnSpPr>
          <p:nvPr/>
        </p:nvCxnSpPr>
        <p:spPr>
          <a:xfrm>
            <a:off x="8029607" y="2775797"/>
            <a:ext cx="1772234" cy="0"/>
          </a:xfrm>
          <a:prstGeom prst="straightConnector1">
            <a:avLst/>
          </a:prstGeom>
          <a:ln>
            <a:solidFill>
              <a:srgbClr val="C0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C7CCF39C-D0C2-4FF7-8869-B0275C174BE2}"/>
                  </a:ext>
                </a:extLst>
              </p:cNvPr>
              <p:cNvSpPr/>
              <p:nvPr/>
            </p:nvSpPr>
            <p:spPr>
              <a:xfrm>
                <a:off x="8387554" y="2712736"/>
                <a:ext cx="36377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C7CCF39C-D0C2-4FF7-8869-B0275C174B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554" y="2712736"/>
                <a:ext cx="363775" cy="369332"/>
              </a:xfrm>
              <a:prstGeom prst="rect">
                <a:avLst/>
              </a:prstGeom>
              <a:blipFill>
                <a:blip r:embed="rId5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그룹 2">
            <a:extLst>
              <a:ext uri="{FF2B5EF4-FFF2-40B4-BE49-F238E27FC236}">
                <a16:creationId xmlns:a16="http://schemas.microsoft.com/office/drawing/2014/main" id="{28186A7A-7856-40F7-9940-0A55F5E26D96}"/>
              </a:ext>
            </a:extLst>
          </p:cNvPr>
          <p:cNvGrpSpPr/>
          <p:nvPr/>
        </p:nvGrpSpPr>
        <p:grpSpPr>
          <a:xfrm rot="16200000">
            <a:off x="9459111" y="2124529"/>
            <a:ext cx="707332" cy="460901"/>
            <a:chOff x="9676008" y="2569627"/>
            <a:chExt cx="707332" cy="4609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91A2EA96-B784-4C12-A410-6787AD421530}"/>
                    </a:ext>
                  </a:extLst>
                </p:cNvPr>
                <p:cNvSpPr/>
                <p:nvPr/>
              </p:nvSpPr>
              <p:spPr>
                <a:xfrm rot="5400000">
                  <a:off x="10016786" y="2566849"/>
                  <a:ext cx="363775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91A2EA96-B784-4C12-A410-6787AD4215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10016786" y="2566849"/>
                  <a:ext cx="363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A60947A6-B139-4BD2-8B27-F7E3ACC31FDB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08" y="2848937"/>
              <a:ext cx="391984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0F98CE5D-A14F-423F-AE12-C0405D889D04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08" y="2784391"/>
              <a:ext cx="391984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9E44849E-5E77-4072-BAEC-E75FD46F923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9934250" y="2949846"/>
              <a:ext cx="161365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02F2EAE7-419C-4839-9D6C-C684F561292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9934250" y="2668690"/>
              <a:ext cx="161365" cy="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E8D2D217-38B8-4FCA-B7E7-74C90C7A688A}"/>
              </a:ext>
            </a:extLst>
          </p:cNvPr>
          <p:cNvCxnSpPr>
            <a:cxnSpLocks/>
          </p:cNvCxnSpPr>
          <p:nvPr/>
        </p:nvCxnSpPr>
        <p:spPr>
          <a:xfrm>
            <a:off x="4913581" y="3778598"/>
            <a:ext cx="365760" cy="0"/>
          </a:xfrm>
          <a:prstGeom prst="straightConnector1">
            <a:avLst/>
          </a:prstGeom>
          <a:ln w="12700">
            <a:solidFill>
              <a:srgbClr val="C00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CDD1C93-F66F-4FB3-B928-CD5E14E0777B}"/>
              </a:ext>
            </a:extLst>
          </p:cNvPr>
          <p:cNvSpPr/>
          <p:nvPr/>
        </p:nvSpPr>
        <p:spPr>
          <a:xfrm>
            <a:off x="2861494" y="3170729"/>
            <a:ext cx="17060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Tracing points (a, b)</a:t>
            </a:r>
            <a:endParaRPr lang="ko-KR" altLang="en-US" sz="1600" i="1" dirty="0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3E6C7A18-C53B-40D8-93B8-E645EA568687}"/>
              </a:ext>
            </a:extLst>
          </p:cNvPr>
          <p:cNvCxnSpPr>
            <a:cxnSpLocks/>
          </p:cNvCxnSpPr>
          <p:nvPr/>
        </p:nvCxnSpPr>
        <p:spPr>
          <a:xfrm>
            <a:off x="8949405" y="3820060"/>
            <a:ext cx="0" cy="24114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BD8C9201-253A-421C-9191-98C1B6A5895B}"/>
              </a:ext>
            </a:extLst>
          </p:cNvPr>
          <p:cNvCxnSpPr>
            <a:cxnSpLocks/>
          </p:cNvCxnSpPr>
          <p:nvPr/>
        </p:nvCxnSpPr>
        <p:spPr>
          <a:xfrm flipH="1" flipV="1">
            <a:off x="3361790" y="2410361"/>
            <a:ext cx="342900" cy="79628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134A2BA0-2FF6-4A75-999F-EB6D28810903}"/>
              </a:ext>
            </a:extLst>
          </p:cNvPr>
          <p:cNvCxnSpPr>
            <a:cxnSpLocks/>
          </p:cNvCxnSpPr>
          <p:nvPr/>
        </p:nvCxnSpPr>
        <p:spPr>
          <a:xfrm flipH="1" flipV="1">
            <a:off x="3965395" y="3467078"/>
            <a:ext cx="720370" cy="3148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236D8464-09CD-49D1-8B87-263D79D2F2ED}"/>
                  </a:ext>
                </a:extLst>
              </p:cNvPr>
              <p:cNvSpPr/>
              <p:nvPr/>
            </p:nvSpPr>
            <p:spPr>
              <a:xfrm>
                <a:off x="5057917" y="3418677"/>
                <a:ext cx="36377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DE2F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DE2F4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rgbClr val="DE2F40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DE2F40"/>
                  </a:solidFill>
                </a:endParaRPr>
              </a:p>
            </p:txBody>
          </p:sp>
        </mc:Choice>
        <mc:Fallback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236D8464-09CD-49D1-8B87-263D79D2F2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7917" y="3418677"/>
                <a:ext cx="36377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7B89183E-E451-46F0-BCEF-03501BC3EC7C}"/>
                  </a:ext>
                </a:extLst>
              </p:cNvPr>
              <p:cNvSpPr/>
              <p:nvPr/>
            </p:nvSpPr>
            <p:spPr>
              <a:xfrm>
                <a:off x="3041712" y="1461520"/>
                <a:ext cx="363775" cy="391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solidFill>
                                <a:srgbClr val="1F458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solidFill>
                                <a:srgbClr val="1F458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smtClean="0">
                              <a:solidFill>
                                <a:srgbClr val="1F4582"/>
                              </a:solidFill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</m:oMath>
                  </m:oMathPara>
                </a14:m>
                <a:endParaRPr lang="ko-KR" altLang="en-US" dirty="0">
                  <a:solidFill>
                    <a:srgbClr val="1F4582"/>
                  </a:solidFill>
                </a:endParaRPr>
              </a:p>
            </p:txBody>
          </p:sp>
        </mc:Choice>
        <mc:Fallback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7B89183E-E451-46F0-BCEF-03501BC3E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712" y="1461520"/>
                <a:ext cx="363775" cy="391261"/>
              </a:xfrm>
              <a:prstGeom prst="rect">
                <a:avLst/>
              </a:prstGeom>
              <a:blipFill>
                <a:blip r:embed="rId8"/>
                <a:stretch>
                  <a:fillRect r="-5000" b="-46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836A672-9690-4CBB-BDB8-7ADE89774663}"/>
              </a:ext>
            </a:extLst>
          </p:cNvPr>
          <p:cNvCxnSpPr>
            <a:cxnSpLocks/>
          </p:cNvCxnSpPr>
          <p:nvPr/>
        </p:nvCxnSpPr>
        <p:spPr>
          <a:xfrm flipV="1">
            <a:off x="3323230" y="1824069"/>
            <a:ext cx="0" cy="367200"/>
          </a:xfrm>
          <a:prstGeom prst="straightConnector1">
            <a:avLst/>
          </a:prstGeom>
          <a:ln w="12700">
            <a:solidFill>
              <a:srgbClr val="1F458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6AFD9442-B73F-42F1-B214-19244E448C6D}"/>
              </a:ext>
            </a:extLst>
          </p:cNvPr>
          <p:cNvCxnSpPr>
            <a:cxnSpLocks/>
          </p:cNvCxnSpPr>
          <p:nvPr/>
        </p:nvCxnSpPr>
        <p:spPr>
          <a:xfrm>
            <a:off x="5489666" y="4175463"/>
            <a:ext cx="501024" cy="28277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0BA51AE-92A6-46BA-B30B-C0BF35029BC3}"/>
              </a:ext>
            </a:extLst>
          </p:cNvPr>
          <p:cNvSpPr/>
          <p:nvPr/>
        </p:nvSpPr>
        <p:spPr>
          <a:xfrm>
            <a:off x="5849429" y="4197908"/>
            <a:ext cx="19952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Stretching-driven component</a:t>
            </a:r>
            <a:endParaRPr lang="ko-KR" altLang="en-US" sz="1600" i="1" dirty="0"/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DA3D26A0-8A7E-4557-91FE-6E823F91D1F0}"/>
              </a:ext>
            </a:extLst>
          </p:cNvPr>
          <p:cNvCxnSpPr>
            <a:cxnSpLocks/>
          </p:cNvCxnSpPr>
          <p:nvPr/>
        </p:nvCxnSpPr>
        <p:spPr>
          <a:xfrm>
            <a:off x="5466031" y="4016723"/>
            <a:ext cx="477034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headEnd type="oval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D1FB8EDB-17D3-4321-BB12-5DA23191609A}"/>
              </a:ext>
            </a:extLst>
          </p:cNvPr>
          <p:cNvCxnSpPr>
            <a:cxnSpLocks/>
          </p:cNvCxnSpPr>
          <p:nvPr/>
        </p:nvCxnSpPr>
        <p:spPr>
          <a:xfrm flipH="1">
            <a:off x="194976" y="4016723"/>
            <a:ext cx="477034" cy="0"/>
          </a:xfrm>
          <a:prstGeom prst="straightConnector1">
            <a:avLst/>
          </a:prstGeom>
          <a:ln w="19050">
            <a:solidFill>
              <a:schemeClr val="accent3">
                <a:lumMod val="75000"/>
              </a:schemeClr>
            </a:solidFill>
            <a:headEnd type="oval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0B83FCF8-D4F3-4881-AA00-F57C2BA7DAF0}"/>
                  </a:ext>
                </a:extLst>
              </p:cNvPr>
              <p:cNvSpPr/>
              <p:nvPr/>
            </p:nvSpPr>
            <p:spPr>
              <a:xfrm>
                <a:off x="5899645" y="3813995"/>
                <a:ext cx="47204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ko-KR" altLang="en-US" i="1" smtClean="0">
                          <a:solidFill>
                            <a:srgbClr val="77933C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ko-KR" altLang="en-US" i="1" dirty="0">
                  <a:solidFill>
                    <a:srgbClr val="77933C"/>
                  </a:solidFill>
                </a:endParaRPr>
              </a:p>
            </p:txBody>
          </p:sp>
        </mc:Choice>
        <mc:Fallback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0B83FCF8-D4F3-4881-AA00-F57C2BA7DA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645" y="3813995"/>
                <a:ext cx="47204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/>
          <p:cNvSpPr txBox="1"/>
          <p:nvPr/>
        </p:nvSpPr>
        <p:spPr>
          <a:xfrm>
            <a:off x="5897880" y="4983480"/>
            <a:ext cx="5989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04040"/>
                </a:solidFill>
                <a:latin typeface="Arial"/>
              </a:rPr>
              <a:t>Two tracing points a, b are placed where the k-value (k = u·r/|r|²) is most affected by the grips. For each uniaxial stretching direction (horizontal / vertical), Δk_ab(ε) = |k_a − k_b| is evaluated over ε = 0–15%, and the geometry (W, L, D) is chosen to minimize S = max(Γ_H, Γ_V).  [Nat. Commun. 17, 7389, Eq. 2–3]</a:t>
            </a:r>
          </a:p>
        </p:txBody>
      </p:sp>
    </p:spTree>
    <p:extLst>
      <p:ext uri="{BB962C8B-B14F-4D97-AF65-F5344CB8AC3E}">
        <p14:creationId xmlns:p14="http://schemas.microsoft.com/office/powerpoint/2010/main" val="1480726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5D088B-9D94-CD7E-1F6A-F491FF6837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40768"/>
            <a:ext cx="12192000" cy="4406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EE1E5B-42ED-6884-8EB9-737E898ED589}"/>
              </a:ext>
            </a:extLst>
          </p:cNvPr>
          <p:cNvSpPr txBox="1"/>
          <p:nvPr/>
        </p:nvSpPr>
        <p:spPr>
          <a:xfrm>
            <a:off x="7464152" y="5805264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en-US" altLang="ko-KR" dirty="0" err="1">
                <a:solidFill>
                  <a:schemeClr val="accent2">
                    <a:lumMod val="50000"/>
                  </a:schemeClr>
                </a:solidFill>
              </a:rPr>
              <a:t>i</a:t>
            </a:r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) Best case / (ii) Worst case</a:t>
            </a:r>
            <a:endParaRPr lang="ko-KR" altLang="en-US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64524BA-BD4F-E37F-26C3-0A0B8B0E9A46}"/>
              </a:ext>
            </a:extLst>
          </p:cNvPr>
          <p:cNvSpPr/>
          <p:nvPr/>
        </p:nvSpPr>
        <p:spPr>
          <a:xfrm>
            <a:off x="0" y="1340768"/>
            <a:ext cx="407368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B6106C-134E-166D-6999-19FB70C0AD32}"/>
              </a:ext>
            </a:extLst>
          </p:cNvPr>
          <p:cNvSpPr/>
          <p:nvPr/>
        </p:nvSpPr>
        <p:spPr>
          <a:xfrm>
            <a:off x="7063460" y="1340768"/>
            <a:ext cx="407368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2">
            <a:extLst>
              <a:ext uri="{FF2B5EF4-FFF2-40B4-BE49-F238E27FC236}">
                <a16:creationId xmlns:a16="http://schemas.microsoft.com/office/drawing/2014/main" id="{D6FB26E4-8373-33E3-C43D-29E88A813173}"/>
              </a:ext>
            </a:extLst>
          </p:cNvPr>
          <p:cNvSpPr txBox="1">
            <a:spLocks/>
          </p:cNvSpPr>
          <p:nvPr/>
        </p:nvSpPr>
        <p:spPr>
          <a:xfrm>
            <a:off x="713619" y="189350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dirty="0"/>
              <a:t>Optimization of the auxetic frameworks</a:t>
            </a: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918156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639B25-9B77-3029-941F-1DD05790713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027" y="1784656"/>
            <a:ext cx="12192000" cy="3288688"/>
          </a:xfrm>
          <a:prstGeom prst="rect">
            <a:avLst/>
          </a:prstGeom>
        </p:spPr>
      </p:pic>
      <p:sp>
        <p:nvSpPr>
          <p:cNvPr id="5" name="제목 2">
            <a:extLst>
              <a:ext uri="{FF2B5EF4-FFF2-40B4-BE49-F238E27FC236}">
                <a16:creationId xmlns:a16="http://schemas.microsoft.com/office/drawing/2014/main" id="{445C0BE0-E94F-F24C-9C1E-72A9FE837B92}"/>
              </a:ext>
            </a:extLst>
          </p:cNvPr>
          <p:cNvSpPr txBox="1">
            <a:spLocks/>
          </p:cNvSpPr>
          <p:nvPr/>
        </p:nvSpPr>
        <p:spPr>
          <a:xfrm>
            <a:off x="713619" y="189350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dirty="0"/>
              <a:t>Uniform auxetic effect — best case (i) vs worst case (ii)</a:t>
            </a:r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3687090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A114C2B0-A51F-488A-9A45-F7C7532C3339}"/>
              </a:ext>
            </a:extLst>
          </p:cNvPr>
          <p:cNvSpPr txBox="1">
            <a:spLocks/>
          </p:cNvSpPr>
          <p:nvPr/>
        </p:nvSpPr>
        <p:spPr>
          <a:xfrm>
            <a:off x="767408" y="146319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Determination of adhesive point position</a:t>
            </a:r>
            <a:endParaRPr lang="ko-KR" altLang="en-US" sz="32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BC02E1F-E380-43D0-8BD5-61BDE96A2F35}"/>
              </a:ext>
            </a:extLst>
          </p:cNvPr>
          <p:cNvCxnSpPr/>
          <p:nvPr/>
        </p:nvCxnSpPr>
        <p:spPr>
          <a:xfrm rot="16200000" flipV="1">
            <a:off x="697303" y="3897352"/>
            <a:ext cx="540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6A7B5A-30AC-4864-A0BF-1267322BAD45}"/>
              </a:ext>
            </a:extLst>
          </p:cNvPr>
          <p:cNvSpPr/>
          <p:nvPr/>
        </p:nvSpPr>
        <p:spPr>
          <a:xfrm>
            <a:off x="875440" y="1407849"/>
            <a:ext cx="5040000" cy="5040000"/>
          </a:xfrm>
          <a:prstGeom prst="rect">
            <a:avLst/>
          </a:prstGeom>
          <a:blipFill dpi="0" rotWithShape="1">
            <a:blip r:embed="rId2" cstate="email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A3F411B-AE22-475A-8265-FB846F304901}"/>
              </a:ext>
            </a:extLst>
          </p:cNvPr>
          <p:cNvCxnSpPr/>
          <p:nvPr/>
        </p:nvCxnSpPr>
        <p:spPr>
          <a:xfrm flipV="1">
            <a:off x="735403" y="3922752"/>
            <a:ext cx="5400000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타원 5">
            <a:extLst>
              <a:ext uri="{FF2B5EF4-FFF2-40B4-BE49-F238E27FC236}">
                <a16:creationId xmlns:a16="http://schemas.microsoft.com/office/drawing/2014/main" id="{864B9B57-38C6-4DFC-9F2E-5DCE562263DB}"/>
              </a:ext>
            </a:extLst>
          </p:cNvPr>
          <p:cNvSpPr/>
          <p:nvPr/>
        </p:nvSpPr>
        <p:spPr>
          <a:xfrm>
            <a:off x="5175539" y="3068976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77C908E-5F0F-4347-8C52-0C71620E1154}"/>
              </a:ext>
            </a:extLst>
          </p:cNvPr>
          <p:cNvSpPr/>
          <p:nvPr/>
        </p:nvSpPr>
        <p:spPr>
          <a:xfrm>
            <a:off x="790575" y="1409576"/>
            <a:ext cx="2590800" cy="250190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F467A8D-BD6E-41F7-9A6D-D539B0CFA07C}"/>
              </a:ext>
            </a:extLst>
          </p:cNvPr>
          <p:cNvSpPr/>
          <p:nvPr/>
        </p:nvSpPr>
        <p:spPr>
          <a:xfrm>
            <a:off x="790575" y="3935756"/>
            <a:ext cx="2590800" cy="250190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43064DC-A8A9-4008-9E90-8CA0832745A2}"/>
              </a:ext>
            </a:extLst>
          </p:cNvPr>
          <p:cNvSpPr/>
          <p:nvPr/>
        </p:nvSpPr>
        <p:spPr>
          <a:xfrm>
            <a:off x="3413231" y="3945949"/>
            <a:ext cx="2537270" cy="2501900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B2694AEC-AD93-46A7-B3C3-F2215681B85D}"/>
              </a:ext>
            </a:extLst>
          </p:cNvPr>
          <p:cNvCxnSpPr>
            <a:cxnSpLocks/>
          </p:cNvCxnSpPr>
          <p:nvPr/>
        </p:nvCxnSpPr>
        <p:spPr>
          <a:xfrm flipV="1">
            <a:off x="5247539" y="2295525"/>
            <a:ext cx="810361" cy="849655"/>
          </a:xfrm>
          <a:prstGeom prst="straightConnector1">
            <a:avLst/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E0D3738B-1DFF-4129-A7A9-C1EBA4618726}"/>
              </a:ext>
            </a:extLst>
          </p:cNvPr>
          <p:cNvCxnSpPr>
            <a:cxnSpLocks/>
          </p:cNvCxnSpPr>
          <p:nvPr/>
        </p:nvCxnSpPr>
        <p:spPr>
          <a:xfrm flipV="1">
            <a:off x="3409214" y="2647950"/>
            <a:ext cx="2953486" cy="1268754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C56235BB-8071-419A-9EF9-AEAE9070EAA1}"/>
                  </a:ext>
                </a:extLst>
              </p:cNvPr>
              <p:cNvSpPr/>
              <p:nvPr/>
            </p:nvSpPr>
            <p:spPr>
              <a:xfrm>
                <a:off x="2957945" y="2453029"/>
                <a:ext cx="2543902" cy="368755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r>
                        <a:rPr lang="en-US" altLang="ko-KR" sz="12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ko-KR" sz="12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ko-KR" sz="12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altLang="ko-KR" sz="12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ko-KR" sz="12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sub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2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  <m:sub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sz="12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C56235BB-8071-419A-9EF9-AEAE9070EA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945" y="2453029"/>
                <a:ext cx="2543902" cy="3687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6" name="그림 55">
            <a:extLst>
              <a:ext uri="{FF2B5EF4-FFF2-40B4-BE49-F238E27FC236}">
                <a16:creationId xmlns:a16="http://schemas.microsoft.com/office/drawing/2014/main" id="{9DB40A94-C982-4952-BEFB-49F30DD7918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249" b="-4824"/>
          <a:stretch/>
        </p:blipFill>
        <p:spPr>
          <a:xfrm>
            <a:off x="9105026" y="223798"/>
            <a:ext cx="2275310" cy="231973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4FF9556-D349-4323-B2B8-76736D9346B3}"/>
              </a:ext>
            </a:extLst>
          </p:cNvPr>
          <p:cNvSpPr txBox="1"/>
          <p:nvPr/>
        </p:nvSpPr>
        <p:spPr>
          <a:xfrm>
            <a:off x="5743031" y="1620774"/>
            <a:ext cx="2543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0070C0"/>
                </a:solidFill>
              </a:rPr>
              <a:t>Point displacement vector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FBCFF7C3-5276-4DDC-8557-C5795BB16BDE}"/>
                  </a:ext>
                </a:extLst>
              </p:cNvPr>
              <p:cNvSpPr/>
              <p:nvPr/>
            </p:nvSpPr>
            <p:spPr>
              <a:xfrm>
                <a:off x="5334808" y="3069844"/>
                <a:ext cx="560795" cy="317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sz="1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altLang="ko-KR" sz="1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FBCFF7C3-5276-4DDC-8557-C5795BB16B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808" y="3069844"/>
                <a:ext cx="560795" cy="3172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원호 58">
            <a:extLst>
              <a:ext uri="{FF2B5EF4-FFF2-40B4-BE49-F238E27FC236}">
                <a16:creationId xmlns:a16="http://schemas.microsoft.com/office/drawing/2014/main" id="{F6399ECB-2826-4E19-8601-D8DF3F83FAB1}"/>
              </a:ext>
            </a:extLst>
          </p:cNvPr>
          <p:cNvSpPr/>
          <p:nvPr/>
        </p:nvSpPr>
        <p:spPr>
          <a:xfrm rot="2954989">
            <a:off x="5375485" y="2777902"/>
            <a:ext cx="406823" cy="357809"/>
          </a:xfrm>
          <a:prstGeom prst="arc">
            <a:avLst>
              <a:gd name="adj1" fmla="val 14384170"/>
              <a:gd name="adj2" fmla="val 1797571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42ECAC0-CE6A-4BD1-B80A-6A926BA6A2ED}"/>
                  </a:ext>
                </a:extLst>
              </p:cNvPr>
              <p:cNvSpPr txBox="1"/>
              <p:nvPr/>
            </p:nvSpPr>
            <p:spPr>
              <a:xfrm>
                <a:off x="5676107" y="2443843"/>
                <a:ext cx="625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600" i="1" dirty="0">
                    <a:latin typeface="Symbol" panose="05050102010706020507" pitchFamily="18" charset="2"/>
                  </a:rPr>
                  <a:t> </a:t>
                </a:r>
                <a:endParaRPr lang="ko-KR" altLang="en-US" sz="1600" baseline="-25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42ECAC0-CE6A-4BD1-B80A-6A926BA6A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6107" y="2443843"/>
                <a:ext cx="62544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633F1D0-608D-4C91-B09B-02C8CA2A9801}"/>
                  </a:ext>
                </a:extLst>
              </p:cNvPr>
              <p:cNvSpPr txBox="1"/>
              <p:nvPr/>
            </p:nvSpPr>
            <p:spPr>
              <a:xfrm>
                <a:off x="6528048" y="2779726"/>
                <a:ext cx="5248275" cy="896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Ideally, the point displacement vector for each adhesive point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sz="1600" dirty="0"/>
                  <a:t>) should be proportional to its position vector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  <m:t>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1600" i="1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ko-KR" sz="1600" dirty="0"/>
                  <a:t>). Which can be expressed as,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633F1D0-608D-4C91-B09B-02C8CA2A9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2779726"/>
                <a:ext cx="5248275" cy="896015"/>
              </a:xfrm>
              <a:prstGeom prst="rect">
                <a:avLst/>
              </a:prstGeom>
              <a:blipFill>
                <a:blip r:embed="rId7"/>
                <a:stretch>
                  <a:fillRect l="-697" t="-2041" r="-697" b="-81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21856F28-D94A-4C70-BDEF-3594AC992574}"/>
                  </a:ext>
                </a:extLst>
              </p:cNvPr>
              <p:cNvSpPr/>
              <p:nvPr/>
            </p:nvSpPr>
            <p:spPr>
              <a:xfrm>
                <a:off x="6542084" y="3712485"/>
                <a:ext cx="2884251" cy="36458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=1…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=1…4)</m:t>
                      </m:r>
                    </m:oMath>
                  </m:oMathPara>
                </a14:m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21856F28-D94A-4C70-BDEF-3594AC9925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2084" y="3712485"/>
                <a:ext cx="2884251" cy="364587"/>
              </a:xfrm>
              <a:prstGeom prst="rect">
                <a:avLst/>
              </a:prstGeom>
              <a:blipFill>
                <a:blip r:embed="rId8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9370BEDB-767F-4B41-9F4C-9A4640BF7F7B}"/>
              </a:ext>
            </a:extLst>
          </p:cNvPr>
          <p:cNvSpPr txBox="1"/>
          <p:nvPr/>
        </p:nvSpPr>
        <p:spPr>
          <a:xfrm>
            <a:off x="5808340" y="2298973"/>
            <a:ext cx="21259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Position vector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C9839CC-16BF-4D6E-98C0-6882B9CD2C7C}"/>
                  </a:ext>
                </a:extLst>
              </p:cNvPr>
              <p:cNvSpPr txBox="1"/>
              <p:nvPr/>
            </p:nvSpPr>
            <p:spPr>
              <a:xfrm>
                <a:off x="9337751" y="3740889"/>
                <a:ext cx="237073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ko-KR" sz="1400" dirty="0"/>
                  <a:t> : Proportional constant)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C9839CC-16BF-4D6E-98C0-6882B9CD2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751" y="3740889"/>
                <a:ext cx="2370733" cy="307777"/>
              </a:xfrm>
              <a:prstGeom prst="rect">
                <a:avLst/>
              </a:prstGeom>
              <a:blipFill>
                <a:blip r:embed="rId9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655DF2A-3747-4630-BED7-A0FCE51683B3}"/>
                  </a:ext>
                </a:extLst>
              </p:cNvPr>
              <p:cNvSpPr txBox="1"/>
              <p:nvPr/>
            </p:nvSpPr>
            <p:spPr>
              <a:xfrm>
                <a:off x="6556623" y="4079974"/>
                <a:ext cx="5353050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Here,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is constant for every adhesive point. This means that strain uniformity can be achieved if the A points are stretched at the same rate, regardless of their distance from the origin. </a:t>
                </a:r>
              </a:p>
              <a:p>
                <a:endParaRPr lang="en-US" altLang="ko-KR" sz="16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655DF2A-3747-4630-BED7-A0FCE5168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623" y="4079974"/>
                <a:ext cx="5353050" cy="1077218"/>
              </a:xfrm>
              <a:prstGeom prst="rect">
                <a:avLst/>
              </a:prstGeom>
              <a:blipFill>
                <a:blip r:embed="rId10"/>
                <a:stretch>
                  <a:fillRect l="-683" t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직사각형 67">
            <a:extLst>
              <a:ext uri="{FF2B5EF4-FFF2-40B4-BE49-F238E27FC236}">
                <a16:creationId xmlns:a16="http://schemas.microsoft.com/office/drawing/2014/main" id="{67BD05DF-4F0B-4E6D-8116-E03132364FF4}"/>
              </a:ext>
            </a:extLst>
          </p:cNvPr>
          <p:cNvSpPr/>
          <p:nvPr/>
        </p:nvSpPr>
        <p:spPr>
          <a:xfrm>
            <a:off x="263352" y="796258"/>
            <a:ext cx="5575425" cy="400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20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Displacement vector for uniform strain</a:t>
            </a:r>
            <a:endParaRPr lang="ko-KR" altLang="ko-KR" sz="20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A6FC8491-E540-4929-94FD-6AD4C3201F64}"/>
                  </a:ext>
                </a:extLst>
              </p:cNvPr>
              <p:cNvSpPr/>
              <p:nvPr/>
            </p:nvSpPr>
            <p:spPr>
              <a:xfrm>
                <a:off x="6648690" y="6183634"/>
                <a:ext cx="1814023" cy="66774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ko-KR" sz="14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40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A6FC8491-E540-4929-94FD-6AD4C3201F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690" y="6183634"/>
                <a:ext cx="1814023" cy="6677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F07DECDD-02CB-4174-B3AA-E5E8927B60CD}"/>
                  </a:ext>
                </a:extLst>
              </p:cNvPr>
              <p:cNvSpPr/>
              <p:nvPr/>
            </p:nvSpPr>
            <p:spPr>
              <a:xfrm>
                <a:off x="6553200" y="4993251"/>
                <a:ext cx="5353040" cy="13462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/>
                  <a:t>For practical use,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sz="1600" i="1" dirty="0">
                    <a:latin typeface="Symbol" panose="05050102010706020507" pitchFamily="18" charset="2"/>
                  </a:rPr>
                  <a:t> </a:t>
                </a:r>
                <a:r>
                  <a:rPr lang="en-US" altLang="ko-KR" sz="1600" dirty="0"/>
                  <a:t>must be sufficiently small (e.g. ~ 10 deg). Then, by calculating a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altLang="ko-KR" sz="1600" dirty="0"/>
                  <a:t> that satisfy the condition, </a:t>
                </a:r>
                <a:r>
                  <a:rPr lang="en-US" altLang="ko-KR" sz="1600" u="sng" dirty="0">
                    <a:solidFill>
                      <a:srgbClr val="FF0000"/>
                    </a:solidFill>
                  </a:rPr>
                  <a:t>isotropic expansion can be implemented for stretching along both the x- and y-axes (diagonal: extension beyond the published paper)</a:t>
                </a:r>
                <a:r>
                  <a:rPr lang="en-US" altLang="ko-KR" sz="1600" dirty="0"/>
                  <a:t>.</a:t>
                </a:r>
                <a:endParaRPr lang="ko-KR" altLang="en-US" sz="1600" dirty="0"/>
              </a:p>
            </p:txBody>
          </p:sp>
        </mc:Choice>
        <mc:Fallback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F07DECDD-02CB-4174-B3AA-E5E8927B60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93251"/>
                <a:ext cx="5353040" cy="1346266"/>
              </a:xfrm>
              <a:prstGeom prst="rect">
                <a:avLst/>
              </a:prstGeom>
              <a:blipFill>
                <a:blip r:embed="rId12"/>
                <a:stretch>
                  <a:fillRect l="-569" t="-1810" b="-49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72">
            <a:extLst>
              <a:ext uri="{FF2B5EF4-FFF2-40B4-BE49-F238E27FC236}">
                <a16:creationId xmlns:a16="http://schemas.microsoft.com/office/drawing/2014/main" id="{21379249-C16A-4D80-B848-DCEB48608CF4}"/>
              </a:ext>
            </a:extLst>
          </p:cNvPr>
          <p:cNvSpPr txBox="1"/>
          <p:nvPr/>
        </p:nvSpPr>
        <p:spPr>
          <a:xfrm>
            <a:off x="8688288" y="6283767"/>
            <a:ext cx="23707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For </a:t>
            </a:r>
            <a:r>
              <a:rPr lang="en-US" altLang="ko-KR" sz="1400" dirty="0" err="1"/>
              <a:t>pratical</a:t>
            </a:r>
            <a:r>
              <a:rPr lang="en-US" altLang="ko-KR" sz="1400" dirty="0"/>
              <a:t> use (handle)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A65357FB-122B-4716-BED8-A0E69236B0DC}"/>
                  </a:ext>
                </a:extLst>
              </p:cNvPr>
              <p:cNvSpPr/>
              <p:nvPr/>
            </p:nvSpPr>
            <p:spPr>
              <a:xfrm>
                <a:off x="6682872" y="1883811"/>
                <a:ext cx="498278" cy="3645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ko-KR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1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A65357FB-122B-4716-BED8-A0E69236B0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872" y="1883811"/>
                <a:ext cx="498278" cy="364587"/>
              </a:xfrm>
              <a:prstGeom prst="rect">
                <a:avLst/>
              </a:prstGeom>
              <a:blipFill>
                <a:blip r:embed="rId13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41E525F5-79C2-42D0-AD20-DAE343036812}"/>
                  </a:ext>
                </a:extLst>
              </p:cNvPr>
              <p:cNvSpPr/>
              <p:nvPr/>
            </p:nvSpPr>
            <p:spPr>
              <a:xfrm>
                <a:off x="7378062" y="2264811"/>
                <a:ext cx="507896" cy="3645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41E525F5-79C2-42D0-AD20-DAE3430368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8062" y="2264811"/>
                <a:ext cx="507896" cy="364587"/>
              </a:xfrm>
              <a:prstGeom prst="rect">
                <a:avLst/>
              </a:prstGeom>
              <a:blipFill>
                <a:blip r:embed="rId14"/>
                <a:stretch>
                  <a:fillRect b="-50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2973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2C4BF0A7-382F-4B50-8CB7-0D4A4629D10D}"/>
              </a:ext>
            </a:extLst>
          </p:cNvPr>
          <p:cNvSpPr txBox="1">
            <a:spLocks/>
          </p:cNvSpPr>
          <p:nvPr/>
        </p:nvSpPr>
        <p:spPr>
          <a:xfrm>
            <a:off x="692980" y="242012"/>
            <a:ext cx="8890068" cy="61838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Defining a position of adhesive point in matrix region</a:t>
            </a:r>
            <a:endParaRPr lang="ko-KR" altLang="en-US" sz="3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E08B4A-02C2-4B11-B687-6359DAFABB5E}"/>
              </a:ext>
            </a:extLst>
          </p:cNvPr>
          <p:cNvSpPr/>
          <p:nvPr/>
        </p:nvSpPr>
        <p:spPr>
          <a:xfrm>
            <a:off x="1133202" y="5108642"/>
            <a:ext cx="38760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Binary spatial distribution: </a:t>
            </a:r>
            <a:r>
              <a:rPr lang="en-US" altLang="ko-KR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ko-KR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6A722032-4CDC-44E2-9BDF-B84CEADDD236}"/>
              </a:ext>
            </a:extLst>
          </p:cNvPr>
          <p:cNvSpPr/>
          <p:nvPr/>
        </p:nvSpPr>
        <p:spPr>
          <a:xfrm>
            <a:off x="5802559" y="4984280"/>
            <a:ext cx="38760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Spatial distribution matrix : </a:t>
            </a:r>
            <a:r>
              <a:rPr lang="en-US" altLang="ko-KR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ko-KR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ko-K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ko-KR" sz="16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ko-K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9735FBBE-D907-4D82-8B49-549A640A1D46}"/>
                  </a:ext>
                </a:extLst>
              </p:cNvPr>
              <p:cNvSpPr/>
              <p:nvPr/>
            </p:nvSpPr>
            <p:spPr>
              <a:xfrm>
                <a:off x="1259538" y="5421163"/>
                <a:ext cx="3623416" cy="5229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ko-KR" sz="1600" b="1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ko-KR" sz="1600" b="1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i="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b="0" i="1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i="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b="0" i="1" dirty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i="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ko-KR" altLang="en-US" sz="1600" i="0" dirty="0"/>
                                <m:t> 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en-US" altLang="ko-KR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ko-KR" sz="1600" b="1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altLang="ko-KR" sz="1600" b="1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M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i="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i="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i="1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</m:t>
                              </m:r>
                              <m:r>
                                <m:rPr>
                                  <m:nor/>
                                </m:rPr>
                                <a:rPr lang="en-US" altLang="ko-KR" sz="1600" i="0" dirty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ko-KR" altLang="en-US" sz="1600" i="0" dirty="0"/>
                                <m:t> 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9735FBBE-D907-4D82-8B49-549A640A1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538" y="5421163"/>
                <a:ext cx="3623416" cy="522900"/>
              </a:xfrm>
              <a:prstGeom prst="rect">
                <a:avLst/>
              </a:prstGeom>
              <a:blipFill>
                <a:blip r:embed="rId2"/>
                <a:stretch>
                  <a:fillRect t="-144186" b="-2046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EF76BA1-955D-4416-9336-CADFD5D2CC82}"/>
                  </a:ext>
                </a:extLst>
              </p:cNvPr>
              <p:cNvSpPr/>
              <p:nvPr/>
            </p:nvSpPr>
            <p:spPr>
              <a:xfrm>
                <a:off x="6141640" y="5404467"/>
                <a:ext cx="362341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ko-KR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ko-KR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ko-KR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ko-KR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ko-KR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ko-KR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ko-KR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ko-KR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ko-KR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en-US" altLang="ko-K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ko-KR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1,1</a:t>
                </a:r>
                <a:r>
                  <a:rPr lang="en-US" altLang="ko-KR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ko-K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ko-KR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1,1</a:t>
                </a:r>
                <a:r>
                  <a:rPr lang="en-US" altLang="ko-K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1,1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ko-K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ko-KR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1,2</a:t>
                </a:r>
                <a:r>
                  <a:rPr lang="en-US" altLang="ko-KR" b="1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altLang="ko-K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ko-KR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1,2</a:t>
                </a:r>
                <a:r>
                  <a:rPr lang="en-US" altLang="ko-KR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ko-KR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1,2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⋯</m:t>
                    </m:r>
                  </m:oMath>
                </a14:m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EF76BA1-955D-4416-9336-CADFD5D2CC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1640" y="5404467"/>
                <a:ext cx="3623417" cy="646331"/>
              </a:xfrm>
              <a:prstGeom prst="rect">
                <a:avLst/>
              </a:prstGeom>
              <a:blipFill>
                <a:blip r:embed="rId3"/>
                <a:stretch>
                  <a:fillRect l="-1345" t="-5660" b="-141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17A3C0E-0ABC-45B1-BB12-DF67F244138B}"/>
                  </a:ext>
                </a:extLst>
              </p:cNvPr>
              <p:cNvSpPr/>
              <p:nvPr/>
            </p:nvSpPr>
            <p:spPr>
              <a:xfrm>
                <a:off x="10784098" y="200118"/>
                <a:ext cx="1216102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5%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F17A3C0E-0ABC-45B1-BB12-DF67F24413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098" y="200118"/>
                <a:ext cx="12161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그림 22">
            <a:extLst>
              <a:ext uri="{FF2B5EF4-FFF2-40B4-BE49-F238E27FC236}">
                <a16:creationId xmlns:a16="http://schemas.microsoft.com/office/drawing/2014/main" id="{1A62BBC0-C745-4843-A629-D9BB5B001A4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85362" y="2247303"/>
            <a:ext cx="2718792" cy="27007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FFF8DD89-8EFE-42EA-A7C5-95FA023B04A6}"/>
                  </a:ext>
                </a:extLst>
              </p:cNvPr>
              <p:cNvSpPr/>
              <p:nvPr/>
            </p:nvSpPr>
            <p:spPr>
              <a:xfrm>
                <a:off x="1498856" y="1011906"/>
                <a:ext cx="2794602" cy="7181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acc>
                                </m:num>
                                <m:den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FFF8DD89-8EFE-42EA-A7C5-95FA023B04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8856" y="1011906"/>
                <a:ext cx="2794602" cy="7181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B3B99BE-288B-4281-80E3-DAE0587C9249}"/>
                  </a:ext>
                </a:extLst>
              </p:cNvPr>
              <p:cNvSpPr/>
              <p:nvPr/>
            </p:nvSpPr>
            <p:spPr>
              <a:xfrm>
                <a:off x="1739852" y="1779790"/>
                <a:ext cx="322245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ko-KR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ko-KR" altLang="en-US" sz="16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6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Region at x-y space</a:t>
                </a:r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7B3B99BE-288B-4281-80E3-DAE0587C92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852" y="1779790"/>
                <a:ext cx="3222450" cy="338554"/>
              </a:xfrm>
              <a:prstGeom prst="rect">
                <a:avLst/>
              </a:prstGeom>
              <a:blipFill>
                <a:blip r:embed="rId7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그림 45">
            <a:extLst>
              <a:ext uri="{FF2B5EF4-FFF2-40B4-BE49-F238E27FC236}">
                <a16:creationId xmlns:a16="http://schemas.microsoft.com/office/drawing/2014/main" id="{9B287A47-9A6A-4FC7-B7AE-39A58E78D0C6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384032" y="2445686"/>
            <a:ext cx="2442479" cy="2456961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79CB58E3-2DE9-47E9-AFEE-55EC559DF553}"/>
              </a:ext>
            </a:extLst>
          </p:cNvPr>
          <p:cNvSpPr/>
          <p:nvPr/>
        </p:nvSpPr>
        <p:spPr>
          <a:xfrm>
            <a:off x="8994143" y="2662686"/>
            <a:ext cx="186847" cy="2225864"/>
          </a:xfrm>
          <a:prstGeom prst="rect">
            <a:avLst/>
          </a:prstGeom>
          <a:gradFill>
            <a:gsLst>
              <a:gs pos="25000">
                <a:srgbClr val="FC3E01"/>
              </a:gs>
              <a:gs pos="88000">
                <a:srgbClr val="BAAAFB"/>
              </a:gs>
              <a:gs pos="75000">
                <a:srgbClr val="72A1FC"/>
              </a:gs>
              <a:gs pos="63000">
                <a:srgbClr val="25E9F3"/>
              </a:gs>
              <a:gs pos="50000">
                <a:srgbClr val="7FFE7E"/>
              </a:gs>
              <a:gs pos="13000">
                <a:srgbClr val="C40027"/>
              </a:gs>
              <a:gs pos="38000">
                <a:srgbClr val="F5D30A"/>
              </a:gs>
              <a:gs pos="1000">
                <a:srgbClr val="680064"/>
              </a:gs>
              <a:gs pos="100000">
                <a:srgbClr val="E7EA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7E2088-C38D-4A4D-BF65-1C3E5AE85540}"/>
              </a:ext>
            </a:extLst>
          </p:cNvPr>
          <p:cNvSpPr txBox="1"/>
          <p:nvPr/>
        </p:nvSpPr>
        <p:spPr>
          <a:xfrm>
            <a:off x="9137571" y="4741227"/>
            <a:ext cx="564830" cy="294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86CD814-98C2-4CBC-89AC-EF71C5B5F56B}"/>
              </a:ext>
            </a:extLst>
          </p:cNvPr>
          <p:cNvSpPr txBox="1"/>
          <p:nvPr/>
        </p:nvSpPr>
        <p:spPr>
          <a:xfrm>
            <a:off x="9137571" y="2563931"/>
            <a:ext cx="564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0.25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AFF06E-43BD-4DF2-90B5-CE8F32997D9C}"/>
              </a:ext>
            </a:extLst>
          </p:cNvPr>
          <p:cNvSpPr txBox="1"/>
          <p:nvPr/>
        </p:nvSpPr>
        <p:spPr>
          <a:xfrm>
            <a:off x="9137571" y="3542053"/>
            <a:ext cx="5648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0.12</a:t>
            </a:r>
            <a:endParaRPr lang="ko-KR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2D6B4EDE-BCBD-4C18-8C29-2D4568B7CBDB}"/>
                  </a:ext>
                </a:extLst>
              </p:cNvPr>
              <p:cNvSpPr/>
              <p:nvPr/>
            </p:nvSpPr>
            <p:spPr>
              <a:xfrm>
                <a:off x="8921736" y="2283414"/>
                <a:ext cx="346760" cy="3241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2D6B4EDE-BCBD-4C18-8C29-2D4568B7CB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736" y="2283414"/>
                <a:ext cx="346760" cy="3241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CC67691-26C9-4C5D-A7A1-2DDD5616D8ED}"/>
                  </a:ext>
                </a:extLst>
              </p:cNvPr>
              <p:cNvSpPr/>
              <p:nvPr/>
            </p:nvSpPr>
            <p:spPr>
              <a:xfrm>
                <a:off x="6284296" y="1099727"/>
                <a:ext cx="3258969" cy="403572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=1…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=1…4)</m:t>
                      </m:r>
                    </m:oMath>
                  </m:oMathPara>
                </a14:m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6CC67691-26C9-4C5D-A7A1-2DDD5616D8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296" y="1099727"/>
                <a:ext cx="3258969" cy="403572"/>
              </a:xfrm>
              <a:prstGeom prst="rect">
                <a:avLst/>
              </a:prstGeom>
              <a:blipFill>
                <a:blip r:embed="rId10"/>
                <a:stretch>
                  <a:fillRect b="-44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DFF741DF-2B94-482E-92B1-315C095BBF77}"/>
                  </a:ext>
                </a:extLst>
              </p:cNvPr>
              <p:cNvSpPr/>
              <p:nvPr/>
            </p:nvSpPr>
            <p:spPr>
              <a:xfrm>
                <a:off x="6828187" y="1603783"/>
                <a:ext cx="1741370" cy="7987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ko-KR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acc>
                            <m:accPr>
                              <m:chr m:val="⃗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’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’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ko-KR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DFF741DF-2B94-482E-92B1-315C095BBF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87" y="1603783"/>
                <a:ext cx="1741370" cy="79874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D975030-B295-4F39-84D5-3327AC4155E8}"/>
                  </a:ext>
                </a:extLst>
              </p:cNvPr>
              <p:cNvSpPr/>
              <p:nvPr/>
            </p:nvSpPr>
            <p:spPr>
              <a:xfrm>
                <a:off x="8368424" y="6293295"/>
                <a:ext cx="3843587" cy="3645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: Angular separation between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’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</m:e>
                    </m:acc>
                  </m:oMath>
                </a14:m>
                <a:endParaRPr lang="ko-KR" altLang="en-US" sz="1400" dirty="0"/>
              </a:p>
            </p:txBody>
          </p:sp>
        </mc:Choice>
        <mc:Fallback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D975030-B295-4F39-84D5-3327AC4155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424" y="6293295"/>
                <a:ext cx="3843587" cy="364587"/>
              </a:xfrm>
              <a:prstGeom prst="rect">
                <a:avLst/>
              </a:prstGeom>
              <a:blipFill>
                <a:blip r:embed="rId12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/>
          <p:cNvSpPr txBox="1"/>
          <p:nvPr/>
        </p:nvSpPr>
        <p:spPr>
          <a:xfrm>
            <a:off x="822960" y="6455664"/>
            <a:ext cx="10424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7F7F7F"/>
                </a:solidFill>
                <a:latin typeface="Arial"/>
              </a:rPr>
              <a:t>Published notation: Mᵢⱼ = 𝟏[α &lt; 10°], Nᵢⱼ = u·r/|r|, Kᵢⱼ = MᵢⱼNᵢⱼ — paper evaluates Kᴴ at ε = 3% (worst case, H) and Kᵛ at ε = 15%.</a:t>
            </a:r>
          </a:p>
        </p:txBody>
      </p:sp>
    </p:spTree>
    <p:extLst>
      <p:ext uri="{BB962C8B-B14F-4D97-AF65-F5344CB8AC3E}">
        <p14:creationId xmlns:p14="http://schemas.microsoft.com/office/powerpoint/2010/main" val="877619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49C9852-90F0-4D56-8689-5C3B913921B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61049" y="2485878"/>
            <a:ext cx="3759227" cy="3826356"/>
          </a:xfrm>
          <a:prstGeom prst="rect">
            <a:avLst/>
          </a:prstGeom>
        </p:spPr>
      </p:pic>
      <p:sp>
        <p:nvSpPr>
          <p:cNvPr id="2" name="제목 2">
            <a:extLst>
              <a:ext uri="{FF2B5EF4-FFF2-40B4-BE49-F238E27FC236}">
                <a16:creationId xmlns:a16="http://schemas.microsoft.com/office/drawing/2014/main" id="{E56BDD0F-E8D1-41FE-AFFA-EF5C106F4F88}"/>
              </a:ext>
            </a:extLst>
          </p:cNvPr>
          <p:cNvSpPr txBox="1">
            <a:spLocks/>
          </p:cNvSpPr>
          <p:nvPr/>
        </p:nvSpPr>
        <p:spPr>
          <a:xfrm>
            <a:off x="724878" y="252644"/>
            <a:ext cx="8890068" cy="61838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Defining the adhesion point using our fundamental basis</a:t>
            </a:r>
            <a:endParaRPr lang="ko-KR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/>
        <mc:Fallback xmlns=""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91817C83-E831-4C59-ADF3-BB1C37843A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2792" y="7144681"/>
                <a:ext cx="13753528" cy="1430584"/>
              </a:xfrm>
              <a:prstGeom prst="rect">
                <a:avLst/>
              </a:prstGeom>
              <a:blipFill>
                <a:blip r:embed="rId4"/>
                <a:stretch>
                  <a:fillRect t="-2553" r="-355" b="-51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그림 28">
            <a:extLst>
              <a:ext uri="{FF2B5EF4-FFF2-40B4-BE49-F238E27FC236}">
                <a16:creationId xmlns:a16="http://schemas.microsoft.com/office/drawing/2014/main" id="{89023074-8093-4D51-B10B-6BF00AAFBD3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108" y="2492768"/>
            <a:ext cx="1752419" cy="1715133"/>
          </a:xfrm>
          <a:prstGeom prst="rect">
            <a:avLst/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0AF0F19B-06A5-4787-B371-A79CAC984EDA}"/>
              </a:ext>
            </a:extLst>
          </p:cNvPr>
          <p:cNvSpPr/>
          <p:nvPr/>
        </p:nvSpPr>
        <p:spPr>
          <a:xfrm>
            <a:off x="321409" y="844807"/>
            <a:ext cx="5575425" cy="400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20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Possible zone for adhesive point sets</a:t>
            </a:r>
            <a:endParaRPr lang="ko-KR" altLang="ko-KR" sz="20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3AA8450-0913-442A-AE4E-2C59830CFC54}"/>
              </a:ext>
            </a:extLst>
          </p:cNvPr>
          <p:cNvSpPr txBox="1"/>
          <p:nvPr/>
        </p:nvSpPr>
        <p:spPr>
          <a:xfrm>
            <a:off x="5984691" y="3197078"/>
            <a:ext cx="1045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0.25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BCC4AE-15BF-4729-BE8C-ADCE45426EAF}"/>
              </a:ext>
            </a:extLst>
          </p:cNvPr>
          <p:cNvSpPr txBox="1"/>
          <p:nvPr/>
        </p:nvSpPr>
        <p:spPr>
          <a:xfrm>
            <a:off x="5959291" y="6038581"/>
            <a:ext cx="100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0.12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00AD4567-3F10-485E-B0D9-429837EF687F}"/>
                  </a:ext>
                </a:extLst>
              </p:cNvPr>
              <p:cNvSpPr/>
              <p:nvPr/>
            </p:nvSpPr>
            <p:spPr>
              <a:xfrm>
                <a:off x="5212442" y="1328997"/>
                <a:ext cx="2477025" cy="719428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’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=1…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=1…4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00AD4567-3F10-485E-B0D9-429837EF68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442" y="1328997"/>
                <a:ext cx="2477025" cy="719428"/>
              </a:xfrm>
              <a:prstGeom prst="rect">
                <a:avLst/>
              </a:prstGeom>
              <a:blipFill>
                <a:blip r:embed="rId6"/>
                <a:stretch>
                  <a:fillRect b="-76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1BA79569-0A9C-4D51-A642-3A7DCF7187CB}"/>
                  </a:ext>
                </a:extLst>
              </p:cNvPr>
              <p:cNvSpPr/>
              <p:nvPr/>
            </p:nvSpPr>
            <p:spPr>
              <a:xfrm>
                <a:off x="425623" y="1469395"/>
                <a:ext cx="557542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altLang="ko-KR" sz="2000" dirty="0"/>
                  <a:t>, where</a:t>
                </a:r>
                <a:endParaRPr lang="ko-KR" altLang="en-US" sz="2000" dirty="0"/>
              </a:p>
            </p:txBody>
          </p:sp>
        </mc:Choice>
        <mc:Fallback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1BA79569-0A9C-4D51-A642-3A7DCF7187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23" y="1469395"/>
                <a:ext cx="5575425" cy="400110"/>
              </a:xfrm>
              <a:prstGeom prst="rect">
                <a:avLst/>
              </a:prstGeom>
              <a:blipFill>
                <a:blip r:embed="rId7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275E70D0-B329-476B-AD4C-51EE02310BDA}"/>
              </a:ext>
            </a:extLst>
          </p:cNvPr>
          <p:cNvCxnSpPr>
            <a:cxnSpLocks/>
          </p:cNvCxnSpPr>
          <p:nvPr/>
        </p:nvCxnSpPr>
        <p:spPr>
          <a:xfrm flipH="1">
            <a:off x="5156200" y="6429221"/>
            <a:ext cx="70658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1AA6233-5CD8-41E8-8428-9E9B74CF316D}"/>
              </a:ext>
            </a:extLst>
          </p:cNvPr>
          <p:cNvSpPr txBox="1"/>
          <p:nvPr/>
        </p:nvSpPr>
        <p:spPr>
          <a:xfrm>
            <a:off x="5119687" y="6440666"/>
            <a:ext cx="733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1 cm</a:t>
            </a:r>
            <a:endParaRPr lang="ko-KR" altLang="en-US" sz="1600" dirty="0"/>
          </a:p>
        </p:txBody>
      </p:sp>
      <p:sp>
        <p:nvSpPr>
          <p:cNvPr id="71" name="자유형: 도형 70">
            <a:extLst>
              <a:ext uri="{FF2B5EF4-FFF2-40B4-BE49-F238E27FC236}">
                <a16:creationId xmlns:a16="http://schemas.microsoft.com/office/drawing/2014/main" id="{2665FFD5-EBB4-49F5-9109-38E04C2277F6}"/>
              </a:ext>
            </a:extLst>
          </p:cNvPr>
          <p:cNvSpPr/>
          <p:nvPr/>
        </p:nvSpPr>
        <p:spPr>
          <a:xfrm rot="5400000">
            <a:off x="2945147" y="2500122"/>
            <a:ext cx="2933171" cy="2936734"/>
          </a:xfrm>
          <a:custGeom>
            <a:avLst/>
            <a:gdLst>
              <a:gd name="connsiteX0" fmla="*/ 0 w 2857500"/>
              <a:gd name="connsiteY0" fmla="*/ 2868367 h 2868367"/>
              <a:gd name="connsiteX1" fmla="*/ 0 w 2857500"/>
              <a:gd name="connsiteY1" fmla="*/ 2169867 h 2868367"/>
              <a:gd name="connsiteX2" fmla="*/ 2159000 w 2857500"/>
              <a:gd name="connsiteY2" fmla="*/ 2169867 h 2868367"/>
              <a:gd name="connsiteX3" fmla="*/ 2159000 w 2857500"/>
              <a:gd name="connsiteY3" fmla="*/ 0 h 2868367"/>
              <a:gd name="connsiteX4" fmla="*/ 2857500 w 2857500"/>
              <a:gd name="connsiteY4" fmla="*/ 0 h 2868367"/>
              <a:gd name="connsiteX5" fmla="*/ 2857500 w 2857500"/>
              <a:gd name="connsiteY5" fmla="*/ 2169867 h 2868367"/>
              <a:gd name="connsiteX6" fmla="*/ 2857500 w 2857500"/>
              <a:gd name="connsiteY6" fmla="*/ 2857500 h 2868367"/>
              <a:gd name="connsiteX7" fmla="*/ 2857500 w 2857500"/>
              <a:gd name="connsiteY7" fmla="*/ 2868367 h 2868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57500" h="2868367">
                <a:moveTo>
                  <a:pt x="0" y="2868367"/>
                </a:moveTo>
                <a:lnTo>
                  <a:pt x="0" y="2169867"/>
                </a:lnTo>
                <a:lnTo>
                  <a:pt x="2159000" y="2169867"/>
                </a:lnTo>
                <a:lnTo>
                  <a:pt x="2159000" y="0"/>
                </a:lnTo>
                <a:lnTo>
                  <a:pt x="2857500" y="0"/>
                </a:lnTo>
                <a:lnTo>
                  <a:pt x="2857500" y="2169867"/>
                </a:lnTo>
                <a:lnTo>
                  <a:pt x="2857500" y="2857500"/>
                </a:lnTo>
                <a:lnTo>
                  <a:pt x="2857500" y="2868367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059A7CFB-A230-4572-8E5E-5513FEC867C7}"/>
              </a:ext>
            </a:extLst>
          </p:cNvPr>
          <p:cNvSpPr/>
          <p:nvPr/>
        </p:nvSpPr>
        <p:spPr>
          <a:xfrm rot="5400000">
            <a:off x="2186865" y="2495987"/>
            <a:ext cx="3684706" cy="3696537"/>
          </a:xfrm>
          <a:custGeom>
            <a:avLst/>
            <a:gdLst>
              <a:gd name="connsiteX0" fmla="*/ 0 w 3540923"/>
              <a:gd name="connsiteY0" fmla="*/ 3506950 h 3506950"/>
              <a:gd name="connsiteX1" fmla="*/ 0 w 3540923"/>
              <a:gd name="connsiteY1" fmla="*/ 2821150 h 3506950"/>
              <a:gd name="connsiteX2" fmla="*/ 2857500 w 3540923"/>
              <a:gd name="connsiteY2" fmla="*/ 2821150 h 3506950"/>
              <a:gd name="connsiteX3" fmla="*/ 2857500 w 3540923"/>
              <a:gd name="connsiteY3" fmla="*/ 0 h 3506950"/>
              <a:gd name="connsiteX4" fmla="*/ 3540923 w 3540923"/>
              <a:gd name="connsiteY4" fmla="*/ 0 h 3506950"/>
              <a:gd name="connsiteX5" fmla="*/ 3540923 w 3540923"/>
              <a:gd name="connsiteY5" fmla="*/ 3492500 h 3506950"/>
              <a:gd name="connsiteX6" fmla="*/ 3492501 w 3540923"/>
              <a:gd name="connsiteY6" fmla="*/ 3492500 h 3506950"/>
              <a:gd name="connsiteX7" fmla="*/ 3492501 w 3540923"/>
              <a:gd name="connsiteY7" fmla="*/ 3506950 h 3506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40923" h="3506950">
                <a:moveTo>
                  <a:pt x="0" y="3506950"/>
                </a:moveTo>
                <a:lnTo>
                  <a:pt x="0" y="2821150"/>
                </a:lnTo>
                <a:lnTo>
                  <a:pt x="2857500" y="2821150"/>
                </a:lnTo>
                <a:lnTo>
                  <a:pt x="2857500" y="0"/>
                </a:lnTo>
                <a:lnTo>
                  <a:pt x="3540923" y="0"/>
                </a:lnTo>
                <a:lnTo>
                  <a:pt x="3540923" y="3492500"/>
                </a:lnTo>
                <a:lnTo>
                  <a:pt x="3492501" y="3492500"/>
                </a:lnTo>
                <a:lnTo>
                  <a:pt x="3492501" y="3506950"/>
                </a:lnTo>
                <a:close/>
              </a:path>
            </a:pathLst>
          </a:custGeom>
          <a:noFill/>
          <a:ln w="317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480E4B7-5356-48FC-9235-127420FFFC2A}"/>
              </a:ext>
            </a:extLst>
          </p:cNvPr>
          <p:cNvSpPr/>
          <p:nvPr/>
        </p:nvSpPr>
        <p:spPr>
          <a:xfrm>
            <a:off x="5819303" y="2464316"/>
            <a:ext cx="108000" cy="108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1E7F896E-6759-4168-90CB-CEFEFF7BBF27}"/>
                  </a:ext>
                </a:extLst>
              </p:cNvPr>
              <p:cNvSpPr/>
              <p:nvPr/>
            </p:nvSpPr>
            <p:spPr>
              <a:xfrm>
                <a:off x="5808543" y="2947474"/>
                <a:ext cx="59924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1E7F896E-6759-4168-90CB-CEFEFF7BBF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543" y="2947474"/>
                <a:ext cx="59924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직사각형 33">
            <a:extLst>
              <a:ext uri="{FF2B5EF4-FFF2-40B4-BE49-F238E27FC236}">
                <a16:creationId xmlns:a16="http://schemas.microsoft.com/office/drawing/2014/main" id="{EA73DD7A-61D5-4792-A749-3D45E9B7DC83}"/>
              </a:ext>
            </a:extLst>
          </p:cNvPr>
          <p:cNvSpPr/>
          <p:nvPr/>
        </p:nvSpPr>
        <p:spPr>
          <a:xfrm>
            <a:off x="5988683" y="3375000"/>
            <a:ext cx="234317" cy="2791363"/>
          </a:xfrm>
          <a:prstGeom prst="rect">
            <a:avLst/>
          </a:prstGeom>
          <a:gradFill>
            <a:gsLst>
              <a:gs pos="25000">
                <a:srgbClr val="FC3E01"/>
              </a:gs>
              <a:gs pos="88000">
                <a:srgbClr val="BAAAFB"/>
              </a:gs>
              <a:gs pos="75000">
                <a:srgbClr val="72A1FC"/>
              </a:gs>
              <a:gs pos="63000">
                <a:srgbClr val="25E9F3"/>
              </a:gs>
              <a:gs pos="50000">
                <a:srgbClr val="7FFE7E"/>
              </a:gs>
              <a:gs pos="13000">
                <a:srgbClr val="C40027"/>
              </a:gs>
              <a:gs pos="38000">
                <a:srgbClr val="F5D30A"/>
              </a:gs>
              <a:gs pos="1000">
                <a:srgbClr val="680064"/>
              </a:gs>
              <a:gs pos="100000">
                <a:srgbClr val="E7EAF0"/>
              </a:gs>
            </a:gsLst>
            <a:lin ang="5400000" scaled="1"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2DA89A3-BB7F-4CD4-AE27-DE87E5630DCD}"/>
                  </a:ext>
                </a:extLst>
              </p:cNvPr>
              <p:cNvSpPr/>
              <p:nvPr/>
            </p:nvSpPr>
            <p:spPr>
              <a:xfrm>
                <a:off x="2316463" y="1244413"/>
                <a:ext cx="2418931" cy="8323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ko-KR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dis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)=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acc>
                            </m:num>
                            <m:den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’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2DA89A3-BB7F-4CD4-AE27-DE87E5630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63" y="1244413"/>
                <a:ext cx="2418931" cy="8323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744B92E-B930-4F67-94EC-E7A2235F184F}"/>
              </a:ext>
            </a:extLst>
          </p:cNvPr>
          <p:cNvCxnSpPr>
            <a:cxnSpLocks/>
          </p:cNvCxnSpPr>
          <p:nvPr/>
        </p:nvCxnSpPr>
        <p:spPr>
          <a:xfrm>
            <a:off x="5886003" y="2515116"/>
            <a:ext cx="286197" cy="37584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607D8F3-969D-49D1-8471-93EFEEA7D45C}"/>
              </a:ext>
            </a:extLst>
          </p:cNvPr>
          <p:cNvSpPr txBox="1"/>
          <p:nvPr/>
        </p:nvSpPr>
        <p:spPr>
          <a:xfrm>
            <a:off x="5910610" y="2424351"/>
            <a:ext cx="1337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Center</a:t>
            </a:r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3B839-A6C1-451C-AA12-1577CEBB54E3}"/>
              </a:ext>
            </a:extLst>
          </p:cNvPr>
          <p:cNvCxnSpPr>
            <a:cxnSpLocks/>
          </p:cNvCxnSpPr>
          <p:nvPr/>
        </p:nvCxnSpPr>
        <p:spPr>
          <a:xfrm>
            <a:off x="1905000" y="2997200"/>
            <a:ext cx="228600" cy="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22CDCD30-B6A1-4CA5-A4B9-1FB8191AC4EB}"/>
              </a:ext>
            </a:extLst>
          </p:cNvPr>
          <p:cNvSpPr/>
          <p:nvPr/>
        </p:nvSpPr>
        <p:spPr>
          <a:xfrm>
            <a:off x="5441950" y="5050790"/>
            <a:ext cx="101600" cy="101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919C15B-0BCF-4B64-B772-BA9D89D28442}"/>
              </a:ext>
            </a:extLst>
          </p:cNvPr>
          <p:cNvSpPr/>
          <p:nvPr/>
        </p:nvSpPr>
        <p:spPr>
          <a:xfrm>
            <a:off x="4704080" y="5115560"/>
            <a:ext cx="101600" cy="101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E8CEBDED-48FE-4A0B-81EA-EF1395652406}"/>
              </a:ext>
            </a:extLst>
          </p:cNvPr>
          <p:cNvSpPr/>
          <p:nvPr/>
        </p:nvSpPr>
        <p:spPr>
          <a:xfrm>
            <a:off x="3942080" y="4986020"/>
            <a:ext cx="101600" cy="101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75AF62F0-9C93-4E08-80B7-00B63CB53EBF}"/>
              </a:ext>
            </a:extLst>
          </p:cNvPr>
          <p:cNvSpPr/>
          <p:nvPr/>
        </p:nvSpPr>
        <p:spPr>
          <a:xfrm>
            <a:off x="3164840" y="5039360"/>
            <a:ext cx="101600" cy="101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BF23730B-543A-4B59-989D-64C8EF0E256E}"/>
              </a:ext>
            </a:extLst>
          </p:cNvPr>
          <p:cNvSpPr/>
          <p:nvPr/>
        </p:nvSpPr>
        <p:spPr>
          <a:xfrm>
            <a:off x="3241040" y="4178300"/>
            <a:ext cx="101600" cy="101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CF5B151-02CC-4B29-B5F7-0D4DF9A109B3}"/>
              </a:ext>
            </a:extLst>
          </p:cNvPr>
          <p:cNvSpPr/>
          <p:nvPr/>
        </p:nvSpPr>
        <p:spPr>
          <a:xfrm>
            <a:off x="3119120" y="3583940"/>
            <a:ext cx="101600" cy="101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392CDA4-8089-44B6-A56B-F1D2DA42329C}"/>
              </a:ext>
            </a:extLst>
          </p:cNvPr>
          <p:cNvSpPr/>
          <p:nvPr/>
        </p:nvSpPr>
        <p:spPr>
          <a:xfrm>
            <a:off x="3210560" y="2745740"/>
            <a:ext cx="101600" cy="101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E36F481-3D6D-4F0A-9A7A-2474F3CC1727}"/>
              </a:ext>
            </a:extLst>
          </p:cNvPr>
          <p:cNvCxnSpPr>
            <a:cxnSpLocks/>
          </p:cNvCxnSpPr>
          <p:nvPr/>
        </p:nvCxnSpPr>
        <p:spPr>
          <a:xfrm flipV="1">
            <a:off x="5486400" y="4292600"/>
            <a:ext cx="1054100" cy="812800"/>
          </a:xfrm>
          <a:prstGeom prst="straightConnector1">
            <a:avLst/>
          </a:prstGeom>
          <a:ln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9431CFC-477B-4E27-BBB1-DE199BF411D7}"/>
                  </a:ext>
                </a:extLst>
              </p:cNvPr>
              <p:cNvSpPr txBox="1"/>
              <p:nvPr/>
            </p:nvSpPr>
            <p:spPr>
              <a:xfrm>
                <a:off x="6276183" y="3883989"/>
                <a:ext cx="14814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ko-KR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9431CFC-477B-4E27-BBB1-DE199BF41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183" y="3883989"/>
                <a:ext cx="1481468" cy="369332"/>
              </a:xfrm>
              <a:prstGeom prst="rect">
                <a:avLst/>
              </a:prstGeom>
              <a:blipFill>
                <a:blip r:embed="rId11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08AC39BC-8B50-4489-90A3-41D561A8EF4D}"/>
              </a:ext>
            </a:extLst>
          </p:cNvPr>
          <p:cNvSpPr txBox="1"/>
          <p:nvPr/>
        </p:nvSpPr>
        <p:spPr>
          <a:xfrm>
            <a:off x="2894698" y="2494191"/>
            <a:ext cx="100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1</a:t>
            </a:r>
            <a:endParaRPr lang="ko-KR" alt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3B4E14-1AF1-4C07-804E-8F9A6ED3E40E}"/>
              </a:ext>
            </a:extLst>
          </p:cNvPr>
          <p:cNvSpPr txBox="1"/>
          <p:nvPr/>
        </p:nvSpPr>
        <p:spPr>
          <a:xfrm>
            <a:off x="2894698" y="3409679"/>
            <a:ext cx="100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2</a:t>
            </a:r>
            <a:endParaRPr lang="ko-KR" altLang="en-US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62914E-74B2-41CA-BC01-F23130045BBE}"/>
              </a:ext>
            </a:extLst>
          </p:cNvPr>
          <p:cNvSpPr txBox="1"/>
          <p:nvPr/>
        </p:nvSpPr>
        <p:spPr>
          <a:xfrm>
            <a:off x="2894698" y="4232313"/>
            <a:ext cx="100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3</a:t>
            </a:r>
            <a:endParaRPr lang="ko-KR" altLang="en-US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C26D65-2509-4B74-958A-72F83E256045}"/>
              </a:ext>
            </a:extLst>
          </p:cNvPr>
          <p:cNvSpPr txBox="1"/>
          <p:nvPr/>
        </p:nvSpPr>
        <p:spPr>
          <a:xfrm>
            <a:off x="2894698" y="5007013"/>
            <a:ext cx="100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4</a:t>
            </a:r>
            <a:endParaRPr lang="ko-KR" alt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A24A291-50F3-4310-9D24-CF259240CB9F}"/>
              </a:ext>
            </a:extLst>
          </p:cNvPr>
          <p:cNvSpPr txBox="1"/>
          <p:nvPr/>
        </p:nvSpPr>
        <p:spPr>
          <a:xfrm>
            <a:off x="3606403" y="5007013"/>
            <a:ext cx="100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5</a:t>
            </a:r>
            <a:endParaRPr lang="ko-KR" altLang="en-US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59B6AD-EA89-4F9E-B4AB-C5B9B5EE274E}"/>
              </a:ext>
            </a:extLst>
          </p:cNvPr>
          <p:cNvSpPr txBox="1"/>
          <p:nvPr/>
        </p:nvSpPr>
        <p:spPr>
          <a:xfrm>
            <a:off x="4395062" y="5007013"/>
            <a:ext cx="100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6</a:t>
            </a:r>
            <a:endParaRPr lang="ko-KR" altLang="en-US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851F8A4-9560-4D57-9889-EA74C9089F9C}"/>
              </a:ext>
            </a:extLst>
          </p:cNvPr>
          <p:cNvSpPr txBox="1"/>
          <p:nvPr/>
        </p:nvSpPr>
        <p:spPr>
          <a:xfrm>
            <a:off x="5140779" y="5091378"/>
            <a:ext cx="100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7</a:t>
            </a:r>
            <a:endParaRPr lang="ko-KR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6596AFC-13B5-4AE1-AEB8-5321C5AED5D7}"/>
                  </a:ext>
                </a:extLst>
              </p:cNvPr>
              <p:cNvSpPr txBox="1"/>
              <p:nvPr/>
            </p:nvSpPr>
            <p:spPr>
              <a:xfrm>
                <a:off x="8368669" y="3340107"/>
                <a:ext cx="3016800" cy="6972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d>
                        <m:dPr>
                          <m:ctrlP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d>
                        <m:dPr>
                          <m:ctrlP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⋯=</m:t>
                      </m:r>
                      <m:sSub>
                        <m:sSubPr>
                          <m:ctrlP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d>
                        <m:dPr>
                          <m:ctrlP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6596AFC-13B5-4AE1-AEB8-5321C5AED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669" y="3340107"/>
                <a:ext cx="3016800" cy="697242"/>
              </a:xfrm>
              <a:prstGeom prst="rect">
                <a:avLst/>
              </a:prstGeom>
              <a:blipFill>
                <a:blip r:embed="rId12"/>
                <a:stretch>
                  <a:fillRect b="-1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직사각형 79">
            <a:extLst>
              <a:ext uri="{FF2B5EF4-FFF2-40B4-BE49-F238E27FC236}">
                <a16:creationId xmlns:a16="http://schemas.microsoft.com/office/drawing/2014/main" id="{12F6F361-4B3C-4158-A9A3-061877D254A7}"/>
              </a:ext>
            </a:extLst>
          </p:cNvPr>
          <p:cNvSpPr/>
          <p:nvPr/>
        </p:nvSpPr>
        <p:spPr>
          <a:xfrm>
            <a:off x="7906979" y="2780928"/>
            <a:ext cx="12490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y-direction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6CA53ED9-B2CB-4492-8F86-7EAEA8D0BF70}"/>
              </a:ext>
            </a:extLst>
          </p:cNvPr>
          <p:cNvSpPr/>
          <p:nvPr/>
        </p:nvSpPr>
        <p:spPr>
          <a:xfrm>
            <a:off x="7956778" y="1830108"/>
            <a:ext cx="3841521" cy="806804"/>
          </a:xfrm>
          <a:prstGeom prst="roundRect">
            <a:avLst>
              <a:gd name="adj" fmla="val 4965"/>
            </a:avLst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1845707-182F-4509-A993-8CF83A5DE985}"/>
                  </a:ext>
                </a:extLst>
              </p:cNvPr>
              <p:cNvSpPr txBox="1"/>
              <p:nvPr/>
            </p:nvSpPr>
            <p:spPr>
              <a:xfrm>
                <a:off x="8368669" y="1913518"/>
                <a:ext cx="3017737" cy="639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altLang="ko-KR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ko-KR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en-US" altLang="ko-KR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1845707-182F-4509-A993-8CF83A5DE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8669" y="1913518"/>
                <a:ext cx="3017737" cy="639983"/>
              </a:xfrm>
              <a:prstGeom prst="rect">
                <a:avLst/>
              </a:prstGeom>
              <a:blipFill>
                <a:blip r:embed="rId13"/>
                <a:stretch>
                  <a:fillRect l="-606" b="-38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직사각형 83">
            <a:extLst>
              <a:ext uri="{FF2B5EF4-FFF2-40B4-BE49-F238E27FC236}">
                <a16:creationId xmlns:a16="http://schemas.microsoft.com/office/drawing/2014/main" id="{B18409A9-5756-45CC-BCA2-2D6C2DF6D09D}"/>
              </a:ext>
            </a:extLst>
          </p:cNvPr>
          <p:cNvSpPr/>
          <p:nvPr/>
        </p:nvSpPr>
        <p:spPr>
          <a:xfrm>
            <a:off x="7906979" y="1359827"/>
            <a:ext cx="12490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x-direction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AE8AC82D-BE9C-4A50-A3C6-A7BBB4BAB175}"/>
              </a:ext>
            </a:extLst>
          </p:cNvPr>
          <p:cNvSpPr/>
          <p:nvPr/>
        </p:nvSpPr>
        <p:spPr>
          <a:xfrm>
            <a:off x="7956778" y="3270268"/>
            <a:ext cx="3841521" cy="806804"/>
          </a:xfrm>
          <a:prstGeom prst="roundRect">
            <a:avLst>
              <a:gd name="adj" fmla="val 4965"/>
            </a:avLst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C820E811-FFEE-449F-9DC9-E521FB78B20F}"/>
                  </a:ext>
                </a:extLst>
              </p:cNvPr>
              <p:cNvSpPr/>
              <p:nvPr/>
            </p:nvSpPr>
            <p:spPr>
              <a:xfrm>
                <a:off x="7932847" y="4986020"/>
                <a:ext cx="3854714" cy="10998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y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altLang="ko-KR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at </a:t>
                </a:r>
                <a:r>
                  <a:rPr lang="en-US" altLang="ko-KR" sz="1600" b="1" u="sng" dirty="0"/>
                  <a:t>the same position</a:t>
                </a:r>
                <a:r>
                  <a:rPr lang="en-US" altLang="ko-KR" sz="1600" dirty="0"/>
                  <a:t> are superposed into a single map using </a:t>
                </a:r>
                <a:r>
                  <a:rPr lang="en-US" altLang="ko-KR" sz="1600" b="1" u="sng" dirty="0"/>
                  <a:t>both data sets</a:t>
                </a:r>
                <a:r>
                  <a:rPr lang="en-US" altLang="ko-KR" sz="1600" dirty="0"/>
                  <a:t>, and the common valid region </a:t>
                </a:r>
                <a:r>
                  <a:rPr lang="en-US" altLang="ko-KR" sz="1600" b="1" dirty="0"/>
                  <a:t>is </a:t>
                </a:r>
                <a:r>
                  <a:rPr lang="en-US" altLang="ko-KR" sz="1600" b="1" u="sng" dirty="0"/>
                  <a:t>identified as candidate anchor sites</a:t>
                </a:r>
                <a:r>
                  <a:rPr lang="en-US" altLang="ko-KR" sz="1600" dirty="0"/>
                  <a:t>.   </a:t>
                </a:r>
                <a:endParaRPr lang="ko-KR" altLang="en-US" sz="1600" dirty="0"/>
              </a:p>
            </p:txBody>
          </p:sp>
        </mc:Choice>
        <mc:Fallback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C820E811-FFEE-449F-9DC9-E521FB78B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847" y="4986020"/>
                <a:ext cx="3854714" cy="1099853"/>
              </a:xfrm>
              <a:prstGeom prst="rect">
                <a:avLst/>
              </a:prstGeom>
              <a:blipFill>
                <a:blip r:embed="rId14"/>
                <a:stretch>
                  <a:fillRect l="-790" t="-1667" r="-790"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0" name="그룹 89">
            <a:extLst>
              <a:ext uri="{FF2B5EF4-FFF2-40B4-BE49-F238E27FC236}">
                <a16:creationId xmlns:a16="http://schemas.microsoft.com/office/drawing/2014/main" id="{63B89D93-939B-49F1-BF19-ED57BB3C23FC}"/>
              </a:ext>
            </a:extLst>
          </p:cNvPr>
          <p:cNvGrpSpPr/>
          <p:nvPr/>
        </p:nvGrpSpPr>
        <p:grpSpPr>
          <a:xfrm>
            <a:off x="1360299" y="5678892"/>
            <a:ext cx="1007507" cy="1085999"/>
            <a:chOff x="69741" y="4139568"/>
            <a:chExt cx="770539" cy="830568"/>
          </a:xfrm>
        </p:grpSpPr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BE4A7BAA-44E9-451C-88B2-AF7DBFF6B02D}"/>
                </a:ext>
              </a:extLst>
            </p:cNvPr>
            <p:cNvCxnSpPr/>
            <p:nvPr/>
          </p:nvCxnSpPr>
          <p:spPr>
            <a:xfrm flipV="1">
              <a:off x="327068" y="4337306"/>
              <a:ext cx="1" cy="35999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2C61F05A-D281-4890-9EC6-3B8D3C0E4E41}"/>
                </a:ext>
              </a:extLst>
            </p:cNvPr>
            <p:cNvCxnSpPr/>
            <p:nvPr/>
          </p:nvCxnSpPr>
          <p:spPr>
            <a:xfrm rot="5400000" flipV="1">
              <a:off x="506460" y="4505584"/>
              <a:ext cx="1" cy="35999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3E54F5A-0466-4773-B871-296491EC4974}"/>
                </a:ext>
              </a:extLst>
            </p:cNvPr>
            <p:cNvSpPr txBox="1"/>
            <p:nvPr/>
          </p:nvSpPr>
          <p:spPr>
            <a:xfrm>
              <a:off x="555265" y="4631583"/>
              <a:ext cx="285015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x</a:t>
              </a:r>
              <a:endParaRPr lang="ko-KR" altLang="en-US" sz="16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7D0622B-6B56-4CEF-8235-01AE6DA929C6}"/>
                </a:ext>
              </a:extLst>
            </p:cNvPr>
            <p:cNvSpPr txBox="1"/>
            <p:nvPr/>
          </p:nvSpPr>
          <p:spPr>
            <a:xfrm>
              <a:off x="69741" y="4139568"/>
              <a:ext cx="285014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y</a:t>
              </a:r>
              <a:endParaRPr lang="ko-KR" altLang="en-US" sz="1600" dirty="0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527AE70-F578-47BE-BDCC-F37F32D59384}"/>
                </a:ext>
              </a:extLst>
            </p:cNvPr>
            <p:cNvSpPr txBox="1"/>
            <p:nvPr/>
          </p:nvSpPr>
          <p:spPr>
            <a:xfrm>
              <a:off x="69741" y="4628527"/>
              <a:ext cx="285014" cy="338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z</a:t>
              </a:r>
              <a:endParaRPr lang="ko-KR" altLang="en-US" sz="1600" dirty="0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62B2DF0-E8A0-4C9F-9652-480551C5B0F0}"/>
                </a:ext>
              </a:extLst>
            </p:cNvPr>
            <p:cNvSpPr/>
            <p:nvPr/>
          </p:nvSpPr>
          <p:spPr>
            <a:xfrm>
              <a:off x="275189" y="4631583"/>
              <a:ext cx="108000" cy="108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5000"/>
                </a:lnSpc>
              </a:pPr>
              <a:r>
                <a:rPr lang="en-US" altLang="ko-KR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●</a:t>
              </a:r>
              <a:endParaRPr lang="ko-KR" altLang="en-US" sz="6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A29392F-9726-9694-F537-85CA0FE99245}"/>
                  </a:ext>
                </a:extLst>
              </p:cNvPr>
              <p:cNvSpPr/>
              <p:nvPr/>
            </p:nvSpPr>
            <p:spPr>
              <a:xfrm>
                <a:off x="10784098" y="200118"/>
                <a:ext cx="1216102" cy="36933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en-US" altLang="ko-KR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=15%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A29392F-9726-9694-F537-85CA0FE992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098" y="200118"/>
                <a:ext cx="121610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TextBox 96"/>
          <p:cNvSpPr txBox="1"/>
          <p:nvPr/>
        </p:nvSpPr>
        <p:spPr>
          <a:xfrm>
            <a:off x="6400800" y="645566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7F7F7F"/>
                </a:solidFill>
                <a:latin typeface="Arial"/>
              </a:rPr>
              <a:t>Published pipeline: Kᴴ at ε = 3%, Kᵛ at ε = 15% → superposition → 10% tolerance (next slide).</a:t>
            </a:r>
          </a:p>
        </p:txBody>
      </p:sp>
    </p:spTree>
    <p:extLst>
      <p:ext uri="{BB962C8B-B14F-4D97-AF65-F5344CB8AC3E}">
        <p14:creationId xmlns:p14="http://schemas.microsoft.com/office/powerpoint/2010/main" val="322318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8083A12-EAB8-D075-1B47-E74914BDA02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00" y="1412776"/>
            <a:ext cx="12103800" cy="5127882"/>
          </a:xfrm>
          <a:prstGeom prst="rect">
            <a:avLst/>
          </a:prstGeom>
        </p:spPr>
      </p:pic>
      <p:sp>
        <p:nvSpPr>
          <p:cNvPr id="5" name="제목 2">
            <a:extLst>
              <a:ext uri="{FF2B5EF4-FFF2-40B4-BE49-F238E27FC236}">
                <a16:creationId xmlns:a16="http://schemas.microsoft.com/office/drawing/2014/main" id="{D79172D0-B60D-C38B-38BD-4D030D69F650}"/>
              </a:ext>
            </a:extLst>
          </p:cNvPr>
          <p:cNvSpPr txBox="1">
            <a:spLocks/>
          </p:cNvSpPr>
          <p:nvPr/>
        </p:nvSpPr>
        <p:spPr>
          <a:xfrm>
            <a:off x="767408" y="146319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Optimized connection points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28873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6BA3594-5CFB-7FAF-C891-769DC1A85845}"/>
              </a:ext>
            </a:extLst>
          </p:cNvPr>
          <p:cNvSpPr txBox="1">
            <a:spLocks/>
          </p:cNvSpPr>
          <p:nvPr/>
        </p:nvSpPr>
        <p:spPr>
          <a:xfrm>
            <a:off x="724878" y="252644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Isotropic expansion factor</a:t>
            </a:r>
            <a:endParaRPr lang="ko-KR" altLang="en-US" sz="3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B3985E-F67E-A751-F836-8957EA181E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9376" y="1772816"/>
            <a:ext cx="11573163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23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EF88E3-4A55-8846-2240-17B36C3D05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923" y="836713"/>
            <a:ext cx="8351272" cy="43204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ABC261-75E5-018F-7046-C306BC5510D7}"/>
              </a:ext>
            </a:extLst>
          </p:cNvPr>
          <p:cNvSpPr txBox="1"/>
          <p:nvPr/>
        </p:nvSpPr>
        <p:spPr>
          <a:xfrm>
            <a:off x="9199032" y="1254371"/>
            <a:ext cx="287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dirty="0"/>
              <a:t>Digital image correlation (DIC) analysis</a:t>
            </a:r>
            <a:endParaRPr lang="ko-KR" alt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A77199-1AD7-66FD-A6A2-E38EF29AF1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3848" y="2113447"/>
            <a:ext cx="2462075" cy="2126228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76BA3594-5CFB-7FAF-C891-769DC1A85845}"/>
              </a:ext>
            </a:extLst>
          </p:cNvPr>
          <p:cNvSpPr txBox="1">
            <a:spLocks/>
          </p:cNvSpPr>
          <p:nvPr/>
        </p:nvSpPr>
        <p:spPr>
          <a:xfrm>
            <a:off x="713232" y="192024"/>
            <a:ext cx="10881360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FEA vs DIC: u = k·r realized — isotropic expansion with ρ ≈ 0.99</a:t>
            </a:r>
            <a:endParaRPr lang="ko-KR" altLang="en-US" sz="3200" dirty="0"/>
          </a:p>
        </p:txBody>
      </p:sp>
      <p:pic>
        <p:nvPicPr>
          <p:cNvPr id="7" name="Picture 6" descr="f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315968"/>
            <a:ext cx="2260522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230368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404040"/>
                </a:solidFill>
                <a:latin typeface="Arial"/>
              </a:rPr>
              <a:t>DIC matches FEA: on the proposed platform |u| grows linearly with |r| in all directions (u = k·r), unlike the fully bonded case. Right (Fig. 4b): isotropic expansion factor ρ ≈ 0.99 for the proposed platform vs ≈ 0.95 fully bonded, consistently over ε = 3–15%.</a:t>
            </a:r>
          </a:p>
        </p:txBody>
      </p:sp>
    </p:spTree>
    <p:extLst>
      <p:ext uri="{BB962C8B-B14F-4D97-AF65-F5344CB8AC3E}">
        <p14:creationId xmlns:p14="http://schemas.microsoft.com/office/powerpoint/2010/main" val="2396295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784FB17-D3C3-4B85-B778-66FE2D374A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62648" y="1586897"/>
            <a:ext cx="3125698" cy="23176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9FF15A5-7C30-4097-A726-2947093CFD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772" y="1649916"/>
            <a:ext cx="2743200" cy="21916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A5C6379-0C29-4FB2-8D83-10920F1BA72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3773" y="4365104"/>
            <a:ext cx="2743200" cy="208566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4016328-045B-4463-8146-26117C92656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62649" y="4251756"/>
            <a:ext cx="3125698" cy="231769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6F0D4A5-6A1E-424D-9419-2061F9CA2FB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602447" y="4099609"/>
            <a:ext cx="3807268" cy="2891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8494EDB-BCF5-4DCD-8EB4-A1CD238A2D88}"/>
              </a:ext>
            </a:extLst>
          </p:cNvPr>
          <p:cNvSpPr txBox="1"/>
          <p:nvPr/>
        </p:nvSpPr>
        <p:spPr>
          <a:xfrm>
            <a:off x="8456864" y="1039097"/>
            <a:ext cx="299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dirty="0"/>
              <a:t>DIC measurement</a:t>
            </a:r>
            <a:endParaRPr lang="ko-KR" altLang="en-US" dirty="0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ADE3BA5E-1162-4131-B9F0-2FAF946EA35F}"/>
              </a:ext>
            </a:extLst>
          </p:cNvPr>
          <p:cNvSpPr txBox="1"/>
          <p:nvPr/>
        </p:nvSpPr>
        <p:spPr>
          <a:xfrm>
            <a:off x="84062" y="1075789"/>
            <a:ext cx="418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dirty="0"/>
              <a:t>Conventional scheme (Fully bonded)</a:t>
            </a:r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483D474-0B92-476E-9C69-BBCB200CA62B}"/>
              </a:ext>
            </a:extLst>
          </p:cNvPr>
          <p:cNvGrpSpPr/>
          <p:nvPr/>
        </p:nvGrpSpPr>
        <p:grpSpPr>
          <a:xfrm>
            <a:off x="9021987" y="1524001"/>
            <a:ext cx="2574928" cy="2690084"/>
            <a:chOff x="3288912" y="904133"/>
            <a:chExt cx="2679900" cy="307772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4F1E2A5-0716-4F49-AEE1-7F9424388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347633" y="1244008"/>
              <a:ext cx="2562446" cy="243261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D7D624-D78C-4AAC-91A3-6363167EB829}"/>
                </a:ext>
              </a:extLst>
            </p:cNvPr>
            <p:cNvSpPr txBox="1"/>
            <p:nvPr/>
          </p:nvSpPr>
          <p:spPr>
            <a:xfrm>
              <a:off x="3288912" y="3674079"/>
              <a:ext cx="26799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dirty="0"/>
                <a:t>Tensile property measurements</a:t>
              </a:r>
              <a:endParaRPr lang="ko-KR" altLang="en-US" sz="1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E34FE9-FC01-4612-8047-400794280F13}"/>
                </a:ext>
              </a:extLst>
            </p:cNvPr>
            <p:cNvSpPr txBox="1"/>
            <p:nvPr/>
          </p:nvSpPr>
          <p:spPr>
            <a:xfrm>
              <a:off x="4014265" y="904133"/>
              <a:ext cx="122918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Tensile strain</a:t>
              </a:r>
              <a:endParaRPr lang="ko-KR" altLang="en-US" sz="1400" dirty="0"/>
            </a:p>
          </p:txBody>
        </p:sp>
      </p:grpSp>
      <p:sp>
        <p:nvSpPr>
          <p:cNvPr id="16" name="TextBox 9">
            <a:extLst>
              <a:ext uri="{FF2B5EF4-FFF2-40B4-BE49-F238E27FC236}">
                <a16:creationId xmlns:a16="http://schemas.microsoft.com/office/drawing/2014/main" id="{256B0711-B838-48F0-8F39-86947A0094F7}"/>
              </a:ext>
            </a:extLst>
          </p:cNvPr>
          <p:cNvSpPr txBox="1"/>
          <p:nvPr/>
        </p:nvSpPr>
        <p:spPr>
          <a:xfrm>
            <a:off x="80077" y="3890077"/>
            <a:ext cx="299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b="1" u="sng" dirty="0">
                <a:solidFill>
                  <a:srgbClr val="C00000"/>
                </a:solidFill>
              </a:rPr>
              <a:t>Proposed scheme</a:t>
            </a:r>
            <a:endParaRPr lang="ko-KR" altLang="en-US" b="1" u="sng" dirty="0">
              <a:solidFill>
                <a:srgbClr val="C00000"/>
              </a:solidFill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6CBE9D2-7E01-4198-8279-BFC63802EE4B}"/>
              </a:ext>
            </a:extLst>
          </p:cNvPr>
          <p:cNvSpPr/>
          <p:nvPr/>
        </p:nvSpPr>
        <p:spPr bwMode="auto">
          <a:xfrm>
            <a:off x="3831771" y="2622372"/>
            <a:ext cx="435429" cy="24674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D6280DB7-17A3-4AC6-B265-1196A2E88472}"/>
              </a:ext>
            </a:extLst>
          </p:cNvPr>
          <p:cNvSpPr/>
          <p:nvPr/>
        </p:nvSpPr>
        <p:spPr bwMode="auto">
          <a:xfrm>
            <a:off x="3802919" y="5287231"/>
            <a:ext cx="435429" cy="24674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56306C-EE77-43C7-AC00-4FA598104CA7}"/>
              </a:ext>
            </a:extLst>
          </p:cNvPr>
          <p:cNvSpPr txBox="1"/>
          <p:nvPr/>
        </p:nvSpPr>
        <p:spPr>
          <a:xfrm>
            <a:off x="1766865" y="1704397"/>
            <a:ext cx="1698172" cy="307777"/>
          </a:xfrm>
          <a:prstGeom prst="rect">
            <a:avLst/>
          </a:prstGeom>
          <a:solidFill>
            <a:srgbClr val="F8F8F8">
              <a:alpha val="8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Initial state (</a:t>
            </a:r>
            <a:r>
              <a:rPr lang="en-US" altLang="ko-KR" sz="1400" i="1" dirty="0">
                <a:latin typeface="Symbol" panose="05050102010706020507" pitchFamily="18" charset="2"/>
              </a:rPr>
              <a:t>e</a:t>
            </a:r>
            <a:r>
              <a:rPr lang="en-US" altLang="ko-KR" sz="1400" dirty="0"/>
              <a:t>=0%)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B0DE1A-00B7-42D6-B09A-21BEDD231F29}"/>
              </a:ext>
            </a:extLst>
          </p:cNvPr>
          <p:cNvSpPr txBox="1"/>
          <p:nvPr/>
        </p:nvSpPr>
        <p:spPr>
          <a:xfrm>
            <a:off x="1771199" y="4400326"/>
            <a:ext cx="1698172" cy="307777"/>
          </a:xfrm>
          <a:prstGeom prst="rect">
            <a:avLst/>
          </a:prstGeom>
          <a:solidFill>
            <a:srgbClr val="F8F8F8">
              <a:alpha val="8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Initial state (</a:t>
            </a:r>
            <a:r>
              <a:rPr lang="en-US" altLang="ko-KR" sz="1400" i="1" dirty="0">
                <a:latin typeface="Symbol" panose="05050102010706020507" pitchFamily="18" charset="2"/>
              </a:rPr>
              <a:t>e</a:t>
            </a:r>
            <a:r>
              <a:rPr lang="en-US" altLang="ko-KR" sz="1400" dirty="0"/>
              <a:t>=0%)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A547DE-E864-47D4-B66B-BAFB7AE75F25}"/>
              </a:ext>
            </a:extLst>
          </p:cNvPr>
          <p:cNvSpPr txBox="1"/>
          <p:nvPr/>
        </p:nvSpPr>
        <p:spPr>
          <a:xfrm>
            <a:off x="5821918" y="1628800"/>
            <a:ext cx="1698172" cy="307777"/>
          </a:xfrm>
          <a:prstGeom prst="rect">
            <a:avLst/>
          </a:prstGeom>
          <a:solidFill>
            <a:srgbClr val="F8F8F8">
              <a:alpha val="8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Stretched (</a:t>
            </a:r>
            <a:r>
              <a:rPr lang="en-US" altLang="ko-KR" sz="1400" i="1" dirty="0">
                <a:latin typeface="Symbol" panose="05050102010706020507" pitchFamily="18" charset="2"/>
              </a:rPr>
              <a:t>e</a:t>
            </a:r>
            <a:r>
              <a:rPr lang="en-US" altLang="ko-KR" sz="1400" dirty="0"/>
              <a:t>=15%)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CB1B3C-1932-485A-B8FF-B9CCEDE71269}"/>
              </a:ext>
            </a:extLst>
          </p:cNvPr>
          <p:cNvSpPr txBox="1"/>
          <p:nvPr/>
        </p:nvSpPr>
        <p:spPr>
          <a:xfrm>
            <a:off x="5821918" y="4293096"/>
            <a:ext cx="1698172" cy="307777"/>
          </a:xfrm>
          <a:prstGeom prst="rect">
            <a:avLst/>
          </a:prstGeom>
          <a:solidFill>
            <a:srgbClr val="F8F8F8">
              <a:alpha val="89804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Stretched (</a:t>
            </a:r>
            <a:r>
              <a:rPr lang="en-US" altLang="ko-KR" sz="1400" i="1" dirty="0">
                <a:latin typeface="Symbol" panose="05050102010706020507" pitchFamily="18" charset="2"/>
              </a:rPr>
              <a:t>e</a:t>
            </a:r>
            <a:r>
              <a:rPr lang="en-US" altLang="ko-KR" sz="1400" dirty="0"/>
              <a:t>=15%)</a:t>
            </a:r>
            <a:endParaRPr lang="ko-KR" altLang="en-US" sz="1400" dirty="0"/>
          </a:p>
        </p:txBody>
      </p:sp>
      <p:sp>
        <p:nvSpPr>
          <p:cNvPr id="25" name="제목 2">
            <a:extLst>
              <a:ext uri="{FF2B5EF4-FFF2-40B4-BE49-F238E27FC236}">
                <a16:creationId xmlns:a16="http://schemas.microsoft.com/office/drawing/2014/main" id="{5001A6A7-73B3-43AC-3ED7-0F7C8235D539}"/>
              </a:ext>
            </a:extLst>
          </p:cNvPr>
          <p:cNvSpPr txBox="1">
            <a:spLocks/>
          </p:cNvSpPr>
          <p:nvPr/>
        </p:nvSpPr>
        <p:spPr>
          <a:xfrm>
            <a:off x="695400" y="201615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Image distortion analysis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113553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7109EB1-3BB6-44F0-915F-B07C915A49EA}"/>
              </a:ext>
            </a:extLst>
          </p:cNvPr>
          <p:cNvSpPr txBox="1">
            <a:spLocks/>
          </p:cNvSpPr>
          <p:nvPr/>
        </p:nvSpPr>
        <p:spPr>
          <a:xfrm>
            <a:off x="695399" y="404664"/>
            <a:ext cx="11170779" cy="47396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bg1"/>
                </a:solidFill>
                <a:latin typeface="Myriad Web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bg1"/>
                </a:solidFill>
                <a:latin typeface="Myriad Web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bg1"/>
                </a:solidFill>
                <a:latin typeface="Myriad Web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bg1"/>
                </a:solidFill>
                <a:latin typeface="Myriad Web" pitchFamily="34" charset="0"/>
              </a:defRPr>
            </a:lvl9pPr>
          </a:lstStyle>
          <a:p>
            <a:pPr latinLnBrk="0"/>
            <a:r>
              <a:rPr lang="en-US" altLang="ko-KR" sz="2800" kern="0" dirty="0">
                <a:latin typeface="Gill Sans MT" panose="020B0502020104020203" pitchFamily="34" charset="0"/>
              </a:rPr>
              <a:t>LED demo: distortion-free operation under stretching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89B0A9-F9C4-494B-8727-5A112755D43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72956" y="4137811"/>
            <a:ext cx="2594788" cy="21173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33DE81-BCB8-46A7-9634-B009F2D752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8829" y="4137811"/>
            <a:ext cx="2076997" cy="211732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BE3065-0FA4-4496-9778-B43EBDA791C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96089" y="4137811"/>
            <a:ext cx="2245102" cy="21173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1AA90DD-539B-49C6-BEC5-A69EA5314BE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72956" y="1810494"/>
            <a:ext cx="2594788" cy="19968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B29D17-7044-4F80-89D4-53A891480C8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4336" y="1810494"/>
            <a:ext cx="2076996" cy="19968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59FE4A8-8685-41EC-830A-562273F3E2CE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97924" y="1810494"/>
            <a:ext cx="2243267" cy="19968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B733CB-8DE9-4EDA-A5DE-BE4AAFB16E0D}"/>
              </a:ext>
            </a:extLst>
          </p:cNvPr>
          <p:cNvSpPr txBox="1"/>
          <p:nvPr/>
        </p:nvSpPr>
        <p:spPr>
          <a:xfrm>
            <a:off x="3180708" y="1218238"/>
            <a:ext cx="1926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Initial state (ε = 0%, emission)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A4210D-492A-433F-B5C5-183FA1828E0B}"/>
              </a:ext>
            </a:extLst>
          </p:cNvPr>
          <p:cNvSpPr txBox="1"/>
          <p:nvPr/>
        </p:nvSpPr>
        <p:spPr>
          <a:xfrm>
            <a:off x="8526679" y="1218238"/>
            <a:ext cx="1926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Stretched (</a:t>
            </a:r>
            <a:r>
              <a:rPr lang="en-US" altLang="ko-KR" sz="1600" i="1" dirty="0">
                <a:latin typeface="Symbol" panose="05050102010706020507" pitchFamily="18" charset="2"/>
              </a:rPr>
              <a:t>e </a:t>
            </a:r>
            <a:r>
              <a:rPr lang="en-US" altLang="ko-KR" sz="1600" dirty="0"/>
              <a:t>= 18%)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8F19A-80D8-4EAE-BA46-B758BF779623}"/>
              </a:ext>
            </a:extLst>
          </p:cNvPr>
          <p:cNvSpPr txBox="1"/>
          <p:nvPr/>
        </p:nvSpPr>
        <p:spPr>
          <a:xfrm>
            <a:off x="5929607" y="1218238"/>
            <a:ext cx="1926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Initial state (ε = 0%, ambient)</a:t>
            </a:r>
            <a:endParaRPr lang="ko-KR" altLang="en-US" sz="16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8C66AB-C3C8-4632-8066-25F43ACBD26C}"/>
              </a:ext>
            </a:extLst>
          </p:cNvPr>
          <p:cNvSpPr/>
          <p:nvPr/>
        </p:nvSpPr>
        <p:spPr>
          <a:xfrm>
            <a:off x="803161" y="2624257"/>
            <a:ext cx="1352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/>
              <a:t>10 × 8 array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39E1122-7CF4-40E6-80E7-92F2961786A7}"/>
              </a:ext>
            </a:extLst>
          </p:cNvPr>
          <p:cNvSpPr/>
          <p:nvPr/>
        </p:nvSpPr>
        <p:spPr>
          <a:xfrm>
            <a:off x="745454" y="5011808"/>
            <a:ext cx="1468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/>
              <a:t>10 × 10 array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1">
                <a:solidFill>
                  <a:srgbClr val="7F7F7F"/>
                </a:solidFill>
                <a:latin typeface="Arial"/>
              </a:rPr>
              <a:t>Extended demonstration beyond the published paper (paper: 7 × 5 array and 10 × 10 passive-matrix array, ε up to 15–20%; &lt;2% luminance drop after 500 stretch cycles at 15%).</a:t>
            </a:r>
          </a:p>
        </p:txBody>
      </p:sp>
    </p:spTree>
    <p:extLst>
      <p:ext uri="{BB962C8B-B14F-4D97-AF65-F5344CB8AC3E}">
        <p14:creationId xmlns:p14="http://schemas.microsoft.com/office/powerpoint/2010/main" val="3697233363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92024"/>
            <a:ext cx="10515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262626"/>
                </a:solidFill>
                <a:latin typeface="Arial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188720"/>
            <a:ext cx="10607040" cy="1481328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69164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335024"/>
            <a:ext cx="9509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Stretchable is the first form factor in which the screen area itself grows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Arial"/>
              </a:rPr>
              <a:t>Image distortion becomes a first-order problem: an elastomer (ν ≈ +0.5) skews the aspect ratio by ~1.24× at 15% strain — and a global ν = −1 alone does not guarantee local isotropy (rotation-based kinematics, gripping effects).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52928"/>
            <a:ext cx="10607040" cy="1481328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35584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99232"/>
            <a:ext cx="9509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Hybrid auxetic platform: grip-aware framework design + selective bonding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Arial"/>
              </a:rPr>
              <a:t>Optimize the framework with the grips inside the objective, S(W, L, D) = max(Γ_H, Γ_V) → W/D ≈ 35; then bond the continuous elastomer only where u = k·r holds (superposed Kᴴ/Kᵛ maps, 10% tolerance).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17136"/>
            <a:ext cx="10607040" cy="1481328"/>
          </a:xfrm>
          <a:prstGeom prst="roundRect">
            <a:avLst>
              <a:gd name="adj" fmla="val 8000"/>
            </a:avLst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5020056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663440"/>
            <a:ext cx="9509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62626"/>
                </a:solidFill>
                <a:latin typeface="Arial"/>
              </a:rPr>
              <a:t>Isotropic expansion factor ρ quantifies image distortion field-wide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404040"/>
                </a:solidFill>
                <a:latin typeface="Arial"/>
              </a:rPr>
              <a:t>ρ = Cov(R, U)/σ_R·σ_U; the proposed platform sustains ρ ≈ 0.99 (DIC, ε = 3–15%) vs ≈ 0.95 fully bonded, and LED arrays operate distortion-free up to 20% strain.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7F7F7F"/>
                </a:solidFill>
                <a:latin typeface="Arial"/>
              </a:rPr>
              <a:t>Kim, S.-B., Kim, J. et al. Hybrid auxetic metamaterial platforms enabling multiscale isotropic expansion for distortion-free stretchable displays. Nat. Commun. 17, 7389 (2026).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22D910EC-E2E1-4463-B8BA-93C59EB48B7D}"/>
              </a:ext>
            </a:extLst>
          </p:cNvPr>
          <p:cNvSpPr txBox="1">
            <a:spLocks/>
          </p:cNvSpPr>
          <p:nvPr/>
        </p:nvSpPr>
        <p:spPr>
          <a:xfrm>
            <a:off x="2152650" y="2766219"/>
            <a:ext cx="78867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6600" b="1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ko-KR" altLang="en-US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645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2315" y="4575757"/>
            <a:ext cx="2033206" cy="1932164"/>
          </a:xfrm>
          <a:prstGeom prst="rect">
            <a:avLst/>
          </a:prstGeom>
        </p:spPr>
      </p:pic>
      <p:sp>
        <p:nvSpPr>
          <p:cNvPr id="2" name="제목 2">
            <a:extLst>
              <a:ext uri="{FF2B5EF4-FFF2-40B4-BE49-F238E27FC236}">
                <a16:creationId xmlns:a16="http://schemas.microsoft.com/office/drawing/2014/main" id="{E56BDD0F-E8D1-41FE-AFFA-EF5C106F4F88}"/>
              </a:ext>
            </a:extLst>
          </p:cNvPr>
          <p:cNvSpPr txBox="1">
            <a:spLocks/>
          </p:cNvSpPr>
          <p:nvPr/>
        </p:nvSpPr>
        <p:spPr>
          <a:xfrm>
            <a:off x="767408" y="146319"/>
            <a:ext cx="9361040" cy="61838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Experimental steps : Rotating square </a:t>
            </a:r>
            <a:r>
              <a:rPr lang="en-US" altLang="ko-KR" sz="3200"/>
              <a:t>auxetic framework</a:t>
            </a:r>
            <a:endParaRPr lang="ko-KR" altLang="en-US" sz="3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E835B9A-F8F7-4ACE-A14C-8453DEEDBCE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3352" y="4581129"/>
            <a:ext cx="1912615" cy="189733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1321BA-68D6-4289-9756-ED375D46178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9576" y="4581129"/>
            <a:ext cx="2259866" cy="1897335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330524-886E-4360-BB3C-477867058D85}"/>
              </a:ext>
            </a:extLst>
          </p:cNvPr>
          <p:cNvSpPr/>
          <p:nvPr/>
        </p:nvSpPr>
        <p:spPr>
          <a:xfrm>
            <a:off x="212423" y="764704"/>
            <a:ext cx="3305739" cy="400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20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Fabrication process</a:t>
            </a:r>
            <a:endParaRPr lang="ko-KR" altLang="ko-KR" sz="20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4B23CF-33D1-4227-9297-D21D1C2CDD74}"/>
              </a:ext>
            </a:extLst>
          </p:cNvPr>
          <p:cNvSpPr/>
          <p:nvPr/>
        </p:nvSpPr>
        <p:spPr>
          <a:xfrm>
            <a:off x="212423" y="4125935"/>
            <a:ext cx="4275900" cy="39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2000" kern="100" dirty="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Auxetic framework geometry</a:t>
            </a:r>
            <a:endParaRPr lang="ko-KR" altLang="ko-KR" sz="20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E20E7B9A-7D36-4086-8CB0-11CFF36213D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905" y="1516787"/>
            <a:ext cx="2160000" cy="494622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570C0868-B7AE-4385-9BF6-059EBCDDEF5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5384" y="1516787"/>
            <a:ext cx="2160000" cy="494622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4D5C11FC-9C83-40B8-BAE0-C89AB5341E50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0816" y="3030154"/>
            <a:ext cx="1980000" cy="318465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16ADB154-1269-48FB-B4B8-D33EE408CE5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449" y="3101083"/>
            <a:ext cx="1980000" cy="140276"/>
          </a:xfrm>
          <a:prstGeom prst="rect">
            <a:avLst/>
          </a:prstGeom>
        </p:spPr>
      </p:pic>
      <p:sp>
        <p:nvSpPr>
          <p:cNvPr id="87" name="자유형: 도형 86">
            <a:extLst>
              <a:ext uri="{FF2B5EF4-FFF2-40B4-BE49-F238E27FC236}">
                <a16:creationId xmlns:a16="http://schemas.microsoft.com/office/drawing/2014/main" id="{890744F1-3DA3-4844-8D2D-0F378A399646}"/>
              </a:ext>
            </a:extLst>
          </p:cNvPr>
          <p:cNvSpPr>
            <a:spLocks noChangeAspect="1"/>
          </p:cNvSpPr>
          <p:nvPr/>
        </p:nvSpPr>
        <p:spPr>
          <a:xfrm rot="10800000">
            <a:off x="9710816" y="1763959"/>
            <a:ext cx="1980000" cy="247450"/>
          </a:xfrm>
          <a:custGeom>
            <a:avLst/>
            <a:gdLst>
              <a:gd name="connsiteX0" fmla="*/ 0 w 2612898"/>
              <a:gd name="connsiteY0" fmla="*/ 0 h 326545"/>
              <a:gd name="connsiteX1" fmla="*/ 2612898 w 2612898"/>
              <a:gd name="connsiteY1" fmla="*/ 0 h 326545"/>
              <a:gd name="connsiteX2" fmla="*/ 2612898 w 2612898"/>
              <a:gd name="connsiteY2" fmla="*/ 326545 h 326545"/>
              <a:gd name="connsiteX3" fmla="*/ 2412232 w 2612898"/>
              <a:gd name="connsiteY3" fmla="*/ 326545 h 326545"/>
              <a:gd name="connsiteX4" fmla="*/ 2412232 w 2612898"/>
              <a:gd name="connsiteY4" fmla="*/ 146545 h 326545"/>
              <a:gd name="connsiteX5" fmla="*/ 2088232 w 2612898"/>
              <a:gd name="connsiteY5" fmla="*/ 146545 h 326545"/>
              <a:gd name="connsiteX6" fmla="*/ 2088232 w 2612898"/>
              <a:gd name="connsiteY6" fmla="*/ 326545 h 326545"/>
              <a:gd name="connsiteX7" fmla="*/ 2030596 w 2612898"/>
              <a:gd name="connsiteY7" fmla="*/ 326545 h 326545"/>
              <a:gd name="connsiteX8" fmla="*/ 2030596 w 2612898"/>
              <a:gd name="connsiteY8" fmla="*/ 146545 h 326545"/>
              <a:gd name="connsiteX9" fmla="*/ 1706596 w 2612898"/>
              <a:gd name="connsiteY9" fmla="*/ 146545 h 326545"/>
              <a:gd name="connsiteX10" fmla="*/ 1706596 w 2612898"/>
              <a:gd name="connsiteY10" fmla="*/ 326545 h 326545"/>
              <a:gd name="connsiteX11" fmla="*/ 1648961 w 2612898"/>
              <a:gd name="connsiteY11" fmla="*/ 326545 h 326545"/>
              <a:gd name="connsiteX12" fmla="*/ 1648961 w 2612898"/>
              <a:gd name="connsiteY12" fmla="*/ 146545 h 326545"/>
              <a:gd name="connsiteX13" fmla="*/ 1324961 w 2612898"/>
              <a:gd name="connsiteY13" fmla="*/ 146545 h 326545"/>
              <a:gd name="connsiteX14" fmla="*/ 1324961 w 2612898"/>
              <a:gd name="connsiteY14" fmla="*/ 326545 h 326545"/>
              <a:gd name="connsiteX15" fmla="*/ 1267326 w 2612898"/>
              <a:gd name="connsiteY15" fmla="*/ 326545 h 326545"/>
              <a:gd name="connsiteX16" fmla="*/ 1267326 w 2612898"/>
              <a:gd name="connsiteY16" fmla="*/ 146545 h 326545"/>
              <a:gd name="connsiteX17" fmla="*/ 943326 w 2612898"/>
              <a:gd name="connsiteY17" fmla="*/ 146545 h 326545"/>
              <a:gd name="connsiteX18" fmla="*/ 943326 w 2612898"/>
              <a:gd name="connsiteY18" fmla="*/ 326545 h 326545"/>
              <a:gd name="connsiteX19" fmla="*/ 885691 w 2612898"/>
              <a:gd name="connsiteY19" fmla="*/ 326545 h 326545"/>
              <a:gd name="connsiteX20" fmla="*/ 885691 w 2612898"/>
              <a:gd name="connsiteY20" fmla="*/ 146545 h 326545"/>
              <a:gd name="connsiteX21" fmla="*/ 561691 w 2612898"/>
              <a:gd name="connsiteY21" fmla="*/ 146545 h 326545"/>
              <a:gd name="connsiteX22" fmla="*/ 561691 w 2612898"/>
              <a:gd name="connsiteY22" fmla="*/ 326545 h 326545"/>
              <a:gd name="connsiteX23" fmla="*/ 504056 w 2612898"/>
              <a:gd name="connsiteY23" fmla="*/ 326545 h 326545"/>
              <a:gd name="connsiteX24" fmla="*/ 504056 w 2612898"/>
              <a:gd name="connsiteY24" fmla="*/ 146545 h 326545"/>
              <a:gd name="connsiteX25" fmla="*/ 180056 w 2612898"/>
              <a:gd name="connsiteY25" fmla="*/ 146545 h 326545"/>
              <a:gd name="connsiteX26" fmla="*/ 180056 w 2612898"/>
              <a:gd name="connsiteY26" fmla="*/ 326545 h 326545"/>
              <a:gd name="connsiteX27" fmla="*/ 0 w 2612898"/>
              <a:gd name="connsiteY27" fmla="*/ 326545 h 326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612898" h="326545">
                <a:moveTo>
                  <a:pt x="0" y="0"/>
                </a:moveTo>
                <a:lnTo>
                  <a:pt x="2612898" y="0"/>
                </a:lnTo>
                <a:lnTo>
                  <a:pt x="2612898" y="326545"/>
                </a:lnTo>
                <a:lnTo>
                  <a:pt x="2412232" y="326545"/>
                </a:lnTo>
                <a:lnTo>
                  <a:pt x="2412232" y="146545"/>
                </a:lnTo>
                <a:lnTo>
                  <a:pt x="2088232" y="146545"/>
                </a:lnTo>
                <a:lnTo>
                  <a:pt x="2088232" y="326545"/>
                </a:lnTo>
                <a:lnTo>
                  <a:pt x="2030596" y="326545"/>
                </a:lnTo>
                <a:lnTo>
                  <a:pt x="2030596" y="146545"/>
                </a:lnTo>
                <a:lnTo>
                  <a:pt x="1706596" y="146545"/>
                </a:lnTo>
                <a:lnTo>
                  <a:pt x="1706596" y="326545"/>
                </a:lnTo>
                <a:lnTo>
                  <a:pt x="1648961" y="326545"/>
                </a:lnTo>
                <a:lnTo>
                  <a:pt x="1648961" y="146545"/>
                </a:lnTo>
                <a:lnTo>
                  <a:pt x="1324961" y="146545"/>
                </a:lnTo>
                <a:lnTo>
                  <a:pt x="1324961" y="326545"/>
                </a:lnTo>
                <a:lnTo>
                  <a:pt x="1267326" y="326545"/>
                </a:lnTo>
                <a:lnTo>
                  <a:pt x="1267326" y="146545"/>
                </a:lnTo>
                <a:lnTo>
                  <a:pt x="943326" y="146545"/>
                </a:lnTo>
                <a:lnTo>
                  <a:pt x="943326" y="326545"/>
                </a:lnTo>
                <a:lnTo>
                  <a:pt x="885691" y="326545"/>
                </a:lnTo>
                <a:lnTo>
                  <a:pt x="885691" y="146545"/>
                </a:lnTo>
                <a:lnTo>
                  <a:pt x="561691" y="146545"/>
                </a:lnTo>
                <a:lnTo>
                  <a:pt x="561691" y="326545"/>
                </a:lnTo>
                <a:lnTo>
                  <a:pt x="504056" y="326545"/>
                </a:lnTo>
                <a:lnTo>
                  <a:pt x="504056" y="146545"/>
                </a:lnTo>
                <a:lnTo>
                  <a:pt x="180056" y="146545"/>
                </a:lnTo>
                <a:lnTo>
                  <a:pt x="180056" y="326545"/>
                </a:lnTo>
                <a:lnTo>
                  <a:pt x="0" y="326545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E796E12-68EE-47EB-8CC7-02232B88D2F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30543" y="908720"/>
            <a:ext cx="2160000" cy="1102689"/>
          </a:xfrm>
          <a:prstGeom prst="rect">
            <a:avLst/>
          </a:prstGeom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08091CFC-03C5-4C8B-AE48-327D3C5ACDEE}"/>
              </a:ext>
            </a:extLst>
          </p:cNvPr>
          <p:cNvSpPr/>
          <p:nvPr/>
        </p:nvSpPr>
        <p:spPr>
          <a:xfrm>
            <a:off x="3152057" y="1670783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화살표: 오른쪽 87">
            <a:extLst>
              <a:ext uri="{FF2B5EF4-FFF2-40B4-BE49-F238E27FC236}">
                <a16:creationId xmlns:a16="http://schemas.microsoft.com/office/drawing/2014/main" id="{07453771-61AA-4D4D-9C21-B144F32D8600}"/>
              </a:ext>
            </a:extLst>
          </p:cNvPr>
          <p:cNvSpPr/>
          <p:nvPr/>
        </p:nvSpPr>
        <p:spPr>
          <a:xfrm>
            <a:off x="6116248" y="1667608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51290283-7E86-40C8-956F-2C9E96323432}"/>
              </a:ext>
            </a:extLst>
          </p:cNvPr>
          <p:cNvSpPr/>
          <p:nvPr/>
        </p:nvSpPr>
        <p:spPr>
          <a:xfrm>
            <a:off x="9170798" y="1667608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화살표: 오른쪽 89">
            <a:extLst>
              <a:ext uri="{FF2B5EF4-FFF2-40B4-BE49-F238E27FC236}">
                <a16:creationId xmlns:a16="http://schemas.microsoft.com/office/drawing/2014/main" id="{DAA6D5FF-28B5-4A3A-9571-EFCC7495258A}"/>
              </a:ext>
            </a:extLst>
          </p:cNvPr>
          <p:cNvSpPr/>
          <p:nvPr/>
        </p:nvSpPr>
        <p:spPr>
          <a:xfrm rot="5400000">
            <a:off x="10587744" y="2496995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화살표: 오른쪽 90">
            <a:extLst>
              <a:ext uri="{FF2B5EF4-FFF2-40B4-BE49-F238E27FC236}">
                <a16:creationId xmlns:a16="http://schemas.microsoft.com/office/drawing/2014/main" id="{83B6A99E-AAA4-471C-B848-9E414342B446}"/>
              </a:ext>
            </a:extLst>
          </p:cNvPr>
          <p:cNvSpPr/>
          <p:nvPr/>
        </p:nvSpPr>
        <p:spPr>
          <a:xfrm rot="10800000">
            <a:off x="9121064" y="3016983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AEB183B5-4353-4A67-BED6-3A0F46E249FB}"/>
              </a:ext>
            </a:extLst>
          </p:cNvPr>
          <p:cNvSpPr/>
          <p:nvPr/>
        </p:nvSpPr>
        <p:spPr>
          <a:xfrm rot="10800000">
            <a:off x="6119289" y="3011611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CE6F361B-BFCB-470F-B045-69802EDB59BF}"/>
              </a:ext>
            </a:extLst>
          </p:cNvPr>
          <p:cNvSpPr/>
          <p:nvPr/>
        </p:nvSpPr>
        <p:spPr>
          <a:xfrm rot="10800000">
            <a:off x="3155970" y="3023232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FB79AC-6790-44EF-AD56-3B6928F2B1B8}"/>
              </a:ext>
            </a:extLst>
          </p:cNvPr>
          <p:cNvSpPr txBox="1"/>
          <p:nvPr/>
        </p:nvSpPr>
        <p:spPr>
          <a:xfrm>
            <a:off x="478236" y="2063428"/>
            <a:ext cx="2636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SAM treatment on 3D-printed mold</a:t>
            </a:r>
            <a:endParaRPr lang="ko-KR" altLang="en-US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64A9E68-684F-4AFB-A501-097B4FFDF81C}"/>
              </a:ext>
            </a:extLst>
          </p:cNvPr>
          <p:cNvSpPr txBox="1"/>
          <p:nvPr/>
        </p:nvSpPr>
        <p:spPr>
          <a:xfrm>
            <a:off x="3359696" y="2063428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 Pouring of Dragon-skin10 onto the mold</a:t>
            </a:r>
            <a:endParaRPr lang="ko-KR" alt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3AB2215-0BD8-459A-96C7-72D8F25B751C}"/>
              </a:ext>
            </a:extLst>
          </p:cNvPr>
          <p:cNvSpPr txBox="1"/>
          <p:nvPr/>
        </p:nvSpPr>
        <p:spPr>
          <a:xfrm>
            <a:off x="6349933" y="2060848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 Delamination of Dragon-skin soft mold</a:t>
            </a:r>
            <a:endParaRPr lang="ko-KR" altLang="en-US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5A13FF7-D35A-4939-BFF8-BB47F70F2DE1}"/>
              </a:ext>
            </a:extLst>
          </p:cNvPr>
          <p:cNvSpPr txBox="1"/>
          <p:nvPr/>
        </p:nvSpPr>
        <p:spPr>
          <a:xfrm>
            <a:off x="9257844" y="2060848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 SAM treatment on Dragon-skin soft mold</a:t>
            </a:r>
            <a:endParaRPr lang="ko-KR" altLang="en-US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E428A2-9993-4DDF-8D05-E3651A0FD83E}"/>
              </a:ext>
            </a:extLst>
          </p:cNvPr>
          <p:cNvSpPr txBox="1"/>
          <p:nvPr/>
        </p:nvSpPr>
        <p:spPr>
          <a:xfrm>
            <a:off x="9257844" y="3471391"/>
            <a:ext cx="2907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5. Pouring of Smooth-cast 61D onto the Dragon-skin soft mold</a:t>
            </a:r>
            <a:endParaRPr lang="ko-KR" alt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4C24DDB-6E1D-4145-8651-5B536F6FCEB3}"/>
              </a:ext>
            </a:extLst>
          </p:cNvPr>
          <p:cNvSpPr txBox="1"/>
          <p:nvPr/>
        </p:nvSpPr>
        <p:spPr>
          <a:xfrm>
            <a:off x="6351025" y="3471390"/>
            <a:ext cx="27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6. Scraping out the residual Smooth-cast to form flat surface</a:t>
            </a:r>
            <a:endParaRPr lang="ko-KR" altLang="en-US" sz="1200" dirty="0"/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3F2CD450-7692-45DD-B3CF-CC11C6E83D7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9041" y="2434770"/>
            <a:ext cx="1980000" cy="913849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D07DC7DB-5DD4-478A-A012-28124EF9D656}"/>
              </a:ext>
            </a:extLst>
          </p:cNvPr>
          <p:cNvSpPr txBox="1"/>
          <p:nvPr/>
        </p:nvSpPr>
        <p:spPr>
          <a:xfrm>
            <a:off x="3378200" y="3466998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7. Delamination of Dragon-skin soft mold</a:t>
            </a:r>
            <a:endParaRPr lang="ko-KR" altLang="en-US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9F39A58-5529-4D92-848E-F8177435311A}"/>
              </a:ext>
            </a:extLst>
          </p:cNvPr>
          <p:cNvSpPr txBox="1"/>
          <p:nvPr/>
        </p:nvSpPr>
        <p:spPr>
          <a:xfrm>
            <a:off x="493963" y="3470858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8. Free standing </a:t>
            </a:r>
            <a:r>
              <a:rPr lang="en-US" altLang="ko-KR" sz="1200"/>
              <a:t>auxetic frameworks</a:t>
            </a:r>
            <a:endParaRPr lang="ko-KR" altLang="en-US" sz="1200" dirty="0"/>
          </a:p>
        </p:txBody>
      </p:sp>
      <p:pic>
        <p:nvPicPr>
          <p:cNvPr id="104" name="그림 103">
            <a:extLst>
              <a:ext uri="{FF2B5EF4-FFF2-40B4-BE49-F238E27FC236}">
                <a16:creationId xmlns:a16="http://schemas.microsoft.com/office/drawing/2014/main" id="{8044F3FE-03E4-4D1D-AC3F-9EE3B81CB7BC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1492" y="2690581"/>
            <a:ext cx="1980000" cy="84857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93490" y="4581128"/>
            <a:ext cx="2782760" cy="19267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886908" y="4581128"/>
            <a:ext cx="2017908" cy="1897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00257" y="4628294"/>
            <a:ext cx="1224136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/>
              <a:t>Soft mold</a:t>
            </a:r>
            <a:endParaRPr lang="ko-KR" altLang="en-US" sz="1400"/>
          </a:p>
        </p:txBody>
      </p:sp>
      <p:sp>
        <p:nvSpPr>
          <p:cNvPr id="37" name="TextBox 36"/>
          <p:cNvSpPr txBox="1"/>
          <p:nvPr/>
        </p:nvSpPr>
        <p:spPr>
          <a:xfrm>
            <a:off x="5428714" y="4628294"/>
            <a:ext cx="1296144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Master mold</a:t>
            </a:r>
            <a:endParaRPr lang="ko-KR" altLang="en-US" sz="1400" dirty="0"/>
          </a:p>
        </p:txBody>
      </p:sp>
      <p:sp>
        <p:nvSpPr>
          <p:cNvPr id="38" name="TextBox 37"/>
          <p:cNvSpPr txBox="1"/>
          <p:nvPr/>
        </p:nvSpPr>
        <p:spPr>
          <a:xfrm>
            <a:off x="10208670" y="4628294"/>
            <a:ext cx="1691148" cy="30777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Rotating square</a:t>
            </a:r>
            <a:endParaRPr lang="ko-KR" altLang="en-US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AB2215-0BD8-459A-96C7-72D8F25B751C}"/>
              </a:ext>
            </a:extLst>
          </p:cNvPr>
          <p:cNvSpPr txBox="1"/>
          <p:nvPr/>
        </p:nvSpPr>
        <p:spPr>
          <a:xfrm>
            <a:off x="7061133" y="2492648"/>
            <a:ext cx="68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Scraper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947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E56BDD0F-E8D1-41FE-AFFA-EF5C106F4F88}"/>
              </a:ext>
            </a:extLst>
          </p:cNvPr>
          <p:cNvSpPr txBox="1">
            <a:spLocks/>
          </p:cNvSpPr>
          <p:nvPr/>
        </p:nvSpPr>
        <p:spPr>
          <a:xfrm>
            <a:off x="767408" y="146319"/>
            <a:ext cx="9361040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Experimental steps </a:t>
            </a:r>
            <a:r>
              <a:rPr lang="en-US" altLang="ko-KR" sz="3200"/>
              <a:t>: Band/Substrate/Adhesive</a:t>
            </a:r>
            <a:endParaRPr lang="ko-KR" altLang="en-US" sz="3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3330524-886E-4360-BB3C-477867058D85}"/>
              </a:ext>
            </a:extLst>
          </p:cNvPr>
          <p:cNvSpPr/>
          <p:nvPr/>
        </p:nvSpPr>
        <p:spPr>
          <a:xfrm>
            <a:off x="82598" y="764704"/>
            <a:ext cx="5385937" cy="39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2000" dirty="0"/>
              <a:t>Form-preserving component fabrication</a:t>
            </a:r>
            <a:endParaRPr lang="ko-KR" altLang="ko-KR" sz="20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08091CFC-03C5-4C8B-AE48-327D3C5ACDEE}"/>
              </a:ext>
            </a:extLst>
          </p:cNvPr>
          <p:cNvSpPr/>
          <p:nvPr/>
        </p:nvSpPr>
        <p:spPr>
          <a:xfrm>
            <a:off x="3152057" y="2047730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화살표: 오른쪽 87">
            <a:extLst>
              <a:ext uri="{FF2B5EF4-FFF2-40B4-BE49-F238E27FC236}">
                <a16:creationId xmlns:a16="http://schemas.microsoft.com/office/drawing/2014/main" id="{07453771-61AA-4D4D-9C21-B144F32D8600}"/>
              </a:ext>
            </a:extLst>
          </p:cNvPr>
          <p:cNvSpPr/>
          <p:nvPr/>
        </p:nvSpPr>
        <p:spPr>
          <a:xfrm>
            <a:off x="6116248" y="2044555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51290283-7E86-40C8-956F-2C9E96323432}"/>
              </a:ext>
            </a:extLst>
          </p:cNvPr>
          <p:cNvSpPr/>
          <p:nvPr/>
        </p:nvSpPr>
        <p:spPr>
          <a:xfrm>
            <a:off x="9170798" y="2044555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화살표: 오른쪽 90">
            <a:extLst>
              <a:ext uri="{FF2B5EF4-FFF2-40B4-BE49-F238E27FC236}">
                <a16:creationId xmlns:a16="http://schemas.microsoft.com/office/drawing/2014/main" id="{83B6A99E-AAA4-471C-B848-9E414342B446}"/>
              </a:ext>
            </a:extLst>
          </p:cNvPr>
          <p:cNvSpPr/>
          <p:nvPr/>
        </p:nvSpPr>
        <p:spPr>
          <a:xfrm>
            <a:off x="9121064" y="3509254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화살표: 오른쪽 91">
            <a:extLst>
              <a:ext uri="{FF2B5EF4-FFF2-40B4-BE49-F238E27FC236}">
                <a16:creationId xmlns:a16="http://schemas.microsoft.com/office/drawing/2014/main" id="{AEB183B5-4353-4A67-BED6-3A0F46E249FB}"/>
              </a:ext>
            </a:extLst>
          </p:cNvPr>
          <p:cNvSpPr/>
          <p:nvPr/>
        </p:nvSpPr>
        <p:spPr>
          <a:xfrm>
            <a:off x="6119289" y="3503882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CE6F361B-BFCB-470F-B045-69802EDB59BF}"/>
              </a:ext>
            </a:extLst>
          </p:cNvPr>
          <p:cNvSpPr/>
          <p:nvPr/>
        </p:nvSpPr>
        <p:spPr>
          <a:xfrm>
            <a:off x="3155970" y="3515503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FB79AC-6790-44EF-AD56-3B6928F2B1B8}"/>
              </a:ext>
            </a:extLst>
          </p:cNvPr>
          <p:cNvSpPr txBox="1"/>
          <p:nvPr/>
        </p:nvSpPr>
        <p:spPr>
          <a:xfrm>
            <a:off x="478236" y="2359913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Pouring of Dragon-skin onto petri dish</a:t>
            </a:r>
            <a:endParaRPr lang="ko-KR" altLang="en-US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64A9E68-684F-4AFB-A501-097B4FFDF81C}"/>
              </a:ext>
            </a:extLst>
          </p:cNvPr>
          <p:cNvSpPr txBox="1"/>
          <p:nvPr/>
        </p:nvSpPr>
        <p:spPr>
          <a:xfrm>
            <a:off x="3575721" y="2359913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 Degassing &amp; curing at RT overnight</a:t>
            </a:r>
            <a:endParaRPr lang="ko-KR" alt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3AB2215-0BD8-459A-96C7-72D8F25B751C}"/>
              </a:ext>
            </a:extLst>
          </p:cNvPr>
          <p:cNvSpPr txBox="1"/>
          <p:nvPr/>
        </p:nvSpPr>
        <p:spPr>
          <a:xfrm>
            <a:off x="6349933" y="2357333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 Cutting through Band-shape mold</a:t>
            </a:r>
            <a:endParaRPr lang="ko-KR" altLang="en-US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5A13FF7-D35A-4939-BFF8-BB47F70F2DE1}"/>
              </a:ext>
            </a:extLst>
          </p:cNvPr>
          <p:cNvSpPr txBox="1"/>
          <p:nvPr/>
        </p:nvSpPr>
        <p:spPr>
          <a:xfrm>
            <a:off x="9257844" y="2357333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 Delamination of band from the petri dish</a:t>
            </a:r>
            <a:endParaRPr lang="ko-KR" altLang="en-US" sz="12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E428A2-9993-4DDF-8D05-E3651A0FD83E}"/>
              </a:ext>
            </a:extLst>
          </p:cNvPr>
          <p:cNvSpPr txBox="1"/>
          <p:nvPr/>
        </p:nvSpPr>
        <p:spPr>
          <a:xfrm>
            <a:off x="9257844" y="3865441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 Delamination of band-substrate structure</a:t>
            </a:r>
            <a:endParaRPr lang="ko-KR" alt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4C24DDB-6E1D-4145-8651-5B536F6FCEB3}"/>
              </a:ext>
            </a:extLst>
          </p:cNvPr>
          <p:cNvSpPr txBox="1"/>
          <p:nvPr/>
        </p:nvSpPr>
        <p:spPr>
          <a:xfrm>
            <a:off x="6351025" y="3865440"/>
            <a:ext cx="27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 After curing at RT overnight, cutting the outside of the band</a:t>
            </a:r>
            <a:endParaRPr lang="ko-KR" alt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07DC7DB-5DD4-478A-A012-28124EF9D656}"/>
              </a:ext>
            </a:extLst>
          </p:cNvPr>
          <p:cNvSpPr txBox="1"/>
          <p:nvPr/>
        </p:nvSpPr>
        <p:spPr>
          <a:xfrm>
            <a:off x="3575721" y="3861048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 Putting the band onto the surface of uncured substrate </a:t>
            </a:r>
            <a:endParaRPr lang="ko-KR" altLang="en-US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9F39A58-5529-4D92-848E-F8177435311A}"/>
              </a:ext>
            </a:extLst>
          </p:cNvPr>
          <p:cNvSpPr txBox="1"/>
          <p:nvPr/>
        </p:nvSpPr>
        <p:spPr>
          <a:xfrm>
            <a:off x="493963" y="3864908"/>
            <a:ext cx="29079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Spin-coating of substrate material</a:t>
            </a:r>
            <a:endParaRPr lang="ko-KR" altLang="en-US" sz="12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8B2DBE68-93DD-4F9E-B825-39B3EDC9E8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408" y="1691701"/>
            <a:ext cx="1944793" cy="65232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243839C-12CF-444F-847D-3F7391B05E5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2385" y="1624640"/>
            <a:ext cx="1944793" cy="71939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986CA72-FD3B-42F7-9CBF-2A497E8EA32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9402" y="1502709"/>
            <a:ext cx="1944793" cy="84132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AD4E67B-268C-4ECD-8B5A-B36AE445BCB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505" y="3142808"/>
            <a:ext cx="1938696" cy="64623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B83340E-CBD4-440F-A727-631E8FB85A0D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5289" y="3142411"/>
            <a:ext cx="1944793" cy="646232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AE4E66BA-BD0D-4FD5-A095-9C2D0FF13A5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2385" y="3135774"/>
            <a:ext cx="1944793" cy="652329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61400E9F-B251-407E-90AC-B2D60DF18C6E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9401" y="2993471"/>
            <a:ext cx="1944793" cy="7925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F611154-9912-4622-A840-82FFF65CB4CC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5289" y="1691701"/>
            <a:ext cx="1944793" cy="6523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4B87F2-C2C8-4A7D-AE96-8178C7D0FC86}"/>
              </a:ext>
            </a:extLst>
          </p:cNvPr>
          <p:cNvSpPr txBox="1"/>
          <p:nvPr/>
        </p:nvSpPr>
        <p:spPr>
          <a:xfrm>
            <a:off x="263352" y="1174723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Band</a:t>
            </a:r>
            <a:endParaRPr lang="ko-KR" alt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C88B58-9CFE-47CD-BF1E-70E805B79497}"/>
              </a:ext>
            </a:extLst>
          </p:cNvPr>
          <p:cNvSpPr txBox="1"/>
          <p:nvPr/>
        </p:nvSpPr>
        <p:spPr>
          <a:xfrm>
            <a:off x="263352" y="2730406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Band-substrate structure</a:t>
            </a:r>
            <a:endParaRPr lang="ko-KR" altLang="en-US" sz="1600" dirty="0"/>
          </a:p>
        </p:txBody>
      </p:sp>
      <p:sp>
        <p:nvSpPr>
          <p:cNvPr id="31" name="화살표: 오른쪽 90">
            <a:extLst>
              <a:ext uri="{FF2B5EF4-FFF2-40B4-BE49-F238E27FC236}">
                <a16:creationId xmlns:a16="http://schemas.microsoft.com/office/drawing/2014/main" id="{83B6A99E-AAA4-471C-B848-9E414342B446}"/>
              </a:ext>
            </a:extLst>
          </p:cNvPr>
          <p:cNvSpPr/>
          <p:nvPr/>
        </p:nvSpPr>
        <p:spPr>
          <a:xfrm>
            <a:off x="9121064" y="5923517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91">
            <a:extLst>
              <a:ext uri="{FF2B5EF4-FFF2-40B4-BE49-F238E27FC236}">
                <a16:creationId xmlns:a16="http://schemas.microsoft.com/office/drawing/2014/main" id="{AEB183B5-4353-4A67-BED6-3A0F46E249FB}"/>
              </a:ext>
            </a:extLst>
          </p:cNvPr>
          <p:cNvSpPr/>
          <p:nvPr/>
        </p:nvSpPr>
        <p:spPr>
          <a:xfrm>
            <a:off x="6119289" y="5918145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화살표: 오른쪽 92">
            <a:extLst>
              <a:ext uri="{FF2B5EF4-FFF2-40B4-BE49-F238E27FC236}">
                <a16:creationId xmlns:a16="http://schemas.microsoft.com/office/drawing/2014/main" id="{CE6F361B-BFCB-470F-B045-69802EDB59BF}"/>
              </a:ext>
            </a:extLst>
          </p:cNvPr>
          <p:cNvSpPr/>
          <p:nvPr/>
        </p:nvSpPr>
        <p:spPr>
          <a:xfrm>
            <a:off x="3155970" y="5929766"/>
            <a:ext cx="226143" cy="254000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E428A2-9993-4DDF-8D05-E3651A0FD83E}"/>
              </a:ext>
            </a:extLst>
          </p:cNvPr>
          <p:cNvSpPr txBox="1"/>
          <p:nvPr/>
        </p:nvSpPr>
        <p:spPr>
          <a:xfrm>
            <a:off x="9257844" y="6279704"/>
            <a:ext cx="2907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4. Alignment of band-substrate structure onto the uncured silcone adhesive</a:t>
            </a:r>
            <a:endParaRPr lang="ko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C24DDB-6E1D-4145-8651-5B536F6FCEB3}"/>
              </a:ext>
            </a:extLst>
          </p:cNvPr>
          <p:cNvSpPr txBox="1"/>
          <p:nvPr/>
        </p:nvSpPr>
        <p:spPr>
          <a:xfrm>
            <a:off x="6351025" y="6279703"/>
            <a:ext cx="277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3. Scraping the residual adhesive &amp; lifting the metal mask</a:t>
            </a:r>
            <a:endParaRPr lang="ko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7DC7DB-5DD4-478A-A012-28124EF9D656}"/>
              </a:ext>
            </a:extLst>
          </p:cNvPr>
          <p:cNvSpPr txBox="1"/>
          <p:nvPr/>
        </p:nvSpPr>
        <p:spPr>
          <a:xfrm>
            <a:off x="3575721" y="6275311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2. Coating of silicone adhesive onto the hole of the metal mask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F39A58-5529-4D92-848E-F8177435311A}"/>
              </a:ext>
            </a:extLst>
          </p:cNvPr>
          <p:cNvSpPr txBox="1"/>
          <p:nvPr/>
        </p:nvSpPr>
        <p:spPr>
          <a:xfrm>
            <a:off x="493963" y="6279171"/>
            <a:ext cx="2907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1. Alignment of FP-coated metal mask onto the auxetic framework</a:t>
            </a:r>
            <a:endParaRPr lang="ko-KR" alt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C88B58-9CFE-47CD-BF1E-70E805B79497}"/>
              </a:ext>
            </a:extLst>
          </p:cNvPr>
          <p:cNvSpPr txBox="1"/>
          <p:nvPr/>
        </p:nvSpPr>
        <p:spPr>
          <a:xfrm>
            <a:off x="263351" y="4221088"/>
            <a:ext cx="32022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Silicone adhesive masking</a:t>
            </a:r>
            <a:endParaRPr lang="ko-KR" altLang="en-US" sz="1600" dirty="0"/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408" y="6032444"/>
            <a:ext cx="1944000" cy="201836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5289" y="5995263"/>
            <a:ext cx="1944000" cy="239017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2261" y="5464116"/>
            <a:ext cx="1944000" cy="770164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9401" y="5445026"/>
            <a:ext cx="1944000" cy="789254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6299" y="4630363"/>
            <a:ext cx="1685925" cy="1289790"/>
          </a:xfrm>
          <a:prstGeom prst="roundRect">
            <a:avLst>
              <a:gd name="adj" fmla="val 7693"/>
            </a:avLst>
          </a:prstGeom>
        </p:spPr>
      </p:pic>
      <p:sp>
        <p:nvSpPr>
          <p:cNvPr id="3" name="TextBox 2"/>
          <p:cNvSpPr txBox="1"/>
          <p:nvPr/>
        </p:nvSpPr>
        <p:spPr>
          <a:xfrm>
            <a:off x="762000" y="4653136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chemeClr val="bg1"/>
                </a:solidFill>
              </a:rPr>
              <a:t>FP-coated metal mask</a:t>
            </a:r>
            <a:endParaRPr lang="ko-KR" altLang="en-US" sz="1400">
              <a:solidFill>
                <a:schemeClr val="bg1"/>
              </a:solidFill>
            </a:endParaRPr>
          </a:p>
        </p:txBody>
      </p:sp>
      <p:sp>
        <p:nvSpPr>
          <p:cNvPr id="6" name="이등변 삼각형 5"/>
          <p:cNvSpPr/>
          <p:nvPr/>
        </p:nvSpPr>
        <p:spPr>
          <a:xfrm flipV="1">
            <a:off x="3743325" y="5414962"/>
            <a:ext cx="180000" cy="365125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743325" y="5048250"/>
            <a:ext cx="180000" cy="36285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465611" y="4610845"/>
            <a:ext cx="7730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/>
              <a:t>Silicone adhesive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665542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3F3E4E53-DD1B-432D-A285-2A78225EF0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21188"/>
              </p:ext>
            </p:extLst>
          </p:nvPr>
        </p:nvGraphicFramePr>
        <p:xfrm>
          <a:off x="2338658" y="829944"/>
          <a:ext cx="39211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920760" imgH="3000960" progId="Origin95.Graph">
                  <p:embed/>
                </p:oleObj>
              </mc:Choice>
              <mc:Fallback>
                <p:oleObj name="Graph" r:id="rId2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8658" y="829944"/>
                        <a:ext cx="3921125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2">
            <a:extLst>
              <a:ext uri="{FF2B5EF4-FFF2-40B4-BE49-F238E27FC236}">
                <a16:creationId xmlns:a16="http://schemas.microsoft.com/office/drawing/2014/main" id="{9C6ABD21-56F9-453A-B093-AF87F3958251}"/>
              </a:ext>
            </a:extLst>
          </p:cNvPr>
          <p:cNvSpPr txBox="1">
            <a:spLocks/>
          </p:cNvSpPr>
          <p:nvPr/>
        </p:nvSpPr>
        <p:spPr>
          <a:xfrm>
            <a:off x="681347" y="232380"/>
            <a:ext cx="8890068" cy="61838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Simulation</a:t>
            </a:r>
            <a:r>
              <a:rPr lang="ko-KR" altLang="en-US" sz="3200" dirty="0"/>
              <a:t> </a:t>
            </a:r>
            <a:r>
              <a:rPr lang="en-US" altLang="ko-KR" sz="3200" dirty="0"/>
              <a:t>results analyzed by </a:t>
            </a:r>
            <a:r>
              <a:rPr lang="en-US" altLang="ko-KR" sz="3200"/>
              <a:t>algorithm (</a:t>
            </a:r>
            <a:r>
              <a:rPr lang="en-US" altLang="ko-KR" sz="3200" i="1" dirty="0"/>
              <a:t>D</a:t>
            </a:r>
            <a:r>
              <a:rPr lang="en-US" altLang="ko-KR" sz="3200"/>
              <a:t> </a:t>
            </a:r>
            <a:r>
              <a:rPr lang="en-US" altLang="ko-KR" sz="3200" dirty="0"/>
              <a:t>variation)</a:t>
            </a:r>
            <a:endParaRPr lang="ko-KR" altLang="en-US" sz="32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B57886-D1DE-442B-B1C7-E0923EE68D3A}"/>
              </a:ext>
            </a:extLst>
          </p:cNvPr>
          <p:cNvSpPr/>
          <p:nvPr/>
        </p:nvSpPr>
        <p:spPr>
          <a:xfrm>
            <a:off x="5251567" y="1038661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0.86</a:t>
            </a:r>
            <a:endParaRPr lang="ko-KR" altLang="en-US" sz="1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5C87A7-58AA-4BF2-947C-8FA5F358F734}"/>
              </a:ext>
            </a:extLst>
          </p:cNvPr>
          <p:cNvSpPr/>
          <p:nvPr/>
        </p:nvSpPr>
        <p:spPr>
          <a:xfrm>
            <a:off x="5251567" y="3159832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0.48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412282-C30E-4644-A1D6-E59DBD109B41}"/>
              </a:ext>
            </a:extLst>
          </p:cNvPr>
          <p:cNvSpPr/>
          <p:nvPr/>
        </p:nvSpPr>
        <p:spPr>
          <a:xfrm>
            <a:off x="5251567" y="2081378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0.67</a:t>
            </a:r>
            <a:endParaRPr lang="ko-KR" altLang="en-US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6F017B-2BFE-4BC9-839A-BE3E951BFA3F}"/>
              </a:ext>
            </a:extLst>
          </p:cNvPr>
          <p:cNvSpPr/>
          <p:nvPr/>
        </p:nvSpPr>
        <p:spPr>
          <a:xfrm rot="16200000">
            <a:off x="1787846" y="1942878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L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2E312F-C284-489B-934C-C07181611F11}"/>
              </a:ext>
            </a:extLst>
          </p:cNvPr>
          <p:cNvSpPr/>
          <p:nvPr/>
        </p:nvSpPr>
        <p:spPr>
          <a:xfrm>
            <a:off x="3351947" y="3474306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W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8A61E3E8-AB72-42D1-A70A-9BAD8AAB3B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4776186"/>
              </p:ext>
            </p:extLst>
          </p:nvPr>
        </p:nvGraphicFramePr>
        <p:xfrm>
          <a:off x="8034511" y="819188"/>
          <a:ext cx="39211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920760" imgH="3000960" progId="Origin95.Graph">
                  <p:embed/>
                </p:oleObj>
              </mc:Choice>
              <mc:Fallback>
                <p:oleObj name="Graph" r:id="rId4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34511" y="819188"/>
                        <a:ext cx="3921125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개체 13">
            <a:extLst>
              <a:ext uri="{FF2B5EF4-FFF2-40B4-BE49-F238E27FC236}">
                <a16:creationId xmlns:a16="http://schemas.microsoft.com/office/drawing/2014/main" id="{E0CEAAA2-414B-41A0-B89A-FCC4C5C61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55187"/>
              </p:ext>
            </p:extLst>
          </p:nvPr>
        </p:nvGraphicFramePr>
        <p:xfrm>
          <a:off x="2338658" y="3830319"/>
          <a:ext cx="39211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920760" imgH="3000960" progId="Origin95.Graph">
                  <p:embed/>
                </p:oleObj>
              </mc:Choice>
              <mc:Fallback>
                <p:oleObj name="Graph" r:id="rId6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38658" y="3830319"/>
                        <a:ext cx="3921125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개체 18">
            <a:extLst>
              <a:ext uri="{FF2B5EF4-FFF2-40B4-BE49-F238E27FC236}">
                <a16:creationId xmlns:a16="http://schemas.microsoft.com/office/drawing/2014/main" id="{82FADB3B-43C4-4601-8D43-4AAC441A90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378612"/>
              </p:ext>
            </p:extLst>
          </p:nvPr>
        </p:nvGraphicFramePr>
        <p:xfrm>
          <a:off x="8040216" y="3830319"/>
          <a:ext cx="39211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3920760" imgH="3000960" progId="Origin95.Graph">
                  <p:embed/>
                </p:oleObj>
              </mc:Choice>
              <mc:Fallback>
                <p:oleObj name="Graph" r:id="rId8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40216" y="3830319"/>
                        <a:ext cx="3921125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5B74A7-8E88-44E8-ABE4-9207EF001FC3}"/>
              </a:ext>
            </a:extLst>
          </p:cNvPr>
          <p:cNvSpPr/>
          <p:nvPr/>
        </p:nvSpPr>
        <p:spPr>
          <a:xfrm rot="16200000">
            <a:off x="1787846" y="5003085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L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F15817-D967-4AF8-BFDF-CB513EAE8854}"/>
              </a:ext>
            </a:extLst>
          </p:cNvPr>
          <p:cNvSpPr/>
          <p:nvPr/>
        </p:nvSpPr>
        <p:spPr>
          <a:xfrm>
            <a:off x="3351947" y="6534513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W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DB2160-B4D9-4056-A152-E50A68FBA457}"/>
              </a:ext>
            </a:extLst>
          </p:cNvPr>
          <p:cNvSpPr/>
          <p:nvPr/>
        </p:nvSpPr>
        <p:spPr>
          <a:xfrm rot="16200000">
            <a:off x="7468865" y="5003085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L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B72A1C4-7AA6-46EF-ADF9-7768C7550FF5}"/>
              </a:ext>
            </a:extLst>
          </p:cNvPr>
          <p:cNvSpPr/>
          <p:nvPr/>
        </p:nvSpPr>
        <p:spPr>
          <a:xfrm>
            <a:off x="9032966" y="6534513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W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1A44F83-3EB6-43A2-AA5D-2638DD4675D8}"/>
              </a:ext>
            </a:extLst>
          </p:cNvPr>
          <p:cNvSpPr/>
          <p:nvPr/>
        </p:nvSpPr>
        <p:spPr>
          <a:xfrm rot="16200000">
            <a:off x="7468865" y="1948325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L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95E81E3-D82E-4ACE-86AD-EE1C032258C4}"/>
              </a:ext>
            </a:extLst>
          </p:cNvPr>
          <p:cNvSpPr/>
          <p:nvPr/>
        </p:nvSpPr>
        <p:spPr>
          <a:xfrm>
            <a:off x="9032966" y="3479753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W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915783-A9B2-41A4-B892-5AC432B416FF}"/>
              </a:ext>
            </a:extLst>
          </p:cNvPr>
          <p:cNvSpPr/>
          <p:nvPr/>
        </p:nvSpPr>
        <p:spPr>
          <a:xfrm>
            <a:off x="10939002" y="1038661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1.6</a:t>
            </a:r>
            <a:endParaRPr lang="ko-KR" altLang="en-US" sz="12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45AED13-B2D8-44CA-B411-E9EE406B51F0}"/>
              </a:ext>
            </a:extLst>
          </p:cNvPr>
          <p:cNvSpPr/>
          <p:nvPr/>
        </p:nvSpPr>
        <p:spPr>
          <a:xfrm>
            <a:off x="10939002" y="3159832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0.8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69F931-A98C-40C7-BCF4-1A3B0AF77D26}"/>
              </a:ext>
            </a:extLst>
          </p:cNvPr>
          <p:cNvSpPr/>
          <p:nvPr/>
        </p:nvSpPr>
        <p:spPr>
          <a:xfrm>
            <a:off x="10939002" y="2081378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1.2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DD0B8D4-1FEE-4FC0-A36D-A8DA2D3D21B9}"/>
              </a:ext>
            </a:extLst>
          </p:cNvPr>
          <p:cNvSpPr/>
          <p:nvPr/>
        </p:nvSpPr>
        <p:spPr>
          <a:xfrm>
            <a:off x="5246285" y="4019953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2.4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4352AF8-E5F4-48B2-BDBD-EF6F9A02E3F4}"/>
              </a:ext>
            </a:extLst>
          </p:cNvPr>
          <p:cNvSpPr/>
          <p:nvPr/>
        </p:nvSpPr>
        <p:spPr>
          <a:xfrm>
            <a:off x="5246285" y="6141124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1.6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0934DC-838A-4B67-BE1A-81DD6BA2C302}"/>
              </a:ext>
            </a:extLst>
          </p:cNvPr>
          <p:cNvSpPr/>
          <p:nvPr/>
        </p:nvSpPr>
        <p:spPr>
          <a:xfrm>
            <a:off x="5246285" y="5062670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1.2</a:t>
            </a:r>
            <a:endParaRPr lang="ko-KR" altLang="en-US" sz="12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E3B220D-F393-49F8-9912-6D5D6053B461}"/>
              </a:ext>
            </a:extLst>
          </p:cNvPr>
          <p:cNvSpPr/>
          <p:nvPr/>
        </p:nvSpPr>
        <p:spPr>
          <a:xfrm>
            <a:off x="10953070" y="4019953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3.0</a:t>
            </a:r>
            <a:endParaRPr lang="ko-KR" altLang="en-US" sz="12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0AE73F1-A025-4D4F-B7D2-73E1298E9DC2}"/>
              </a:ext>
            </a:extLst>
          </p:cNvPr>
          <p:cNvSpPr/>
          <p:nvPr/>
        </p:nvSpPr>
        <p:spPr>
          <a:xfrm>
            <a:off x="10953070" y="6141124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2.4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5BC3099-A108-413C-B5CC-E0757B029C1C}"/>
              </a:ext>
            </a:extLst>
          </p:cNvPr>
          <p:cNvSpPr/>
          <p:nvPr/>
        </p:nvSpPr>
        <p:spPr>
          <a:xfrm>
            <a:off x="10953070" y="5062670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2.8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50444C4-92D5-478A-8CF2-A8CA6BE1C88F}"/>
                  </a:ext>
                </a:extLst>
              </p:cNvPr>
              <p:cNvSpPr/>
              <p:nvPr/>
            </p:nvSpPr>
            <p:spPr>
              <a:xfrm>
                <a:off x="4604403" y="800731"/>
                <a:ext cx="1584344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50444C4-92D5-478A-8CF2-A8CA6BE1C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403" y="800731"/>
                <a:ext cx="1584344" cy="32694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FAA97FA1-58F3-4205-A3E0-A989B92B9F18}"/>
                  </a:ext>
                </a:extLst>
              </p:cNvPr>
              <p:cNvSpPr/>
              <p:nvPr/>
            </p:nvSpPr>
            <p:spPr>
              <a:xfrm>
                <a:off x="10296089" y="800731"/>
                <a:ext cx="1584344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FAA97FA1-58F3-4205-A3E0-A989B92B9F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089" y="800731"/>
                <a:ext cx="1584344" cy="32694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68184C3E-C16A-4274-979E-946252A335AE}"/>
                  </a:ext>
                </a:extLst>
              </p:cNvPr>
              <p:cNvSpPr/>
              <p:nvPr/>
            </p:nvSpPr>
            <p:spPr>
              <a:xfrm>
                <a:off x="10296089" y="3761255"/>
                <a:ext cx="1584344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68184C3E-C16A-4274-979E-946252A335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089" y="3761255"/>
                <a:ext cx="1584344" cy="32694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A1E9ACD9-CAF3-48D7-AAD4-B941370396BD}"/>
                  </a:ext>
                </a:extLst>
              </p:cNvPr>
              <p:cNvSpPr/>
              <p:nvPr/>
            </p:nvSpPr>
            <p:spPr>
              <a:xfrm>
                <a:off x="4594116" y="3761255"/>
                <a:ext cx="1584344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A1E9ACD9-CAF3-48D7-AAD4-B94137039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116" y="3761255"/>
                <a:ext cx="1584344" cy="32694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직사각형 31">
            <a:extLst>
              <a:ext uri="{FF2B5EF4-FFF2-40B4-BE49-F238E27FC236}">
                <a16:creationId xmlns:a16="http://schemas.microsoft.com/office/drawing/2014/main" id="{82CB6A7A-F866-4CD6-9EBC-635BE7701C57}"/>
              </a:ext>
            </a:extLst>
          </p:cNvPr>
          <p:cNvSpPr/>
          <p:nvPr/>
        </p:nvSpPr>
        <p:spPr>
          <a:xfrm>
            <a:off x="1108674" y="926621"/>
            <a:ext cx="13728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D </a:t>
            </a:r>
            <a:r>
              <a:rPr lang="en-US" altLang="ko-KR" sz="1600" dirty="0"/>
              <a:t>= 0.4 mm</a:t>
            </a:r>
            <a:endParaRPr lang="ko-KR" altLang="en-US" sz="16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40D3DE8-3B54-4F20-8C27-6A2B5C4B4E5B}"/>
              </a:ext>
            </a:extLst>
          </p:cNvPr>
          <p:cNvSpPr/>
          <p:nvPr/>
        </p:nvSpPr>
        <p:spPr>
          <a:xfrm>
            <a:off x="1108674" y="3850676"/>
            <a:ext cx="13728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D </a:t>
            </a:r>
            <a:r>
              <a:rPr lang="en-US" altLang="ko-KR" sz="1600" dirty="0"/>
              <a:t>= 0.8 mm</a:t>
            </a:r>
            <a:endParaRPr lang="ko-KR" altLang="en-US" sz="16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D23903-8A92-453B-960F-63AFC109EDC4}"/>
              </a:ext>
            </a:extLst>
          </p:cNvPr>
          <p:cNvSpPr/>
          <p:nvPr/>
        </p:nvSpPr>
        <p:spPr>
          <a:xfrm>
            <a:off x="6732709" y="926621"/>
            <a:ext cx="13728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D </a:t>
            </a:r>
            <a:r>
              <a:rPr lang="en-US" altLang="ko-KR" sz="1600" dirty="0"/>
              <a:t>= 0.6 mm</a:t>
            </a:r>
            <a:endParaRPr lang="ko-KR" altLang="en-US" sz="16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9B8740-1A5B-4646-9272-E1A4B413E0FE}"/>
              </a:ext>
            </a:extLst>
          </p:cNvPr>
          <p:cNvSpPr/>
          <p:nvPr/>
        </p:nvSpPr>
        <p:spPr>
          <a:xfrm>
            <a:off x="6732709" y="3850676"/>
            <a:ext cx="13728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D </a:t>
            </a:r>
            <a:r>
              <a:rPr lang="en-US" altLang="ko-KR" sz="1600" dirty="0"/>
              <a:t>= 1.0 mm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11834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56749C63-5301-4AAF-9BD9-84808D4A07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970374"/>
              </p:ext>
            </p:extLst>
          </p:nvPr>
        </p:nvGraphicFramePr>
        <p:xfrm>
          <a:off x="2335765" y="819393"/>
          <a:ext cx="3919067" cy="299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920760" imgH="3000960" progId="Origin95.Graph">
                  <p:embed/>
                </p:oleObj>
              </mc:Choice>
              <mc:Fallback>
                <p:oleObj name="Graph" r:id="rId2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5765" y="819393"/>
                        <a:ext cx="3919067" cy="299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A2F6312B-98C9-4B8D-B0CF-918798498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825551"/>
              </p:ext>
            </p:extLst>
          </p:nvPr>
        </p:nvGraphicFramePr>
        <p:xfrm>
          <a:off x="8040215" y="822207"/>
          <a:ext cx="39211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3920760" imgH="3000960" progId="Origin95.Graph">
                  <p:embed/>
                </p:oleObj>
              </mc:Choice>
              <mc:Fallback>
                <p:oleObj name="Graph" r:id="rId4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040215" y="822207"/>
                        <a:ext cx="3921125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CC83D609-B836-43F8-B66D-F5CF83DAA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795654"/>
              </p:ext>
            </p:extLst>
          </p:nvPr>
        </p:nvGraphicFramePr>
        <p:xfrm>
          <a:off x="2333707" y="3846122"/>
          <a:ext cx="39211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3920760" imgH="3000960" progId="Origin95.Graph">
                  <p:embed/>
                </p:oleObj>
              </mc:Choice>
              <mc:Fallback>
                <p:oleObj name="Graph" r:id="rId6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33707" y="3846122"/>
                        <a:ext cx="3921125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E29B10FF-6F99-497B-8D97-825EBCD89B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908242"/>
              </p:ext>
            </p:extLst>
          </p:nvPr>
        </p:nvGraphicFramePr>
        <p:xfrm>
          <a:off x="8037796" y="3846122"/>
          <a:ext cx="3921125" cy="300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3920760" imgH="3000960" progId="Origin95.Graph">
                  <p:embed/>
                </p:oleObj>
              </mc:Choice>
              <mc:Fallback>
                <p:oleObj name="Graph" r:id="rId8" imgW="3920760" imgH="3000960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037796" y="3846122"/>
                        <a:ext cx="3921125" cy="3000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2">
            <a:extLst>
              <a:ext uri="{FF2B5EF4-FFF2-40B4-BE49-F238E27FC236}">
                <a16:creationId xmlns:a16="http://schemas.microsoft.com/office/drawing/2014/main" id="{9C6ABD21-56F9-453A-B093-AF87F3958251}"/>
              </a:ext>
            </a:extLst>
          </p:cNvPr>
          <p:cNvSpPr txBox="1">
            <a:spLocks/>
          </p:cNvSpPr>
          <p:nvPr/>
        </p:nvSpPr>
        <p:spPr>
          <a:xfrm>
            <a:off x="681347" y="232380"/>
            <a:ext cx="8890068" cy="618385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Simulation</a:t>
            </a:r>
            <a:r>
              <a:rPr lang="ko-KR" altLang="en-US" sz="3200" dirty="0"/>
              <a:t> </a:t>
            </a:r>
            <a:r>
              <a:rPr lang="en-US" altLang="ko-KR" sz="3200" dirty="0"/>
              <a:t>results analyzed by algorithm (</a:t>
            </a:r>
            <a:r>
              <a:rPr lang="en-US" altLang="ko-KR" sz="3200" i="1" dirty="0"/>
              <a:t>L</a:t>
            </a:r>
            <a:r>
              <a:rPr lang="en-US" altLang="ko-KR" sz="3200" dirty="0"/>
              <a:t> variation)</a:t>
            </a:r>
            <a:endParaRPr lang="ko-KR" altLang="en-US" sz="3200" i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B57886-D1DE-442B-B1C7-E0923EE68D3A}"/>
              </a:ext>
            </a:extLst>
          </p:cNvPr>
          <p:cNvSpPr/>
          <p:nvPr/>
        </p:nvSpPr>
        <p:spPr>
          <a:xfrm>
            <a:off x="5251567" y="1038661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2.88</a:t>
            </a:r>
            <a:endParaRPr lang="ko-KR" altLang="en-US" sz="1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05C87A7-58AA-4BF2-947C-8FA5F358F734}"/>
              </a:ext>
            </a:extLst>
          </p:cNvPr>
          <p:cNvSpPr/>
          <p:nvPr/>
        </p:nvSpPr>
        <p:spPr>
          <a:xfrm>
            <a:off x="5251567" y="3159832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0.47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412282-C30E-4644-A1D6-E59DBD109B41}"/>
              </a:ext>
            </a:extLst>
          </p:cNvPr>
          <p:cNvSpPr/>
          <p:nvPr/>
        </p:nvSpPr>
        <p:spPr>
          <a:xfrm>
            <a:off x="5251567" y="2081378"/>
            <a:ext cx="3978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1.7</a:t>
            </a:r>
            <a:endParaRPr lang="ko-KR" altLang="en-US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6F017B-2BFE-4BC9-839A-BE3E951BFA3F}"/>
              </a:ext>
            </a:extLst>
          </p:cNvPr>
          <p:cNvSpPr/>
          <p:nvPr/>
        </p:nvSpPr>
        <p:spPr>
          <a:xfrm rot="16200000">
            <a:off x="1787846" y="1942878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D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2E312F-C284-489B-934C-C07181611F11}"/>
              </a:ext>
            </a:extLst>
          </p:cNvPr>
          <p:cNvSpPr/>
          <p:nvPr/>
        </p:nvSpPr>
        <p:spPr>
          <a:xfrm>
            <a:off x="3351947" y="3474306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W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E5B74A7-8E88-44E8-ABE4-9207EF001FC3}"/>
              </a:ext>
            </a:extLst>
          </p:cNvPr>
          <p:cNvSpPr/>
          <p:nvPr/>
        </p:nvSpPr>
        <p:spPr>
          <a:xfrm rot="16200000">
            <a:off x="1787847" y="5062669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D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F15817-D967-4AF8-BFDF-CB513EAE8854}"/>
              </a:ext>
            </a:extLst>
          </p:cNvPr>
          <p:cNvSpPr/>
          <p:nvPr/>
        </p:nvSpPr>
        <p:spPr>
          <a:xfrm>
            <a:off x="3351947" y="6518656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W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8DB2160-B4D9-4056-A152-E50A68FBA457}"/>
              </a:ext>
            </a:extLst>
          </p:cNvPr>
          <p:cNvSpPr/>
          <p:nvPr/>
        </p:nvSpPr>
        <p:spPr>
          <a:xfrm rot="16200000">
            <a:off x="7468865" y="5003085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D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B72A1C4-7AA6-46EF-ADF9-7768C7550FF5}"/>
              </a:ext>
            </a:extLst>
          </p:cNvPr>
          <p:cNvSpPr/>
          <p:nvPr/>
        </p:nvSpPr>
        <p:spPr>
          <a:xfrm>
            <a:off x="9032966" y="6518656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W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1A44F83-3EB6-43A2-AA5D-2638DD4675D8}"/>
              </a:ext>
            </a:extLst>
          </p:cNvPr>
          <p:cNvSpPr/>
          <p:nvPr/>
        </p:nvSpPr>
        <p:spPr>
          <a:xfrm rot="16200000">
            <a:off x="7468865" y="1948325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D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95E81E3-D82E-4ACE-86AD-EE1C032258C4}"/>
              </a:ext>
            </a:extLst>
          </p:cNvPr>
          <p:cNvSpPr/>
          <p:nvPr/>
        </p:nvSpPr>
        <p:spPr>
          <a:xfrm>
            <a:off x="9032966" y="3479753"/>
            <a:ext cx="13728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i="1" dirty="0"/>
              <a:t>W </a:t>
            </a:r>
            <a:r>
              <a:rPr lang="en-US" altLang="ko-KR" sz="1200" dirty="0"/>
              <a:t>(mm)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A915783-A9B2-41A4-B892-5AC432B416FF}"/>
              </a:ext>
            </a:extLst>
          </p:cNvPr>
          <p:cNvSpPr/>
          <p:nvPr/>
        </p:nvSpPr>
        <p:spPr>
          <a:xfrm>
            <a:off x="10949634" y="1038661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2.96</a:t>
            </a:r>
            <a:endParaRPr lang="ko-KR" altLang="en-US" sz="12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45AED13-B2D8-44CA-B411-E9EE406B51F0}"/>
              </a:ext>
            </a:extLst>
          </p:cNvPr>
          <p:cNvSpPr/>
          <p:nvPr/>
        </p:nvSpPr>
        <p:spPr>
          <a:xfrm>
            <a:off x="10949634" y="3159832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0.51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F69F931-A98C-40C7-BCF4-1A3B0AF77D26}"/>
              </a:ext>
            </a:extLst>
          </p:cNvPr>
          <p:cNvSpPr/>
          <p:nvPr/>
        </p:nvSpPr>
        <p:spPr>
          <a:xfrm>
            <a:off x="10949634" y="2081378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1.74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DD0B8D4-1FEE-4FC0-A36D-A8DA2D3D21B9}"/>
              </a:ext>
            </a:extLst>
          </p:cNvPr>
          <p:cNvSpPr/>
          <p:nvPr/>
        </p:nvSpPr>
        <p:spPr>
          <a:xfrm>
            <a:off x="5246285" y="4019953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3.03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4352AF8-E5F4-48B2-BDBD-EF6F9A02E3F4}"/>
              </a:ext>
            </a:extLst>
          </p:cNvPr>
          <p:cNvSpPr/>
          <p:nvPr/>
        </p:nvSpPr>
        <p:spPr>
          <a:xfrm>
            <a:off x="5246285" y="6141124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0.55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30934DC-838A-4B67-BE1A-81DD6BA2C302}"/>
              </a:ext>
            </a:extLst>
          </p:cNvPr>
          <p:cNvSpPr/>
          <p:nvPr/>
        </p:nvSpPr>
        <p:spPr>
          <a:xfrm>
            <a:off x="5246285" y="5062670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1.79</a:t>
            </a:r>
            <a:endParaRPr lang="ko-KR" altLang="en-US" sz="12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E3B220D-F393-49F8-9912-6D5D6053B461}"/>
              </a:ext>
            </a:extLst>
          </p:cNvPr>
          <p:cNvSpPr/>
          <p:nvPr/>
        </p:nvSpPr>
        <p:spPr>
          <a:xfrm>
            <a:off x="10984967" y="4030586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3.07</a:t>
            </a:r>
            <a:endParaRPr lang="ko-KR" altLang="en-US" sz="1200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0AE73F1-A025-4D4F-B7D2-73E1298E9DC2}"/>
              </a:ext>
            </a:extLst>
          </p:cNvPr>
          <p:cNvSpPr/>
          <p:nvPr/>
        </p:nvSpPr>
        <p:spPr>
          <a:xfrm>
            <a:off x="10984967" y="6151757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0.59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5BC3099-A108-413C-B5CC-E0757B029C1C}"/>
              </a:ext>
            </a:extLst>
          </p:cNvPr>
          <p:cNvSpPr/>
          <p:nvPr/>
        </p:nvSpPr>
        <p:spPr>
          <a:xfrm>
            <a:off x="10984967" y="5073303"/>
            <a:ext cx="4828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/>
              <a:t>1.83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50444C4-92D5-478A-8CF2-A8CA6BE1C88F}"/>
                  </a:ext>
                </a:extLst>
              </p:cNvPr>
              <p:cNvSpPr/>
              <p:nvPr/>
            </p:nvSpPr>
            <p:spPr>
              <a:xfrm>
                <a:off x="4604403" y="800731"/>
                <a:ext cx="1584344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850444C4-92D5-478A-8CF2-A8CA6BE1C8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403" y="800731"/>
                <a:ext cx="1584344" cy="32694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FAA97FA1-58F3-4205-A3E0-A989B92B9F18}"/>
                  </a:ext>
                </a:extLst>
              </p:cNvPr>
              <p:cNvSpPr/>
              <p:nvPr/>
            </p:nvSpPr>
            <p:spPr>
              <a:xfrm>
                <a:off x="10296089" y="800731"/>
                <a:ext cx="1584344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FAA97FA1-58F3-4205-A3E0-A989B92B9F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089" y="800731"/>
                <a:ext cx="1584344" cy="32694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68184C3E-C16A-4274-979E-946252A335AE}"/>
                  </a:ext>
                </a:extLst>
              </p:cNvPr>
              <p:cNvSpPr/>
              <p:nvPr/>
            </p:nvSpPr>
            <p:spPr>
              <a:xfrm>
                <a:off x="10296089" y="3761255"/>
                <a:ext cx="1584344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68184C3E-C16A-4274-979E-946252A335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089" y="3761255"/>
                <a:ext cx="1584344" cy="32694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A1E9ACD9-CAF3-48D7-AAD4-B941370396BD}"/>
                  </a:ext>
                </a:extLst>
              </p:cNvPr>
              <p:cNvSpPr/>
              <p:nvPr/>
            </p:nvSpPr>
            <p:spPr>
              <a:xfrm>
                <a:off x="4594116" y="3761255"/>
                <a:ext cx="1584344" cy="3269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𝛼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𝛽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𝛤</m:t>
                          </m:r>
                        </m:e>
                        <m:sub>
                          <m:r>
                            <a:rPr lang="ko-KR" altLang="en-US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𝛾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A1E9ACD9-CAF3-48D7-AAD4-B941370396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116" y="3761255"/>
                <a:ext cx="1584344" cy="326949"/>
              </a:xfrm>
              <a:prstGeom prst="rect">
                <a:avLst/>
              </a:prstGeom>
              <a:blipFill>
                <a:blip r:embed="rId11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직사각형 38">
            <a:extLst>
              <a:ext uri="{FF2B5EF4-FFF2-40B4-BE49-F238E27FC236}">
                <a16:creationId xmlns:a16="http://schemas.microsoft.com/office/drawing/2014/main" id="{650773F2-B97C-4909-A94A-88DFBCBD98CA}"/>
              </a:ext>
            </a:extLst>
          </p:cNvPr>
          <p:cNvSpPr/>
          <p:nvPr/>
        </p:nvSpPr>
        <p:spPr>
          <a:xfrm>
            <a:off x="1108674" y="926621"/>
            <a:ext cx="13728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L </a:t>
            </a:r>
            <a:r>
              <a:rPr lang="en-US" altLang="ko-KR" sz="1600" dirty="0"/>
              <a:t>= 0.4 mm</a:t>
            </a:r>
            <a:endParaRPr lang="ko-KR" altLang="en-US" sz="16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3610BB9-AA72-4C31-BAFA-11ABA4717FCB}"/>
              </a:ext>
            </a:extLst>
          </p:cNvPr>
          <p:cNvSpPr/>
          <p:nvPr/>
        </p:nvSpPr>
        <p:spPr>
          <a:xfrm>
            <a:off x="1108674" y="3850676"/>
            <a:ext cx="13728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L </a:t>
            </a:r>
            <a:r>
              <a:rPr lang="en-US" altLang="ko-KR" sz="1600" dirty="0"/>
              <a:t>= 0.8 mm</a:t>
            </a:r>
            <a:endParaRPr lang="ko-KR" altLang="en-US" sz="16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7BBC44B-9985-4452-AB98-0643E19BCCCD}"/>
              </a:ext>
            </a:extLst>
          </p:cNvPr>
          <p:cNvSpPr/>
          <p:nvPr/>
        </p:nvSpPr>
        <p:spPr>
          <a:xfrm>
            <a:off x="6732709" y="926621"/>
            <a:ext cx="13728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L </a:t>
            </a:r>
            <a:r>
              <a:rPr lang="en-US" altLang="ko-KR" sz="1600" dirty="0"/>
              <a:t>= 0.6 mm</a:t>
            </a:r>
            <a:endParaRPr lang="ko-KR" altLang="en-US" sz="1600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44883A3-D857-46BF-A85F-C9BCA08A1A55}"/>
              </a:ext>
            </a:extLst>
          </p:cNvPr>
          <p:cNvSpPr/>
          <p:nvPr/>
        </p:nvSpPr>
        <p:spPr>
          <a:xfrm>
            <a:off x="6732709" y="3850676"/>
            <a:ext cx="1372838" cy="33855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600" i="1" dirty="0"/>
              <a:t>L </a:t>
            </a:r>
            <a:r>
              <a:rPr lang="en-US" altLang="ko-KR" sz="1600" dirty="0"/>
              <a:t>= 1.0 mm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8824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개체 47"/>
          <p:cNvGraphicFramePr>
            <a:graphicFrameLocks noChangeAspect="1"/>
          </p:cNvGraphicFramePr>
          <p:nvPr/>
        </p:nvGraphicFramePr>
        <p:xfrm>
          <a:off x="5951984" y="4114799"/>
          <a:ext cx="3359829" cy="2570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920760" imgH="3000960" progId="Origin95.Graph">
                  <p:embed/>
                </p:oleObj>
              </mc:Choice>
              <mc:Fallback>
                <p:oleObj name="Graph" r:id="rId3" imgW="3920760" imgH="3000960" progId="Origin95.Graph">
                  <p:embed/>
                  <p:pic>
                    <p:nvPicPr>
                      <p:cNvPr id="48" name="개체 4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51984" y="4114799"/>
                        <a:ext cx="3359829" cy="25708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2">
            <a:extLst>
              <a:ext uri="{FF2B5EF4-FFF2-40B4-BE49-F238E27FC236}">
                <a16:creationId xmlns:a16="http://schemas.microsoft.com/office/drawing/2014/main" id="{87537AAF-EC4F-4207-B47E-9A82CD9F68A0}"/>
              </a:ext>
            </a:extLst>
          </p:cNvPr>
          <p:cNvSpPr txBox="1">
            <a:spLocks/>
          </p:cNvSpPr>
          <p:nvPr/>
        </p:nvSpPr>
        <p:spPr>
          <a:xfrm>
            <a:off x="760945" y="146319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Mechanically engineered adhesive position</a:t>
            </a:r>
            <a:endParaRPr lang="ko-KR" altLang="en-US" sz="32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198555" y="909777"/>
            <a:ext cx="4492775" cy="400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2000" kern="10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Strain distribution (Fixed point)</a:t>
            </a:r>
            <a:endParaRPr lang="ko-KR" altLang="ko-KR" sz="20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11084964" y="3484423"/>
            <a:ext cx="729071" cy="882478"/>
            <a:chOff x="3599089" y="3007863"/>
            <a:chExt cx="729071" cy="882478"/>
          </a:xfrm>
        </p:grpSpPr>
        <p:cxnSp>
          <p:nvCxnSpPr>
            <p:cNvPr id="41" name="직선 화살표 연결선 40"/>
            <p:cNvCxnSpPr/>
            <p:nvPr/>
          </p:nvCxnSpPr>
          <p:spPr>
            <a:xfrm flipV="1">
              <a:off x="3863752" y="3279635"/>
              <a:ext cx="1" cy="360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/>
            <p:cNvCxnSpPr/>
            <p:nvPr/>
          </p:nvCxnSpPr>
          <p:spPr>
            <a:xfrm rot="5400000" flipV="1">
              <a:off x="4043145" y="3447914"/>
              <a:ext cx="1" cy="360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4043145" y="3551787"/>
              <a:ext cx="2850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x</a:t>
              </a:r>
              <a:endParaRPr lang="ko-KR" altLang="en-US" sz="160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677385" y="3007863"/>
              <a:ext cx="2850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y</a:t>
              </a:r>
              <a:endParaRPr lang="ko-KR" altLang="en-US" sz="16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599089" y="3539068"/>
              <a:ext cx="2850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z</a:t>
              </a:r>
              <a:endParaRPr lang="ko-KR" altLang="en-US" sz="16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3817313" y="3569839"/>
              <a:ext cx="108000" cy="108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●</a:t>
              </a:r>
              <a:endParaRPr lang="ko-KR" altLang="en-US" sz="600">
                <a:solidFill>
                  <a:schemeClr val="tx1"/>
                </a:solidFill>
              </a:endParaRPr>
            </a:p>
          </p:txBody>
        </p: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6688" y="1535447"/>
            <a:ext cx="3126237" cy="232756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99656" y="1535447"/>
            <a:ext cx="2748974" cy="2447792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47328" y="4251852"/>
            <a:ext cx="2690917" cy="2027827"/>
            <a:chOff x="6000948" y="1126556"/>
            <a:chExt cx="2690917" cy="2027827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00948" y="1145747"/>
              <a:ext cx="2690917" cy="2008636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7963176" y="2126681"/>
              <a:ext cx="2850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x</a:t>
              </a:r>
              <a:endParaRPr lang="ko-KR" altLang="en-US" sz="160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048776" y="1126556"/>
              <a:ext cx="2850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y</a:t>
              </a:r>
              <a:endParaRPr lang="ko-KR" altLang="en-US" sz="16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2DDCA2B-2E98-4259-84F8-0D4D51C0E2EA}"/>
                  </a:ext>
                </a:extLst>
              </p:cNvPr>
              <p:cNvSpPr txBox="1"/>
              <p:nvPr/>
            </p:nvSpPr>
            <p:spPr>
              <a:xfrm>
                <a:off x="3905867" y="5703289"/>
                <a:ext cx="1806615" cy="442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m:rPr>
                              <m:sty m:val="p"/>
                            </m:rPr>
                            <a:rPr lang="en-US" altLang="ko-KR" sz="1200" b="0" i="0" baseline="-25000" smtClean="0">
                              <a:latin typeface="Cambria Math" panose="02040503050406030204" pitchFamily="18" charset="0"/>
                            </a:rPr>
                            <m:t>trans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m:rPr>
                              <m:sty m:val="p"/>
                            </m:rPr>
                            <a:rPr lang="en-US" altLang="ko-KR" sz="1200" b="0" i="0" baseline="-25000" smtClean="0">
                              <a:latin typeface="Cambria Math" panose="02040503050406030204" pitchFamily="18" charset="0"/>
                            </a:rPr>
                            <m:t>axial</m:t>
                          </m:r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ko-KR" sz="1200" b="0" i="1" baseline="-2500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altLang="ko-KR" sz="1200" i="1" baseline="-2500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2DDCA2B-2E98-4259-84F8-0D4D51C0E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5867" y="5703289"/>
                <a:ext cx="1806615" cy="442942"/>
              </a:xfrm>
              <a:prstGeom prst="rect">
                <a:avLst/>
              </a:prstGeom>
              <a:blipFill>
                <a:blip r:embed="rId8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개체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226096"/>
              </p:ext>
            </p:extLst>
          </p:nvPr>
        </p:nvGraphicFramePr>
        <p:xfrm>
          <a:off x="2783632" y="4123712"/>
          <a:ext cx="3293333" cy="25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9" imgW="3920760" imgH="3000960" progId="Origin95.Graph">
                  <p:embed/>
                </p:oleObj>
              </mc:Choice>
              <mc:Fallback>
                <p:oleObj name="Graph" r:id="rId9" imgW="3920760" imgH="3000960" progId="Origin95.Graph">
                  <p:embed/>
                  <p:pic>
                    <p:nvPicPr>
                      <p:cNvPr id="10" name="개체 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3632" y="4123712"/>
                        <a:ext cx="3293333" cy="252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직선 연결선 12"/>
          <p:cNvCxnSpPr/>
          <p:nvPr/>
        </p:nvCxnSpPr>
        <p:spPr>
          <a:xfrm>
            <a:off x="5807968" y="908720"/>
            <a:ext cx="0" cy="59760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5951984" y="908060"/>
            <a:ext cx="5371445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2000" kern="100">
                <a:latin typeface="+mj-lt"/>
                <a:ea typeface="맑은 고딕" panose="020B0503020000020004" pitchFamily="50" charset="-127"/>
                <a:cs typeface="Arial" panose="020B0604020202020204" pitchFamily="34" charset="0"/>
              </a:rPr>
              <a:t>Adhesive point engineering (Biaxial strain)</a:t>
            </a:r>
            <a:endParaRPr lang="ko-KR" altLang="ko-KR" sz="2000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31" name="그룹 130"/>
          <p:cNvGrpSpPr/>
          <p:nvPr/>
        </p:nvGrpSpPr>
        <p:grpSpPr>
          <a:xfrm>
            <a:off x="5591944" y="1354982"/>
            <a:ext cx="3240305" cy="2720063"/>
            <a:chOff x="5735960" y="1354982"/>
            <a:chExt cx="3240305" cy="2720063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5960" y="1581904"/>
              <a:ext cx="3240305" cy="2341067"/>
            </a:xfrm>
            <a:prstGeom prst="rect">
              <a:avLst/>
            </a:prstGeom>
          </p:spPr>
        </p:pic>
        <p:sp>
          <p:nvSpPr>
            <p:cNvPr id="99" name="화살표: 오른쪽 37">
              <a:extLst>
                <a:ext uri="{FF2B5EF4-FFF2-40B4-BE49-F238E27FC236}">
                  <a16:creationId xmlns:a16="http://schemas.microsoft.com/office/drawing/2014/main" id="{4E3B22DA-6005-42CD-8A2D-392C65BEAA51}"/>
                </a:ext>
              </a:extLst>
            </p:cNvPr>
            <p:cNvSpPr/>
            <p:nvPr/>
          </p:nvSpPr>
          <p:spPr>
            <a:xfrm>
              <a:off x="8394823" y="2605252"/>
              <a:ext cx="288000" cy="28800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0" name="화살표: 오른쪽 44">
              <a:extLst>
                <a:ext uri="{FF2B5EF4-FFF2-40B4-BE49-F238E27FC236}">
                  <a16:creationId xmlns:a16="http://schemas.microsoft.com/office/drawing/2014/main" id="{90E9BF68-CDC0-4B27-A061-B50130078F80}"/>
                </a:ext>
              </a:extLst>
            </p:cNvPr>
            <p:cNvSpPr/>
            <p:nvPr/>
          </p:nvSpPr>
          <p:spPr>
            <a:xfrm rot="16200000">
              <a:off x="7221076" y="1426145"/>
              <a:ext cx="288000" cy="28800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8AE57A9-3FE9-43E5-9669-A3EFCD9A73FC}"/>
                </a:ext>
              </a:extLst>
            </p:cNvPr>
            <p:cNvSpPr txBox="1"/>
            <p:nvPr/>
          </p:nvSpPr>
          <p:spPr>
            <a:xfrm>
              <a:off x="8250456" y="2780928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 dirty="0" err="1">
                  <a:solidFill>
                    <a:schemeClr val="accent2">
                      <a:lumMod val="75000"/>
                    </a:schemeClr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ko-KR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axial</a:t>
              </a:r>
              <a:endParaRPr lang="ko-KR" altLang="en-US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41ED4B5-410A-438B-95FE-E5A89C28E1B6}"/>
                </a:ext>
              </a:extLst>
            </p:cNvPr>
            <p:cNvSpPr txBox="1"/>
            <p:nvPr/>
          </p:nvSpPr>
          <p:spPr>
            <a:xfrm>
              <a:off x="7464372" y="3700197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 dirty="0" err="1">
                  <a:solidFill>
                    <a:schemeClr val="accent3">
                      <a:lumMod val="75000"/>
                    </a:schemeClr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ko-KR" b="1" baseline="-25000" dirty="0" err="1">
                  <a:solidFill>
                    <a:schemeClr val="accent3">
                      <a:lumMod val="75000"/>
                    </a:schemeClr>
                  </a:solidFill>
                </a:rPr>
                <a:t>trans</a:t>
              </a:r>
              <a:endParaRPr lang="ko-KR" altLang="en-US" b="1" baseline="-250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03" name="화살표: 오른쪽 37">
              <a:extLst>
                <a:ext uri="{FF2B5EF4-FFF2-40B4-BE49-F238E27FC236}">
                  <a16:creationId xmlns:a16="http://schemas.microsoft.com/office/drawing/2014/main" id="{4E3B22DA-6005-42CD-8A2D-392C65BEAA51}"/>
                </a:ext>
              </a:extLst>
            </p:cNvPr>
            <p:cNvSpPr/>
            <p:nvPr/>
          </p:nvSpPr>
          <p:spPr>
            <a:xfrm flipH="1">
              <a:off x="6019395" y="2605252"/>
              <a:ext cx="288000" cy="28800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화살표: 오른쪽 44">
              <a:extLst>
                <a:ext uri="{FF2B5EF4-FFF2-40B4-BE49-F238E27FC236}">
                  <a16:creationId xmlns:a16="http://schemas.microsoft.com/office/drawing/2014/main" id="{90E9BF68-CDC0-4B27-A061-B50130078F80}"/>
                </a:ext>
              </a:extLst>
            </p:cNvPr>
            <p:cNvSpPr/>
            <p:nvPr/>
          </p:nvSpPr>
          <p:spPr>
            <a:xfrm rot="5400000" flipV="1">
              <a:off x="7221076" y="3787045"/>
              <a:ext cx="288000" cy="28800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8AE57A9-3FE9-43E5-9669-A3EFCD9A73FC}"/>
                </a:ext>
              </a:extLst>
            </p:cNvPr>
            <p:cNvSpPr txBox="1"/>
            <p:nvPr/>
          </p:nvSpPr>
          <p:spPr>
            <a:xfrm>
              <a:off x="5894614" y="2780928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 dirty="0" err="1">
                  <a:solidFill>
                    <a:schemeClr val="accent2">
                      <a:lumMod val="75000"/>
                    </a:schemeClr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ko-KR" b="1" baseline="-25000" dirty="0" err="1">
                  <a:solidFill>
                    <a:schemeClr val="accent2">
                      <a:lumMod val="75000"/>
                    </a:schemeClr>
                  </a:solidFill>
                </a:rPr>
                <a:t>axial</a:t>
              </a:r>
              <a:endParaRPr lang="ko-KR" altLang="en-US" b="1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041ED4B5-410A-438B-95FE-E5A89C28E1B6}"/>
                </a:ext>
              </a:extLst>
            </p:cNvPr>
            <p:cNvSpPr txBox="1"/>
            <p:nvPr/>
          </p:nvSpPr>
          <p:spPr>
            <a:xfrm>
              <a:off x="7464372" y="1354982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i="1" dirty="0" err="1">
                  <a:solidFill>
                    <a:schemeClr val="accent3">
                      <a:lumMod val="75000"/>
                    </a:schemeClr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ko-KR" b="1" baseline="-25000" dirty="0" err="1">
                  <a:solidFill>
                    <a:schemeClr val="accent3">
                      <a:lumMod val="75000"/>
                    </a:schemeClr>
                  </a:solidFill>
                </a:rPr>
                <a:t>trans</a:t>
              </a:r>
              <a:endParaRPr lang="ko-KR" altLang="en-US" b="1" baseline="-250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cxnSp>
        <p:nvCxnSpPr>
          <p:cNvPr id="26" name="직선 연결선 25"/>
          <p:cNvCxnSpPr/>
          <p:nvPr/>
        </p:nvCxnSpPr>
        <p:spPr>
          <a:xfrm flipV="1">
            <a:off x="3370709" y="4543425"/>
            <a:ext cx="2243138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79399" y="4833182"/>
            <a:ext cx="144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>
                <a:latin typeface="Symbol" panose="05050102010706020507" pitchFamily="18" charset="2"/>
              </a:rPr>
              <a:t>n</a:t>
            </a:r>
            <a:r>
              <a:rPr lang="en-US" altLang="ko-KR" sz="1400">
                <a:latin typeface="Symbol" panose="05050102010706020507" pitchFamily="18" charset="2"/>
              </a:rPr>
              <a:t> </a:t>
            </a:r>
            <a:r>
              <a:rPr lang="en-US" altLang="ko-KR" sz="1400">
                <a:latin typeface="+mj-lt"/>
              </a:rPr>
              <a:t> at (0,0,0)</a:t>
            </a:r>
            <a:br>
              <a:rPr lang="en-US" altLang="ko-KR" sz="1400">
                <a:latin typeface="+mj-lt"/>
              </a:rPr>
            </a:br>
            <a:endParaRPr lang="ko-KR" altLang="en-US" sz="1400">
              <a:latin typeface="Symbol" panose="05050102010706020507" pitchFamily="18" charset="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363284" y="4520521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rgbClr val="4A7EBB"/>
                </a:solidFill>
                <a:latin typeface="+mj-lt"/>
              </a:rPr>
              <a:t>w/o fixed points</a:t>
            </a:r>
            <a:endParaRPr lang="ko-KR" altLang="en-US" sz="1400">
              <a:solidFill>
                <a:srgbClr val="4A7EBB"/>
              </a:solidFill>
              <a:latin typeface="+mj-lt"/>
            </a:endParaRPr>
          </a:p>
        </p:txBody>
      </p:sp>
      <p:cxnSp>
        <p:nvCxnSpPr>
          <p:cNvPr id="110" name="직선 연결선 109"/>
          <p:cNvCxnSpPr/>
          <p:nvPr/>
        </p:nvCxnSpPr>
        <p:spPr>
          <a:xfrm flipV="1">
            <a:off x="6555110" y="4755356"/>
            <a:ext cx="2286000" cy="0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6563560" y="4437112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>
                <a:solidFill>
                  <a:srgbClr val="4A7EBB"/>
                </a:solidFill>
                <a:latin typeface="+mj-lt"/>
              </a:rPr>
              <a:t>w/o fixed points</a:t>
            </a:r>
            <a:endParaRPr lang="ko-KR" altLang="en-US" sz="1400">
              <a:solidFill>
                <a:srgbClr val="4A7EBB"/>
              </a:solidFill>
              <a:latin typeface="+mj-lt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550750" y="4771053"/>
            <a:ext cx="1814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>
                <a:latin typeface="Symbol" panose="05050102010706020507" pitchFamily="18" charset="2"/>
              </a:rPr>
              <a:t>n</a:t>
            </a:r>
            <a:r>
              <a:rPr lang="en-US" altLang="ko-KR" sz="1400">
                <a:latin typeface="Symbol" panose="05050102010706020507" pitchFamily="18" charset="2"/>
              </a:rPr>
              <a:t> </a:t>
            </a:r>
            <a:r>
              <a:rPr lang="en-US" altLang="ko-KR" sz="1400">
                <a:latin typeface="+mj-lt"/>
              </a:rPr>
              <a:t> at (0,0,0)</a:t>
            </a:r>
            <a:endParaRPr lang="ko-KR" altLang="en-US" sz="1400">
              <a:latin typeface="Symbol" panose="05050102010706020507" pitchFamily="18" charset="2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4633209" y="5425479"/>
            <a:ext cx="965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i="1">
                <a:latin typeface="Symbol" panose="05050102010706020507" pitchFamily="18" charset="2"/>
              </a:rPr>
              <a:t>e</a:t>
            </a:r>
            <a:r>
              <a:rPr lang="en-US" altLang="ko-KR" sz="1400" baseline="-25000"/>
              <a:t>axial </a:t>
            </a:r>
            <a:r>
              <a:rPr lang="en-US" altLang="ko-KR" sz="1400"/>
              <a:t>= 20%</a:t>
            </a:r>
            <a:endParaRPr lang="ko-KR" altLang="en-US" sz="1400">
              <a:latin typeface="Symbol" panose="05050102010706020507" pitchFamily="18" charset="2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7279010" y="5887135"/>
            <a:ext cx="1600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i="1">
                <a:latin typeface="Symbol" panose="05050102010706020507" pitchFamily="18" charset="2"/>
              </a:rPr>
              <a:t>e</a:t>
            </a:r>
            <a:r>
              <a:rPr lang="en-US" altLang="ko-KR" sz="1400" baseline="-25000"/>
              <a:t>axial </a:t>
            </a:r>
            <a:r>
              <a:rPr lang="en-US" altLang="ko-KR" sz="1400"/>
              <a:t>=</a:t>
            </a:r>
            <a:r>
              <a:rPr lang="en-US" altLang="ko-KR" sz="1400" i="1">
                <a:latin typeface="Symbol" panose="05050102010706020507" pitchFamily="18" charset="2"/>
              </a:rPr>
              <a:t>e</a:t>
            </a:r>
            <a:r>
              <a:rPr lang="en-US" altLang="ko-KR" sz="1400" baseline="-25000"/>
              <a:t>trans, y</a:t>
            </a:r>
            <a:r>
              <a:rPr lang="en-US" altLang="ko-KR" sz="1400"/>
              <a:t> = 20%</a:t>
            </a:r>
            <a:endParaRPr lang="ko-KR" altLang="en-US" sz="1400">
              <a:latin typeface="Symbol" panose="05050102010706020507" pitchFamily="18" charset="2"/>
            </a:endParaRPr>
          </a:p>
        </p:txBody>
      </p:sp>
      <p:sp>
        <p:nvSpPr>
          <p:cNvPr id="117" name="아래쪽 화살표 116"/>
          <p:cNvSpPr/>
          <p:nvPr/>
        </p:nvSpPr>
        <p:spPr>
          <a:xfrm>
            <a:off x="6602735" y="5762625"/>
            <a:ext cx="123825" cy="2667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68FC0981-916A-4421-A4CB-957E877BCC92}"/>
              </a:ext>
            </a:extLst>
          </p:cNvPr>
          <p:cNvSpPr/>
          <p:nvPr/>
        </p:nvSpPr>
        <p:spPr>
          <a:xfrm>
            <a:off x="8973142" y="4823606"/>
            <a:ext cx="286676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altLang="ko-KR" sz="1600"/>
              <a:t>To obtain a Poisson's ratio of -1, an adhesive point should be </a:t>
            </a:r>
            <a:r>
              <a:rPr lang="en-US" altLang="ko-KR" sz="1600">
                <a:solidFill>
                  <a:srgbClr val="FF0000"/>
                </a:solidFill>
              </a:rPr>
              <a:t>perpendicular</a:t>
            </a:r>
            <a:r>
              <a:rPr lang="en-US" altLang="ko-KR" sz="1600"/>
              <a:t> to its symmetric point. (</a:t>
            </a:r>
            <a:r>
              <a:rPr lang="en-US" altLang="ko-KR" sz="1600" i="1">
                <a:latin typeface="Symbol" panose="05050102010706020507" pitchFamily="18" charset="2"/>
              </a:rPr>
              <a:t>q</a:t>
            </a:r>
            <a:r>
              <a:rPr lang="en-US" altLang="ko-KR" sz="1600" baseline="-25000"/>
              <a:t>FP </a:t>
            </a:r>
            <a:r>
              <a:rPr lang="en-US" altLang="ko-KR" sz="1600"/>
              <a:t>= 0)</a:t>
            </a:r>
            <a:endParaRPr lang="ko-KR" altLang="ko-KR" kern="100" dirty="0">
              <a:latin typeface="+mj-lt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8328248" y="1589978"/>
            <a:ext cx="3240305" cy="2341067"/>
            <a:chOff x="8544272" y="1589978"/>
            <a:chExt cx="3240305" cy="2341067"/>
          </a:xfrm>
        </p:grpSpPr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44272" y="1589978"/>
              <a:ext cx="3240305" cy="2341067"/>
            </a:xfrm>
            <a:prstGeom prst="rect">
              <a:avLst/>
            </a:prstGeom>
          </p:spPr>
        </p:pic>
        <p:sp>
          <p:nvSpPr>
            <p:cNvPr id="81" name="타원 80"/>
            <p:cNvSpPr/>
            <p:nvPr/>
          </p:nvSpPr>
          <p:spPr>
            <a:xfrm>
              <a:off x="10613473" y="1630325"/>
              <a:ext cx="216000" cy="216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/>
            <p:cNvSpPr/>
            <p:nvPr/>
          </p:nvSpPr>
          <p:spPr>
            <a:xfrm>
              <a:off x="9494285" y="3678468"/>
              <a:ext cx="216000" cy="216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6" name="직선 화살표 연결선 85"/>
            <p:cNvCxnSpPr/>
            <p:nvPr/>
          </p:nvCxnSpPr>
          <p:spPr>
            <a:xfrm flipV="1">
              <a:off x="10166570" y="1690575"/>
              <a:ext cx="1" cy="21600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화살표 연결선 90"/>
            <p:cNvCxnSpPr/>
            <p:nvPr/>
          </p:nvCxnSpPr>
          <p:spPr>
            <a:xfrm flipV="1">
              <a:off x="9156262" y="2752498"/>
              <a:ext cx="20520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화살표 연결선 91"/>
            <p:cNvCxnSpPr/>
            <p:nvPr/>
          </p:nvCxnSpPr>
          <p:spPr>
            <a:xfrm flipV="1">
              <a:off x="9602317" y="1733550"/>
              <a:ext cx="1117600" cy="205105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원호 94"/>
            <p:cNvSpPr/>
            <p:nvPr/>
          </p:nvSpPr>
          <p:spPr>
            <a:xfrm>
              <a:off x="9868862" y="2461252"/>
              <a:ext cx="576000" cy="576000"/>
            </a:xfrm>
            <a:prstGeom prst="arc">
              <a:avLst>
                <a:gd name="adj1" fmla="val 16205295"/>
                <a:gd name="adj2" fmla="val 18207586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0072346" y="1976284"/>
              <a:ext cx="44122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i="1">
                  <a:latin typeface="Symbol" panose="05050102010706020507" pitchFamily="18" charset="2"/>
                </a:rPr>
                <a:t>q</a:t>
              </a:r>
              <a:r>
                <a:rPr lang="en-US" altLang="ko-KR" sz="1600" baseline="-25000">
                  <a:latin typeface="+mj-lt"/>
                </a:rPr>
                <a:t>FP</a:t>
              </a:r>
              <a:endParaRPr lang="ko-KR" altLang="en-US" sz="1600" baseline="-25000">
                <a:latin typeface="+mj-lt"/>
              </a:endParaRPr>
            </a:p>
          </p:txBody>
        </p:sp>
        <p:sp>
          <p:nvSpPr>
            <p:cNvPr id="107" name="화살표: 오른쪽 37">
              <a:extLst>
                <a:ext uri="{FF2B5EF4-FFF2-40B4-BE49-F238E27FC236}">
                  <a16:creationId xmlns:a16="http://schemas.microsoft.com/office/drawing/2014/main" id="{4E3B22DA-6005-42CD-8A2D-392C65BEAA51}"/>
                </a:ext>
              </a:extLst>
            </p:cNvPr>
            <p:cNvSpPr/>
            <p:nvPr/>
          </p:nvSpPr>
          <p:spPr>
            <a:xfrm>
              <a:off x="11215929" y="2605252"/>
              <a:ext cx="288000" cy="28800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8" name="화살표: 오른쪽 37">
              <a:extLst>
                <a:ext uri="{FF2B5EF4-FFF2-40B4-BE49-F238E27FC236}">
                  <a16:creationId xmlns:a16="http://schemas.microsoft.com/office/drawing/2014/main" id="{4E3B22DA-6005-42CD-8A2D-392C65BEAA51}"/>
                </a:ext>
              </a:extLst>
            </p:cNvPr>
            <p:cNvSpPr/>
            <p:nvPr/>
          </p:nvSpPr>
          <p:spPr>
            <a:xfrm flipH="1">
              <a:off x="8844788" y="2605252"/>
              <a:ext cx="288000" cy="288000"/>
            </a:xfrm>
            <a:prstGeom prst="rightArrow">
              <a:avLst>
                <a:gd name="adj1" fmla="val 37275"/>
                <a:gd name="adj2" fmla="val 53078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0820723" y="2658398"/>
              <a:ext cx="2850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x</a:t>
              </a:r>
              <a:endParaRPr lang="ko-KR" altLang="en-US" sz="1600"/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9906323" y="1622952"/>
              <a:ext cx="2850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/>
                <a:t>y</a:t>
              </a:r>
              <a:endParaRPr lang="ko-KR" altLang="en-US" sz="1600"/>
            </a:p>
          </p:txBody>
        </p:sp>
      </p:grpSp>
      <p:pic>
        <p:nvPicPr>
          <p:cNvPr id="121" name="그림 1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72473" y="291802"/>
            <a:ext cx="704850" cy="4914900"/>
          </a:xfrm>
          <a:prstGeom prst="rect">
            <a:avLst/>
          </a:prstGeom>
        </p:spPr>
      </p:pic>
      <p:sp>
        <p:nvSpPr>
          <p:cNvPr id="122" name="직사각형 121"/>
          <p:cNvSpPr/>
          <p:nvPr/>
        </p:nvSpPr>
        <p:spPr>
          <a:xfrm>
            <a:off x="11505321" y="1564003"/>
            <a:ext cx="195174" cy="2325067"/>
          </a:xfrm>
          <a:prstGeom prst="rect">
            <a:avLst/>
          </a:prstGeom>
          <a:gradFill>
            <a:gsLst>
              <a:gs pos="25000">
                <a:srgbClr val="FC3E01"/>
              </a:gs>
              <a:gs pos="88000">
                <a:srgbClr val="BAAAFB"/>
              </a:gs>
              <a:gs pos="75000">
                <a:srgbClr val="72A1FC"/>
              </a:gs>
              <a:gs pos="63000">
                <a:srgbClr val="25E9F3"/>
              </a:gs>
              <a:gs pos="50000">
                <a:srgbClr val="7FFE7E"/>
              </a:gs>
              <a:gs pos="13000">
                <a:srgbClr val="C40027"/>
              </a:gs>
              <a:gs pos="38000">
                <a:srgbClr val="F5D30A"/>
              </a:gs>
              <a:gs pos="1000">
                <a:srgbClr val="680064"/>
              </a:gs>
              <a:gs pos="100000">
                <a:srgbClr val="E7EAF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TextBox 122"/>
          <p:cNvSpPr txBox="1"/>
          <p:nvPr/>
        </p:nvSpPr>
        <p:spPr>
          <a:xfrm>
            <a:off x="11309149" y="1154738"/>
            <a:ext cx="885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|</a:t>
            </a:r>
            <a:r>
              <a:rPr lang="en-US" altLang="ko-KR" sz="1600" i="1" dirty="0">
                <a:latin typeface="Symbol" panose="05050102010706020507" pitchFamily="18" charset="2"/>
              </a:rPr>
              <a:t>e </a:t>
            </a:r>
            <a:r>
              <a:rPr lang="en-US" altLang="ko-KR" sz="1600" dirty="0"/>
              <a:t>| (%)</a:t>
            </a:r>
            <a:endParaRPr lang="ko-KR" altLang="en-US" sz="1600" dirty="0"/>
          </a:p>
        </p:txBody>
      </p:sp>
      <p:sp>
        <p:nvSpPr>
          <p:cNvPr id="124" name="TextBox 123"/>
          <p:cNvSpPr txBox="1"/>
          <p:nvPr/>
        </p:nvSpPr>
        <p:spPr>
          <a:xfrm>
            <a:off x="11698685" y="3637801"/>
            <a:ext cx="590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0</a:t>
            </a:r>
            <a:endParaRPr lang="ko-KR" altLang="en-US" sz="1400"/>
          </a:p>
        </p:txBody>
      </p:sp>
      <p:sp>
        <p:nvSpPr>
          <p:cNvPr id="125" name="TextBox 124"/>
          <p:cNvSpPr txBox="1"/>
          <p:nvPr/>
        </p:nvSpPr>
        <p:spPr>
          <a:xfrm>
            <a:off x="11698685" y="1537047"/>
            <a:ext cx="590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400</a:t>
            </a:r>
            <a:endParaRPr lang="ko-KR" altLang="en-US" sz="1400"/>
          </a:p>
        </p:txBody>
      </p:sp>
      <p:sp>
        <p:nvSpPr>
          <p:cNvPr id="126" name="TextBox 125"/>
          <p:cNvSpPr txBox="1"/>
          <p:nvPr/>
        </p:nvSpPr>
        <p:spPr>
          <a:xfrm>
            <a:off x="11698685" y="2062236"/>
            <a:ext cx="590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300</a:t>
            </a:r>
            <a:endParaRPr lang="ko-KR" altLang="en-US" sz="1400"/>
          </a:p>
        </p:txBody>
      </p:sp>
      <p:sp>
        <p:nvSpPr>
          <p:cNvPr id="127" name="TextBox 126"/>
          <p:cNvSpPr txBox="1"/>
          <p:nvPr/>
        </p:nvSpPr>
        <p:spPr>
          <a:xfrm>
            <a:off x="11698685" y="2587425"/>
            <a:ext cx="590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200</a:t>
            </a:r>
            <a:endParaRPr lang="ko-KR" altLang="en-US" sz="1400"/>
          </a:p>
        </p:txBody>
      </p:sp>
      <p:sp>
        <p:nvSpPr>
          <p:cNvPr id="128" name="TextBox 127"/>
          <p:cNvSpPr txBox="1"/>
          <p:nvPr/>
        </p:nvSpPr>
        <p:spPr>
          <a:xfrm>
            <a:off x="11698685" y="3112614"/>
            <a:ext cx="590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100</a:t>
            </a:r>
            <a:endParaRPr lang="ko-KR" altLang="en-US" sz="1400"/>
          </a:p>
        </p:txBody>
      </p:sp>
      <p:cxnSp>
        <p:nvCxnSpPr>
          <p:cNvPr id="133" name="직선 연결선 132"/>
          <p:cNvCxnSpPr/>
          <p:nvPr/>
        </p:nvCxnSpPr>
        <p:spPr>
          <a:xfrm rot="5400000">
            <a:off x="10623130" y="3824228"/>
            <a:ext cx="0" cy="360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0013435" y="4049429"/>
            <a:ext cx="1210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2 mm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796470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그림 59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76469" y="4644571"/>
            <a:ext cx="5151029" cy="2005437"/>
          </a:xfrm>
          <a:prstGeom prst="rect">
            <a:avLst/>
          </a:prstGeom>
        </p:spPr>
      </p:pic>
      <p:sp>
        <p:nvSpPr>
          <p:cNvPr id="2" name="제목 2">
            <a:extLst>
              <a:ext uri="{FF2B5EF4-FFF2-40B4-BE49-F238E27FC236}">
                <a16:creationId xmlns:a16="http://schemas.microsoft.com/office/drawing/2014/main" id="{042B83E0-6D85-469C-B72F-1C2E14182489}"/>
              </a:ext>
            </a:extLst>
          </p:cNvPr>
          <p:cNvSpPr txBox="1">
            <a:spLocks/>
          </p:cNvSpPr>
          <p:nvPr/>
        </p:nvSpPr>
        <p:spPr>
          <a:xfrm>
            <a:off x="649324" y="190943"/>
            <a:ext cx="11074228" cy="61838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700" dirty="0"/>
              <a:t>Initial concept: Strain transfer by low Young’s modulus substrate</a:t>
            </a:r>
            <a:endParaRPr lang="ko-KR" altLang="en-US" sz="2700" dirty="0"/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63752" y="2348880"/>
            <a:ext cx="3675807" cy="14498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640752" y="1917819"/>
            <a:ext cx="2111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7030A0"/>
                </a:solidFill>
              </a:rPr>
              <a:t>Elastomer (</a:t>
            </a:r>
            <a:r>
              <a:rPr lang="en-US" altLang="ko-KR" sz="1400" i="1" dirty="0">
                <a:solidFill>
                  <a:srgbClr val="7030A0"/>
                </a:solidFill>
              </a:rPr>
              <a:t>E</a:t>
            </a:r>
            <a:r>
              <a:rPr lang="en-US" altLang="ko-KR" sz="1400" dirty="0">
                <a:solidFill>
                  <a:srgbClr val="7030A0"/>
                </a:solidFill>
              </a:rPr>
              <a:t>=</a:t>
            </a:r>
            <a:r>
              <a:rPr lang="en-US" altLang="ko-KR" sz="1400" b="1" dirty="0">
                <a:solidFill>
                  <a:srgbClr val="7030A0"/>
                </a:solidFill>
              </a:rPr>
              <a:t>5kPa</a:t>
            </a:r>
            <a:r>
              <a:rPr lang="en-US" altLang="ko-KR" sz="1400" dirty="0">
                <a:solidFill>
                  <a:srgbClr val="7030A0"/>
                </a:solidFill>
              </a:rPr>
              <a:t>)</a:t>
            </a:r>
            <a:br>
              <a:rPr lang="en-US" altLang="ko-KR" sz="1400" dirty="0">
                <a:solidFill>
                  <a:srgbClr val="7030A0"/>
                </a:solidFill>
              </a:rPr>
            </a:br>
            <a:r>
              <a:rPr lang="en-US" altLang="ko-KR" sz="1400" dirty="0">
                <a:solidFill>
                  <a:srgbClr val="7030A0"/>
                </a:solidFill>
              </a:rPr>
              <a:t>(e.g. </a:t>
            </a:r>
            <a:r>
              <a:rPr lang="en-US" altLang="ko-KR" sz="1400" dirty="0" err="1">
                <a:solidFill>
                  <a:srgbClr val="7030A0"/>
                </a:solidFill>
              </a:rPr>
              <a:t>Silbione</a:t>
            </a:r>
            <a:r>
              <a:rPr lang="en-US" altLang="ko-KR" sz="1400" dirty="0">
                <a:solidFill>
                  <a:srgbClr val="7030A0"/>
                </a:solidFill>
              </a:rPr>
              <a:t>)</a:t>
            </a:r>
            <a:endParaRPr lang="ko-KR" altLang="en-US" sz="1400" dirty="0">
              <a:solidFill>
                <a:srgbClr val="7030A0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91916" y="3801428"/>
            <a:ext cx="237735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/>
              <a:t>Rotating square type auxetic struture (</a:t>
            </a:r>
            <a:r>
              <a:rPr lang="en-US" altLang="ko-KR" sz="1400" i="1"/>
              <a:t>E</a:t>
            </a:r>
            <a:r>
              <a:rPr lang="en-US" altLang="ko-KR" sz="1400"/>
              <a:t>=</a:t>
            </a:r>
            <a:r>
              <a:rPr lang="en-US" altLang="ko-KR" sz="1400" b="1"/>
              <a:t>110MPa</a:t>
            </a:r>
            <a:r>
              <a:rPr lang="en-US" altLang="ko-KR" sz="1400"/>
              <a:t>)</a:t>
            </a:r>
            <a:br>
              <a:rPr lang="en-US" altLang="ko-KR" sz="1400"/>
            </a:br>
            <a:r>
              <a:rPr lang="en-US" altLang="ko-KR" sz="1400"/>
              <a:t>(e.g. Smooth-cast 61D)</a:t>
            </a:r>
            <a:endParaRPr lang="ko-KR" altLang="en-US" sz="1400"/>
          </a:p>
        </p:txBody>
      </p:sp>
      <p:sp>
        <p:nvSpPr>
          <p:cNvPr id="34" name="오른쪽 화살표 33"/>
          <p:cNvSpPr/>
          <p:nvPr/>
        </p:nvSpPr>
        <p:spPr>
          <a:xfrm rot="5400000">
            <a:off x="4094872" y="3103213"/>
            <a:ext cx="344917" cy="26023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 rot="5400000">
            <a:off x="5656972" y="3379438"/>
            <a:ext cx="344917" cy="26023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 rot="5400000">
            <a:off x="7057147" y="2826988"/>
            <a:ext cx="344917" cy="260233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6650" y="1624479"/>
            <a:ext cx="2137870" cy="2137870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74421" y="1635952"/>
            <a:ext cx="2070251" cy="2070251"/>
          </a:xfrm>
          <a:prstGeom prst="rect">
            <a:avLst/>
          </a:prstGeom>
        </p:spPr>
      </p:pic>
      <p:sp>
        <p:nvSpPr>
          <p:cNvPr id="40" name="직사각형 39"/>
          <p:cNvSpPr/>
          <p:nvPr/>
        </p:nvSpPr>
        <p:spPr>
          <a:xfrm>
            <a:off x="167213" y="820460"/>
            <a:ext cx="117614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altLang="ko-KR" dirty="0"/>
              <a:t>Would it be possible to minimize the suppression of the torque of the rotating square if there is a significant difference in Young's modulus? </a:t>
            </a:r>
            <a:endParaRPr lang="ko-KR" altLang="ko-KR" kern="100" dirty="0"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89" name="그룹 88"/>
          <p:cNvGrpSpPr/>
          <p:nvPr/>
        </p:nvGrpSpPr>
        <p:grpSpPr>
          <a:xfrm>
            <a:off x="62405" y="1613290"/>
            <a:ext cx="3800463" cy="3831934"/>
            <a:chOff x="62405" y="1613290"/>
            <a:chExt cx="3800463" cy="3831934"/>
          </a:xfrm>
        </p:grpSpPr>
        <p:pic>
          <p:nvPicPr>
            <p:cNvPr id="39" name="그림 38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22445" y="2119444"/>
              <a:ext cx="2506901" cy="2506901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366376" y="1613290"/>
              <a:ext cx="29296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In-plane displacement </a:t>
              </a:r>
              <a:endParaRPr lang="ko-KR" altLang="en-US" dirty="0"/>
            </a:p>
          </p:txBody>
        </p:sp>
        <p:grpSp>
          <p:nvGrpSpPr>
            <p:cNvPr id="42" name="그룹 41"/>
            <p:cNvGrpSpPr/>
            <p:nvPr/>
          </p:nvGrpSpPr>
          <p:grpSpPr>
            <a:xfrm>
              <a:off x="62405" y="4065546"/>
              <a:ext cx="729071" cy="882478"/>
              <a:chOff x="3599089" y="3007863"/>
              <a:chExt cx="729071" cy="882478"/>
            </a:xfrm>
          </p:grpSpPr>
          <p:cxnSp>
            <p:nvCxnSpPr>
              <p:cNvPr id="43" name="직선 화살표 연결선 42"/>
              <p:cNvCxnSpPr/>
              <p:nvPr/>
            </p:nvCxnSpPr>
            <p:spPr>
              <a:xfrm flipV="1">
                <a:off x="3863752" y="3279635"/>
                <a:ext cx="1" cy="3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직선 화살표 연결선 43"/>
              <p:cNvCxnSpPr/>
              <p:nvPr/>
            </p:nvCxnSpPr>
            <p:spPr>
              <a:xfrm rot="5400000" flipV="1">
                <a:off x="4043145" y="3447914"/>
                <a:ext cx="1" cy="3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4043145" y="3551787"/>
                <a:ext cx="2850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/>
                  <a:t>x</a:t>
                </a:r>
                <a:endParaRPr lang="ko-KR" altLang="en-US" sz="1600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3677385" y="3007863"/>
                <a:ext cx="2850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/>
                  <a:t>y</a:t>
                </a:r>
                <a:endParaRPr lang="ko-KR" altLang="en-US" sz="1600"/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3599089" y="3539068"/>
                <a:ext cx="2850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/>
                  <a:t>z</a:t>
                </a:r>
                <a:endParaRPr lang="ko-KR" altLang="en-US" sz="1600"/>
              </a:p>
            </p:txBody>
          </p:sp>
          <p:sp>
            <p:nvSpPr>
              <p:cNvPr id="48" name="타원 47"/>
              <p:cNvSpPr/>
              <p:nvPr/>
            </p:nvSpPr>
            <p:spPr>
              <a:xfrm>
                <a:off x="3817313" y="3569839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●</a:t>
                </a:r>
                <a:endParaRPr lang="ko-KR" altLang="en-US" sz="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" name="직사각형 48"/>
            <p:cNvSpPr/>
            <p:nvPr/>
          </p:nvSpPr>
          <p:spPr>
            <a:xfrm>
              <a:off x="3014733" y="2272963"/>
              <a:ext cx="195174" cy="2325067"/>
            </a:xfrm>
            <a:prstGeom prst="rect">
              <a:avLst/>
            </a:prstGeom>
            <a:gradFill>
              <a:gsLst>
                <a:gs pos="25000">
                  <a:srgbClr val="FC3E01"/>
                </a:gs>
                <a:gs pos="88000">
                  <a:srgbClr val="BAAAFB"/>
                </a:gs>
                <a:gs pos="75000">
                  <a:srgbClr val="72A1FC"/>
                </a:gs>
                <a:gs pos="63000">
                  <a:srgbClr val="25E9F3"/>
                </a:gs>
                <a:gs pos="50000">
                  <a:srgbClr val="7FFE7E"/>
                </a:gs>
                <a:gs pos="13000">
                  <a:srgbClr val="C40027"/>
                </a:gs>
                <a:gs pos="38000">
                  <a:srgbClr val="F5D30A"/>
                </a:gs>
                <a:gs pos="1000">
                  <a:srgbClr val="680064"/>
                </a:gs>
                <a:gs pos="100000">
                  <a:srgbClr val="E7EAF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158749" y="4346761"/>
              <a:ext cx="5900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0</a:t>
              </a:r>
              <a:endParaRPr lang="ko-KR" altLang="en-US" sz="140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58749" y="2246007"/>
              <a:ext cx="7041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16 mm</a:t>
              </a:r>
              <a:endParaRPr lang="ko-KR" altLang="en-US" sz="14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158749" y="2771196"/>
              <a:ext cx="5900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12</a:t>
              </a:r>
              <a:endParaRPr lang="ko-KR" altLang="en-US" sz="140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158749" y="3296385"/>
              <a:ext cx="5900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8</a:t>
              </a:r>
              <a:endParaRPr lang="ko-KR" altLang="en-US" sz="140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158749" y="3821574"/>
              <a:ext cx="5900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4</a:t>
              </a:r>
              <a:endParaRPr lang="ko-KR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직사각형 55"/>
                <p:cNvSpPr/>
                <p:nvPr/>
              </p:nvSpPr>
              <p:spPr>
                <a:xfrm>
                  <a:off x="2497548" y="1890150"/>
                  <a:ext cx="1316130" cy="31598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ko-KR" sz="1200" dirty="0"/>
                    <a:t>(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a14:m>
                  <a:r>
                    <a:rPr lang="ko-KR" altLang="en-US" sz="1200" dirty="0"/>
                    <a:t> </a:t>
                  </a:r>
                  <a:r>
                    <a:rPr lang="en-US" altLang="ko-KR" sz="1200" dirty="0"/>
                    <a:t>)</a:t>
                  </a:r>
                  <a:endParaRPr lang="ko-KR" altLang="en-US" sz="1200" dirty="0"/>
                </a:p>
              </p:txBody>
            </p:sp>
          </mc:Choice>
          <mc:Fallback xmlns="">
            <p:sp>
              <p:nvSpPr>
                <p:cNvPr id="56" name="직사각형 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7548" y="1890150"/>
                  <a:ext cx="1316130" cy="315984"/>
                </a:xfrm>
                <a:prstGeom prst="rect">
                  <a:avLst/>
                </a:prstGeom>
                <a:blipFill>
                  <a:blip r:embed="rId12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직선 연결선 56"/>
            <p:cNvCxnSpPr/>
            <p:nvPr/>
          </p:nvCxnSpPr>
          <p:spPr>
            <a:xfrm rot="5400000">
              <a:off x="2622277" y="4469044"/>
              <a:ext cx="0" cy="396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2006621" y="4661445"/>
              <a:ext cx="12109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2 cm</a:t>
              </a:r>
              <a:endParaRPr lang="ko-KR" altLang="en-US" sz="1600" dirty="0"/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80382" y="5075892"/>
              <a:ext cx="284227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/>
                <a:t>Poisson’s ratio(</a:t>
              </a:r>
              <a:r>
                <a:rPr lang="en-US" altLang="ko-KR" i="1">
                  <a:latin typeface="Symbol" panose="05050102010706020507" pitchFamily="18" charset="2"/>
                </a:rPr>
                <a:t>n </a:t>
              </a:r>
              <a:r>
                <a:rPr lang="en-US" altLang="ko-KR"/>
                <a:t>) ~ 1</a:t>
              </a:r>
              <a:endParaRPr lang="ko-KR" altLang="en-US"/>
            </a:p>
          </p:txBody>
        </p:sp>
      </p:grpSp>
      <p:sp>
        <p:nvSpPr>
          <p:cNvPr id="61" name="직사각형 60"/>
          <p:cNvSpPr/>
          <p:nvPr/>
        </p:nvSpPr>
        <p:spPr>
          <a:xfrm>
            <a:off x="6285157" y="5998475"/>
            <a:ext cx="732864" cy="310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5" name="직선 연결선 64"/>
          <p:cNvCxnSpPr/>
          <p:nvPr/>
        </p:nvCxnSpPr>
        <p:spPr>
          <a:xfrm>
            <a:off x="7752184" y="1528322"/>
            <a:ext cx="0" cy="522000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8287746" y="1935733"/>
            <a:ext cx="1358900" cy="13208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0" name="그림 69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19"/>
          <a:stretch/>
        </p:blipFill>
        <p:spPr>
          <a:xfrm>
            <a:off x="7954371" y="3766595"/>
            <a:ext cx="4066093" cy="769161"/>
          </a:xfrm>
          <a:prstGeom prst="rect">
            <a:avLst/>
          </a:prstGeom>
          <a:ln w="19050">
            <a:solidFill>
              <a:schemeClr val="tx1"/>
            </a:solidFill>
            <a:prstDash val="sysDot"/>
          </a:ln>
        </p:spPr>
      </p:pic>
      <p:sp>
        <p:nvSpPr>
          <p:cNvPr id="71" name="TextBox 70"/>
          <p:cNvSpPr txBox="1"/>
          <p:nvPr/>
        </p:nvSpPr>
        <p:spPr>
          <a:xfrm>
            <a:off x="7954371" y="1429978"/>
            <a:ext cx="208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Auxetic + Elastomer</a:t>
            </a:r>
            <a:endParaRPr lang="ko-KR" altLang="en-US" sz="1600"/>
          </a:p>
        </p:txBody>
      </p:sp>
      <p:sp>
        <p:nvSpPr>
          <p:cNvPr id="72" name="TextBox 71"/>
          <p:cNvSpPr txBox="1"/>
          <p:nvPr/>
        </p:nvSpPr>
        <p:spPr>
          <a:xfrm>
            <a:off x="10024443" y="1429978"/>
            <a:ext cx="208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/>
              <a:t>Elastomer only</a:t>
            </a:r>
            <a:endParaRPr lang="ko-KR" altLang="en-US" sz="1600"/>
          </a:p>
        </p:txBody>
      </p:sp>
      <p:cxnSp>
        <p:nvCxnSpPr>
          <p:cNvPr id="74" name="직선 연결선 73"/>
          <p:cNvCxnSpPr/>
          <p:nvPr/>
        </p:nvCxnSpPr>
        <p:spPr>
          <a:xfrm>
            <a:off x="10145121" y="2792709"/>
            <a:ext cx="97200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오른쪽 화살표 74"/>
          <p:cNvSpPr/>
          <p:nvPr/>
        </p:nvSpPr>
        <p:spPr>
          <a:xfrm rot="5400000">
            <a:off x="10193558" y="3133246"/>
            <a:ext cx="720083" cy="300642"/>
          </a:xfrm>
          <a:prstGeom prst="rightArrow">
            <a:avLst>
              <a:gd name="adj1" fmla="val 40351"/>
              <a:gd name="adj2" fmla="val 6689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9615638" y="3717032"/>
            <a:ext cx="24351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>
                <a:solidFill>
                  <a:schemeClr val="tx1">
                    <a:lumMod val="75000"/>
                    <a:lumOff val="25000"/>
                  </a:schemeClr>
                </a:solidFill>
              </a:rPr>
              <a:t>Exaggerated by 300% in the z-axis direction</a:t>
            </a:r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43" t="15823" r="13545" b="11266"/>
          <a:stretch/>
        </p:blipFill>
        <p:spPr>
          <a:xfrm>
            <a:off x="7994635" y="3923537"/>
            <a:ext cx="481039" cy="579316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792729" y="4782239"/>
            <a:ext cx="4351943" cy="1619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Assuming that Young's modulus of the substrate is very low, if the substrate is attached to the entire surface of the square island, it acts as a fixed point and inhibits rotation.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However, due to its uneven stretching from the origin, image distortion cannot be avoided.</a:t>
            </a:r>
          </a:p>
        </p:txBody>
      </p:sp>
    </p:spTree>
    <p:extLst>
      <p:ext uri="{BB962C8B-B14F-4D97-AF65-F5344CB8AC3E}">
        <p14:creationId xmlns:p14="http://schemas.microsoft.com/office/powerpoint/2010/main" val="977880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2">
            <a:extLst>
              <a:ext uri="{FF2B5EF4-FFF2-40B4-BE49-F238E27FC236}">
                <a16:creationId xmlns:a16="http://schemas.microsoft.com/office/drawing/2014/main" id="{E56BDD0F-E8D1-41FE-AFFA-EF5C106F4F88}"/>
              </a:ext>
            </a:extLst>
          </p:cNvPr>
          <p:cNvSpPr txBox="1">
            <a:spLocks/>
          </p:cNvSpPr>
          <p:nvPr/>
        </p:nvSpPr>
        <p:spPr>
          <a:xfrm>
            <a:off x="767408" y="146319"/>
            <a:ext cx="8890068" cy="6183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dirty="0"/>
              <a:t>Flow chart for simulation &amp; experiment</a:t>
            </a:r>
            <a:endParaRPr lang="ko-KR" altLang="en-US" sz="3200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727AD30-EC10-4639-AFB1-6EFD87446B87}"/>
              </a:ext>
            </a:extLst>
          </p:cNvPr>
          <p:cNvSpPr/>
          <p:nvPr/>
        </p:nvSpPr>
        <p:spPr>
          <a:xfrm>
            <a:off x="191344" y="3001629"/>
            <a:ext cx="2060243" cy="1219200"/>
          </a:xfrm>
          <a:prstGeom prst="roundRect">
            <a:avLst/>
          </a:prstGeom>
          <a:noFill/>
          <a:ln w="3175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F00E8A3-6DA5-4A48-AA64-B2BF513B55B9}"/>
              </a:ext>
            </a:extLst>
          </p:cNvPr>
          <p:cNvSpPr/>
          <p:nvPr/>
        </p:nvSpPr>
        <p:spPr>
          <a:xfrm>
            <a:off x="3062808" y="3001629"/>
            <a:ext cx="2310581" cy="1219200"/>
          </a:xfrm>
          <a:prstGeom prst="roundRect">
            <a:avLst/>
          </a:prstGeom>
          <a:noFill/>
          <a:ln w="317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A28D34-6A3E-4361-A55F-3314B047AB84}"/>
              </a:ext>
            </a:extLst>
          </p:cNvPr>
          <p:cNvSpPr/>
          <p:nvPr/>
        </p:nvSpPr>
        <p:spPr>
          <a:xfrm>
            <a:off x="6061625" y="3001629"/>
            <a:ext cx="2728414" cy="1219200"/>
          </a:xfrm>
          <a:prstGeom prst="roundRect">
            <a:avLst/>
          </a:prstGeom>
          <a:noFill/>
          <a:ln w="317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CC25E56-EB5A-44FF-93A1-0F53AF991DD2}"/>
              </a:ext>
            </a:extLst>
          </p:cNvPr>
          <p:cNvSpPr/>
          <p:nvPr/>
        </p:nvSpPr>
        <p:spPr>
          <a:xfrm>
            <a:off x="9488512" y="3001629"/>
            <a:ext cx="2584152" cy="1219200"/>
          </a:xfrm>
          <a:prstGeom prst="roundRect">
            <a:avLst/>
          </a:prstGeom>
          <a:noFill/>
          <a:ln w="31750">
            <a:solidFill>
              <a:srgbClr val="0070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F8EDC25-8022-4EFB-BE23-86637FB40F22}"/>
              </a:ext>
            </a:extLst>
          </p:cNvPr>
          <p:cNvSpPr/>
          <p:nvPr/>
        </p:nvSpPr>
        <p:spPr>
          <a:xfrm>
            <a:off x="2711624" y="4895431"/>
            <a:ext cx="3303935" cy="916305"/>
          </a:xfrm>
          <a:prstGeom prst="roundRect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56E91D4-7809-4885-ABA6-4926EF5222B3}"/>
              </a:ext>
            </a:extLst>
          </p:cNvPr>
          <p:cNvSpPr/>
          <p:nvPr/>
        </p:nvSpPr>
        <p:spPr>
          <a:xfrm>
            <a:off x="6750371" y="4895431"/>
            <a:ext cx="5178276" cy="916306"/>
          </a:xfrm>
          <a:prstGeom prst="roundRect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FF34B76-1064-4DE6-A4B9-0293BCD3B06F}"/>
                  </a:ext>
                </a:extLst>
              </p:cNvPr>
              <p:cNvSpPr/>
              <p:nvPr/>
            </p:nvSpPr>
            <p:spPr>
              <a:xfrm>
                <a:off x="191344" y="3184088"/>
                <a:ext cx="206024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600"/>
                  <a:t>Single elastomer (</a:t>
                </a:r>
                <a:r>
                  <a:rPr lang="en-US" altLang="ko-KR" sz="1600" dirty="0"/>
                  <a:t>Fixed </a:t>
                </a:r>
                <a:r>
                  <a:rPr lang="en-US" altLang="ko-KR" sz="1600"/>
                  <a:t>points/ Biaxial </a:t>
                </a:r>
                <a:r>
                  <a:rPr lang="en-US" altLang="ko-KR" sz="1600" dirty="0"/>
                  <a:t>strain </a:t>
                </a:r>
                <a:r>
                  <a:rPr lang="en-US" altLang="ko-KR" sz="1600"/>
                  <a:t>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ko-KR" alt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0FF34B76-1064-4DE6-A4B9-0293BCD3B0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344" y="3184088"/>
                <a:ext cx="2060243" cy="830997"/>
              </a:xfrm>
              <a:prstGeom prst="rect">
                <a:avLst/>
              </a:prstGeom>
              <a:blipFill>
                <a:blip r:embed="rId2"/>
                <a:stretch>
                  <a:fillRect l="-592" t="-2190" r="-5030" b="-80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직사각형 41">
            <a:extLst>
              <a:ext uri="{FF2B5EF4-FFF2-40B4-BE49-F238E27FC236}">
                <a16:creationId xmlns:a16="http://schemas.microsoft.com/office/drawing/2014/main" id="{5DBF7CBF-8597-4539-8428-E522AAB91DBF}"/>
              </a:ext>
            </a:extLst>
          </p:cNvPr>
          <p:cNvSpPr/>
          <p:nvPr/>
        </p:nvSpPr>
        <p:spPr>
          <a:xfrm>
            <a:off x="3062808" y="3172626"/>
            <a:ext cx="231845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/>
              <a:t>Parameter optimization of auxtic structures in all directional stretching</a:t>
            </a:r>
            <a:endParaRPr lang="ko-KR" altLang="en-US" sz="16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E0A789B-0896-4DAB-AB4F-B16A2B7CA8B5}"/>
              </a:ext>
            </a:extLst>
          </p:cNvPr>
          <p:cNvSpPr/>
          <p:nvPr/>
        </p:nvSpPr>
        <p:spPr>
          <a:xfrm>
            <a:off x="6096000" y="3184088"/>
            <a:ext cx="26940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/>
              <a:t>Integration of simulation sets &amp; determination of the adhesive </a:t>
            </a:r>
            <a:r>
              <a:rPr lang="en-US" altLang="ko-KR" sz="1600" dirty="0"/>
              <a:t>position </a:t>
            </a:r>
            <a:r>
              <a:rPr lang="en-US" altLang="ko-KR" sz="1600"/>
              <a:t>sets </a:t>
            </a:r>
            <a:endParaRPr lang="ko-KR" altLang="en-US" sz="16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CA7FBB-9B40-4270-B9A6-F1611F50675F}"/>
              </a:ext>
            </a:extLst>
          </p:cNvPr>
          <p:cNvSpPr/>
          <p:nvPr/>
        </p:nvSpPr>
        <p:spPr>
          <a:xfrm>
            <a:off x="9488512" y="3184088"/>
            <a:ext cx="25841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/>
              <a:t>Parameter optimization </a:t>
            </a:r>
            <a:r>
              <a:rPr lang="en-US" altLang="ko-KR" sz="1600"/>
              <a:t>for entire </a:t>
            </a:r>
            <a:r>
              <a:rPr lang="en-US" altLang="ko-KR" sz="1600" dirty="0"/>
              <a:t>structure in all directional stretching</a:t>
            </a:r>
            <a:endParaRPr lang="ko-KR" altLang="en-US" sz="1600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87DBABD-A453-47A9-9D51-87B7A5F5AD81}"/>
              </a:ext>
            </a:extLst>
          </p:cNvPr>
          <p:cNvSpPr/>
          <p:nvPr/>
        </p:nvSpPr>
        <p:spPr>
          <a:xfrm>
            <a:off x="2423592" y="3428741"/>
            <a:ext cx="446484" cy="366514"/>
          </a:xfrm>
          <a:prstGeom prst="rightArrow">
            <a:avLst/>
          </a:prstGeom>
          <a:gradFill flip="none" rotWithShape="1">
            <a:gsLst>
              <a:gs pos="0">
                <a:srgbClr val="C6D9F1"/>
              </a:gs>
              <a:gs pos="100000">
                <a:srgbClr val="8EB4E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B5F23A0E-51A8-4740-8F54-5B5757F74F1F}"/>
              </a:ext>
            </a:extLst>
          </p:cNvPr>
          <p:cNvSpPr/>
          <p:nvPr/>
        </p:nvSpPr>
        <p:spPr>
          <a:xfrm>
            <a:off x="5505500" y="3428741"/>
            <a:ext cx="446484" cy="366514"/>
          </a:xfrm>
          <a:prstGeom prst="rightArrow">
            <a:avLst/>
          </a:prstGeom>
          <a:gradFill flip="none" rotWithShape="1">
            <a:gsLst>
              <a:gs pos="0">
                <a:srgbClr val="8EB4E3"/>
              </a:gs>
              <a:gs pos="100000">
                <a:srgbClr val="558ED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5C850D96-0578-4017-A01C-E4A78A77C598}"/>
              </a:ext>
            </a:extLst>
          </p:cNvPr>
          <p:cNvSpPr/>
          <p:nvPr/>
        </p:nvSpPr>
        <p:spPr>
          <a:xfrm>
            <a:off x="8932387" y="3428741"/>
            <a:ext cx="446484" cy="366514"/>
          </a:xfrm>
          <a:prstGeom prst="rightArrow">
            <a:avLst/>
          </a:prstGeom>
          <a:gradFill flip="none" rotWithShape="1">
            <a:gsLst>
              <a:gs pos="0">
                <a:srgbClr val="558ED5"/>
              </a:gs>
              <a:gs pos="100000">
                <a:srgbClr val="0070E4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CE5F3B-EFD6-478C-A7CC-C26C00A9EF92}"/>
              </a:ext>
            </a:extLst>
          </p:cNvPr>
          <p:cNvSpPr/>
          <p:nvPr/>
        </p:nvSpPr>
        <p:spPr>
          <a:xfrm>
            <a:off x="2728021" y="4991658"/>
            <a:ext cx="340183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Fabrication of </a:t>
            </a:r>
            <a:r>
              <a:rPr lang="en-US" altLang="ko-KR" sz="1400"/>
              <a:t>auxetic framework</a:t>
            </a:r>
            <a:endParaRPr lang="en-US" altLang="ko-KR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Material selection / mold design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Parameter measurement</a:t>
            </a:r>
            <a:endParaRPr lang="ko-KR" altLang="en-US" sz="14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EF863BE-B4B1-4CB1-843C-A8AAB6E06F5F}"/>
              </a:ext>
            </a:extLst>
          </p:cNvPr>
          <p:cNvSpPr/>
          <p:nvPr/>
        </p:nvSpPr>
        <p:spPr>
          <a:xfrm>
            <a:off x="6750371" y="5023931"/>
            <a:ext cx="517827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Fabrication of band/substrate structure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Alignment of adhesive point</a:t>
            </a:r>
            <a:endParaRPr lang="ko-KR" alt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/>
              <a:t>Adhesive force test for silicone adhesive &amp; </a:t>
            </a:r>
            <a:r>
              <a:rPr lang="en-US" altLang="ko-KR" sz="1400"/>
              <a:t>each interface</a:t>
            </a:r>
            <a:endParaRPr lang="en-US" altLang="ko-KR" sz="14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BB1287A-B855-4CDB-B963-416F47F98DA6}"/>
              </a:ext>
            </a:extLst>
          </p:cNvPr>
          <p:cNvSpPr/>
          <p:nvPr/>
        </p:nvSpPr>
        <p:spPr>
          <a:xfrm rot="16200000">
            <a:off x="4390478" y="4382619"/>
            <a:ext cx="432048" cy="33347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화살표: 오른쪽 76">
            <a:extLst>
              <a:ext uri="{FF2B5EF4-FFF2-40B4-BE49-F238E27FC236}">
                <a16:creationId xmlns:a16="http://schemas.microsoft.com/office/drawing/2014/main" id="{DFF71E3D-DE65-449C-879B-561117186E2D}"/>
              </a:ext>
            </a:extLst>
          </p:cNvPr>
          <p:cNvSpPr/>
          <p:nvPr/>
        </p:nvSpPr>
        <p:spPr>
          <a:xfrm rot="5400000">
            <a:off x="3958481" y="4382619"/>
            <a:ext cx="432048" cy="333474"/>
          </a:xfrm>
          <a:prstGeom prst="rightArrow">
            <a:avLst/>
          </a:prstGeom>
          <a:solidFill>
            <a:srgbClr val="8EB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화살표: 오른쪽 81">
            <a:extLst>
              <a:ext uri="{FF2B5EF4-FFF2-40B4-BE49-F238E27FC236}">
                <a16:creationId xmlns:a16="http://schemas.microsoft.com/office/drawing/2014/main" id="{CDA124F8-E6B1-47DD-8CB8-E14A4D1A3B16}"/>
              </a:ext>
            </a:extLst>
          </p:cNvPr>
          <p:cNvSpPr/>
          <p:nvPr/>
        </p:nvSpPr>
        <p:spPr>
          <a:xfrm rot="16200000">
            <a:off x="7645561" y="4387250"/>
            <a:ext cx="432048" cy="33347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55E4514C-FB15-416A-915C-4ACB87103422}"/>
              </a:ext>
            </a:extLst>
          </p:cNvPr>
          <p:cNvSpPr/>
          <p:nvPr/>
        </p:nvSpPr>
        <p:spPr>
          <a:xfrm rot="5400000">
            <a:off x="7213564" y="4387250"/>
            <a:ext cx="432048" cy="333474"/>
          </a:xfrm>
          <a:prstGeom prst="rightArrow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6BC1336B-D983-4F3D-8E12-43EEA2BC2932}"/>
              </a:ext>
            </a:extLst>
          </p:cNvPr>
          <p:cNvSpPr/>
          <p:nvPr/>
        </p:nvSpPr>
        <p:spPr>
          <a:xfrm rot="16200000">
            <a:off x="10733907" y="4388100"/>
            <a:ext cx="432048" cy="33347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B4312EBC-BD97-4850-94CE-026C0395F23B}"/>
              </a:ext>
            </a:extLst>
          </p:cNvPr>
          <p:cNvSpPr/>
          <p:nvPr/>
        </p:nvSpPr>
        <p:spPr>
          <a:xfrm rot="5400000">
            <a:off x="10301910" y="4388100"/>
            <a:ext cx="432048" cy="333474"/>
          </a:xfrm>
          <a:prstGeom prst="rightArrow">
            <a:avLst/>
          </a:prstGeom>
          <a:solidFill>
            <a:srgbClr val="0070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화살표: 오른쪽 95">
            <a:extLst>
              <a:ext uri="{FF2B5EF4-FFF2-40B4-BE49-F238E27FC236}">
                <a16:creationId xmlns:a16="http://schemas.microsoft.com/office/drawing/2014/main" id="{D0C731C8-4479-49E3-B6B1-B33AD1AE0E6E}"/>
              </a:ext>
            </a:extLst>
          </p:cNvPr>
          <p:cNvSpPr/>
          <p:nvPr/>
        </p:nvSpPr>
        <p:spPr>
          <a:xfrm rot="10800000">
            <a:off x="6168009" y="5257330"/>
            <a:ext cx="364964" cy="333474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59B8AA-AD7A-4739-A79D-B5FC27D25B1B}"/>
              </a:ext>
            </a:extLst>
          </p:cNvPr>
          <p:cNvSpPr txBox="1"/>
          <p:nvPr/>
        </p:nvSpPr>
        <p:spPr>
          <a:xfrm>
            <a:off x="5867400" y="5632155"/>
            <a:ext cx="101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Mold design</a:t>
            </a:r>
            <a:endParaRPr lang="ko-KR" altLang="en-US" sz="14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651" y="1230293"/>
            <a:ext cx="1578041" cy="157804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43473" y="1354315"/>
            <a:ext cx="1469814" cy="137213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60071" y="692696"/>
            <a:ext cx="2817344" cy="228024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04AD64-6AEC-79AA-98CE-79CEDF0357E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47774" y="1079295"/>
            <a:ext cx="2385793" cy="181096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9800C47-10CA-EA6E-14A3-E1021D50F95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3287" y="1328373"/>
            <a:ext cx="1713236" cy="136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525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5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17444</TotalTime>
  <Words>2097</Words>
  <Application>Microsoft Office PowerPoint</Application>
  <PresentationFormat>와이드스크린</PresentationFormat>
  <Paragraphs>360</Paragraphs>
  <Slides>30</Slides>
  <Notes>8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1" baseType="lpstr">
      <vt:lpstr>Gill Sans MT</vt:lpstr>
      <vt:lpstr>Calibri</vt:lpstr>
      <vt:lpstr>맑은 고딕</vt:lpstr>
      <vt:lpstr>Arial Narrow</vt:lpstr>
      <vt:lpstr>Times New Roman</vt:lpstr>
      <vt:lpstr>Wingdings</vt:lpstr>
      <vt:lpstr>Cambria Math</vt:lpstr>
      <vt:lpstr>Arial</vt:lpstr>
      <vt:lpstr>Symbol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2740P</dc:creator>
  <cp:lastModifiedBy>김준호</cp:lastModifiedBy>
  <cp:revision>1683</cp:revision>
  <cp:lastPrinted>2021-04-28T18:00:53Z</cp:lastPrinted>
  <dcterms:created xsi:type="dcterms:W3CDTF">2011-09-01T14:40:34Z</dcterms:created>
  <dcterms:modified xsi:type="dcterms:W3CDTF">2026-08-29T09:17:10Z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1CA7700F-F667-4410-3F2B-3F463F283A09</vt:lpwstr>
  </property>
  <property fmtid="{D5CDD505-2E9C-101B-9397-08002B2CF9AE}" pid="3" name="ArticulatePath">
    <vt:lpwstr>Seunghyup Yoo-ICAMD-2019-wide-v2-scripted</vt:lpwstr>
  </property>
</Properties>
</file>