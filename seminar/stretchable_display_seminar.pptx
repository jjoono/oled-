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리뷰할 논문은 KAIST 유승협 교수 그룹과 동아대 문한울 교수 그룹이 2026년 Nature Communications에 발표한 연구입니다. 제목은 '왜곡 없는 스트레처블 디스플레이를 위한, 다중 스케일 등방 팽창이 가능한 하이브리드 오그제틱 메타물질 플랫폼'입니다. 제1저자는 김수본, 김준호 두 분이 공동입니다. 논문 자체는 기계 설계 이야기가 많지만, 저는 오늘 이걸 '디스플레이 폼팩터의 역사' 안에 놓고 보려고 합니다. 왜 지금 이 문제가 중요해졌는지부터 시작하겠습니다.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크게 8부입니다. 앞의 1~3부는 스트레처블 디스플레이가 왜 필요하고 어떤 흐름으로 발전해 왔는지, 4부는 이 논문이 정의한 '진짜 문제'가 무엇인지, 5~6부가 논문의 핵심 기여인 설계 방법론과 새 지표, 7~8부가 검증과 의의입니다. 논문 자체는 5·6부에 집중되어 있고, 1~4부는 그 문제의식을 이해하기 위한 배경입니다.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1부에서는 배경을 짚습니다. 평평한 디스플레이가 왜 오래 충분했는지, 그리고 왜 지금 폼팩터가 계속 바뀌고 있는지를 정리하고 스트레처블까지의 계보를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평평한 디스플레이가 오래 살아남은 이유는 두 가지입니다. 하나는 사용 환경이 평면 시야였다는 것이고, 다른 하나는 디스플레이 공정 전체가 평평한 연속 기판을 전제로 최적화되어 있다는 것입니다. 이 두 번째 이유는 뒤에서 auxetic kirigami 기판의 한계를 이야기할 때 다시 등장하니 기억해 두시면 좋습니다. 반대로 피부, 관절, 로봇 표면처럼 가우스 곡률이 0이 아닌 면은 종이를 접어서는 절대 덮을 수 없습니다. 반드시 면내 신축이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오늘 발표의 출발점입니다. 커브드, 플렉시블, 폴더블, 롤러블까지 우리가 봐 온 모든 폼팩터 혁신은 사실 '형태'의 변화였습니다. 롤러블 TV도 화면이 말려 들어가서 안 보일 뿐이지, 펼쳤을 때 픽셀 하나하나의 간격은 출고 상태 그대로입니다. 그래서 지금까지는 이미지 왜곡이라는 문제가 아예 존재하지 않았습니다. 스트레처블은 다릅니다. 기판이 늘어나면 그 위에 얹힌 픽셀 사이의 물리적 거리가 진짜로 벌어집니다. 이게 오늘 다룰 모든 문제의 뿌리입니다.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스트레처블 자체는 이미 상당히 진행되었습니다. 2017년 삼성디스플레이의 9.1인치 스트레처블 OLED가 사실상 첫 시연이었고, LG디스플레이가 2022년에 12인치 마이크로 LED 기반으로 20% 신축을, 2024년에는 50%까지 끌어올린 버전을 공개했습니다. CES 2025에서는 화면이 물리적으로 튀어나오는 데모까지 나왔습니다. 그런데 이 시연들을 자세히 보면 공통적으로 그림이 같이 일그러집니다. 오늘 논문이 정확히 이 지점을 겨냥합니다.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스트레처블이 필요한 이유는 결국 응용에서 나옵니다. 논문 첫 문단이 나열하는 wearable display, skin electronics, soft robotics, bioelectronics가 모두 그렇습니다. 이 응용들의 공통점은 표면이 평평하지 않고, 게다가 사용 중에 형상이 계속 변한다는 것입니다. 접거나 마는 방식으로는 원리적으로 도달할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2부입니다. 여기서 문제를 정확히 정의합니다. 스트레처블 기판은 이미 많이 연구되었지만, 그 위에 '디스플레이'를 얹는 순간 다른 종류의 요구조건이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표로 정리하면 명확합니다. 커브드, 폴더블, 롤러블은 전부 화면의 물리적 면적과 픽셀 간 거리가 불변입니다. 그래서 이미지 왜곡이라는 개념이 없었습니다. 스트레처블만 면내 인장으로 픽셀 좌표를 실제로 이동시킵니다. 여기서부터 '어떻게 늘어나느냐'가 화질 문제가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직관을 하나 잡고 가겠습니다. 유튜브에서 두 손가락으로 확대하면 그림이 커지지만 왜곡되지는 않습니다. 왜냐하면 디지털 확대는 모든 픽셀을 원점 기준 같은 배율로 밀어내는 등방 스케일링이기 때문입니다. 수식으로 쓰면 변위 벡터 u가 위치 벡터 r에 비례합니다. 반면 실제 기판을 손으로 당기면 가로는 늘고 세로는 줄어듭니다. 배율이 방향마다 다르니 종횡비가 무너집니다. 그래서 '그냥 늘리는 것'은 확대가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원인은 재료의 푸아송비입니다. 엘라스토머는 응력을 잘 흩어주기 때문에 스트레처블 기판으로 쓰이지만, 자연계 물질이 다 그렇듯 푸아송비가 양수입니다. 세로로 수축하는 게 물성 자체에 박혀 있는 겁니다. 논문은 이걸 'inevitably leading to image distortion'이라고 표현합니다. 재료를 바꾸는 걸로는 못 피한다는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보겠습니다. 푸아송비 0.5인 기판을 가로로 15% 늘리면 세로는 7.5% 줄어듭니다. 종횡비로 환산하면 1.15 나누기 0.925, 약 1.24배 일그러집니다. 4대3 화면이 5대3 가까이 되는 셈이니 결코 무시할 수준이 아닙니다. 반면 푸아송비가 -1이면 종횡비는 정확히 1로 유지되면서 면적은 32% 늘어납니다. 이게 auxetic을 쓰는 이유입니다. 오른쪽 0.99는 뒤에서 나올 지표의 임계값인데, 미리 눈도장만 찍어두시죠.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 식 1번입니다. 기판 위 모든 점에서 x방향 변위를 x좌표로 나눈 값과, y방향 변위를 y좌표로 나눈 값이 같아야 하고, 그 공통값이 상수여야 한다. 이게 등방 팽창의 정의입니다. 오른쪽 그림처럼 이 두 값을 축으로 산점도를 그리면, 이상적인 경우 y=x 직선 위 한 점에 모입니다. 논문은 이 산포 정도를 왜곡의 척도로 삼습니다. 지금은 정성적이지만 6부에서 이걸 하나의 스칼라로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3부에서는 auxetic이 무엇이고, 디스플레이에 적용된 연구의 계보를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Auxetic은 푸아송비가 음수인 물질을 말합니다. 자연에는 사실상 없기 때문에, 구조로 만들어냅니다. 이런 걸 메타물질이라고 부르죠. 푸아송비가 -1이면 가로로 15% 당길 때 세로도 15% 늘어납니다. 종횡비는 그대로고 면적만 커집니다. 정확히 우리가 원하는 '순수한 확대'입니다.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널리 쓰이는 auxetic 구조가 rotating squares입니다. 강체 사각형을 모서리 힌지로 이어붙인 구조인데, 한쪽으로 당기면 사각형이 번갈아 회전하면서 두 방향 모두 벌어집니다. 이론적으로 푸아송비가 정확히 -1입니다. 여기서 미리 복선을 하나 깔아두겠습니다. 이 메커니즘의 본질은 '회전'입니다. 회전은 국소적으로 보면 등방 스케일링이 아닙니다. 이 사실이 4부에서 핵심 문제가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계보를 정리했습니다. 이론적 토대는 2000년 Grima와 Evans의 rotating squares입니다. 디스플레이에 처음 적용한 건 2022년 한국기계연구원 장봉균 박사팀이 Advanced Functional Materials에 낸 auxetic meta-display 논문입니다. 이게 첫 auxetic 메타 디스플레이입니다. 이후 컬러 마이크로 LED로 확장되고, 2024년 Nature Communications에 seamless auxetic substrate가 나옵니다. 오늘 볼 논문은 이 흐름의 가장 최근 지점입니다.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2022년 기계연 논문은 개념적으로 훌륭했습니다. 확장성도 좋았고 PI 기판을 썼다는 점도 실용적이었습니다. 다만 구조체 자체가 소자 기판이라는 게 근본 제약이었습니다. 구멍이 뚫린 시트 위에 디스플레이를 만들어야 하는데, 우리가 아는 디스플레이 공정은 전부 평평한 연속 기판을 전제로 만들어져 있습니다. 그래서 개념적으로는 좋지만 공정 호환성과 안정성 측면에서 한계가 있었습니다. 오늘 논문은 정확히 이 지점에서 출발합니다.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4부가 이 논문의 문제 정의입니다. 아주 중요한 부분입니다. 전체가 등방 팽창한다는 것과 내부 모든 점이 등방 팽창한다는 것은 전혀 다른 이야기입니다.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논문의 핵심 통찰입니다. rotating square 프레임을 15% 당기면 전체 외곽 치수는 두 방향 모두 똑같이 커집니다. 겉보기 푸아송비는 -1이 맞습니다. 그런데 표면 위 648개 격자점을 찍어서 ux/x와 uy/y 산점도를 그려보면 y=x 선에 모이지 않고 크게 흩어집니다. 왜냐하면 단위셀이 '회전'하고 있기 때문입니다. 회전하는 사각형 위의 점들은 중심에서 멀어질수록, 그리고 방향에 따라 서로 다른 궤적을 그립니다. 전체 푸아송비가 -1이라는 사실은 내부의 어떤 것도 보장하지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auxetic 프레임에 엘라스토머를 전면 접합하면 어떻게 될까요. 엘라스토머는 프레임에 완전히 구속되니까 프레임의 회전 궤적을 그대로 복사합니다. FEA 변위장을 이미지에 적용해 보면 가로 격자선이 물결치고 축구공 무늬가 국소적으로 일그러집니다. 물론 기존 스트레처블보다는 낫지만 왜곡이 남습니다. '셀을 잘게 쪼개면 되지 않나' 하는 생각이 자연스럽게 드는데, Supplementary Figure 2를 보면 산포가 좁아지긴 해도 국부 변형은 잔존합니다. 그리고 축소 자체에 물리적인 벽이 있는데 이건 8부에서 다루겠습니다.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문제를 딜레마 형태로 정리하면 이렇습니다. 프레임을 기판에 붙이면 회전이 기판으로 전달되어 국부 변형을 만들고, 반대로 기판은 프레임의 회전을 구속해서 auxetic 성능을 떨어뜨립니다. 서로가 서로를 망칩니다. 그렇다고 엘라스토머 없이 auxetic 시트만 쓰면 2022년 논문의 한계로 돌아갑니다. 논문의 해법은 제3의 길입니다. 전면 접합도 무접합도 아니고, 등방 팽창 조건을 만족하는 지점에서만 붙이는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사용자분이 지적하신 부분과 정확히 맞닿습니다. 오그제틱 구조는 이론적으로 등방 팽창하지만, 그건 외곽 기준입니다. 게다가 실제로는 손이든 그립이든 어딘가를 잡고 당겨야 하는데, 잡힌 부분은 회전이 억제됩니다. Supplementary Note 1을 보면 회전장이 이산 Helmholtz 방정식을 따르고, 그립 경계에서 내부로 지수적으로 감쇠한다는 걸 유도합니다. 감쇠 길이는 인접 셀 간 회전 결합 강성과 셀 자체 회전 저항의 비의 제곱근으로 정해집니다. 중요한 건 결론입니다. Δθ는 원리적으로 0이 될 수 없습니다. 그래서 논문은 이걸 없애려 하지 않고, 최소화하는 기하를 찾는 쪽으로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5부가 논문의 본론입니다. 두 단계로 이루어진 설계 방법론을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제안 플랫폼은 세 요소로 이루어집니다. 첫째, 최적화된 auxetic 프레임인데 이건 소자를 얹는 기판이 아니라 운동을 유도하는 외골격입니다. 둘째, 구멍 없는 연속 엘라스토머 기판이고 소자는 전부 여기 위에 만듭니다. 기존 공정과 호환된다는 게 핵심입니다. 셋째가 이 논문의 진짜 아이디어인 선택적 접합점입니다. 프레임과 기판을 특정 좌표에서만 원기둥 앵커로 붙입니다. 프레임은 경계조건만 주고 그 사이는 연속 기판이 알아서 매끄럽게 보간합니다.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목표를 하나의 스칼라로 정리한 게 식 2번입니다. k는 위치벡터 방향으로의 단위 거리당 변위입니다. 변위 벡터와 위치 벡터의 내적을 위치 벡터 크기 제곱으로 나눈 값이죠. 이게 모든 점에서 같고, 동시에 변위 벡터가 위치 벡터와 평행하면 정확히 등방 팽창입니다. 오른쪽 그림이 그 의미인데, 왼쪽은 u와 r이 평행해서 순수 확대, 오른쪽은 각도 α만큼 어긋나서 왜곡이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1단계는 프레임 기하 최적화입니다. 파라미터는 슬릿 폭 W, 힌지 길이 L, 힌지 폭 D 세 개입니다. 알고리즘은 이렇습니다. 그립의 영향을 가장 크게 받는 두 점 a, b를 잡고, 0부터 15%까지 3% 간격의 각 변형률에서 두 점의 k 값 차이를 봅니다. 수평 인장과 수직 인장 각각에 대해 그 최댓값을 구해서 Γ_H, Γ_V로 두고, 둘 중 큰 값을 S로 정의합니다. 이 S를 최소화하는 기하를 찾는 겁니다. 중요한 건 이 목적함수 안에 그립의 위치와 두 방향 인장이 모두 들어가 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결과는 깔끔합니다. S는 힌지 길이 L에는 거의 둔감하고 슬릿 대 힌지 폭 비, 즉 W/D에 의해 지배됩니다. 그리고 W/D가 35 부근에서 뚜렷한 최솟값을 갖습니다. 최소인 구성 (i)이 14, 0.5, 0.4 밀리미터이고 최대인 구성 (ii)가 15, 0.9, 1 밀리미터입니다. 이 두 구성이 이후 비교군으로 계속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최적점이 존재하는지에 대한 이론적 설명이 Supplementary Note 1에 있습니다. 회전장이 이산 Helmholtz 방정식을 따르고, 내부 해가 지수 커널 형태로 나옵니다. n개 셀에 걸쳐 변위 적합성을 강제하면 최대 회전 대비가 누적 인자 S(n,l)과 경계 보정 인자 F(l)의 비로 표현되는데, 이 둘이 감쇠 길이 l에 대해 반대 방향으로 반응합니다. 이 상충 때문에 내부 균형점, 즉 W/D의 최적값이 생깁니다. L에 둔감한 것도 수식으로 설명됩니다. 감쇠 길이 제곱의 분자에 있는 1/L이 분모의 내부 플렉셔 항 1/L과 상쇄되기 때문입니다. 가장 중요한 결론은 마지막 줄입니다. Δθ_max는 0이 될 수 없고 경계층이 정하는 유한한 최솟값을 갖습니다. 그래서 '완벽한 균일'이 아니라 '최소화'가 목표가 되는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두 구성을 비교해 보면 차이가 명확합니다. 최소 S 구성인 (i)은 6%와 15% 모두에서 y방향 변위가 매끄럽게 증가합니다. 반면 최대 S 구성인 (ii)는 두 변형률 모두에서 비균일한 auxetic 효과가 보입니다. 특히 가로 셀 수가 세로보다 많은 직사각 배열에서 세로로 당길 때 이 문제가 두드러집니다. 논문이 굳이 두 방향 인장을 다 목적함수에 넣은 이유가 여기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2단계로 넘어갑니다. 선택 가능한 길은 세 개였습니다. 전면 접합은 회전이 전사되어 왜곡이 남고, 무접합은 구동도 안 되고 연속 평면도 못 얻습니다. 제안하는 세 번째 길이 선택적 접합입니다. 이게 성립하는 핵심 논리는 프레임의 역할이 바뀐다는 겁니다. 프레임은 더 이상 소자를 얹는 기판이 아니라, 등방 팽창의 경계조건을 주는 외골격입니다. 접합점 사이의 엘라스토머는 아무 구속이 없으니까 스스로 매끄러운 변위장을 만듭니다. 이게 local-to-global 연속성의 근원입니다.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연결점을 어디에 몇 개나 둘 것인가. 논문은 먼저 이상적인 상황으로 실험합니다. u = kr을 정확히 만족하는 4점 세트를 대칭으로 배치하되, 두 직선이 직교하는 경우와 아닌 경우를 나눕니다. 결과는 직교 조건이면 4점만으로도 ρ가 높다는 것, 그리고 점을 16개로 늘리면 비직교여도 높아진다는 것입니다. 논문의 해석은 결국 '점 간격의 균질성'이 본질이라는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연결점을 어떻게 찾는지가 이 슬라이드입니다. 두 개의 양을 정의합니다. M은 위치벡터와 변위벡터의 사잇각이 10도 미만이면 1, 아니면 0인 이진 변수입니다. 방향 조건이죠. N은 변위를 위치벡터 방향으로 투영한 크기입니다. 이 둘을 곱한 게 semi-linearity factor K입니다. 재미있는 건 산출 시점입니다. 수평 방향은 Δk가 최대인 3% 변형률에서, 수직은 15%에서 계산합니다. 가장 불리한 조건에서 정의해야 전 변형률 구간에서 성립하기 때문입니다. 그리고 이 둘을 파랑과 초록 채널에 넣어 중첩합니다. 두 방향을 동시에 만족하는 좌표가 색으로 드러나는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최종 조건은 식 6번입니다. 두 후보점의 K 값 상대 편차가 10% 미만이어야 하고, 수평과 수직 두 방향 모두에서 동시에 만족해야 합니다. 그렇게 해서 빨간 점 24개가 최종 앵커로 결정됩니다. 여기서 꼭 강조하고 싶은 게 오른쪽 아래입니다. 최적화되지 않은 구성 (ii)에서는 이 조건을 만족하는 점이 아예 하나도 없습니다. 즉 기하 최적화를 먼저 하지 않으면 연결점 설계 자체가 불가능합니다. 두 단계는 순서가 정해져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방법론이 rotating square에만 통하는 건 아닙니다. Supplementary Figure 9에서 육각형과 삼각형 기반 auxetic 프레임에도 같은 중첩 알고리즘을 적용해서 연결점을 찾아냈고, ρ가 0.99를 넘습니다. 본문에서 사각형을 쓴 이유는 디스플레이가 대체로 직사각형이기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6부입니다. 이 논문의 또 하나의 기여인 새 평가 지표를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새 지표가 필요한지를 정리한 슬라이드입니다. 푸아송비는 본질적으로 외곽 치수 기반의 전역 지표입니다. 전체 종횡비를 지켰다는 것까지만 말해줍니다. 그런데 우리가 진짜 알고 싶은 건 내부의 각 픽셀이 제자리에서 등방으로 커졌는가입니다. 게다가 방향이 두 개면 지표도 두 개가 되어서 플랫폼끼리 비교하기가 어렵습니다. 논문은 이 빈틈을 통계학의 상관계수로 메웁니다.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정의는 의외로 단순합니다. 기판 위 점들을 N×N 격자로 잡고, 위치 좌표들을 한 줄로 늘어놓은 행렬 R과, 대응하는 변위 성분들을 늘어놓은 행렬 U를 만듭니다. 그리고 이 둘의 상관계수를 구합니다. 통계에서 쓰는 피어슨 상관계수 그대로입니다. 이 값이 1에 가까울수록 ux/x와 uy/y가 완벽한 선형 관계에 있다는 뜻이고, 그건 곧 식 1번의 등방 팽창 조건을 만족한다는 뜻입니다. 아주 우아한 정의입니다.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ρ가 얼마여야 왜곡이 없다고 할 수 있을까요. Supplementary Figure 5가 이걸 실험합니다. 세 가지 서로 다른 변형 함수족을 만들고 파라미터를 조절해서 ρ가 0.3, 0.6, 0.9, 0.95, 0.99가 되도록 한 뒤, 실제 사진에 그 변형을 적용해 봅니다. 결과는 0.95까지는 왜곡이 눈에 보이고, 0.99에서 비로소 사실상 지각 불가능해진다는 것입니다. 그래서 0.99가 실무적 기준선이 됩니다. 저는 이 지표가 앞으로 시야각이나 색재현율처럼 스펙화될 여지가 있다고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7부, 실험 검증입니다.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제작은 3D 프린팅 마스터에서 소프트몰드를 뜨고, 거기에 경질 수지를 캐스팅해서 auxetic 프레임을 만듭니다. 엘라스토머 기판은 50마이크로미터 두께로 별도 성형하는데, 외곽 stiffening layer가 한 몸으로 들어갑니다. 선택적 접합에서 가장 걱정되는 게 앵커 계면이 떨어지는 건데, 논문이 이걸 정량적으로 확인합니다. 접착제 자체의 lap shear 강도가 1.518 MPa인데, 15% 인장 시 앵커 계면의 최대 전단 응력은 0.22 MPa, 터치를 모사한 30 mN 압입에서도 0.246 MPa입니다. 6~7배 여유가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검증의 핵심 슬라이드입니다. 왼쪽은 변위 크기의 공간 분포인데, 위가 FEA 예측이고 아래가 DIC 실측입니다. 전면 접합 쪽은 뚜렷한 방향성과 격자 패턴이 보이는 반면, 제안 플랫폼은 중심에서 방사형으로 매끄럽게 증가합니다. 이게 u = kr이 만족된다는 시각적 증거입니다. 오른쪽 그래프는 ρ를 3%부터 15%까지 찍은 건데, 제안 플랫폼이 전 구간에서 1에 가깝고 전면 접합 대비 우위입니다.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직관적인 검증입니다. 엘라스토머 위에 'Auxetic display'라는 글자와 꽃 모티프를 스프레이 프린팅으로 찍고, 15% 당깁니다. 전면 접합 쪽은 글자가 지역별로 다르게 늘어나서 뭉개지는 게 보이는데, 제안 플랫폼은 글자 형태와 국부 종횡비가 그대로 유지됩니다. 논문의 주장이 이미지로 바로 확인되는 슬라이드입니다.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소자입니다. 7×5 LED 어레이를 rigid island와 serpentine interconnect 구조로 만들어서 30마이크로미터 PI 위에 얹고, 이걸 엘라스토머 기판 위에 전사합니다. 재미있는 포인트는 이 메시 구조 자체의 유효 푸아송비는 0에 가깝지만, 단독으로는 자립할 수 없어서 엘라스토머에 붙여야 한다는 겁니다. 붙는 순간 어레이는 하부 엘라스토머의 변위를 수동적으로 따라가니까, 엘라스토머가 등방 팽창하면 어레이도 등방 팽창합니다. I-V는 15%까지 거의 변화가 없고, 500사이클 후 휘도 저하가 2% 미만입니다.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데모는 10×10 패시브 매트릭스입니다. 대면적 적용성을 보기 위한 것이고, 20% 인장에서 화살표 패턴이 구조적 정확성을 유지합니다. 정적 이미지뿐 아니라 'AUXETIC' 글자가 흐르는 동적 애니메이션에서도 글자 형태가 보존됩니다. 이건 Supplementary Movie 1에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8부입니다. 확장성과 의의를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자연스럽게 드는 질문이 '그냥 셀을 잘게 쪼개면 되지 않나'입니다. Supplementary Note 2가 이 질문에 정면으로 답합니다. 300 PPI를 목표로 하면 힌지 폭이 1.7마이크로미터까지 내려가야 하는데, 여기서 네 겹의 벽이 나타납니다. 첫째, 힌지 굽힘 강성은 폭의 세제곱으로 급감하는데 계면 마찰력은 면적에 비례해서 천천히 줄어듭니다. 그래서 어느 순간 계면력이 구조 강성을 이겨서 회전 자체가 잠깁니다. 둘째와 셋째는 제작 문제, 넷째는 픽셀 배치와 배선 문제입니다. 핵심은 이게 공정 개선으로 뚫리는 벽이 아니라 스케일링 법칙에서 오는 벽이라는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그럼 이 논문은 어떻게 고해상도로 가느냐. 축소하지 않고 차폐합니다. rigid island와 serpentine 구조에서 변형은 serpentine과 island 가장자리에 몰리고 island 중앙은 거의 무변형입니다. FEA로 확인하면 30×30 마이크로미터 island의 중앙 26×26 영역이 시스템 변형 30%까지 알루미나 크랙 개시 변형률 아래로 유지됩니다. 이 거동은 강성 대비로 지배되니까 비례 확대해도 유지됩니다. 그래서 300마이크로 island로 키우면 240마이크로 안전 영역이 생기고, 여기에 파인 메탈 마스크로 16×16 마이크로픽셀을 넣으면 배선 간격까지 고려해도 1000 PPI를 넘습니다. 축소가 아니라 클러스터링으로 푸는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Supplementary Table 1을 우리말로 재구성했습니다. 선행 연구들은 모두 푸아송비라는 전역 지표를 썼고, 따라서 전역 왜곡만 억제했습니다. 그리고 kirigami 시트나 전면 접합 구조라 픽셀 피치 스케일링에 제약이 있었습니다. 이 논문은 지표를 local+global로 확장했고, 소자가 얹히는 면이 연속이라 스케일 제약이 본질적으로 없습니다. 정리하면, 이 논문은 auxetic 구조를 더 좋게 만든 게 아니라 auxetic 프레임과 연속 기판 사이의 인터페이스 문제를 정량적으로 푼 연구입니다.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문장으로 정리했습니다. 특히 3번과 4번이 이 논문의 고유한 기여입니다. 선택적 접합이라는 아이디어, 그리고 그립 경계층까지 설계에 넣어서 기하를 먼저 정한 다음 연결점을 설계하는 순서. 5번의 ρ는 이 논문의 두 번째 기여이고, 개인적으로는 앞으로 이 분야의 공통 언어가 될 가능성이 있다고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한계와 토의거리입니다. 왼쪽 한계 중 가장 크게 보이는 건 프레임이 3밀리미터 두께의 경질 수지라는 점입니다. 원리 검증으로는 충분하지만 실제 제품 폼팩터와는 거리가 있습니다. 오른쪽 질문 중에서는 특히 마지막 것을 같이 이야기해 보고 싶습니다. 그립을 설계 변수로 넣었다는 건 어떻게 잡느냐가 화질을 바꾼다는 뜻인데, 사용자가 아무 데나 잡는 제품에서는 어떻게 해야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참고문헌입니다. 오늘 본 논문과, 계보에서 언급한 auxetic 디스플레이 연구들, 그리고 같은 KAIST 그룹의 스트레처블 OLED 선행 연구를 함께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2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A2E"/>
          </a:solidFill>
          <a:ln/>
        </p:spPr>
      </p:sp>
      <p:sp>
        <p:nvSpPr>
          <p:cNvPr id="3" name="Shape 1"/>
          <p:cNvSpPr/>
          <p:nvPr/>
        </p:nvSpPr>
        <p:spPr>
          <a:xfrm>
            <a:off x="868680" y="932688"/>
            <a:ext cx="3017520" cy="310896"/>
          </a:xfrm>
          <a:prstGeom prst="roundRect">
            <a:avLst>
              <a:gd name="adj" fmla="val 50000"/>
            </a:avLst>
          </a:prstGeom>
          <a:solidFill>
            <a:srgbClr val="1C7293"/>
          </a:solidFill>
          <a:ln/>
        </p:spPr>
      </p:sp>
      <p:sp>
        <p:nvSpPr>
          <p:cNvPr id="4" name="Text 2"/>
          <p:cNvSpPr/>
          <p:nvPr/>
        </p:nvSpPr>
        <p:spPr>
          <a:xfrm>
            <a:off x="868680" y="932688"/>
            <a:ext cx="30175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Group Seminar  ·  Paper Review</a:t>
            </a:r>
            <a:endParaRPr lang="en-US" sz="1050" dirty="0"/>
          </a:p>
        </p:txBody>
      </p:sp>
      <p:sp>
        <p:nvSpPr>
          <p:cNvPr id="5" name="Text 3"/>
          <p:cNvSpPr/>
          <p:nvPr/>
        </p:nvSpPr>
        <p:spPr>
          <a:xfrm>
            <a:off x="868680" y="1481328"/>
            <a:ext cx="10424160" cy="868680"/>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늘어나도 왜곡되지 않는 디스플레이</a:t>
            </a:r>
            <a:endParaRPr lang="en-US" sz="4400" dirty="0"/>
          </a:p>
        </p:txBody>
      </p:sp>
      <p:sp>
        <p:nvSpPr>
          <p:cNvPr id="6" name="Text 4"/>
          <p:cNvSpPr/>
          <p:nvPr/>
        </p:nvSpPr>
        <p:spPr>
          <a:xfrm>
            <a:off x="868680" y="2377440"/>
            <a:ext cx="10424160" cy="411480"/>
          </a:xfrm>
          <a:prstGeom prst="rect">
            <a:avLst/>
          </a:prstGeom>
          <a:noFill/>
          <a:ln/>
        </p:spPr>
        <p:txBody>
          <a:bodyPr wrap="square" lIns="0" tIns="0" rIns="0" bIns="0" rtlCol="0" anchor="ctr"/>
          <a:lstStyle/>
          <a:p>
            <a:pPr indent="0" marL="0">
              <a:buNone/>
            </a:pPr>
            <a:r>
              <a:rPr lang="en-US" sz="1800" dirty="0">
                <a:solidFill>
                  <a:srgbClr val="AEBCD4"/>
                </a:solidFill>
                <a:latin typeface="Malgun Gothic" pitchFamily="34" charset="0"/>
                <a:ea typeface="Malgun Gothic" pitchFamily="34" charset="-122"/>
                <a:cs typeface="Malgun Gothic" pitchFamily="34" charset="-120"/>
              </a:rPr>
              <a:t>Flat에서 Stretchable까지, 그리고 </a:t>
            </a:r>
            <a:pPr indent="0" marL="0">
              <a:buNone/>
            </a:pPr>
            <a:r>
              <a:rPr lang="en-US" sz="1800" b="1" dirty="0">
                <a:solidFill>
                  <a:srgbClr val="3E93AE"/>
                </a:solidFill>
                <a:latin typeface="Malgun Gothic" pitchFamily="34" charset="0"/>
                <a:ea typeface="Malgun Gothic" pitchFamily="34" charset="-122"/>
                <a:cs typeface="Malgun Gothic" pitchFamily="34" charset="-120"/>
              </a:rPr>
              <a:t>등방 팽창 계수</a:t>
            </a:r>
            <a:pPr indent="0" marL="0">
              <a:buNone/>
            </a:pPr>
            <a:r>
              <a:rPr lang="en-US" sz="1800" dirty="0">
                <a:solidFill>
                  <a:srgbClr val="AEBCD4"/>
                </a:solidFill>
                <a:latin typeface="Malgun Gothic" pitchFamily="34" charset="0"/>
                <a:ea typeface="Malgun Gothic" pitchFamily="34" charset="-122"/>
                <a:cs typeface="Malgun Gothic" pitchFamily="34" charset="-120"/>
              </a:rPr>
              <a:t>라는 새로운 잣대</a:t>
            </a:r>
            <a:endParaRPr lang="en-US" sz="1800" dirty="0"/>
          </a:p>
        </p:txBody>
      </p:sp>
      <p:sp>
        <p:nvSpPr>
          <p:cNvPr id="7" name="Shape 5"/>
          <p:cNvSpPr/>
          <p:nvPr/>
        </p:nvSpPr>
        <p:spPr>
          <a:xfrm>
            <a:off x="868680" y="3127248"/>
            <a:ext cx="10442448" cy="1572768"/>
          </a:xfrm>
          <a:prstGeom prst="roundRect">
            <a:avLst>
              <a:gd name="adj" fmla="val 5814"/>
            </a:avLst>
          </a:prstGeom>
          <a:solidFill>
            <a:srgbClr val="1B2749"/>
          </a:solidFill>
          <a:ln/>
        </p:spPr>
      </p:sp>
      <p:sp>
        <p:nvSpPr>
          <p:cNvPr id="8" name="Text 6"/>
          <p:cNvSpPr/>
          <p:nvPr/>
        </p:nvSpPr>
        <p:spPr>
          <a:xfrm>
            <a:off x="1170432" y="3310128"/>
            <a:ext cx="9875520" cy="713232"/>
          </a:xfrm>
          <a:prstGeom prst="rect">
            <a:avLst/>
          </a:prstGeom>
          <a:noFill/>
          <a:ln/>
        </p:spPr>
        <p:txBody>
          <a:bodyPr wrap="square" lIns="0" tIns="0" rIns="0" bIns="0" rtlCol="0" anchor="ctr"/>
          <a:lstStyle/>
          <a:p>
            <a:pPr indent="0" marL="0">
              <a:lnSpc>
                <a:spcPts val="2500"/>
              </a:lnSpc>
              <a:buNone/>
            </a:pPr>
            <a:r>
              <a:rPr lang="en-US" sz="1650" b="1" dirty="0">
                <a:solidFill>
                  <a:srgbClr val="FFFFFF"/>
                </a:solidFill>
                <a:latin typeface="Malgun Gothic" pitchFamily="34" charset="0"/>
                <a:ea typeface="Malgun Gothic" pitchFamily="34" charset="-122"/>
                <a:cs typeface="Malgun Gothic" pitchFamily="34" charset="-120"/>
              </a:rPr>
              <a:t>Hybrid auxetic metamaterial platforms enabling multiscale isotropic</a:t>
            </a:r>
            <a:endParaRPr lang="en-US" sz="1650" dirty="0"/>
          </a:p>
          <a:p>
            <a:pPr indent="0" marL="0">
              <a:lnSpc>
                <a:spcPts val="2500"/>
              </a:lnSpc>
              <a:buNone/>
            </a:pPr>
            <a:r>
              <a:rPr lang="en-US" sz="1650" b="1" dirty="0">
                <a:solidFill>
                  <a:srgbClr val="FFFFFF"/>
                </a:solidFill>
                <a:latin typeface="Malgun Gothic" pitchFamily="34" charset="0"/>
                <a:ea typeface="Malgun Gothic" pitchFamily="34" charset="-122"/>
                <a:cs typeface="Malgun Gothic" pitchFamily="34" charset="-120"/>
              </a:rPr>
              <a:t>expansion for distortion-free stretchable displays</a:t>
            </a:r>
            <a:endParaRPr lang="en-US" sz="1650" dirty="0"/>
          </a:p>
        </p:txBody>
      </p:sp>
      <p:sp>
        <p:nvSpPr>
          <p:cNvPr id="9" name="Text 7"/>
          <p:cNvSpPr/>
          <p:nvPr/>
        </p:nvSpPr>
        <p:spPr>
          <a:xfrm>
            <a:off x="1170432" y="4041648"/>
            <a:ext cx="9875520" cy="237744"/>
          </a:xfrm>
          <a:prstGeom prst="rect">
            <a:avLst/>
          </a:prstGeom>
          <a:noFill/>
          <a:ln/>
        </p:spPr>
        <p:txBody>
          <a:bodyPr wrap="square" lIns="0" tIns="0" rIns="0" bIns="0" rtlCol="0" anchor="ctr"/>
          <a:lstStyle/>
          <a:p>
            <a:pPr indent="0" marL="0">
              <a:buNone/>
            </a:pPr>
            <a:r>
              <a:rPr lang="en-US" sz="1100" dirty="0">
                <a:solidFill>
                  <a:srgbClr val="9FB0CC"/>
                </a:solidFill>
                <a:latin typeface="Malgun Gothic" pitchFamily="34" charset="0"/>
                <a:ea typeface="Malgun Gothic" pitchFamily="34" charset="-122"/>
                <a:cs typeface="Malgun Gothic" pitchFamily="34" charset="-120"/>
              </a:rPr>
              <a:t>Su-Bon Kim, Junho Kim, Sejin Kim, Dongho Choi, Chang-Yeon Gu, Taek-Soo Kim, Hanul Moon, Seunghyup Yoo</a:t>
            </a:r>
            <a:endParaRPr lang="en-US" sz="1100" dirty="0"/>
          </a:p>
        </p:txBody>
      </p:sp>
      <p:sp>
        <p:nvSpPr>
          <p:cNvPr id="10" name="Text 8"/>
          <p:cNvSpPr/>
          <p:nvPr/>
        </p:nvSpPr>
        <p:spPr>
          <a:xfrm>
            <a:off x="1170432" y="4297680"/>
            <a:ext cx="9875520" cy="237744"/>
          </a:xfrm>
          <a:prstGeom prst="rect">
            <a:avLst/>
          </a:prstGeom>
          <a:noFill/>
          <a:ln/>
        </p:spPr>
        <p:txBody>
          <a:bodyPr wrap="square" lIns="0" tIns="0" rIns="0" bIns="0" rtlCol="0" anchor="ctr"/>
          <a:lstStyle/>
          <a:p>
            <a:pPr indent="0" marL="0">
              <a:buNone/>
            </a:pPr>
            <a:r>
              <a:rPr lang="en-US" sz="1100" dirty="0">
                <a:solidFill>
                  <a:srgbClr val="3E93AE"/>
                </a:solidFill>
                <a:latin typeface="Malgun Gothic" pitchFamily="34" charset="0"/>
                <a:ea typeface="Malgun Gothic" pitchFamily="34" charset="-122"/>
                <a:cs typeface="Malgun Gothic" pitchFamily="34" charset="-120"/>
              </a:rPr>
              <a:t>Nature Communications 17, 7389 (2026)   ·   KAIST School of EE  ·  Dong-A University   ·   doi:10.1038/s41467-026-74141-6</a:t>
            </a:r>
            <a:endParaRPr lang="en-US" sz="1100" dirty="0"/>
          </a:p>
        </p:txBody>
      </p:sp>
      <p:sp>
        <p:nvSpPr>
          <p:cNvPr id="12" name="Text 9"/>
          <p:cNvSpPr/>
          <p:nvPr/>
        </p:nvSpPr>
        <p:spPr>
          <a:xfrm>
            <a:off x="868680" y="5138928"/>
            <a:ext cx="3108960" cy="219456"/>
          </a:xfrm>
          <a:prstGeom prst="rect">
            <a:avLst/>
          </a:prstGeom>
          <a:noFill/>
          <a:ln/>
        </p:spPr>
        <p:txBody>
          <a:bodyPr wrap="square" lIns="0" tIns="0" rIns="0" bIns="0" rtlCol="0" anchor="ctr"/>
          <a:lstStyle/>
          <a:p>
            <a:pPr indent="0" marL="0">
              <a:buNone/>
            </a:pPr>
            <a:r>
              <a:rPr lang="en-US" sz="1000" b="1" dirty="0">
                <a:solidFill>
                  <a:srgbClr val="3E93AE"/>
                </a:solidFill>
                <a:latin typeface="Malgun Gothic" pitchFamily="34" charset="0"/>
                <a:ea typeface="Malgun Gothic" pitchFamily="34" charset="-122"/>
                <a:cs typeface="Malgun Gothic" pitchFamily="34" charset="-120"/>
              </a:rPr>
              <a:t>발표자</a:t>
            </a:r>
            <a:endParaRPr lang="en-US" sz="1000" dirty="0"/>
          </a:p>
        </p:txBody>
      </p:sp>
      <p:sp>
        <p:nvSpPr>
          <p:cNvPr id="13" name="Text 10"/>
          <p:cNvSpPr/>
          <p:nvPr/>
        </p:nvSpPr>
        <p:spPr>
          <a:xfrm>
            <a:off x="868680" y="5358384"/>
            <a:ext cx="3108960" cy="256032"/>
          </a:xfrm>
          <a:prstGeom prst="rect">
            <a:avLst/>
          </a:prstGeom>
          <a:noFill/>
          <a:ln/>
        </p:spPr>
        <p:txBody>
          <a:bodyPr wrap="square" lIns="0" tIns="0" rIns="0" bIns="0" rtlCol="0" anchor="ctr"/>
          <a:lstStyle/>
          <a:p>
            <a:pPr indent="0" marL="0">
              <a:buNone/>
            </a:pPr>
            <a:r>
              <a:rPr lang="en-US" sz="1300" dirty="0">
                <a:solidFill>
                  <a:srgbClr val="C6D2E6"/>
                </a:solidFill>
                <a:latin typeface="Malgun Gothic" pitchFamily="34" charset="0"/>
                <a:ea typeface="Malgun Gothic" pitchFamily="34" charset="-122"/>
                <a:cs typeface="Malgun Gothic" pitchFamily="34" charset="-120"/>
              </a:rPr>
              <a:t>________________</a:t>
            </a:r>
            <a:endParaRPr lang="en-US" sz="1300" dirty="0"/>
          </a:p>
        </p:txBody>
      </p:sp>
      <p:sp>
        <p:nvSpPr>
          <p:cNvPr id="14" name="Text 11"/>
          <p:cNvSpPr/>
          <p:nvPr/>
        </p:nvSpPr>
        <p:spPr>
          <a:xfrm>
            <a:off x="4389120" y="5138928"/>
            <a:ext cx="3108960" cy="219456"/>
          </a:xfrm>
          <a:prstGeom prst="rect">
            <a:avLst/>
          </a:prstGeom>
          <a:noFill/>
          <a:ln/>
        </p:spPr>
        <p:txBody>
          <a:bodyPr wrap="square" lIns="0" tIns="0" rIns="0" bIns="0" rtlCol="0" anchor="ctr"/>
          <a:lstStyle/>
          <a:p>
            <a:pPr indent="0" marL="0">
              <a:buNone/>
            </a:pPr>
            <a:r>
              <a:rPr lang="en-US" sz="1000" b="1" dirty="0">
                <a:solidFill>
                  <a:srgbClr val="3E93AE"/>
                </a:solidFill>
                <a:latin typeface="Malgun Gothic" pitchFamily="34" charset="0"/>
                <a:ea typeface="Malgun Gothic" pitchFamily="34" charset="-122"/>
                <a:cs typeface="Malgun Gothic" pitchFamily="34" charset="-120"/>
              </a:rPr>
              <a:t>일자</a:t>
            </a:r>
            <a:endParaRPr lang="en-US" sz="1000" dirty="0"/>
          </a:p>
        </p:txBody>
      </p:sp>
      <p:sp>
        <p:nvSpPr>
          <p:cNvPr id="15" name="Text 12"/>
          <p:cNvSpPr/>
          <p:nvPr/>
        </p:nvSpPr>
        <p:spPr>
          <a:xfrm>
            <a:off x="4389120" y="5358384"/>
            <a:ext cx="3108960" cy="256032"/>
          </a:xfrm>
          <a:prstGeom prst="rect">
            <a:avLst/>
          </a:prstGeom>
          <a:noFill/>
          <a:ln/>
        </p:spPr>
        <p:txBody>
          <a:bodyPr wrap="square" lIns="0" tIns="0" rIns="0" bIns="0" rtlCol="0" anchor="ctr"/>
          <a:lstStyle/>
          <a:p>
            <a:pPr indent="0" marL="0">
              <a:buNone/>
            </a:pPr>
            <a:r>
              <a:rPr lang="en-US" sz="1300" dirty="0">
                <a:solidFill>
                  <a:srgbClr val="C6D2E6"/>
                </a:solidFill>
                <a:latin typeface="Malgun Gothic" pitchFamily="34" charset="0"/>
                <a:ea typeface="Malgun Gothic" pitchFamily="34" charset="-122"/>
                <a:cs typeface="Malgun Gothic" pitchFamily="34" charset="-120"/>
              </a:rPr>
              <a:t>2026. __. __.</a:t>
            </a:r>
            <a:endParaRPr lang="en-US" sz="1300" dirty="0"/>
          </a:p>
        </p:txBody>
      </p:sp>
      <p:sp>
        <p:nvSpPr>
          <p:cNvPr id="16" name="Text 13"/>
          <p:cNvSpPr/>
          <p:nvPr/>
        </p:nvSpPr>
        <p:spPr>
          <a:xfrm>
            <a:off x="7909560" y="5138928"/>
            <a:ext cx="3108960" cy="219456"/>
          </a:xfrm>
          <a:prstGeom prst="rect">
            <a:avLst/>
          </a:prstGeom>
          <a:noFill/>
          <a:ln/>
        </p:spPr>
        <p:txBody>
          <a:bodyPr wrap="square" lIns="0" tIns="0" rIns="0" bIns="0" rtlCol="0" anchor="ctr"/>
          <a:lstStyle/>
          <a:p>
            <a:pPr indent="0" marL="0">
              <a:buNone/>
            </a:pPr>
            <a:r>
              <a:rPr lang="en-US" sz="1000" b="1" dirty="0">
                <a:solidFill>
                  <a:srgbClr val="3E93AE"/>
                </a:solidFill>
                <a:latin typeface="Malgun Gothic" pitchFamily="34" charset="0"/>
                <a:ea typeface="Malgun Gothic" pitchFamily="34" charset="-122"/>
                <a:cs typeface="Malgun Gothic" pitchFamily="34" charset="-120"/>
              </a:rPr>
              <a:t>분량</a:t>
            </a:r>
            <a:endParaRPr lang="en-US" sz="1000" dirty="0"/>
          </a:p>
        </p:txBody>
      </p:sp>
      <p:sp>
        <p:nvSpPr>
          <p:cNvPr id="17" name="Text 14"/>
          <p:cNvSpPr/>
          <p:nvPr/>
        </p:nvSpPr>
        <p:spPr>
          <a:xfrm>
            <a:off x="7909560" y="5358384"/>
            <a:ext cx="3108960" cy="256032"/>
          </a:xfrm>
          <a:prstGeom prst="rect">
            <a:avLst/>
          </a:prstGeom>
          <a:noFill/>
          <a:ln/>
        </p:spPr>
        <p:txBody>
          <a:bodyPr wrap="square" lIns="0" tIns="0" rIns="0" bIns="0" rtlCol="0" anchor="ctr"/>
          <a:lstStyle/>
          <a:p>
            <a:pPr indent="0" marL="0">
              <a:buNone/>
            </a:pPr>
            <a:r>
              <a:rPr lang="en-US" sz="1300" dirty="0">
                <a:solidFill>
                  <a:srgbClr val="C6D2E6"/>
                </a:solidFill>
                <a:latin typeface="Malgun Gothic" pitchFamily="34" charset="0"/>
                <a:ea typeface="Malgun Gothic" pitchFamily="34" charset="-122"/>
                <a:cs typeface="Malgun Gothic" pitchFamily="34" charset="-120"/>
              </a:rPr>
              <a:t>약 35분 + Q&amp;A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a:t>
            </a:r>
            <a:endParaRPr lang="en-US" sz="1000" dirty="0"/>
          </a:p>
        </p:txBody>
      </p:sp>
      <p:sp>
        <p:nvSpPr>
          <p:cNvPr id="3" name="Shape 1"/>
          <p:cNvSpPr/>
          <p:nvPr/>
        </p:nvSpPr>
        <p:spPr>
          <a:xfrm>
            <a:off x="566928" y="310896"/>
            <a:ext cx="854964" cy="274320"/>
          </a:xfrm>
          <a:prstGeom prst="roundRect">
            <a:avLst>
              <a:gd name="adj" fmla="val 50000"/>
            </a:avLst>
          </a:prstGeom>
          <a:solidFill>
            <a:srgbClr val="1C7293"/>
          </a:solidFill>
          <a:ln/>
        </p:spPr>
      </p:sp>
      <p:sp>
        <p:nvSpPr>
          <p:cNvPr id="4" name="Text 2"/>
          <p:cNvSpPr/>
          <p:nvPr/>
        </p:nvSpPr>
        <p:spPr>
          <a:xfrm>
            <a:off x="566928" y="310896"/>
            <a:ext cx="8549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OUTLINE</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오늘의 이야기 순서</a:t>
            </a:r>
            <a:endParaRPr lang="en-US" sz="2800" dirty="0"/>
          </a:p>
        </p:txBody>
      </p:sp>
      <p:sp>
        <p:nvSpPr>
          <p:cNvPr id="6" name="Shape 4"/>
          <p:cNvSpPr/>
          <p:nvPr/>
        </p:nvSpPr>
        <p:spPr>
          <a:xfrm>
            <a:off x="566928" y="148132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7" name="Shape 5"/>
          <p:cNvSpPr/>
          <p:nvPr/>
        </p:nvSpPr>
        <p:spPr>
          <a:xfrm>
            <a:off x="786384" y="1755648"/>
            <a:ext cx="475488" cy="475488"/>
          </a:xfrm>
          <a:prstGeom prst="ellipse">
            <a:avLst/>
          </a:prstGeom>
          <a:solidFill>
            <a:srgbClr val="1C7293"/>
          </a:solidFill>
          <a:ln/>
        </p:spPr>
      </p:sp>
      <p:sp>
        <p:nvSpPr>
          <p:cNvPr id="8" name="Text 6"/>
          <p:cNvSpPr/>
          <p:nvPr/>
        </p:nvSpPr>
        <p:spPr>
          <a:xfrm>
            <a:off x="786384" y="175564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01</a:t>
            </a:r>
            <a:endParaRPr lang="en-US" sz="1250" dirty="0"/>
          </a:p>
        </p:txBody>
      </p:sp>
      <p:sp>
        <p:nvSpPr>
          <p:cNvPr id="9" name="Text 7"/>
          <p:cNvSpPr/>
          <p:nvPr/>
        </p:nvSpPr>
        <p:spPr>
          <a:xfrm>
            <a:off x="1426464" y="170078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디스플레이 폼팩터는 왜 계속 변하는가</a:t>
            </a:r>
            <a:endParaRPr lang="en-US" sz="1350" dirty="0"/>
          </a:p>
        </p:txBody>
      </p:sp>
      <p:sp>
        <p:nvSpPr>
          <p:cNvPr id="10" name="Text 8"/>
          <p:cNvSpPr/>
          <p:nvPr/>
        </p:nvSpPr>
        <p:spPr>
          <a:xfrm>
            <a:off x="1426464" y="202996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Flat → Curved → Flexible → Foldable → Rollable → Stretchable</a:t>
            </a:r>
            <a:endParaRPr lang="en-US" sz="1050" dirty="0"/>
          </a:p>
        </p:txBody>
      </p:sp>
      <p:sp>
        <p:nvSpPr>
          <p:cNvPr id="11" name="Shape 9"/>
          <p:cNvSpPr/>
          <p:nvPr/>
        </p:nvSpPr>
        <p:spPr>
          <a:xfrm>
            <a:off x="6181344" y="148132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12" name="Shape 10"/>
          <p:cNvSpPr/>
          <p:nvPr/>
        </p:nvSpPr>
        <p:spPr>
          <a:xfrm>
            <a:off x="6400800" y="1755648"/>
            <a:ext cx="475488" cy="475488"/>
          </a:xfrm>
          <a:prstGeom prst="ellipse">
            <a:avLst/>
          </a:prstGeom>
          <a:solidFill>
            <a:srgbClr val="1C7293"/>
          </a:solidFill>
          <a:ln/>
        </p:spPr>
      </p:sp>
      <p:sp>
        <p:nvSpPr>
          <p:cNvPr id="13" name="Text 11"/>
          <p:cNvSpPr/>
          <p:nvPr/>
        </p:nvSpPr>
        <p:spPr>
          <a:xfrm>
            <a:off x="6400800" y="175564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02</a:t>
            </a:r>
            <a:endParaRPr lang="en-US" sz="1250" dirty="0"/>
          </a:p>
        </p:txBody>
      </p:sp>
      <p:sp>
        <p:nvSpPr>
          <p:cNvPr id="14" name="Text 12"/>
          <p:cNvSpPr/>
          <p:nvPr/>
        </p:nvSpPr>
        <p:spPr>
          <a:xfrm>
            <a:off x="7040880" y="170078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스트레처블은 결국 '디스플레이'다</a:t>
            </a:r>
            <a:endParaRPr lang="en-US" sz="1350" dirty="0"/>
          </a:p>
        </p:txBody>
      </p:sp>
      <p:sp>
        <p:nvSpPr>
          <p:cNvPr id="15" name="Text 13"/>
          <p:cNvSpPr/>
          <p:nvPr/>
        </p:nvSpPr>
        <p:spPr>
          <a:xfrm>
            <a:off x="7040880" y="202996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화면이 진짜 커지는 순간 생기는 문제 — 이미지 왜곡</a:t>
            </a:r>
            <a:endParaRPr lang="en-US" sz="1050" dirty="0"/>
          </a:p>
        </p:txBody>
      </p:sp>
      <p:sp>
        <p:nvSpPr>
          <p:cNvPr id="16" name="Shape 14"/>
          <p:cNvSpPr/>
          <p:nvPr/>
        </p:nvSpPr>
        <p:spPr>
          <a:xfrm>
            <a:off x="566928" y="267004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17" name="Shape 15"/>
          <p:cNvSpPr/>
          <p:nvPr/>
        </p:nvSpPr>
        <p:spPr>
          <a:xfrm>
            <a:off x="786384" y="2944368"/>
            <a:ext cx="475488" cy="475488"/>
          </a:xfrm>
          <a:prstGeom prst="ellipse">
            <a:avLst/>
          </a:prstGeom>
          <a:solidFill>
            <a:srgbClr val="1C7293"/>
          </a:solidFill>
          <a:ln/>
        </p:spPr>
      </p:sp>
      <p:sp>
        <p:nvSpPr>
          <p:cNvPr id="18" name="Text 16"/>
          <p:cNvSpPr/>
          <p:nvPr/>
        </p:nvSpPr>
        <p:spPr>
          <a:xfrm>
            <a:off x="786384" y="294436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03</a:t>
            </a:r>
            <a:endParaRPr lang="en-US" sz="1250" dirty="0"/>
          </a:p>
        </p:txBody>
      </p:sp>
      <p:sp>
        <p:nvSpPr>
          <p:cNvPr id="19" name="Text 17"/>
          <p:cNvSpPr/>
          <p:nvPr/>
        </p:nvSpPr>
        <p:spPr>
          <a:xfrm>
            <a:off x="1426464" y="288950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Auxetic: 음의 푸아송비라는 답</a:t>
            </a:r>
            <a:endParaRPr lang="en-US" sz="1350" dirty="0"/>
          </a:p>
        </p:txBody>
      </p:sp>
      <p:sp>
        <p:nvSpPr>
          <p:cNvPr id="20" name="Text 18"/>
          <p:cNvSpPr/>
          <p:nvPr/>
        </p:nvSpPr>
        <p:spPr>
          <a:xfrm>
            <a:off x="1426464" y="321868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Rotating squares, 그리고 2022년 첫 auxetic meta-display</a:t>
            </a:r>
            <a:endParaRPr lang="en-US" sz="1050" dirty="0"/>
          </a:p>
        </p:txBody>
      </p:sp>
      <p:sp>
        <p:nvSpPr>
          <p:cNvPr id="21" name="Shape 19"/>
          <p:cNvSpPr/>
          <p:nvPr/>
        </p:nvSpPr>
        <p:spPr>
          <a:xfrm>
            <a:off x="6181344" y="267004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22" name="Shape 20"/>
          <p:cNvSpPr/>
          <p:nvPr/>
        </p:nvSpPr>
        <p:spPr>
          <a:xfrm>
            <a:off x="6400800" y="2944368"/>
            <a:ext cx="475488" cy="475488"/>
          </a:xfrm>
          <a:prstGeom prst="ellipse">
            <a:avLst/>
          </a:prstGeom>
          <a:solidFill>
            <a:srgbClr val="1C7293"/>
          </a:solidFill>
          <a:ln/>
        </p:spPr>
      </p:sp>
      <p:sp>
        <p:nvSpPr>
          <p:cNvPr id="23" name="Text 21"/>
          <p:cNvSpPr/>
          <p:nvPr/>
        </p:nvSpPr>
        <p:spPr>
          <a:xfrm>
            <a:off x="6400800" y="294436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04</a:t>
            </a:r>
            <a:endParaRPr lang="en-US" sz="1250" dirty="0"/>
          </a:p>
        </p:txBody>
      </p:sp>
      <p:sp>
        <p:nvSpPr>
          <p:cNvPr id="24" name="Text 22"/>
          <p:cNvSpPr/>
          <p:nvPr/>
        </p:nvSpPr>
        <p:spPr>
          <a:xfrm>
            <a:off x="7040880" y="288950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진짜 문제 — Global NPR ≠ Local</a:t>
            </a:r>
            <a:endParaRPr lang="en-US" sz="1350" dirty="0"/>
          </a:p>
        </p:txBody>
      </p:sp>
      <p:sp>
        <p:nvSpPr>
          <p:cNvPr id="25" name="Text 23"/>
          <p:cNvSpPr/>
          <p:nvPr/>
        </p:nvSpPr>
        <p:spPr>
          <a:xfrm>
            <a:off x="7040880" y="321868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회전 메커니즘·전면 접합·그립이 만드는 국부 왜곡, 그리고 이중 구속</a:t>
            </a:r>
            <a:endParaRPr lang="en-US" sz="1050" dirty="0"/>
          </a:p>
        </p:txBody>
      </p:sp>
      <p:sp>
        <p:nvSpPr>
          <p:cNvPr id="26" name="Shape 24"/>
          <p:cNvSpPr/>
          <p:nvPr/>
        </p:nvSpPr>
        <p:spPr>
          <a:xfrm>
            <a:off x="566928" y="385876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27" name="Shape 25"/>
          <p:cNvSpPr/>
          <p:nvPr/>
        </p:nvSpPr>
        <p:spPr>
          <a:xfrm>
            <a:off x="786384" y="4133088"/>
            <a:ext cx="475488" cy="475488"/>
          </a:xfrm>
          <a:prstGeom prst="ellipse">
            <a:avLst/>
          </a:prstGeom>
          <a:solidFill>
            <a:srgbClr val="065A82"/>
          </a:solidFill>
          <a:ln/>
        </p:spPr>
      </p:sp>
      <p:sp>
        <p:nvSpPr>
          <p:cNvPr id="28" name="Text 26"/>
          <p:cNvSpPr/>
          <p:nvPr/>
        </p:nvSpPr>
        <p:spPr>
          <a:xfrm>
            <a:off x="786384" y="413308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05</a:t>
            </a:r>
            <a:endParaRPr lang="en-US" sz="1250" dirty="0"/>
          </a:p>
        </p:txBody>
      </p:sp>
      <p:sp>
        <p:nvSpPr>
          <p:cNvPr id="29" name="Text 27"/>
          <p:cNvSpPr/>
          <p:nvPr/>
        </p:nvSpPr>
        <p:spPr>
          <a:xfrm>
            <a:off x="1426464" y="407822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이 논문의 설계 방법론</a:t>
            </a:r>
            <a:endParaRPr lang="en-US" sz="1350" dirty="0"/>
          </a:p>
        </p:txBody>
      </p:sp>
      <p:sp>
        <p:nvSpPr>
          <p:cNvPr id="30" name="Text 28"/>
          <p:cNvSpPr/>
          <p:nvPr/>
        </p:nvSpPr>
        <p:spPr>
          <a:xfrm>
            <a:off x="1426464" y="440740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기하 최적화 S(W,L,D) → 선택적 접합점 설계</a:t>
            </a:r>
            <a:endParaRPr lang="en-US" sz="1050" dirty="0"/>
          </a:p>
        </p:txBody>
      </p:sp>
      <p:sp>
        <p:nvSpPr>
          <p:cNvPr id="31" name="Shape 29"/>
          <p:cNvSpPr/>
          <p:nvPr/>
        </p:nvSpPr>
        <p:spPr>
          <a:xfrm>
            <a:off x="6181344" y="385876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32" name="Shape 30"/>
          <p:cNvSpPr/>
          <p:nvPr/>
        </p:nvSpPr>
        <p:spPr>
          <a:xfrm>
            <a:off x="6400800" y="4133088"/>
            <a:ext cx="475488" cy="475488"/>
          </a:xfrm>
          <a:prstGeom prst="ellipse">
            <a:avLst/>
          </a:prstGeom>
          <a:solidFill>
            <a:srgbClr val="065A82"/>
          </a:solidFill>
          <a:ln/>
        </p:spPr>
      </p:sp>
      <p:sp>
        <p:nvSpPr>
          <p:cNvPr id="33" name="Text 31"/>
          <p:cNvSpPr/>
          <p:nvPr/>
        </p:nvSpPr>
        <p:spPr>
          <a:xfrm>
            <a:off x="6400800" y="413308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06</a:t>
            </a:r>
            <a:endParaRPr lang="en-US" sz="1250" dirty="0"/>
          </a:p>
        </p:txBody>
      </p:sp>
      <p:sp>
        <p:nvSpPr>
          <p:cNvPr id="34" name="Text 32"/>
          <p:cNvSpPr/>
          <p:nvPr/>
        </p:nvSpPr>
        <p:spPr>
          <a:xfrm>
            <a:off x="7040880" y="407822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새 지표: Isotropic Expansion Factor ρ</a:t>
            </a:r>
            <a:endParaRPr lang="en-US" sz="1350" dirty="0"/>
          </a:p>
        </p:txBody>
      </p:sp>
      <p:sp>
        <p:nvSpPr>
          <p:cNvPr id="35" name="Text 33"/>
          <p:cNvSpPr/>
          <p:nvPr/>
        </p:nvSpPr>
        <p:spPr>
          <a:xfrm>
            <a:off x="7040880" y="440740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푸아송비로는 못 재는 것을 통계로 재다</a:t>
            </a:r>
            <a:endParaRPr lang="en-US" sz="1050" dirty="0"/>
          </a:p>
        </p:txBody>
      </p:sp>
      <p:sp>
        <p:nvSpPr>
          <p:cNvPr id="36" name="Shape 34"/>
          <p:cNvSpPr/>
          <p:nvPr/>
        </p:nvSpPr>
        <p:spPr>
          <a:xfrm>
            <a:off x="566928" y="504748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37" name="Shape 35"/>
          <p:cNvSpPr/>
          <p:nvPr/>
        </p:nvSpPr>
        <p:spPr>
          <a:xfrm>
            <a:off x="786384" y="5321808"/>
            <a:ext cx="475488" cy="475488"/>
          </a:xfrm>
          <a:prstGeom prst="ellipse">
            <a:avLst/>
          </a:prstGeom>
          <a:solidFill>
            <a:srgbClr val="065A82"/>
          </a:solidFill>
          <a:ln/>
        </p:spPr>
      </p:sp>
      <p:sp>
        <p:nvSpPr>
          <p:cNvPr id="38" name="Text 36"/>
          <p:cNvSpPr/>
          <p:nvPr/>
        </p:nvSpPr>
        <p:spPr>
          <a:xfrm>
            <a:off x="786384" y="532180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07</a:t>
            </a:r>
            <a:endParaRPr lang="en-US" sz="1250" dirty="0"/>
          </a:p>
        </p:txBody>
      </p:sp>
      <p:sp>
        <p:nvSpPr>
          <p:cNvPr id="39" name="Text 37"/>
          <p:cNvSpPr/>
          <p:nvPr/>
        </p:nvSpPr>
        <p:spPr>
          <a:xfrm>
            <a:off x="1426464" y="526694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실험 검증</a:t>
            </a:r>
            <a:endParaRPr lang="en-US" sz="1350" dirty="0"/>
          </a:p>
        </p:txBody>
      </p:sp>
      <p:sp>
        <p:nvSpPr>
          <p:cNvPr id="40" name="Text 38"/>
          <p:cNvSpPr/>
          <p:nvPr/>
        </p:nvSpPr>
        <p:spPr>
          <a:xfrm>
            <a:off x="1426464" y="559612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FEA · DIC · 스프레이 패턴 · PM LED 디스플레이</a:t>
            </a:r>
            <a:endParaRPr lang="en-US" sz="1050" dirty="0"/>
          </a:p>
        </p:txBody>
      </p:sp>
      <p:sp>
        <p:nvSpPr>
          <p:cNvPr id="41" name="Shape 39"/>
          <p:cNvSpPr/>
          <p:nvPr/>
        </p:nvSpPr>
        <p:spPr>
          <a:xfrm>
            <a:off x="6181344" y="5047488"/>
            <a:ext cx="5358384" cy="1024128"/>
          </a:xfrm>
          <a:prstGeom prst="roundRect">
            <a:avLst>
              <a:gd name="adj" fmla="val 8036"/>
            </a:avLst>
          </a:prstGeom>
          <a:solidFill>
            <a:srgbClr val="EFF4F9"/>
          </a:solidFill>
          <a:ln/>
          <a:effectLst>
            <a:outerShdw sx="100000" sy="100000" kx="0" ky="0" algn="bl" rotWithShape="0" blurRad="114300" dist="25400" dir="5400000">
              <a:srgbClr val="7E90A8">
                <a:alpha val="16000"/>
              </a:srgbClr>
            </a:outerShdw>
          </a:effectLst>
        </p:spPr>
      </p:sp>
      <p:sp>
        <p:nvSpPr>
          <p:cNvPr id="42" name="Shape 40"/>
          <p:cNvSpPr/>
          <p:nvPr/>
        </p:nvSpPr>
        <p:spPr>
          <a:xfrm>
            <a:off x="6400800" y="5321808"/>
            <a:ext cx="475488" cy="475488"/>
          </a:xfrm>
          <a:prstGeom prst="ellipse">
            <a:avLst/>
          </a:prstGeom>
          <a:solidFill>
            <a:srgbClr val="065A82"/>
          </a:solidFill>
          <a:ln/>
        </p:spPr>
      </p:sp>
      <p:sp>
        <p:nvSpPr>
          <p:cNvPr id="43" name="Text 41"/>
          <p:cNvSpPr/>
          <p:nvPr/>
        </p:nvSpPr>
        <p:spPr>
          <a:xfrm>
            <a:off x="6400800" y="5321808"/>
            <a:ext cx="47548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08</a:t>
            </a:r>
            <a:endParaRPr lang="en-US" sz="1250" dirty="0"/>
          </a:p>
        </p:txBody>
      </p:sp>
      <p:sp>
        <p:nvSpPr>
          <p:cNvPr id="44" name="Text 42"/>
          <p:cNvSpPr/>
          <p:nvPr/>
        </p:nvSpPr>
        <p:spPr>
          <a:xfrm>
            <a:off x="7040880" y="5266944"/>
            <a:ext cx="4370832" cy="329184"/>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확장성과 의의</a:t>
            </a:r>
            <a:endParaRPr lang="en-US" sz="1350" dirty="0"/>
          </a:p>
        </p:txBody>
      </p:sp>
      <p:sp>
        <p:nvSpPr>
          <p:cNvPr id="45" name="Text 43"/>
          <p:cNvSpPr/>
          <p:nvPr/>
        </p:nvSpPr>
        <p:spPr>
          <a:xfrm>
            <a:off x="7040880" y="5596128"/>
            <a:ext cx="4370832" cy="310896"/>
          </a:xfrm>
          <a:prstGeom prst="rect">
            <a:avLst/>
          </a:prstGeom>
          <a:noFill/>
          <a:ln/>
        </p:spPr>
        <p:txBody>
          <a:bodyPr wrap="square" lIns="0" tIns="0" rIns="0" bIns="0" rtlCol="0" anchor="t"/>
          <a:lstStyle/>
          <a:p>
            <a:pPr indent="0" marL="0">
              <a:buNone/>
            </a:pPr>
            <a:r>
              <a:rPr lang="en-US" sz="1050" dirty="0">
                <a:solidFill>
                  <a:srgbClr val="63728B"/>
                </a:solidFill>
                <a:latin typeface="Malgun Gothic" pitchFamily="34" charset="0"/>
                <a:ea typeface="Malgun Gothic" pitchFamily="34" charset="-122"/>
                <a:cs typeface="Malgun Gothic" pitchFamily="34" charset="-120"/>
              </a:rPr>
              <a:t>Strain shielding, &gt;1000 PPI, 그리고 남은 질문들</a:t>
            </a:r>
            <a:endParaRPr lang="en-US" sz="1050" dirty="0"/>
          </a:p>
        </p:txBody>
      </p:sp>
      <p:sp>
        <p:nvSpPr>
          <p:cNvPr id="46" name="Text 44"/>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발표 시간 약 35분 · 슬라이드 52장</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3</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01</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FORM FACTOR</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디스플레이 폼팩터는</a:t>
            </a:r>
            <a:endParaRPr lang="en-US" sz="3600" dirty="0"/>
          </a:p>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왜 계속 변하는가</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평평한 화면은 TV와 스마트폰에는 완벽했다.</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문제는 디스플레이가 '보는 물건'에서 '몸에 붙고 만지는 물건'으로 옮겨가면서 시작된다.</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WHY CHANGE</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평평한 디스플레이는 충분했다 — 어디까지는</a:t>
            </a:r>
            <a:endParaRPr lang="en-US" sz="2800" dirty="0"/>
          </a:p>
        </p:txBody>
      </p:sp>
      <p:sp>
        <p:nvSpPr>
          <p:cNvPr id="6" name="Shape 4"/>
          <p:cNvSpPr/>
          <p:nvPr/>
        </p:nvSpPr>
        <p:spPr>
          <a:xfrm>
            <a:off x="566928" y="1481328"/>
            <a:ext cx="5358384" cy="3749040"/>
          </a:xfrm>
          <a:prstGeom prst="roundRect">
            <a:avLst>
              <a:gd name="adj" fmla="val 2195"/>
            </a:avLst>
          </a:prstGeom>
          <a:solidFill>
            <a:srgbClr val="EFF4F9"/>
          </a:solidFill>
          <a:ln/>
          <a:effectLst>
            <a:outerShdw sx="100000" sy="100000" kx="0" ky="0" algn="bl" rotWithShape="0" blurRad="114300" dist="25400" dir="5400000">
              <a:srgbClr val="7E90A8">
                <a:alpha val="16000"/>
              </a:srgbClr>
            </a:outerShdw>
          </a:effectLst>
        </p:spPr>
      </p:sp>
      <p:sp>
        <p:nvSpPr>
          <p:cNvPr id="7" name="Text 5"/>
          <p:cNvSpPr/>
          <p:nvPr/>
        </p:nvSpPr>
        <p:spPr>
          <a:xfrm>
            <a:off x="877824" y="1700784"/>
            <a:ext cx="4754880" cy="292608"/>
          </a:xfrm>
          <a:prstGeom prst="rect">
            <a:avLst/>
          </a:prstGeom>
          <a:noFill/>
          <a:ln/>
        </p:spPr>
        <p:txBody>
          <a:bodyPr wrap="square" lIns="0" tIns="0" rIns="0" bIns="0" rtlCol="0" anchor="ctr"/>
          <a:lstStyle/>
          <a:p>
            <a:pPr indent="0" marL="0">
              <a:buNone/>
            </a:pPr>
            <a:r>
              <a:rPr lang="en-US" sz="1450" b="1" dirty="0">
                <a:solidFill>
                  <a:srgbClr val="065A82"/>
                </a:solidFill>
                <a:latin typeface="Malgun Gothic" pitchFamily="34" charset="0"/>
                <a:ea typeface="Malgun Gothic" pitchFamily="34" charset="-122"/>
                <a:cs typeface="Malgun Gothic" pitchFamily="34" charset="-120"/>
              </a:rPr>
              <a:t>Flat이 완벽했던 무대</a:t>
            </a:r>
            <a:endParaRPr lang="en-US" sz="1450" dirty="0"/>
          </a:p>
        </p:txBody>
      </p:sp>
      <p:sp>
        <p:nvSpPr>
          <p:cNvPr id="8" name="Text 6"/>
          <p:cNvSpPr/>
          <p:nvPr/>
        </p:nvSpPr>
        <p:spPr>
          <a:xfrm>
            <a:off x="877824" y="2121408"/>
            <a:ext cx="4754880" cy="301752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TV · 모니터 · 스마트폰: 시청 거리와 시야가 사실상 고정</a:t>
            </a:r>
            <a:endParaRPr lang="en-US" sz="1250" dirty="0"/>
          </a:p>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유리/폴리이미드 평면 기판 — 포토리소그래피, 증착, 봉지 등 모든 공정이 '평평한 연속 기판'을 전제</a:t>
            </a:r>
            <a:endParaRPr lang="en-US" sz="1250" dirty="0"/>
          </a:p>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화면 크기는 제품 출고 시점에 결정되고, 사용 중에는 절대 변하지 않는다</a:t>
            </a:r>
            <a:endParaRPr lang="en-US" sz="1250" dirty="0"/>
          </a:p>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 픽셀 피치가 불변이므로 이미지 왜곡이라는 개념 자체가 없었다</a:t>
            </a:r>
            <a:endParaRPr lang="en-US" sz="1250" dirty="0"/>
          </a:p>
        </p:txBody>
      </p:sp>
      <p:sp>
        <p:nvSpPr>
          <p:cNvPr id="9" name="Shape 7"/>
          <p:cNvSpPr/>
          <p:nvPr/>
        </p:nvSpPr>
        <p:spPr>
          <a:xfrm>
            <a:off x="6181344" y="1481328"/>
            <a:ext cx="5358384" cy="3749040"/>
          </a:xfrm>
          <a:prstGeom prst="roundRect">
            <a:avLst>
              <a:gd name="adj" fmla="val 2195"/>
            </a:avLst>
          </a:prstGeom>
          <a:solidFill>
            <a:srgbClr val="FBEAE2"/>
          </a:solidFill>
          <a:ln/>
          <a:effectLst>
            <a:outerShdw sx="100000" sy="100000" kx="0" ky="0" algn="bl" rotWithShape="0" blurRad="114300" dist="25400" dir="5400000">
              <a:srgbClr val="7E90A8">
                <a:alpha val="16000"/>
              </a:srgbClr>
            </a:outerShdw>
          </a:effectLst>
        </p:spPr>
      </p:sp>
      <p:sp>
        <p:nvSpPr>
          <p:cNvPr id="10" name="Text 8"/>
          <p:cNvSpPr/>
          <p:nvPr/>
        </p:nvSpPr>
        <p:spPr>
          <a:xfrm>
            <a:off x="6492240" y="1700784"/>
            <a:ext cx="4754880" cy="292608"/>
          </a:xfrm>
          <a:prstGeom prst="rect">
            <a:avLst/>
          </a:prstGeom>
          <a:noFill/>
          <a:ln/>
        </p:spPr>
        <p:txBody>
          <a:bodyPr wrap="square" lIns="0" tIns="0" rIns="0" bIns="0" rtlCol="0" anchor="ctr"/>
          <a:lstStyle/>
          <a:p>
            <a:pPr indent="0" marL="0">
              <a:buNone/>
            </a:pPr>
            <a:r>
              <a:rPr lang="en-US" sz="1450" b="1" dirty="0">
                <a:solidFill>
                  <a:srgbClr val="E2592C"/>
                </a:solidFill>
                <a:latin typeface="Malgun Gothic" pitchFamily="34" charset="0"/>
                <a:ea typeface="Malgun Gothic" pitchFamily="34" charset="-122"/>
                <a:cs typeface="Malgun Gothic" pitchFamily="34" charset="-120"/>
              </a:rPr>
              <a:t>Flat이 통하지 않는 무대</a:t>
            </a:r>
            <a:endParaRPr lang="en-US" sz="1450" dirty="0"/>
          </a:p>
        </p:txBody>
      </p:sp>
      <p:sp>
        <p:nvSpPr>
          <p:cNvPr id="11" name="Text 9"/>
          <p:cNvSpPr/>
          <p:nvPr/>
        </p:nvSpPr>
        <p:spPr>
          <a:xfrm>
            <a:off x="6492240" y="2121408"/>
            <a:ext cx="4754880" cy="301752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인체 부착형: 피부·관절·장기처럼 움직이고 늘어나는 표면</a:t>
            </a:r>
            <a:endParaRPr lang="en-US" sz="1250" dirty="0"/>
          </a:p>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인터랙티브 표면: 자동차 대시보드, 로봇 스킨, 가구·의류</a:t>
            </a:r>
            <a:endParaRPr lang="en-US" sz="1250" dirty="0"/>
          </a:p>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비정형 곡면(non-Gaussian surface): 종이처럼 접어서는 절대 덮을 수 없는 형상</a:t>
            </a:r>
            <a:endParaRPr lang="en-US" sz="1250" dirty="0"/>
          </a:p>
          <a:p>
            <a:pPr marL="342900" indent="-342900">
              <a:lnSpc>
                <a:spcPts val="1800"/>
              </a:lnSpc>
              <a:spcAft>
                <a:spcPts val="700"/>
              </a:spcAft>
              <a:buSzPct val="100000"/>
              <a:buChar char="•"/>
            </a:pPr>
            <a:r>
              <a:rPr lang="en-US" sz="1250" dirty="0">
                <a:solidFill>
                  <a:srgbClr val="1E2739"/>
                </a:solidFill>
                <a:latin typeface="Malgun Gothic" pitchFamily="34" charset="0"/>
                <a:ea typeface="Malgun Gothic" pitchFamily="34" charset="-122"/>
                <a:cs typeface="Malgun Gothic" pitchFamily="34" charset="-120"/>
              </a:rPr>
              <a:t>→ 기판이 '늘어날 수 있어야' 비로소 덮이는 영역</a:t>
            </a:r>
            <a:endParaRPr lang="en-US" sz="1250" dirty="0"/>
          </a:p>
        </p:txBody>
      </p:sp>
      <p:sp>
        <p:nvSpPr>
          <p:cNvPr id="12" name="Shape 10"/>
          <p:cNvSpPr/>
          <p:nvPr/>
        </p:nvSpPr>
        <p:spPr>
          <a:xfrm>
            <a:off x="566928" y="5413248"/>
            <a:ext cx="11057839" cy="731520"/>
          </a:xfrm>
          <a:prstGeom prst="roundRect">
            <a:avLst>
              <a:gd name="adj" fmla="val 11250"/>
            </a:avLst>
          </a:prstGeom>
          <a:solidFill>
            <a:srgbClr val="E2EBF3"/>
          </a:solidFill>
          <a:ln/>
          <a:effectLst>
            <a:outerShdw sx="100000" sy="100000" kx="0" ky="0" algn="bl" rotWithShape="0" blurRad="114300" dist="25400" dir="5400000">
              <a:srgbClr val="7E90A8">
                <a:alpha val="16000"/>
              </a:srgbClr>
            </a:outerShdw>
          </a:effectLst>
        </p:spPr>
      </p:sp>
      <p:sp>
        <p:nvSpPr>
          <p:cNvPr id="13" name="Text 11"/>
          <p:cNvSpPr/>
          <p:nvPr/>
        </p:nvSpPr>
        <p:spPr>
          <a:xfrm>
            <a:off x="841248" y="5413248"/>
            <a:ext cx="10509199" cy="731520"/>
          </a:xfrm>
          <a:prstGeom prst="rect">
            <a:avLst/>
          </a:prstGeom>
          <a:noFill/>
          <a:ln/>
        </p:spPr>
        <p:txBody>
          <a:bodyPr wrap="square" lIns="0" tIns="0" rIns="0" bIns="0" rtlCol="0" anchor="ctr"/>
          <a:lstStyle/>
          <a:p>
            <a:pPr indent="0" marL="0">
              <a:buNone/>
            </a:pPr>
            <a:r>
              <a:rPr lang="en-US" sz="1150" b="1" dirty="0">
                <a:solidFill>
                  <a:srgbClr val="21295C"/>
                </a:solidFill>
                <a:latin typeface="Malgun Gothic" pitchFamily="34" charset="0"/>
                <a:ea typeface="Malgun Gothic" pitchFamily="34" charset="-122"/>
                <a:cs typeface="Malgun Gothic" pitchFamily="34" charset="-120"/>
              </a:rPr>
              <a:t>논문 도입부  </a:t>
            </a:r>
            <a:pPr indent="0" marL="0">
              <a:buNone/>
            </a:pPr>
            <a:r>
              <a:rPr lang="en-US" sz="1150" i="1" dirty="0">
                <a:solidFill>
                  <a:srgbClr val="1E2739"/>
                </a:solidFill>
                <a:latin typeface="Malgun Gothic" pitchFamily="34" charset="0"/>
                <a:ea typeface="Malgun Gothic" pitchFamily="34" charset="-122"/>
                <a:cs typeface="Malgun Gothic" pitchFamily="34" charset="-120"/>
              </a:rPr>
              <a:t>"Stretchable optoelectronic devices have emerged as a promising platform for diverse applications, including wearable displays, skin electronics, soft robotics, and bioelectronics."</a:t>
            </a:r>
            <a:endParaRPr lang="en-US" sz="1150" dirty="0"/>
          </a:p>
        </p:txBody>
      </p:sp>
      <p:sp>
        <p:nvSpPr>
          <p:cNvPr id="14" name="Text 12"/>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5</a:t>
            </a:r>
            <a:endParaRPr lang="en-US" sz="1000" dirty="0"/>
          </a:p>
        </p:txBody>
      </p:sp>
      <p:sp>
        <p:nvSpPr>
          <p:cNvPr id="3" name="Shape 1"/>
          <p:cNvSpPr/>
          <p:nvPr/>
        </p:nvSpPr>
        <p:spPr>
          <a:xfrm>
            <a:off x="566928" y="310896"/>
            <a:ext cx="950976" cy="274320"/>
          </a:xfrm>
          <a:prstGeom prst="roundRect">
            <a:avLst>
              <a:gd name="adj" fmla="val 50000"/>
            </a:avLst>
          </a:prstGeom>
          <a:solidFill>
            <a:srgbClr val="1C7293"/>
          </a:solidFill>
          <a:ln/>
        </p:spPr>
      </p:sp>
      <p:sp>
        <p:nvSpPr>
          <p:cNvPr id="4" name="Text 2"/>
          <p:cNvSpPr/>
          <p:nvPr/>
        </p:nvSpPr>
        <p:spPr>
          <a:xfrm>
            <a:off x="566928" y="310896"/>
            <a:ext cx="95097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TIMELINE</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폼팩터의 진화 — 그리고 마지막 한 칸</a:t>
            </a:r>
            <a:endParaRPr lang="en-US" sz="2800" dirty="0"/>
          </a:p>
        </p:txBody>
      </p:sp>
      <p:sp>
        <p:nvSpPr>
          <p:cNvPr id="6" name="Text 4"/>
          <p:cNvSpPr/>
          <p:nvPr/>
        </p:nvSpPr>
        <p:spPr>
          <a:xfrm>
            <a:off x="566928" y="1243584"/>
            <a:ext cx="11057839" cy="274320"/>
          </a:xfrm>
          <a:prstGeom prst="rect">
            <a:avLst/>
          </a:prstGeom>
          <a:noFill/>
          <a:ln/>
        </p:spPr>
        <p:txBody>
          <a:bodyPr wrap="square" lIns="0" tIns="0" rIns="0" bIns="0" rtlCol="0" anchor="ctr"/>
          <a:lstStyle/>
          <a:p>
            <a:pPr indent="0" marL="0">
              <a:buNone/>
            </a:pPr>
            <a:r>
              <a:rPr lang="en-US" sz="1300" dirty="0">
                <a:solidFill>
                  <a:srgbClr val="63728B"/>
                </a:solidFill>
                <a:latin typeface="Malgun Gothic" pitchFamily="34" charset="0"/>
                <a:ea typeface="Malgun Gothic" pitchFamily="34" charset="-122"/>
                <a:cs typeface="Malgun Gothic" pitchFamily="34" charset="-120"/>
              </a:rPr>
              <a:t>형태만 바뀌던 단계에서, 화면 면적 자체가 바뀌는 단계로</a:t>
            </a:r>
            <a:endParaRPr lang="en-US" sz="1300" dirty="0"/>
          </a:p>
        </p:txBody>
      </p:sp>
      <p:sp>
        <p:nvSpPr>
          <p:cNvPr id="7" name="Shape 5"/>
          <p:cNvSpPr/>
          <p:nvPr/>
        </p:nvSpPr>
        <p:spPr>
          <a:xfrm>
            <a:off x="566928" y="1810512"/>
            <a:ext cx="1700784" cy="3127248"/>
          </a:xfrm>
          <a:prstGeom prst="roundRect">
            <a:avLst>
              <a:gd name="adj" fmla="val 4839"/>
            </a:avLst>
          </a:prstGeom>
          <a:solidFill>
            <a:srgbClr val="EFF4F9"/>
          </a:solidFill>
          <a:ln/>
          <a:effectLst>
            <a:outerShdw sx="100000" sy="100000" kx="0" ky="0" algn="bl" rotWithShape="0" blurRad="101600" dist="25400" dir="5400000">
              <a:srgbClr val="7E90A8">
                <a:alpha val="14000"/>
              </a:srgbClr>
            </a:outerShdw>
          </a:effectLst>
        </p:spPr>
      </p:sp>
      <p:sp>
        <p:nvSpPr>
          <p:cNvPr id="8" name="Text 6"/>
          <p:cNvSpPr/>
          <p:nvPr/>
        </p:nvSpPr>
        <p:spPr>
          <a:xfrm>
            <a:off x="640080" y="1975104"/>
            <a:ext cx="1554480" cy="274320"/>
          </a:xfrm>
          <a:prstGeom prst="rect">
            <a:avLst/>
          </a:prstGeom>
          <a:noFill/>
          <a:ln/>
        </p:spPr>
        <p:txBody>
          <a:bodyPr wrap="square" lIns="0" tIns="0" rIns="0" bIns="0" rtlCol="0" anchor="ctr"/>
          <a:lstStyle/>
          <a:p>
            <a:pPr algn="ctr" indent="0" marL="0">
              <a:buNone/>
            </a:pPr>
            <a:r>
              <a:rPr lang="en-US" sz="1150" b="1" dirty="0">
                <a:solidFill>
                  <a:srgbClr val="065A82"/>
                </a:solidFill>
                <a:latin typeface="Malgun Gothic" pitchFamily="34" charset="0"/>
                <a:ea typeface="Malgun Gothic" pitchFamily="34" charset="-122"/>
                <a:cs typeface="Malgun Gothic" pitchFamily="34" charset="-120"/>
              </a:rPr>
              <a:t>FLAT</a:t>
            </a:r>
            <a:endParaRPr lang="en-US" sz="1150" dirty="0"/>
          </a:p>
        </p:txBody>
      </p:sp>
      <p:sp>
        <p:nvSpPr>
          <p:cNvPr id="9" name="Text 7"/>
          <p:cNvSpPr/>
          <p:nvPr/>
        </p:nvSpPr>
        <p:spPr>
          <a:xfrm>
            <a:off x="640080" y="2249424"/>
            <a:ext cx="1554480" cy="237744"/>
          </a:xfrm>
          <a:prstGeom prst="rect">
            <a:avLst/>
          </a:prstGeom>
          <a:noFill/>
          <a:ln/>
        </p:spPr>
        <p:txBody>
          <a:bodyPr wrap="square" lIns="0" tIns="0" rIns="0" bIns="0" rtlCol="0" anchor="ctr"/>
          <a:lstStyle/>
          <a:p>
            <a:pPr algn="ctr" indent="0" marL="0">
              <a:buNone/>
            </a:pPr>
            <a:r>
              <a:rPr lang="en-US" sz="1250" b="1" dirty="0">
                <a:solidFill>
                  <a:srgbClr val="21295C"/>
                </a:solidFill>
                <a:latin typeface="Cambria" pitchFamily="34" charset="0"/>
                <a:ea typeface="Cambria" pitchFamily="34" charset="-122"/>
                <a:cs typeface="Cambria" pitchFamily="34" charset="-120"/>
              </a:rPr>
              <a:t>~2000s</a:t>
            </a:r>
            <a:endParaRPr lang="en-US" sz="1250" dirty="0"/>
          </a:p>
        </p:txBody>
      </p:sp>
      <p:sp>
        <p:nvSpPr>
          <p:cNvPr id="10" name="Text 8"/>
          <p:cNvSpPr/>
          <p:nvPr/>
        </p:nvSpPr>
        <p:spPr>
          <a:xfrm>
            <a:off x="658368" y="2596896"/>
            <a:ext cx="1517904" cy="694944"/>
          </a:xfrm>
          <a:prstGeom prst="rect">
            <a:avLst/>
          </a:prstGeom>
          <a:noFill/>
          <a:ln/>
        </p:spPr>
        <p:txBody>
          <a:bodyPr wrap="square" lIns="0" tIns="0" rIns="0" bIns="0" rtlCol="0" anchor="t"/>
          <a:lstStyle/>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LCD / OLED TV</a:t>
            </a:r>
            <a:endParaRPr lang="en-US" sz="1000" dirty="0"/>
          </a:p>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스마트폰</a:t>
            </a:r>
            <a:endParaRPr lang="en-US" sz="1000" dirty="0"/>
          </a:p>
        </p:txBody>
      </p:sp>
      <p:sp>
        <p:nvSpPr>
          <p:cNvPr id="11" name="Shape 9"/>
          <p:cNvSpPr/>
          <p:nvPr/>
        </p:nvSpPr>
        <p:spPr>
          <a:xfrm>
            <a:off x="713232" y="3419856"/>
            <a:ext cx="1408176" cy="566928"/>
          </a:xfrm>
          <a:prstGeom prst="roundRect">
            <a:avLst>
              <a:gd name="adj" fmla="val 11290"/>
            </a:avLst>
          </a:prstGeom>
          <a:solidFill>
            <a:srgbClr val="CFDCE8"/>
          </a:solidFill>
          <a:ln/>
        </p:spPr>
      </p:sp>
      <p:sp>
        <p:nvSpPr>
          <p:cNvPr id="12" name="Text 10"/>
          <p:cNvSpPr/>
          <p:nvPr/>
        </p:nvSpPr>
        <p:spPr>
          <a:xfrm>
            <a:off x="713232" y="3419856"/>
            <a:ext cx="1408176"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Malgun Gothic" pitchFamily="34" charset="0"/>
                <a:ea typeface="Malgun Gothic" pitchFamily="34" charset="-122"/>
                <a:cs typeface="Malgun Gothic" pitchFamily="34" charset="-120"/>
              </a:rPr>
              <a:t>면적 고정</a:t>
            </a:r>
            <a:endParaRPr lang="en-US" sz="1000" dirty="0"/>
          </a:p>
        </p:txBody>
      </p:sp>
      <p:sp>
        <p:nvSpPr>
          <p:cNvPr id="13" name="Text 11"/>
          <p:cNvSpPr/>
          <p:nvPr/>
        </p:nvSpPr>
        <p:spPr>
          <a:xfrm>
            <a:off x="658368" y="4114800"/>
            <a:ext cx="1517904" cy="694944"/>
          </a:xfrm>
          <a:prstGeom prst="rect">
            <a:avLst/>
          </a:prstGeom>
          <a:noFill/>
          <a:ln/>
        </p:spPr>
        <p:txBody>
          <a:bodyPr wrap="square" lIns="0" tIns="0" rIns="0" bIns="0" rtlCol="0" anchor="t"/>
          <a:lstStyle/>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픽셀 간격</a:t>
            </a:r>
            <a:endParaRPr lang="en-US" sz="950" dirty="0"/>
          </a:p>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불변</a:t>
            </a:r>
            <a:endParaRPr lang="en-US" sz="950" dirty="0"/>
          </a:p>
        </p:txBody>
      </p:sp>
      <p:sp>
        <p:nvSpPr>
          <p:cNvPr id="14" name="Shape 12"/>
          <p:cNvSpPr/>
          <p:nvPr/>
        </p:nvSpPr>
        <p:spPr>
          <a:xfrm>
            <a:off x="2275027" y="3246120"/>
            <a:ext cx="132588" cy="182880"/>
          </a:xfrm>
          <a:prstGeom prst="rightArrow">
            <a:avLst/>
          </a:prstGeom>
          <a:solidFill>
            <a:srgbClr val="AEBECF"/>
          </a:solidFill>
          <a:ln/>
        </p:spPr>
      </p:sp>
      <p:sp>
        <p:nvSpPr>
          <p:cNvPr id="15" name="Shape 13"/>
          <p:cNvSpPr/>
          <p:nvPr/>
        </p:nvSpPr>
        <p:spPr>
          <a:xfrm>
            <a:off x="2414016" y="1810512"/>
            <a:ext cx="1700784" cy="3127248"/>
          </a:xfrm>
          <a:prstGeom prst="roundRect">
            <a:avLst>
              <a:gd name="adj" fmla="val 4839"/>
            </a:avLst>
          </a:prstGeom>
          <a:solidFill>
            <a:srgbClr val="EFF4F9"/>
          </a:solidFill>
          <a:ln/>
          <a:effectLst>
            <a:outerShdw sx="100000" sy="100000" kx="0" ky="0" algn="bl" rotWithShape="0" blurRad="101600" dist="25400" dir="5400000">
              <a:srgbClr val="7E90A8">
                <a:alpha val="14000"/>
              </a:srgbClr>
            </a:outerShdw>
          </a:effectLst>
        </p:spPr>
      </p:sp>
      <p:sp>
        <p:nvSpPr>
          <p:cNvPr id="16" name="Text 14"/>
          <p:cNvSpPr/>
          <p:nvPr/>
        </p:nvSpPr>
        <p:spPr>
          <a:xfrm>
            <a:off x="2487168" y="1975104"/>
            <a:ext cx="1554480" cy="274320"/>
          </a:xfrm>
          <a:prstGeom prst="rect">
            <a:avLst/>
          </a:prstGeom>
          <a:noFill/>
          <a:ln/>
        </p:spPr>
        <p:txBody>
          <a:bodyPr wrap="square" lIns="0" tIns="0" rIns="0" bIns="0" rtlCol="0" anchor="ctr"/>
          <a:lstStyle/>
          <a:p>
            <a:pPr algn="ctr" indent="0" marL="0">
              <a:buNone/>
            </a:pPr>
            <a:r>
              <a:rPr lang="en-US" sz="1150" b="1" dirty="0">
                <a:solidFill>
                  <a:srgbClr val="065A82"/>
                </a:solidFill>
                <a:latin typeface="Malgun Gothic" pitchFamily="34" charset="0"/>
                <a:ea typeface="Malgun Gothic" pitchFamily="34" charset="-122"/>
                <a:cs typeface="Malgun Gothic" pitchFamily="34" charset="-120"/>
              </a:rPr>
              <a:t>CURVED</a:t>
            </a:r>
            <a:endParaRPr lang="en-US" sz="1150" dirty="0"/>
          </a:p>
        </p:txBody>
      </p:sp>
      <p:sp>
        <p:nvSpPr>
          <p:cNvPr id="17" name="Text 15"/>
          <p:cNvSpPr/>
          <p:nvPr/>
        </p:nvSpPr>
        <p:spPr>
          <a:xfrm>
            <a:off x="2487168" y="2249424"/>
            <a:ext cx="1554480" cy="237744"/>
          </a:xfrm>
          <a:prstGeom prst="rect">
            <a:avLst/>
          </a:prstGeom>
          <a:noFill/>
          <a:ln/>
        </p:spPr>
        <p:txBody>
          <a:bodyPr wrap="square" lIns="0" tIns="0" rIns="0" bIns="0" rtlCol="0" anchor="ctr"/>
          <a:lstStyle/>
          <a:p>
            <a:pPr algn="ctr" indent="0" marL="0">
              <a:buNone/>
            </a:pPr>
            <a:r>
              <a:rPr lang="en-US" sz="1250" b="1" dirty="0">
                <a:solidFill>
                  <a:srgbClr val="21295C"/>
                </a:solidFill>
                <a:latin typeface="Cambria" pitchFamily="34" charset="0"/>
                <a:ea typeface="Cambria" pitchFamily="34" charset="-122"/>
                <a:cs typeface="Cambria" pitchFamily="34" charset="-120"/>
              </a:rPr>
              <a:t>2013</a:t>
            </a:r>
            <a:endParaRPr lang="en-US" sz="1250" dirty="0"/>
          </a:p>
        </p:txBody>
      </p:sp>
      <p:sp>
        <p:nvSpPr>
          <p:cNvPr id="18" name="Text 16"/>
          <p:cNvSpPr/>
          <p:nvPr/>
        </p:nvSpPr>
        <p:spPr>
          <a:xfrm>
            <a:off x="2505456" y="2596896"/>
            <a:ext cx="1517904" cy="694944"/>
          </a:xfrm>
          <a:prstGeom prst="rect">
            <a:avLst/>
          </a:prstGeom>
          <a:noFill/>
          <a:ln/>
        </p:spPr>
        <p:txBody>
          <a:bodyPr wrap="square" lIns="0" tIns="0" rIns="0" bIns="0" rtlCol="0" anchor="t"/>
          <a:lstStyle/>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Galaxy Round</a:t>
            </a:r>
            <a:endParaRPr lang="en-US" sz="1000" dirty="0"/>
          </a:p>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LG G Flex</a:t>
            </a:r>
            <a:endParaRPr lang="en-US" sz="1000" dirty="0"/>
          </a:p>
        </p:txBody>
      </p:sp>
      <p:sp>
        <p:nvSpPr>
          <p:cNvPr id="19" name="Shape 17"/>
          <p:cNvSpPr/>
          <p:nvPr/>
        </p:nvSpPr>
        <p:spPr>
          <a:xfrm>
            <a:off x="2560320" y="3419856"/>
            <a:ext cx="1408176" cy="566928"/>
          </a:xfrm>
          <a:prstGeom prst="roundRect">
            <a:avLst>
              <a:gd name="adj" fmla="val 11290"/>
            </a:avLst>
          </a:prstGeom>
          <a:solidFill>
            <a:srgbClr val="CFDCE8"/>
          </a:solidFill>
          <a:ln/>
        </p:spPr>
      </p:sp>
      <p:sp>
        <p:nvSpPr>
          <p:cNvPr id="20" name="Text 18"/>
          <p:cNvSpPr/>
          <p:nvPr/>
        </p:nvSpPr>
        <p:spPr>
          <a:xfrm>
            <a:off x="2560320" y="3419856"/>
            <a:ext cx="1408176"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Malgun Gothic" pitchFamily="34" charset="0"/>
                <a:ea typeface="Malgun Gothic" pitchFamily="34" charset="-122"/>
                <a:cs typeface="Malgun Gothic" pitchFamily="34" charset="-120"/>
              </a:rPr>
              <a:t>면적 고정</a:t>
            </a:r>
            <a:endParaRPr lang="en-US" sz="1000" dirty="0"/>
          </a:p>
        </p:txBody>
      </p:sp>
      <p:sp>
        <p:nvSpPr>
          <p:cNvPr id="21" name="Text 19"/>
          <p:cNvSpPr/>
          <p:nvPr/>
        </p:nvSpPr>
        <p:spPr>
          <a:xfrm>
            <a:off x="2505456" y="4114800"/>
            <a:ext cx="1517904" cy="694944"/>
          </a:xfrm>
          <a:prstGeom prst="rect">
            <a:avLst/>
          </a:prstGeom>
          <a:noFill/>
          <a:ln/>
        </p:spPr>
        <p:txBody>
          <a:bodyPr wrap="square" lIns="0" tIns="0" rIns="0" bIns="0" rtlCol="0" anchor="t"/>
          <a:lstStyle/>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픽셀 간격</a:t>
            </a:r>
            <a:endParaRPr lang="en-US" sz="950" dirty="0"/>
          </a:p>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불변</a:t>
            </a:r>
            <a:endParaRPr lang="en-US" sz="950" dirty="0"/>
          </a:p>
        </p:txBody>
      </p:sp>
      <p:sp>
        <p:nvSpPr>
          <p:cNvPr id="22" name="Shape 20"/>
          <p:cNvSpPr/>
          <p:nvPr/>
        </p:nvSpPr>
        <p:spPr>
          <a:xfrm>
            <a:off x="4122115" y="3246120"/>
            <a:ext cx="132588" cy="182880"/>
          </a:xfrm>
          <a:prstGeom prst="rightArrow">
            <a:avLst/>
          </a:prstGeom>
          <a:solidFill>
            <a:srgbClr val="AEBECF"/>
          </a:solidFill>
          <a:ln/>
        </p:spPr>
      </p:sp>
      <p:sp>
        <p:nvSpPr>
          <p:cNvPr id="23" name="Shape 21"/>
          <p:cNvSpPr/>
          <p:nvPr/>
        </p:nvSpPr>
        <p:spPr>
          <a:xfrm>
            <a:off x="4261104" y="1810512"/>
            <a:ext cx="1700784" cy="3127248"/>
          </a:xfrm>
          <a:prstGeom prst="roundRect">
            <a:avLst>
              <a:gd name="adj" fmla="val 4839"/>
            </a:avLst>
          </a:prstGeom>
          <a:solidFill>
            <a:srgbClr val="EFF4F9"/>
          </a:solidFill>
          <a:ln/>
          <a:effectLst>
            <a:outerShdw sx="100000" sy="100000" kx="0" ky="0" algn="bl" rotWithShape="0" blurRad="101600" dist="25400" dir="5400000">
              <a:srgbClr val="7E90A8">
                <a:alpha val="14000"/>
              </a:srgbClr>
            </a:outerShdw>
          </a:effectLst>
        </p:spPr>
      </p:sp>
      <p:sp>
        <p:nvSpPr>
          <p:cNvPr id="24" name="Text 22"/>
          <p:cNvSpPr/>
          <p:nvPr/>
        </p:nvSpPr>
        <p:spPr>
          <a:xfrm>
            <a:off x="4334256" y="1975104"/>
            <a:ext cx="1554480" cy="274320"/>
          </a:xfrm>
          <a:prstGeom prst="rect">
            <a:avLst/>
          </a:prstGeom>
          <a:noFill/>
          <a:ln/>
        </p:spPr>
        <p:txBody>
          <a:bodyPr wrap="square" lIns="0" tIns="0" rIns="0" bIns="0" rtlCol="0" anchor="ctr"/>
          <a:lstStyle/>
          <a:p>
            <a:pPr algn="ctr" indent="0" marL="0">
              <a:buNone/>
            </a:pPr>
            <a:r>
              <a:rPr lang="en-US" sz="1150" b="1" dirty="0">
                <a:solidFill>
                  <a:srgbClr val="065A82"/>
                </a:solidFill>
                <a:latin typeface="Malgun Gothic" pitchFamily="34" charset="0"/>
                <a:ea typeface="Malgun Gothic" pitchFamily="34" charset="-122"/>
                <a:cs typeface="Malgun Gothic" pitchFamily="34" charset="-120"/>
              </a:rPr>
              <a:t>FLEXIBLE</a:t>
            </a:r>
            <a:endParaRPr lang="en-US" sz="1150" dirty="0"/>
          </a:p>
        </p:txBody>
      </p:sp>
      <p:sp>
        <p:nvSpPr>
          <p:cNvPr id="25" name="Text 23"/>
          <p:cNvSpPr/>
          <p:nvPr/>
        </p:nvSpPr>
        <p:spPr>
          <a:xfrm>
            <a:off x="4334256" y="2249424"/>
            <a:ext cx="1554480" cy="237744"/>
          </a:xfrm>
          <a:prstGeom prst="rect">
            <a:avLst/>
          </a:prstGeom>
          <a:noFill/>
          <a:ln/>
        </p:spPr>
        <p:txBody>
          <a:bodyPr wrap="square" lIns="0" tIns="0" rIns="0" bIns="0" rtlCol="0" anchor="ctr"/>
          <a:lstStyle/>
          <a:p>
            <a:pPr algn="ctr" indent="0" marL="0">
              <a:buNone/>
            </a:pPr>
            <a:r>
              <a:rPr lang="en-US" sz="1250" b="1" dirty="0">
                <a:solidFill>
                  <a:srgbClr val="21295C"/>
                </a:solidFill>
                <a:latin typeface="Cambria" pitchFamily="34" charset="0"/>
                <a:ea typeface="Cambria" pitchFamily="34" charset="-122"/>
                <a:cs typeface="Cambria" pitchFamily="34" charset="-120"/>
              </a:rPr>
              <a:t>2013~</a:t>
            </a:r>
            <a:endParaRPr lang="en-US" sz="1250" dirty="0"/>
          </a:p>
        </p:txBody>
      </p:sp>
      <p:sp>
        <p:nvSpPr>
          <p:cNvPr id="26" name="Text 24"/>
          <p:cNvSpPr/>
          <p:nvPr/>
        </p:nvSpPr>
        <p:spPr>
          <a:xfrm>
            <a:off x="4352544" y="2596896"/>
            <a:ext cx="1517904" cy="694944"/>
          </a:xfrm>
          <a:prstGeom prst="rect">
            <a:avLst/>
          </a:prstGeom>
          <a:noFill/>
          <a:ln/>
        </p:spPr>
        <p:txBody>
          <a:bodyPr wrap="square" lIns="0" tIns="0" rIns="0" bIns="0" rtlCol="0" anchor="t"/>
          <a:lstStyle/>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Samsung YOUM</a:t>
            </a:r>
            <a:endParaRPr lang="en-US" sz="1000" dirty="0"/>
          </a:p>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플렉시블 OLED</a:t>
            </a:r>
            <a:endParaRPr lang="en-US" sz="1000" dirty="0"/>
          </a:p>
        </p:txBody>
      </p:sp>
      <p:sp>
        <p:nvSpPr>
          <p:cNvPr id="27" name="Shape 25"/>
          <p:cNvSpPr/>
          <p:nvPr/>
        </p:nvSpPr>
        <p:spPr>
          <a:xfrm>
            <a:off x="4407408" y="3419856"/>
            <a:ext cx="1408176" cy="566928"/>
          </a:xfrm>
          <a:prstGeom prst="roundRect">
            <a:avLst>
              <a:gd name="adj" fmla="val 11290"/>
            </a:avLst>
          </a:prstGeom>
          <a:solidFill>
            <a:srgbClr val="CFDCE8"/>
          </a:solidFill>
          <a:ln/>
        </p:spPr>
      </p:sp>
      <p:sp>
        <p:nvSpPr>
          <p:cNvPr id="28" name="Text 26"/>
          <p:cNvSpPr/>
          <p:nvPr/>
        </p:nvSpPr>
        <p:spPr>
          <a:xfrm>
            <a:off x="4407408" y="3419856"/>
            <a:ext cx="1408176"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Malgun Gothic" pitchFamily="34" charset="0"/>
                <a:ea typeface="Malgun Gothic" pitchFamily="34" charset="-122"/>
                <a:cs typeface="Malgun Gothic" pitchFamily="34" charset="-120"/>
              </a:rPr>
              <a:t>면적 고정</a:t>
            </a:r>
            <a:endParaRPr lang="en-US" sz="1000" dirty="0"/>
          </a:p>
        </p:txBody>
      </p:sp>
      <p:sp>
        <p:nvSpPr>
          <p:cNvPr id="29" name="Text 27"/>
          <p:cNvSpPr/>
          <p:nvPr/>
        </p:nvSpPr>
        <p:spPr>
          <a:xfrm>
            <a:off x="4352544" y="4114800"/>
            <a:ext cx="1517904" cy="694944"/>
          </a:xfrm>
          <a:prstGeom prst="rect">
            <a:avLst/>
          </a:prstGeom>
          <a:noFill/>
          <a:ln/>
        </p:spPr>
        <p:txBody>
          <a:bodyPr wrap="square" lIns="0" tIns="0" rIns="0" bIns="0" rtlCol="0" anchor="t"/>
          <a:lstStyle/>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픽셀 간격</a:t>
            </a:r>
            <a:endParaRPr lang="en-US" sz="950" dirty="0"/>
          </a:p>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불변</a:t>
            </a:r>
            <a:endParaRPr lang="en-US" sz="950" dirty="0"/>
          </a:p>
        </p:txBody>
      </p:sp>
      <p:sp>
        <p:nvSpPr>
          <p:cNvPr id="30" name="Shape 28"/>
          <p:cNvSpPr/>
          <p:nvPr/>
        </p:nvSpPr>
        <p:spPr>
          <a:xfrm>
            <a:off x="5969203" y="3246120"/>
            <a:ext cx="132588" cy="182880"/>
          </a:xfrm>
          <a:prstGeom prst="rightArrow">
            <a:avLst/>
          </a:prstGeom>
          <a:solidFill>
            <a:srgbClr val="AEBECF"/>
          </a:solidFill>
          <a:ln/>
        </p:spPr>
      </p:sp>
      <p:sp>
        <p:nvSpPr>
          <p:cNvPr id="31" name="Shape 29"/>
          <p:cNvSpPr/>
          <p:nvPr/>
        </p:nvSpPr>
        <p:spPr>
          <a:xfrm>
            <a:off x="6108192" y="1810512"/>
            <a:ext cx="1700784" cy="3127248"/>
          </a:xfrm>
          <a:prstGeom prst="roundRect">
            <a:avLst>
              <a:gd name="adj" fmla="val 4839"/>
            </a:avLst>
          </a:prstGeom>
          <a:solidFill>
            <a:srgbClr val="EFF4F9"/>
          </a:solidFill>
          <a:ln/>
          <a:effectLst>
            <a:outerShdw sx="100000" sy="100000" kx="0" ky="0" algn="bl" rotWithShape="0" blurRad="101600" dist="25400" dir="5400000">
              <a:srgbClr val="7E90A8">
                <a:alpha val="14000"/>
              </a:srgbClr>
            </a:outerShdw>
          </a:effectLst>
        </p:spPr>
      </p:sp>
      <p:sp>
        <p:nvSpPr>
          <p:cNvPr id="32" name="Text 30"/>
          <p:cNvSpPr/>
          <p:nvPr/>
        </p:nvSpPr>
        <p:spPr>
          <a:xfrm>
            <a:off x="6181344" y="1975104"/>
            <a:ext cx="1554480" cy="274320"/>
          </a:xfrm>
          <a:prstGeom prst="rect">
            <a:avLst/>
          </a:prstGeom>
          <a:noFill/>
          <a:ln/>
        </p:spPr>
        <p:txBody>
          <a:bodyPr wrap="square" lIns="0" tIns="0" rIns="0" bIns="0" rtlCol="0" anchor="ctr"/>
          <a:lstStyle/>
          <a:p>
            <a:pPr algn="ctr" indent="0" marL="0">
              <a:buNone/>
            </a:pPr>
            <a:r>
              <a:rPr lang="en-US" sz="1150" b="1" dirty="0">
                <a:solidFill>
                  <a:srgbClr val="1C7293"/>
                </a:solidFill>
                <a:latin typeface="Malgun Gothic" pitchFamily="34" charset="0"/>
                <a:ea typeface="Malgun Gothic" pitchFamily="34" charset="-122"/>
                <a:cs typeface="Malgun Gothic" pitchFamily="34" charset="-120"/>
              </a:rPr>
              <a:t>FOLDABLE</a:t>
            </a:r>
            <a:endParaRPr lang="en-US" sz="1150" dirty="0"/>
          </a:p>
        </p:txBody>
      </p:sp>
      <p:sp>
        <p:nvSpPr>
          <p:cNvPr id="33" name="Text 31"/>
          <p:cNvSpPr/>
          <p:nvPr/>
        </p:nvSpPr>
        <p:spPr>
          <a:xfrm>
            <a:off x="6181344" y="2249424"/>
            <a:ext cx="1554480" cy="237744"/>
          </a:xfrm>
          <a:prstGeom prst="rect">
            <a:avLst/>
          </a:prstGeom>
          <a:noFill/>
          <a:ln/>
        </p:spPr>
        <p:txBody>
          <a:bodyPr wrap="square" lIns="0" tIns="0" rIns="0" bIns="0" rtlCol="0" anchor="ctr"/>
          <a:lstStyle/>
          <a:p>
            <a:pPr algn="ctr" indent="0" marL="0">
              <a:buNone/>
            </a:pPr>
            <a:r>
              <a:rPr lang="en-US" sz="1250" b="1" dirty="0">
                <a:solidFill>
                  <a:srgbClr val="21295C"/>
                </a:solidFill>
                <a:latin typeface="Cambria" pitchFamily="34" charset="0"/>
                <a:ea typeface="Cambria" pitchFamily="34" charset="-122"/>
                <a:cs typeface="Cambria" pitchFamily="34" charset="-120"/>
              </a:rPr>
              <a:t>2019</a:t>
            </a:r>
            <a:endParaRPr lang="en-US" sz="1250" dirty="0"/>
          </a:p>
        </p:txBody>
      </p:sp>
      <p:sp>
        <p:nvSpPr>
          <p:cNvPr id="34" name="Text 32"/>
          <p:cNvSpPr/>
          <p:nvPr/>
        </p:nvSpPr>
        <p:spPr>
          <a:xfrm>
            <a:off x="6199632" y="2596896"/>
            <a:ext cx="1517904" cy="694944"/>
          </a:xfrm>
          <a:prstGeom prst="rect">
            <a:avLst/>
          </a:prstGeom>
          <a:noFill/>
          <a:ln/>
        </p:spPr>
        <p:txBody>
          <a:bodyPr wrap="square" lIns="0" tIns="0" rIns="0" bIns="0" rtlCol="0" anchor="t"/>
          <a:lstStyle/>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Galaxy Fold</a:t>
            </a:r>
            <a:endParaRPr lang="en-US" sz="1000" dirty="0"/>
          </a:p>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Huawei Mate X</a:t>
            </a:r>
            <a:endParaRPr lang="en-US" sz="1000" dirty="0"/>
          </a:p>
        </p:txBody>
      </p:sp>
      <p:sp>
        <p:nvSpPr>
          <p:cNvPr id="35" name="Shape 33"/>
          <p:cNvSpPr/>
          <p:nvPr/>
        </p:nvSpPr>
        <p:spPr>
          <a:xfrm>
            <a:off x="6254496" y="3419856"/>
            <a:ext cx="1408176" cy="566928"/>
          </a:xfrm>
          <a:prstGeom prst="roundRect">
            <a:avLst>
              <a:gd name="adj" fmla="val 11290"/>
            </a:avLst>
          </a:prstGeom>
          <a:solidFill>
            <a:srgbClr val="CFDCE8"/>
          </a:solidFill>
          <a:ln/>
        </p:spPr>
      </p:sp>
      <p:sp>
        <p:nvSpPr>
          <p:cNvPr id="36" name="Text 34"/>
          <p:cNvSpPr/>
          <p:nvPr/>
        </p:nvSpPr>
        <p:spPr>
          <a:xfrm>
            <a:off x="6254496" y="3419856"/>
            <a:ext cx="1408176"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Malgun Gothic" pitchFamily="34" charset="0"/>
                <a:ea typeface="Malgun Gothic" pitchFamily="34" charset="-122"/>
                <a:cs typeface="Malgun Gothic" pitchFamily="34" charset="-120"/>
              </a:rPr>
              <a:t>면적 고정</a:t>
            </a:r>
            <a:endParaRPr lang="en-US" sz="1000" dirty="0"/>
          </a:p>
        </p:txBody>
      </p:sp>
      <p:sp>
        <p:nvSpPr>
          <p:cNvPr id="37" name="Text 35"/>
          <p:cNvSpPr/>
          <p:nvPr/>
        </p:nvSpPr>
        <p:spPr>
          <a:xfrm>
            <a:off x="6199632" y="4114800"/>
            <a:ext cx="1517904" cy="694944"/>
          </a:xfrm>
          <a:prstGeom prst="rect">
            <a:avLst/>
          </a:prstGeom>
          <a:noFill/>
          <a:ln/>
        </p:spPr>
        <p:txBody>
          <a:bodyPr wrap="square" lIns="0" tIns="0" rIns="0" bIns="0" rtlCol="0" anchor="t"/>
          <a:lstStyle/>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픽셀 간격</a:t>
            </a:r>
            <a:endParaRPr lang="en-US" sz="950" dirty="0"/>
          </a:p>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불변</a:t>
            </a:r>
            <a:endParaRPr lang="en-US" sz="950" dirty="0"/>
          </a:p>
        </p:txBody>
      </p:sp>
      <p:sp>
        <p:nvSpPr>
          <p:cNvPr id="38" name="Shape 36"/>
          <p:cNvSpPr/>
          <p:nvPr/>
        </p:nvSpPr>
        <p:spPr>
          <a:xfrm>
            <a:off x="7816291" y="3246120"/>
            <a:ext cx="132588" cy="182880"/>
          </a:xfrm>
          <a:prstGeom prst="rightArrow">
            <a:avLst/>
          </a:prstGeom>
          <a:solidFill>
            <a:srgbClr val="AEBECF"/>
          </a:solidFill>
          <a:ln/>
        </p:spPr>
      </p:sp>
      <p:sp>
        <p:nvSpPr>
          <p:cNvPr id="39" name="Shape 37"/>
          <p:cNvSpPr/>
          <p:nvPr/>
        </p:nvSpPr>
        <p:spPr>
          <a:xfrm>
            <a:off x="7955280" y="1810512"/>
            <a:ext cx="1700784" cy="3127248"/>
          </a:xfrm>
          <a:prstGeom prst="roundRect">
            <a:avLst>
              <a:gd name="adj" fmla="val 4839"/>
            </a:avLst>
          </a:prstGeom>
          <a:solidFill>
            <a:srgbClr val="EFF4F9"/>
          </a:solidFill>
          <a:ln/>
          <a:effectLst>
            <a:outerShdw sx="100000" sy="100000" kx="0" ky="0" algn="bl" rotWithShape="0" blurRad="101600" dist="25400" dir="5400000">
              <a:srgbClr val="7E90A8">
                <a:alpha val="14000"/>
              </a:srgbClr>
            </a:outerShdw>
          </a:effectLst>
        </p:spPr>
      </p:sp>
      <p:sp>
        <p:nvSpPr>
          <p:cNvPr id="40" name="Text 38"/>
          <p:cNvSpPr/>
          <p:nvPr/>
        </p:nvSpPr>
        <p:spPr>
          <a:xfrm>
            <a:off x="8028432" y="1975104"/>
            <a:ext cx="1554480" cy="274320"/>
          </a:xfrm>
          <a:prstGeom prst="rect">
            <a:avLst/>
          </a:prstGeom>
          <a:noFill/>
          <a:ln/>
        </p:spPr>
        <p:txBody>
          <a:bodyPr wrap="square" lIns="0" tIns="0" rIns="0" bIns="0" rtlCol="0" anchor="ctr"/>
          <a:lstStyle/>
          <a:p>
            <a:pPr algn="ctr" indent="0" marL="0">
              <a:buNone/>
            </a:pPr>
            <a:r>
              <a:rPr lang="en-US" sz="1150" b="1" dirty="0">
                <a:solidFill>
                  <a:srgbClr val="1C7293"/>
                </a:solidFill>
                <a:latin typeface="Malgun Gothic" pitchFamily="34" charset="0"/>
                <a:ea typeface="Malgun Gothic" pitchFamily="34" charset="-122"/>
                <a:cs typeface="Malgun Gothic" pitchFamily="34" charset="-120"/>
              </a:rPr>
              <a:t>ROLLABLE</a:t>
            </a:r>
            <a:endParaRPr lang="en-US" sz="1150" dirty="0"/>
          </a:p>
        </p:txBody>
      </p:sp>
      <p:sp>
        <p:nvSpPr>
          <p:cNvPr id="41" name="Text 39"/>
          <p:cNvSpPr/>
          <p:nvPr/>
        </p:nvSpPr>
        <p:spPr>
          <a:xfrm>
            <a:off x="8028432" y="2249424"/>
            <a:ext cx="1554480" cy="237744"/>
          </a:xfrm>
          <a:prstGeom prst="rect">
            <a:avLst/>
          </a:prstGeom>
          <a:noFill/>
          <a:ln/>
        </p:spPr>
        <p:txBody>
          <a:bodyPr wrap="square" lIns="0" tIns="0" rIns="0" bIns="0" rtlCol="0" anchor="ctr"/>
          <a:lstStyle/>
          <a:p>
            <a:pPr algn="ctr" indent="0" marL="0">
              <a:buNone/>
            </a:pPr>
            <a:r>
              <a:rPr lang="en-US" sz="1250" b="1" dirty="0">
                <a:solidFill>
                  <a:srgbClr val="21295C"/>
                </a:solidFill>
                <a:latin typeface="Cambria" pitchFamily="34" charset="0"/>
                <a:ea typeface="Cambria" pitchFamily="34" charset="-122"/>
                <a:cs typeface="Cambria" pitchFamily="34" charset="-120"/>
              </a:rPr>
              <a:t>2019~20</a:t>
            </a:r>
            <a:endParaRPr lang="en-US" sz="1250" dirty="0"/>
          </a:p>
        </p:txBody>
      </p:sp>
      <p:sp>
        <p:nvSpPr>
          <p:cNvPr id="42" name="Text 40"/>
          <p:cNvSpPr/>
          <p:nvPr/>
        </p:nvSpPr>
        <p:spPr>
          <a:xfrm>
            <a:off x="8046720" y="2596896"/>
            <a:ext cx="1517904" cy="694944"/>
          </a:xfrm>
          <a:prstGeom prst="rect">
            <a:avLst/>
          </a:prstGeom>
          <a:noFill/>
          <a:ln/>
        </p:spPr>
        <p:txBody>
          <a:bodyPr wrap="square" lIns="0" tIns="0" rIns="0" bIns="0" rtlCol="0" anchor="t"/>
          <a:lstStyle/>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LG SIGNATURE</a:t>
            </a:r>
            <a:endParaRPr lang="en-US" sz="1000" dirty="0"/>
          </a:p>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OLED R</a:t>
            </a:r>
            <a:endParaRPr lang="en-US" sz="1000" dirty="0"/>
          </a:p>
        </p:txBody>
      </p:sp>
      <p:sp>
        <p:nvSpPr>
          <p:cNvPr id="43" name="Shape 41"/>
          <p:cNvSpPr/>
          <p:nvPr/>
        </p:nvSpPr>
        <p:spPr>
          <a:xfrm>
            <a:off x="8101584" y="3419856"/>
            <a:ext cx="1408176" cy="566928"/>
          </a:xfrm>
          <a:prstGeom prst="roundRect">
            <a:avLst>
              <a:gd name="adj" fmla="val 11290"/>
            </a:avLst>
          </a:prstGeom>
          <a:solidFill>
            <a:srgbClr val="CFDCE8"/>
          </a:solidFill>
          <a:ln/>
        </p:spPr>
      </p:sp>
      <p:sp>
        <p:nvSpPr>
          <p:cNvPr id="44" name="Text 42"/>
          <p:cNvSpPr/>
          <p:nvPr/>
        </p:nvSpPr>
        <p:spPr>
          <a:xfrm>
            <a:off x="8101584" y="3419856"/>
            <a:ext cx="1408176" cy="566928"/>
          </a:xfrm>
          <a:prstGeom prst="rect">
            <a:avLst/>
          </a:prstGeom>
          <a:noFill/>
          <a:ln/>
        </p:spPr>
        <p:txBody>
          <a:bodyPr wrap="square" lIns="0" tIns="0" rIns="0" bIns="0" rtlCol="0" anchor="ctr"/>
          <a:lstStyle/>
          <a:p>
            <a:pPr algn="ctr" indent="0" marL="0">
              <a:buNone/>
            </a:pPr>
            <a:r>
              <a:rPr lang="en-US" sz="1000" b="1" dirty="0">
                <a:solidFill>
                  <a:srgbClr val="21295C"/>
                </a:solidFill>
                <a:latin typeface="Malgun Gothic" pitchFamily="34" charset="0"/>
                <a:ea typeface="Malgun Gothic" pitchFamily="34" charset="-122"/>
                <a:cs typeface="Malgun Gothic" pitchFamily="34" charset="-120"/>
              </a:rPr>
              <a:t>노출 면적만</a:t>
            </a:r>
            <a:endParaRPr lang="en-US" sz="1000" dirty="0"/>
          </a:p>
        </p:txBody>
      </p:sp>
      <p:sp>
        <p:nvSpPr>
          <p:cNvPr id="45" name="Text 43"/>
          <p:cNvSpPr/>
          <p:nvPr/>
        </p:nvSpPr>
        <p:spPr>
          <a:xfrm>
            <a:off x="8046720" y="4114800"/>
            <a:ext cx="1517904" cy="694944"/>
          </a:xfrm>
          <a:prstGeom prst="rect">
            <a:avLst/>
          </a:prstGeom>
          <a:noFill/>
          <a:ln/>
        </p:spPr>
        <p:txBody>
          <a:bodyPr wrap="square" lIns="0" tIns="0" rIns="0" bIns="0" rtlCol="0" anchor="t"/>
          <a:lstStyle/>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픽셀 간격</a:t>
            </a:r>
            <a:endParaRPr lang="en-US" sz="950" dirty="0"/>
          </a:p>
          <a:p>
            <a:pPr algn="ct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불변</a:t>
            </a:r>
            <a:endParaRPr lang="en-US" sz="950" dirty="0"/>
          </a:p>
        </p:txBody>
      </p:sp>
      <p:sp>
        <p:nvSpPr>
          <p:cNvPr id="46" name="Shape 44"/>
          <p:cNvSpPr/>
          <p:nvPr/>
        </p:nvSpPr>
        <p:spPr>
          <a:xfrm>
            <a:off x="9663379" y="3246120"/>
            <a:ext cx="132588" cy="182880"/>
          </a:xfrm>
          <a:prstGeom prst="rightArrow">
            <a:avLst/>
          </a:prstGeom>
          <a:solidFill>
            <a:srgbClr val="AEBECF"/>
          </a:solidFill>
          <a:ln/>
        </p:spPr>
      </p:sp>
      <p:sp>
        <p:nvSpPr>
          <p:cNvPr id="47" name="Shape 45"/>
          <p:cNvSpPr/>
          <p:nvPr/>
        </p:nvSpPr>
        <p:spPr>
          <a:xfrm>
            <a:off x="9802368" y="1810512"/>
            <a:ext cx="1700784" cy="3127248"/>
          </a:xfrm>
          <a:prstGeom prst="roundRect">
            <a:avLst>
              <a:gd name="adj" fmla="val 4839"/>
            </a:avLst>
          </a:prstGeom>
          <a:solidFill>
            <a:srgbClr val="FBEAE2"/>
          </a:solidFill>
          <a:ln w="19050">
            <a:solidFill>
              <a:srgbClr val="E2592C"/>
            </a:solidFill>
            <a:prstDash val="solid"/>
          </a:ln>
          <a:effectLst>
            <a:outerShdw sx="100000" sy="100000" kx="0" ky="0" algn="bl" rotWithShape="0" blurRad="101600" dist="25400" dir="5400000">
              <a:srgbClr val="7E90A8">
                <a:alpha val="14000"/>
              </a:srgbClr>
            </a:outerShdw>
          </a:effectLst>
        </p:spPr>
      </p:sp>
      <p:sp>
        <p:nvSpPr>
          <p:cNvPr id="48" name="Text 46"/>
          <p:cNvSpPr/>
          <p:nvPr/>
        </p:nvSpPr>
        <p:spPr>
          <a:xfrm>
            <a:off x="9875520" y="1975104"/>
            <a:ext cx="1554480" cy="274320"/>
          </a:xfrm>
          <a:prstGeom prst="rect">
            <a:avLst/>
          </a:prstGeom>
          <a:noFill/>
          <a:ln/>
        </p:spPr>
        <p:txBody>
          <a:bodyPr wrap="square" lIns="0" tIns="0" rIns="0" bIns="0" rtlCol="0" anchor="ctr"/>
          <a:lstStyle/>
          <a:p>
            <a:pPr algn="ctr" indent="0" marL="0">
              <a:buNone/>
            </a:pPr>
            <a:r>
              <a:rPr lang="en-US" sz="1150" b="1" dirty="0">
                <a:solidFill>
                  <a:srgbClr val="E2592C"/>
                </a:solidFill>
                <a:latin typeface="Malgun Gothic" pitchFamily="34" charset="0"/>
                <a:ea typeface="Malgun Gothic" pitchFamily="34" charset="-122"/>
                <a:cs typeface="Malgun Gothic" pitchFamily="34" charset="-120"/>
              </a:rPr>
              <a:t>STRETCHABLE</a:t>
            </a:r>
            <a:endParaRPr lang="en-US" sz="1150" dirty="0"/>
          </a:p>
        </p:txBody>
      </p:sp>
      <p:sp>
        <p:nvSpPr>
          <p:cNvPr id="49" name="Text 47"/>
          <p:cNvSpPr/>
          <p:nvPr/>
        </p:nvSpPr>
        <p:spPr>
          <a:xfrm>
            <a:off x="9875520" y="2249424"/>
            <a:ext cx="1554480" cy="237744"/>
          </a:xfrm>
          <a:prstGeom prst="rect">
            <a:avLst/>
          </a:prstGeom>
          <a:noFill/>
          <a:ln/>
        </p:spPr>
        <p:txBody>
          <a:bodyPr wrap="square" lIns="0" tIns="0" rIns="0" bIns="0" rtlCol="0" anchor="ctr"/>
          <a:lstStyle/>
          <a:p>
            <a:pPr algn="ctr" indent="0" marL="0">
              <a:buNone/>
            </a:pPr>
            <a:r>
              <a:rPr lang="en-US" sz="1250" b="1" dirty="0">
                <a:solidFill>
                  <a:srgbClr val="21295C"/>
                </a:solidFill>
                <a:latin typeface="Cambria" pitchFamily="34" charset="0"/>
                <a:ea typeface="Cambria" pitchFamily="34" charset="-122"/>
                <a:cs typeface="Cambria" pitchFamily="34" charset="-120"/>
              </a:rPr>
              <a:t>2017~</a:t>
            </a:r>
            <a:endParaRPr lang="en-US" sz="1250" dirty="0"/>
          </a:p>
        </p:txBody>
      </p:sp>
      <p:sp>
        <p:nvSpPr>
          <p:cNvPr id="50" name="Text 48"/>
          <p:cNvSpPr/>
          <p:nvPr/>
        </p:nvSpPr>
        <p:spPr>
          <a:xfrm>
            <a:off x="9893808" y="2596896"/>
            <a:ext cx="1517904" cy="694944"/>
          </a:xfrm>
          <a:prstGeom prst="rect">
            <a:avLst/>
          </a:prstGeom>
          <a:noFill/>
          <a:ln/>
        </p:spPr>
        <p:txBody>
          <a:bodyPr wrap="square" lIns="0" tIns="0" rIns="0" bIns="0" rtlCol="0" anchor="t"/>
          <a:lstStyle/>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Samsung 9.1"</a:t>
            </a:r>
            <a:endParaRPr lang="en-US" sz="1000" dirty="0"/>
          </a:p>
          <a:p>
            <a:pPr algn="ctr" indent="0" marL="0">
              <a:lnSpc>
                <a:spcPts val="1500"/>
              </a:lnSpc>
              <a:buNone/>
            </a:pPr>
            <a:r>
              <a:rPr lang="en-US" sz="1000" dirty="0">
                <a:solidFill>
                  <a:srgbClr val="1E2739"/>
                </a:solidFill>
                <a:latin typeface="Malgun Gothic" pitchFamily="34" charset="0"/>
                <a:ea typeface="Malgun Gothic" pitchFamily="34" charset="-122"/>
                <a:cs typeface="Malgun Gothic" pitchFamily="34" charset="-120"/>
              </a:rPr>
              <a:t>LG 12" micro-LED</a:t>
            </a:r>
            <a:endParaRPr lang="en-US" sz="1000" dirty="0"/>
          </a:p>
        </p:txBody>
      </p:sp>
      <p:sp>
        <p:nvSpPr>
          <p:cNvPr id="51" name="Shape 49"/>
          <p:cNvSpPr/>
          <p:nvPr/>
        </p:nvSpPr>
        <p:spPr>
          <a:xfrm>
            <a:off x="9948672" y="3419856"/>
            <a:ext cx="1408176" cy="566928"/>
          </a:xfrm>
          <a:prstGeom prst="roundRect">
            <a:avLst>
              <a:gd name="adj" fmla="val 11290"/>
            </a:avLst>
          </a:prstGeom>
          <a:solidFill>
            <a:srgbClr val="E2592C"/>
          </a:solidFill>
          <a:ln/>
        </p:spPr>
      </p:sp>
      <p:sp>
        <p:nvSpPr>
          <p:cNvPr id="52" name="Text 50"/>
          <p:cNvSpPr/>
          <p:nvPr/>
        </p:nvSpPr>
        <p:spPr>
          <a:xfrm>
            <a:off x="9948672" y="3419856"/>
            <a:ext cx="1408176"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면적이 실제로 증가</a:t>
            </a:r>
            <a:endParaRPr lang="en-US" sz="1000" dirty="0"/>
          </a:p>
        </p:txBody>
      </p:sp>
      <p:sp>
        <p:nvSpPr>
          <p:cNvPr id="53" name="Text 51"/>
          <p:cNvSpPr/>
          <p:nvPr/>
        </p:nvSpPr>
        <p:spPr>
          <a:xfrm>
            <a:off x="9893808" y="4114800"/>
            <a:ext cx="1517904" cy="694944"/>
          </a:xfrm>
          <a:prstGeom prst="rect">
            <a:avLst/>
          </a:prstGeom>
          <a:noFill/>
          <a:ln/>
        </p:spPr>
        <p:txBody>
          <a:bodyPr wrap="square" lIns="0" tIns="0" rIns="0" bIns="0" rtlCol="0" anchor="t"/>
          <a:lstStyle/>
          <a:p>
            <a:pPr algn="ctr" indent="0" marL="0">
              <a:lnSpc>
                <a:spcPts val="1400"/>
              </a:lnSpc>
              <a:buNone/>
            </a:pPr>
            <a:r>
              <a:rPr lang="en-US" sz="950" b="1" dirty="0">
                <a:solidFill>
                  <a:srgbClr val="E2592C"/>
                </a:solidFill>
                <a:latin typeface="Malgun Gothic" pitchFamily="34" charset="0"/>
                <a:ea typeface="Malgun Gothic" pitchFamily="34" charset="-122"/>
                <a:cs typeface="Malgun Gothic" pitchFamily="34" charset="-120"/>
              </a:rPr>
              <a:t>픽셀 간격이</a:t>
            </a:r>
            <a:endParaRPr lang="en-US" sz="950" dirty="0"/>
          </a:p>
          <a:p>
            <a:pPr algn="ctr" indent="0" marL="0">
              <a:lnSpc>
                <a:spcPts val="1400"/>
              </a:lnSpc>
              <a:buNone/>
            </a:pPr>
            <a:r>
              <a:rPr lang="en-US" sz="950" b="1" dirty="0">
                <a:solidFill>
                  <a:srgbClr val="E2592C"/>
                </a:solidFill>
                <a:latin typeface="Malgun Gothic" pitchFamily="34" charset="0"/>
                <a:ea typeface="Malgun Gothic" pitchFamily="34" charset="-122"/>
                <a:cs typeface="Malgun Gothic" pitchFamily="34" charset="-120"/>
              </a:rPr>
              <a:t>실제로 벌어진다</a:t>
            </a:r>
            <a:endParaRPr lang="en-US" sz="950" dirty="0"/>
          </a:p>
        </p:txBody>
      </p:sp>
      <p:sp>
        <p:nvSpPr>
          <p:cNvPr id="54" name="Shape 52"/>
          <p:cNvSpPr/>
          <p:nvPr/>
        </p:nvSpPr>
        <p:spPr>
          <a:xfrm>
            <a:off x="566928" y="5138928"/>
            <a:ext cx="11057839" cy="950976"/>
          </a:xfrm>
          <a:prstGeom prst="roundRect">
            <a:avLst>
              <a:gd name="adj" fmla="val 8654"/>
            </a:avLst>
          </a:prstGeom>
          <a:solidFill>
            <a:srgbClr val="E2EBF3"/>
          </a:solidFill>
          <a:ln/>
          <a:effectLst>
            <a:outerShdw sx="100000" sy="100000" kx="0" ky="0" algn="bl" rotWithShape="0" blurRad="114300" dist="25400" dir="5400000">
              <a:srgbClr val="7E90A8">
                <a:alpha val="16000"/>
              </a:srgbClr>
            </a:outerShdw>
          </a:effectLst>
        </p:spPr>
      </p:sp>
      <p:sp>
        <p:nvSpPr>
          <p:cNvPr id="55" name="Text 53"/>
          <p:cNvSpPr/>
          <p:nvPr/>
        </p:nvSpPr>
        <p:spPr>
          <a:xfrm>
            <a:off x="859536" y="5138928"/>
            <a:ext cx="10472623" cy="950976"/>
          </a:xfrm>
          <a:prstGeom prst="rect">
            <a:avLst/>
          </a:prstGeom>
          <a:noFill/>
          <a:ln/>
        </p:spPr>
        <p:txBody>
          <a:bodyPr wrap="square" lIns="0" tIns="0" rIns="0" bIns="0" rtlCol="0" anchor="ctr"/>
          <a:lstStyle/>
          <a:p>
            <a:pPr indent="0" marL="0">
              <a:lnSpc>
                <a:spcPts val="2000"/>
              </a:lnSpc>
              <a:buNone/>
            </a:pPr>
            <a:r>
              <a:rPr lang="en-US" sz="1250" b="1" dirty="0">
                <a:solidFill>
                  <a:srgbClr val="E2592C"/>
                </a:solidFill>
                <a:latin typeface="Malgun Gothic" pitchFamily="34" charset="0"/>
                <a:ea typeface="Malgun Gothic" pitchFamily="34" charset="-122"/>
                <a:cs typeface="Malgun Gothic" pitchFamily="34" charset="-120"/>
              </a:rPr>
              <a:t>핵심:  </a:t>
            </a:r>
            <a:pPr indent="0" marL="0">
              <a:lnSpc>
                <a:spcPts val="2000"/>
              </a:lnSpc>
              <a:buNone/>
            </a:pPr>
            <a:r>
              <a:rPr lang="en-US" sz="1250" dirty="0">
                <a:solidFill>
                  <a:srgbClr val="1E2739"/>
                </a:solidFill>
                <a:latin typeface="Malgun Gothic" pitchFamily="34" charset="0"/>
                <a:ea typeface="Malgun Gothic" pitchFamily="34" charset="-122"/>
                <a:cs typeface="Malgun Gothic" pitchFamily="34" charset="-120"/>
              </a:rPr>
              <a:t>커브드부터 롤러블까지는 모두 </a:t>
            </a:r>
            <a:pPr indent="0" marL="0">
              <a:lnSpc>
                <a:spcPts val="2000"/>
              </a:lnSpc>
              <a:buNone/>
            </a:pPr>
            <a:r>
              <a:rPr lang="en-US" sz="1250" b="1" dirty="0">
                <a:solidFill>
                  <a:srgbClr val="21295C"/>
                </a:solidFill>
                <a:latin typeface="Malgun Gothic" pitchFamily="34" charset="0"/>
                <a:ea typeface="Malgun Gothic" pitchFamily="34" charset="-122"/>
                <a:cs typeface="Malgun Gothic" pitchFamily="34" charset="-120"/>
              </a:rPr>
              <a:t>'형태'</a:t>
            </a:r>
            <a:pPr indent="0" marL="0">
              <a:lnSpc>
                <a:spcPts val="2000"/>
              </a:lnSpc>
              <a:buNone/>
            </a:pPr>
            <a:r>
              <a:rPr lang="en-US" sz="1250" dirty="0">
                <a:solidFill>
                  <a:srgbClr val="1E2739"/>
                </a:solidFill>
                <a:latin typeface="Malgun Gothic" pitchFamily="34" charset="0"/>
                <a:ea typeface="Malgun Gothic" pitchFamily="34" charset="-122"/>
                <a:cs typeface="Malgun Gothic" pitchFamily="34" charset="-120"/>
              </a:rPr>
              <a:t>만 바뀌었다. 화면의 물리적 면적과 픽셀 간격은 그대로였다.  스트레처블은 폼팩터 역사상 처음으로 </a:t>
            </a:r>
            <a:pPr indent="0" marL="0">
              <a:lnSpc>
                <a:spcPts val="2000"/>
              </a:lnSpc>
              <a:buNone/>
            </a:pPr>
            <a:r>
              <a:rPr lang="en-US" sz="1250" b="1" dirty="0">
                <a:solidFill>
                  <a:srgbClr val="E2592C"/>
                </a:solidFill>
                <a:latin typeface="Malgun Gothic" pitchFamily="34" charset="0"/>
                <a:ea typeface="Malgun Gothic" pitchFamily="34" charset="-122"/>
                <a:cs typeface="Malgun Gothic" pitchFamily="34" charset="-120"/>
              </a:rPr>
              <a:t>화면 면적 자체가 커지는</a:t>
            </a:r>
            <a:pPr indent="0" marL="0">
              <a:lnSpc>
                <a:spcPts val="2000"/>
              </a:lnSpc>
              <a:buNone/>
            </a:pPr>
            <a:r>
              <a:rPr lang="en-US" sz="1250" dirty="0">
                <a:solidFill>
                  <a:srgbClr val="1E2739"/>
                </a:solidFill>
                <a:latin typeface="Malgun Gothic" pitchFamily="34" charset="0"/>
                <a:ea typeface="Malgun Gothic" pitchFamily="34" charset="-122"/>
                <a:cs typeface="Malgun Gothic" pitchFamily="34" charset="-120"/>
              </a:rPr>
              <a:t> 단계다.</a:t>
            </a:r>
            <a:endParaRPr lang="en-US" sz="1250" dirty="0"/>
          </a:p>
        </p:txBody>
      </p:sp>
      <p:sp>
        <p:nvSpPr>
          <p:cNvPr id="56" name="Text 54"/>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연도·사례는 각 사 공개 발표 기준의 대표 사례</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6</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MILESTONES</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스트레처블 디스플레이, 어디까지 왔나</a:t>
            </a:r>
            <a:endParaRPr lang="en-US" sz="2800" dirty="0"/>
          </a:p>
        </p:txBody>
      </p:sp>
      <p:sp>
        <p:nvSpPr>
          <p:cNvPr id="6" name="Shape 4"/>
          <p:cNvSpPr/>
          <p:nvPr/>
        </p:nvSpPr>
        <p:spPr>
          <a:xfrm>
            <a:off x="566928" y="1481328"/>
            <a:ext cx="2615184" cy="2980944"/>
          </a:xfrm>
          <a:prstGeom prst="roundRect">
            <a:avLst>
              <a:gd name="adj" fmla="val 3147"/>
            </a:avLst>
          </a:prstGeom>
          <a:solidFill>
            <a:srgbClr val="EFF4F9"/>
          </a:solidFill>
          <a:ln/>
          <a:effectLst>
            <a:outerShdw sx="100000" sy="100000" kx="0" ky="0" algn="bl" rotWithShape="0" blurRad="114300" dist="25400" dir="5400000">
              <a:srgbClr val="7E90A8">
                <a:alpha val="16000"/>
              </a:srgbClr>
            </a:outerShdw>
          </a:effectLst>
        </p:spPr>
      </p:sp>
      <p:sp>
        <p:nvSpPr>
          <p:cNvPr id="7" name="Shape 5"/>
          <p:cNvSpPr/>
          <p:nvPr/>
        </p:nvSpPr>
        <p:spPr>
          <a:xfrm>
            <a:off x="822960" y="1737360"/>
            <a:ext cx="896112" cy="347472"/>
          </a:xfrm>
          <a:prstGeom prst="roundRect">
            <a:avLst>
              <a:gd name="adj" fmla="val 50000"/>
            </a:avLst>
          </a:prstGeom>
          <a:solidFill>
            <a:srgbClr val="065A82"/>
          </a:solidFill>
          <a:ln/>
        </p:spPr>
      </p:sp>
      <p:sp>
        <p:nvSpPr>
          <p:cNvPr id="8" name="Text 6"/>
          <p:cNvSpPr/>
          <p:nvPr/>
        </p:nvSpPr>
        <p:spPr>
          <a:xfrm>
            <a:off x="822960" y="1737360"/>
            <a:ext cx="89611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2017</a:t>
            </a:r>
            <a:endParaRPr lang="en-US" sz="1400" dirty="0"/>
          </a:p>
        </p:txBody>
      </p:sp>
      <p:sp>
        <p:nvSpPr>
          <p:cNvPr id="9" name="Text 7"/>
          <p:cNvSpPr/>
          <p:nvPr/>
        </p:nvSpPr>
        <p:spPr>
          <a:xfrm>
            <a:off x="822960" y="2212848"/>
            <a:ext cx="2121408" cy="292608"/>
          </a:xfrm>
          <a:prstGeom prst="rect">
            <a:avLst/>
          </a:prstGeom>
          <a:noFill/>
          <a:ln/>
        </p:spPr>
        <p:txBody>
          <a:bodyPr wrap="square" lIns="0" tIns="0" rIns="0" bIns="0" rtlCol="0" anchor="ctr"/>
          <a:lstStyle/>
          <a:p>
            <a:pPr indent="0" marL="0">
              <a:buNone/>
            </a:pPr>
            <a:r>
              <a:rPr lang="en-US" sz="1300" b="1" dirty="0">
                <a:solidFill>
                  <a:srgbClr val="21295C"/>
                </a:solidFill>
                <a:latin typeface="Malgun Gothic" pitchFamily="34" charset="0"/>
                <a:ea typeface="Malgun Gothic" pitchFamily="34" charset="-122"/>
                <a:cs typeface="Malgun Gothic" pitchFamily="34" charset="-120"/>
              </a:rPr>
              <a:t>Samsung Display</a:t>
            </a:r>
            <a:endParaRPr lang="en-US" sz="1300" dirty="0"/>
          </a:p>
        </p:txBody>
      </p:sp>
      <p:sp>
        <p:nvSpPr>
          <p:cNvPr id="10" name="Text 8"/>
          <p:cNvSpPr/>
          <p:nvPr/>
        </p:nvSpPr>
        <p:spPr>
          <a:xfrm>
            <a:off x="822960" y="2578608"/>
            <a:ext cx="2121408" cy="1645920"/>
          </a:xfrm>
          <a:prstGeom prst="rect">
            <a:avLst/>
          </a:prstGeom>
          <a:noFill/>
          <a:ln/>
        </p:spPr>
        <p:txBody>
          <a:bodyPr wrap="square" lIns="0" tIns="0" rIns="0" bIns="0" rtlCol="0" anchor="t"/>
          <a:lstStyle/>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9.1" stretchable AMOLED (SID)</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최초의 스트레처블 OLED 시연</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신축률 약 5% 수준</a:t>
            </a:r>
            <a:endParaRPr lang="en-US" sz="1100" dirty="0"/>
          </a:p>
        </p:txBody>
      </p:sp>
      <p:sp>
        <p:nvSpPr>
          <p:cNvPr id="11" name="Shape 9"/>
          <p:cNvSpPr/>
          <p:nvPr/>
        </p:nvSpPr>
        <p:spPr>
          <a:xfrm>
            <a:off x="3355848" y="1481328"/>
            <a:ext cx="2615184" cy="2980944"/>
          </a:xfrm>
          <a:prstGeom prst="roundRect">
            <a:avLst>
              <a:gd name="adj" fmla="val 3147"/>
            </a:avLst>
          </a:prstGeom>
          <a:solidFill>
            <a:srgbClr val="EFF4F9"/>
          </a:solidFill>
          <a:ln/>
          <a:effectLst>
            <a:outerShdw sx="100000" sy="100000" kx="0" ky="0" algn="bl" rotWithShape="0" blurRad="114300" dist="25400" dir="5400000">
              <a:srgbClr val="7E90A8">
                <a:alpha val="16000"/>
              </a:srgbClr>
            </a:outerShdw>
          </a:effectLst>
        </p:spPr>
      </p:sp>
      <p:sp>
        <p:nvSpPr>
          <p:cNvPr id="12" name="Shape 10"/>
          <p:cNvSpPr/>
          <p:nvPr/>
        </p:nvSpPr>
        <p:spPr>
          <a:xfrm>
            <a:off x="3611880" y="1737360"/>
            <a:ext cx="896112" cy="347472"/>
          </a:xfrm>
          <a:prstGeom prst="roundRect">
            <a:avLst>
              <a:gd name="adj" fmla="val 50000"/>
            </a:avLst>
          </a:prstGeom>
          <a:solidFill>
            <a:srgbClr val="1C7293"/>
          </a:solidFill>
          <a:ln/>
        </p:spPr>
      </p:sp>
      <p:sp>
        <p:nvSpPr>
          <p:cNvPr id="13" name="Text 11"/>
          <p:cNvSpPr/>
          <p:nvPr/>
        </p:nvSpPr>
        <p:spPr>
          <a:xfrm>
            <a:off x="3611880" y="1737360"/>
            <a:ext cx="89611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2022</a:t>
            </a:r>
            <a:endParaRPr lang="en-US" sz="1400" dirty="0"/>
          </a:p>
        </p:txBody>
      </p:sp>
      <p:sp>
        <p:nvSpPr>
          <p:cNvPr id="14" name="Text 12"/>
          <p:cNvSpPr/>
          <p:nvPr/>
        </p:nvSpPr>
        <p:spPr>
          <a:xfrm>
            <a:off x="3611880" y="2212848"/>
            <a:ext cx="2121408" cy="292608"/>
          </a:xfrm>
          <a:prstGeom prst="rect">
            <a:avLst/>
          </a:prstGeom>
          <a:noFill/>
          <a:ln/>
        </p:spPr>
        <p:txBody>
          <a:bodyPr wrap="square" lIns="0" tIns="0" rIns="0" bIns="0" rtlCol="0" anchor="ctr"/>
          <a:lstStyle/>
          <a:p>
            <a:pPr indent="0" marL="0">
              <a:buNone/>
            </a:pPr>
            <a:r>
              <a:rPr lang="en-US" sz="1300" b="1" dirty="0">
                <a:solidFill>
                  <a:srgbClr val="21295C"/>
                </a:solidFill>
                <a:latin typeface="Malgun Gothic" pitchFamily="34" charset="0"/>
                <a:ea typeface="Malgun Gothic" pitchFamily="34" charset="-122"/>
                <a:cs typeface="Malgun Gothic" pitchFamily="34" charset="-120"/>
              </a:rPr>
              <a:t>LG Display</a:t>
            </a:r>
            <a:endParaRPr lang="en-US" sz="1300" dirty="0"/>
          </a:p>
        </p:txBody>
      </p:sp>
      <p:sp>
        <p:nvSpPr>
          <p:cNvPr id="15" name="Text 13"/>
          <p:cNvSpPr/>
          <p:nvPr/>
        </p:nvSpPr>
        <p:spPr>
          <a:xfrm>
            <a:off x="3611880" y="2578608"/>
            <a:ext cx="2121408" cy="1645920"/>
          </a:xfrm>
          <a:prstGeom prst="rect">
            <a:avLst/>
          </a:prstGeom>
          <a:noFill/>
          <a:ln/>
        </p:spPr>
        <p:txBody>
          <a:bodyPr wrap="square" lIns="0" tIns="0" rIns="0" bIns="0" rtlCol="0" anchor="t"/>
          <a:lstStyle/>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12" micro-LED stretchable</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100 ppi · full RGB · 20% 신축</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12 → 14인치로 확대</a:t>
            </a:r>
            <a:endParaRPr lang="en-US" sz="1100" dirty="0"/>
          </a:p>
        </p:txBody>
      </p:sp>
      <p:sp>
        <p:nvSpPr>
          <p:cNvPr id="16" name="Shape 14"/>
          <p:cNvSpPr/>
          <p:nvPr/>
        </p:nvSpPr>
        <p:spPr>
          <a:xfrm>
            <a:off x="6144768" y="1481328"/>
            <a:ext cx="2615184" cy="2980944"/>
          </a:xfrm>
          <a:prstGeom prst="roundRect">
            <a:avLst>
              <a:gd name="adj" fmla="val 3147"/>
            </a:avLst>
          </a:prstGeom>
          <a:solidFill>
            <a:srgbClr val="EFF4F9"/>
          </a:solidFill>
          <a:ln/>
          <a:effectLst>
            <a:outerShdw sx="100000" sy="100000" kx="0" ky="0" algn="bl" rotWithShape="0" blurRad="114300" dist="25400" dir="5400000">
              <a:srgbClr val="7E90A8">
                <a:alpha val="16000"/>
              </a:srgbClr>
            </a:outerShdw>
          </a:effectLst>
        </p:spPr>
      </p:sp>
      <p:sp>
        <p:nvSpPr>
          <p:cNvPr id="17" name="Shape 15"/>
          <p:cNvSpPr/>
          <p:nvPr/>
        </p:nvSpPr>
        <p:spPr>
          <a:xfrm>
            <a:off x="6400800" y="1737360"/>
            <a:ext cx="896112" cy="347472"/>
          </a:xfrm>
          <a:prstGeom prst="roundRect">
            <a:avLst>
              <a:gd name="adj" fmla="val 50000"/>
            </a:avLst>
          </a:prstGeom>
          <a:solidFill>
            <a:srgbClr val="1C7293"/>
          </a:solidFill>
          <a:ln/>
        </p:spPr>
      </p:sp>
      <p:sp>
        <p:nvSpPr>
          <p:cNvPr id="18" name="Text 16"/>
          <p:cNvSpPr/>
          <p:nvPr/>
        </p:nvSpPr>
        <p:spPr>
          <a:xfrm>
            <a:off x="6400800" y="1737360"/>
            <a:ext cx="89611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2024</a:t>
            </a:r>
            <a:endParaRPr lang="en-US" sz="1400" dirty="0"/>
          </a:p>
        </p:txBody>
      </p:sp>
      <p:sp>
        <p:nvSpPr>
          <p:cNvPr id="19" name="Text 17"/>
          <p:cNvSpPr/>
          <p:nvPr/>
        </p:nvSpPr>
        <p:spPr>
          <a:xfrm>
            <a:off x="6400800" y="2212848"/>
            <a:ext cx="2121408" cy="292608"/>
          </a:xfrm>
          <a:prstGeom prst="rect">
            <a:avLst/>
          </a:prstGeom>
          <a:noFill/>
          <a:ln/>
        </p:spPr>
        <p:txBody>
          <a:bodyPr wrap="square" lIns="0" tIns="0" rIns="0" bIns="0" rtlCol="0" anchor="ctr"/>
          <a:lstStyle/>
          <a:p>
            <a:pPr indent="0" marL="0">
              <a:buNone/>
            </a:pPr>
            <a:r>
              <a:rPr lang="en-US" sz="1300" b="1" dirty="0">
                <a:solidFill>
                  <a:srgbClr val="21295C"/>
                </a:solidFill>
                <a:latin typeface="Malgun Gothic" pitchFamily="34" charset="0"/>
                <a:ea typeface="Malgun Gothic" pitchFamily="34" charset="-122"/>
                <a:cs typeface="Malgun Gothic" pitchFamily="34" charset="-120"/>
              </a:rPr>
              <a:t>LG Display</a:t>
            </a:r>
            <a:endParaRPr lang="en-US" sz="1300" dirty="0"/>
          </a:p>
        </p:txBody>
      </p:sp>
      <p:sp>
        <p:nvSpPr>
          <p:cNvPr id="20" name="Text 18"/>
          <p:cNvSpPr/>
          <p:nvPr/>
        </p:nvSpPr>
        <p:spPr>
          <a:xfrm>
            <a:off x="6400800" y="2578608"/>
            <a:ext cx="2121408" cy="1645920"/>
          </a:xfrm>
          <a:prstGeom prst="rect">
            <a:avLst/>
          </a:prstGeom>
          <a:noFill/>
          <a:ln/>
        </p:spPr>
        <p:txBody>
          <a:bodyPr wrap="square" lIns="0" tIns="0" rIns="0" bIns="0" rtlCol="0" anchor="t"/>
          <a:lstStyle/>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12" full-color stretchable</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신축률 20% → 50%로 향상</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12 → 18인치까지 확대 시연</a:t>
            </a:r>
            <a:endParaRPr lang="en-US" sz="1100" dirty="0"/>
          </a:p>
        </p:txBody>
      </p:sp>
      <p:sp>
        <p:nvSpPr>
          <p:cNvPr id="21" name="Shape 19"/>
          <p:cNvSpPr/>
          <p:nvPr/>
        </p:nvSpPr>
        <p:spPr>
          <a:xfrm>
            <a:off x="8933688" y="1481328"/>
            <a:ext cx="2615184" cy="2980944"/>
          </a:xfrm>
          <a:prstGeom prst="roundRect">
            <a:avLst>
              <a:gd name="adj" fmla="val 3147"/>
            </a:avLst>
          </a:prstGeom>
          <a:solidFill>
            <a:srgbClr val="EFF4F9"/>
          </a:solidFill>
          <a:ln/>
          <a:effectLst>
            <a:outerShdw sx="100000" sy="100000" kx="0" ky="0" algn="bl" rotWithShape="0" blurRad="114300" dist="25400" dir="5400000">
              <a:srgbClr val="7E90A8">
                <a:alpha val="16000"/>
              </a:srgbClr>
            </a:outerShdw>
          </a:effectLst>
        </p:spPr>
      </p:sp>
      <p:sp>
        <p:nvSpPr>
          <p:cNvPr id="22" name="Shape 20"/>
          <p:cNvSpPr/>
          <p:nvPr/>
        </p:nvSpPr>
        <p:spPr>
          <a:xfrm>
            <a:off x="9189720" y="1737360"/>
            <a:ext cx="896112" cy="347472"/>
          </a:xfrm>
          <a:prstGeom prst="roundRect">
            <a:avLst>
              <a:gd name="adj" fmla="val 50000"/>
            </a:avLst>
          </a:prstGeom>
          <a:solidFill>
            <a:srgbClr val="E2592C"/>
          </a:solidFill>
          <a:ln/>
        </p:spPr>
      </p:sp>
      <p:sp>
        <p:nvSpPr>
          <p:cNvPr id="23" name="Text 21"/>
          <p:cNvSpPr/>
          <p:nvPr/>
        </p:nvSpPr>
        <p:spPr>
          <a:xfrm>
            <a:off x="9189720" y="1737360"/>
            <a:ext cx="89611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2025</a:t>
            </a:r>
            <a:endParaRPr lang="en-US" sz="1400" dirty="0"/>
          </a:p>
        </p:txBody>
      </p:sp>
      <p:sp>
        <p:nvSpPr>
          <p:cNvPr id="24" name="Text 22"/>
          <p:cNvSpPr/>
          <p:nvPr/>
        </p:nvSpPr>
        <p:spPr>
          <a:xfrm>
            <a:off x="9189720" y="2212848"/>
            <a:ext cx="2121408" cy="292608"/>
          </a:xfrm>
          <a:prstGeom prst="rect">
            <a:avLst/>
          </a:prstGeom>
          <a:noFill/>
          <a:ln/>
        </p:spPr>
        <p:txBody>
          <a:bodyPr wrap="square" lIns="0" tIns="0" rIns="0" bIns="0" rtlCol="0" anchor="ctr"/>
          <a:lstStyle/>
          <a:p>
            <a:pPr indent="0" marL="0">
              <a:buNone/>
            </a:pPr>
            <a:r>
              <a:rPr lang="en-US" sz="1300" b="1" dirty="0">
                <a:solidFill>
                  <a:srgbClr val="21295C"/>
                </a:solidFill>
                <a:latin typeface="Malgun Gothic" pitchFamily="34" charset="0"/>
                <a:ea typeface="Malgun Gothic" pitchFamily="34" charset="-122"/>
                <a:cs typeface="Malgun Gothic" pitchFamily="34" charset="-120"/>
              </a:rPr>
              <a:t>CES 2025</a:t>
            </a:r>
            <a:endParaRPr lang="en-US" sz="1300" dirty="0"/>
          </a:p>
        </p:txBody>
      </p:sp>
      <p:sp>
        <p:nvSpPr>
          <p:cNvPr id="25" name="Text 23"/>
          <p:cNvSpPr/>
          <p:nvPr/>
        </p:nvSpPr>
        <p:spPr>
          <a:xfrm>
            <a:off x="9189720" y="2578608"/>
            <a:ext cx="2121408" cy="1645920"/>
          </a:xfrm>
          <a:prstGeom prst="rect">
            <a:avLst/>
          </a:prstGeom>
          <a:noFill/>
          <a:ln/>
        </p:spPr>
        <p:txBody>
          <a:bodyPr wrap="square" lIns="0" tIns="0" rIns="0" bIns="0" rtlCol="0" anchor="t"/>
          <a:lstStyle/>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Samsung Display micro-LED</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최대 25% 돌출(bulge) 시연</a:t>
            </a:r>
            <a:endParaRPr lang="en-US" sz="1100" dirty="0"/>
          </a:p>
          <a:p>
            <a:pPr indent="0" marL="0">
              <a:lnSpc>
                <a:spcPts val="1800"/>
              </a:lnSpc>
              <a:buNone/>
            </a:pPr>
            <a:r>
              <a:rPr lang="en-US" sz="1100" dirty="0">
                <a:solidFill>
                  <a:srgbClr val="1E2739"/>
                </a:solidFill>
                <a:latin typeface="Malgun Gothic" pitchFamily="34" charset="0"/>
                <a:ea typeface="Malgun Gothic" pitchFamily="34" charset="-122"/>
                <a:cs typeface="Malgun Gothic" pitchFamily="34" charset="-120"/>
              </a:rPr>
              <a:t>Slidable / Rollable 라인업 동반</a:t>
            </a:r>
            <a:endParaRPr lang="en-US" sz="1100" dirty="0"/>
          </a:p>
        </p:txBody>
      </p:sp>
      <p:sp>
        <p:nvSpPr>
          <p:cNvPr id="26" name="Shape 24"/>
          <p:cNvSpPr/>
          <p:nvPr/>
        </p:nvSpPr>
        <p:spPr>
          <a:xfrm>
            <a:off x="566928" y="4663440"/>
            <a:ext cx="11057839" cy="1426464"/>
          </a:xfrm>
          <a:prstGeom prst="roundRect">
            <a:avLst>
              <a:gd name="adj" fmla="val 5769"/>
            </a:avLst>
          </a:prstGeom>
          <a:solidFill>
            <a:srgbClr val="FBEAE2"/>
          </a:solidFill>
          <a:ln/>
          <a:effectLst>
            <a:outerShdw sx="100000" sy="100000" kx="0" ky="0" algn="bl" rotWithShape="0" blurRad="114300" dist="25400" dir="5400000">
              <a:srgbClr val="7E90A8">
                <a:alpha val="16000"/>
              </a:srgbClr>
            </a:outerShdw>
          </a:effectLst>
        </p:spPr>
      </p:sp>
      <p:sp>
        <p:nvSpPr>
          <p:cNvPr id="27" name="Text 25"/>
          <p:cNvSpPr/>
          <p:nvPr/>
        </p:nvSpPr>
        <p:spPr>
          <a:xfrm>
            <a:off x="877824" y="4828032"/>
            <a:ext cx="10241280" cy="292608"/>
          </a:xfrm>
          <a:prstGeom prst="rect">
            <a:avLst/>
          </a:prstGeom>
          <a:noFill/>
          <a:ln/>
        </p:spPr>
        <p:txBody>
          <a:bodyPr wrap="square" lIns="0" tIns="0" rIns="0" bIns="0" rtlCol="0" anchor="ctr"/>
          <a:lstStyle/>
          <a:p>
            <a:pPr indent="0" marL="0">
              <a:buNone/>
            </a:pPr>
            <a:r>
              <a:rPr lang="en-US" sz="1450" b="1" dirty="0">
                <a:solidFill>
                  <a:srgbClr val="E2592C"/>
                </a:solidFill>
                <a:latin typeface="Malgun Gothic" pitchFamily="34" charset="0"/>
                <a:ea typeface="Malgun Gothic" pitchFamily="34" charset="-122"/>
                <a:cs typeface="Malgun Gothic" pitchFamily="34" charset="-120"/>
              </a:rPr>
              <a:t>그런데 — CES 시연 영상을 자세히 보면</a:t>
            </a:r>
            <a:endParaRPr lang="en-US" sz="1450" dirty="0"/>
          </a:p>
        </p:txBody>
      </p:sp>
      <p:sp>
        <p:nvSpPr>
          <p:cNvPr id="28" name="Text 26"/>
          <p:cNvSpPr/>
          <p:nvPr/>
        </p:nvSpPr>
        <p:spPr>
          <a:xfrm>
            <a:off x="877824" y="5212080"/>
            <a:ext cx="10241280" cy="822960"/>
          </a:xfrm>
          <a:prstGeom prst="rect">
            <a:avLst/>
          </a:prstGeom>
          <a:noFill/>
          <a:ln/>
        </p:spPr>
        <p:txBody>
          <a:bodyPr wrap="square" lIns="0" tIns="0" rIns="0" bIns="0" rtlCol="0" anchor="t"/>
          <a:lstStyle/>
          <a:p>
            <a:pPr marL="342900" indent="-342900">
              <a:lnSpc>
                <a:spcPts val="1800"/>
              </a:lnSpc>
              <a:spcAft>
                <a:spcPts val="3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화면이 늘어나는 순간, 그림도 같이 늘어난다. 원이 타원이 되고 얼굴이 옆으로 퍼진다. '늘어난다'는 사실 자체는 성공했지만 '디스플레이'로서는 아직 절반이다.</a:t>
            </a:r>
            <a:endParaRPr lang="en-US" sz="1150" dirty="0"/>
          </a:p>
          <a:p>
            <a:pPr marL="342900" indent="-342900">
              <a:lnSpc>
                <a:spcPts val="1800"/>
              </a:lnSpc>
              <a:spcAft>
                <a:spcPts val="3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화면 면적을 조작하는 단계에 들어선 이상, 확장은 반드시 왜곡 없는 확장이어야 한다.</a:t>
            </a:r>
            <a:endParaRPr lang="en-US" sz="1150" dirty="0"/>
          </a:p>
        </p:txBody>
      </p:sp>
      <p:sp>
        <p:nvSpPr>
          <p:cNvPr id="29" name="Text 27"/>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수치는 각 사 공개 발표 및 언론 보도 기준</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7</a:t>
            </a:r>
            <a:endParaRPr lang="en-US" sz="1000" dirty="0"/>
          </a:p>
        </p:txBody>
      </p:sp>
      <p:sp>
        <p:nvSpPr>
          <p:cNvPr id="3" name="Shape 1"/>
          <p:cNvSpPr/>
          <p:nvPr/>
        </p:nvSpPr>
        <p:spPr>
          <a:xfrm>
            <a:off x="566928" y="310896"/>
            <a:ext cx="1335024" cy="274320"/>
          </a:xfrm>
          <a:prstGeom prst="roundRect">
            <a:avLst>
              <a:gd name="adj" fmla="val 50000"/>
            </a:avLst>
          </a:prstGeom>
          <a:solidFill>
            <a:srgbClr val="1C7293"/>
          </a:solidFill>
          <a:ln/>
        </p:spPr>
      </p:sp>
      <p:sp>
        <p:nvSpPr>
          <p:cNvPr id="4" name="Text 2"/>
          <p:cNvSpPr/>
          <p:nvPr/>
        </p:nvSpPr>
        <p:spPr>
          <a:xfrm>
            <a:off x="566928" y="310896"/>
            <a:ext cx="13350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APPLICATIONS</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왜 굳이 늘어나야 하는가 — 응용의 요구</a:t>
            </a:r>
            <a:endParaRPr lang="en-US" sz="2800" dirty="0"/>
          </a:p>
        </p:txBody>
      </p:sp>
      <p:sp>
        <p:nvSpPr>
          <p:cNvPr id="6" name="Shape 4"/>
          <p:cNvSpPr/>
          <p:nvPr/>
        </p:nvSpPr>
        <p:spPr>
          <a:xfrm>
            <a:off x="566928" y="1481328"/>
            <a:ext cx="5358384" cy="2029968"/>
          </a:xfrm>
          <a:prstGeom prst="roundRect">
            <a:avLst>
              <a:gd name="adj" fmla="val 4054"/>
            </a:avLst>
          </a:prstGeom>
          <a:solidFill>
            <a:srgbClr val="EFF4F9"/>
          </a:solidFill>
          <a:ln/>
          <a:effectLst>
            <a:outerShdw sx="100000" sy="100000" kx="0" ky="0" algn="bl" rotWithShape="0" blurRad="114300" dist="25400" dir="5400000">
              <a:srgbClr val="7E90A8">
                <a:alpha val="16000"/>
              </a:srgbClr>
            </a:outerShdw>
          </a:effectLst>
        </p:spPr>
      </p:sp>
      <p:sp>
        <p:nvSpPr>
          <p:cNvPr id="7" name="Text 5"/>
          <p:cNvSpPr/>
          <p:nvPr/>
        </p:nvSpPr>
        <p:spPr>
          <a:xfrm>
            <a:off x="877824" y="1682496"/>
            <a:ext cx="4754880" cy="292608"/>
          </a:xfrm>
          <a:prstGeom prst="rect">
            <a:avLst/>
          </a:prstGeom>
          <a:noFill/>
          <a:ln/>
        </p:spPr>
        <p:txBody>
          <a:bodyPr wrap="square" lIns="0" tIns="0" rIns="0" bIns="0" rtlCol="0" anchor="ctr"/>
          <a:lstStyle/>
          <a:p>
            <a:pPr indent="0" marL="0">
              <a:buNone/>
            </a:pPr>
            <a:r>
              <a:rPr lang="en-US" sz="1450" b="1" dirty="0">
                <a:solidFill>
                  <a:srgbClr val="1C7293"/>
                </a:solidFill>
                <a:latin typeface="Malgun Gothic" pitchFamily="34" charset="0"/>
                <a:ea typeface="Malgun Gothic" pitchFamily="34" charset="-122"/>
                <a:cs typeface="Malgun Gothic" pitchFamily="34" charset="-120"/>
              </a:rPr>
              <a:t>Wearable / Skin display</a:t>
            </a:r>
            <a:endParaRPr lang="en-US" sz="1450" dirty="0"/>
          </a:p>
        </p:txBody>
      </p:sp>
      <p:sp>
        <p:nvSpPr>
          <p:cNvPr id="8" name="Text 6"/>
          <p:cNvSpPr/>
          <p:nvPr/>
        </p:nvSpPr>
        <p:spPr>
          <a:xfrm>
            <a:off x="877824" y="2066544"/>
            <a:ext cx="4754880" cy="786384"/>
          </a:xfrm>
          <a:prstGeom prst="rect">
            <a:avLst/>
          </a:prstGeom>
          <a:noFill/>
          <a:ln/>
        </p:spPr>
        <p:txBody>
          <a:bodyPr wrap="square" lIns="0" tIns="0" rIns="0" bIns="0" rtlCol="0" anchor="t"/>
          <a:lstStyle/>
          <a:p>
            <a:pPr indent="0" marL="0">
              <a:lnSpc>
                <a:spcPts val="1900"/>
              </a:lnSpc>
              <a:buNone/>
            </a:pPr>
            <a:r>
              <a:rPr lang="en-US" sz="1200" dirty="0">
                <a:solidFill>
                  <a:srgbClr val="1E2739"/>
                </a:solidFill>
                <a:latin typeface="Malgun Gothic" pitchFamily="34" charset="0"/>
                <a:ea typeface="Malgun Gothic" pitchFamily="34" charset="-122"/>
                <a:cs typeface="Malgun Gothic" pitchFamily="34" charset="-120"/>
              </a:rPr>
              <a:t>피부에 밀착되어 관절 움직임을 따라가는 디스플레이. 섬유형 디스플레이, 스킨 컨포멀 AMOLED.</a:t>
            </a:r>
            <a:endParaRPr lang="en-US" sz="1200" dirty="0"/>
          </a:p>
        </p:txBody>
      </p:sp>
      <p:sp>
        <p:nvSpPr>
          <p:cNvPr id="9" name="Text 7"/>
          <p:cNvSpPr/>
          <p:nvPr/>
        </p:nvSpPr>
        <p:spPr>
          <a:xfrm>
            <a:off x="877824" y="2889504"/>
            <a:ext cx="4754880" cy="493776"/>
          </a:xfrm>
          <a:prstGeom prst="rect">
            <a:avLst/>
          </a:prstGeom>
          <a:noFill/>
          <a:ln/>
        </p:spPr>
        <p:txBody>
          <a:bodyPr wrap="square" lIns="0" tIns="0" rIns="0" bIns="0" rtlCol="0" anchor="t"/>
          <a:lstStyle/>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Nature 591, 240 (2021)</a:t>
            </a:r>
            <a:endParaRPr lang="en-US" sz="950" dirty="0"/>
          </a:p>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Light Sci. Appl. 13, 177 (2024)</a:t>
            </a:r>
            <a:endParaRPr lang="en-US" sz="950" dirty="0"/>
          </a:p>
        </p:txBody>
      </p:sp>
      <p:sp>
        <p:nvSpPr>
          <p:cNvPr id="10" name="Shape 8"/>
          <p:cNvSpPr/>
          <p:nvPr/>
        </p:nvSpPr>
        <p:spPr>
          <a:xfrm>
            <a:off x="6181344" y="1481328"/>
            <a:ext cx="5358384" cy="2029968"/>
          </a:xfrm>
          <a:prstGeom prst="roundRect">
            <a:avLst>
              <a:gd name="adj" fmla="val 4054"/>
            </a:avLst>
          </a:prstGeom>
          <a:solidFill>
            <a:srgbClr val="EFF4F9"/>
          </a:solidFill>
          <a:ln/>
          <a:effectLst>
            <a:outerShdw sx="100000" sy="100000" kx="0" ky="0" algn="bl" rotWithShape="0" blurRad="114300" dist="25400" dir="5400000">
              <a:srgbClr val="7E90A8">
                <a:alpha val="16000"/>
              </a:srgbClr>
            </a:outerShdw>
          </a:effectLst>
        </p:spPr>
      </p:sp>
      <p:sp>
        <p:nvSpPr>
          <p:cNvPr id="11" name="Text 9"/>
          <p:cNvSpPr/>
          <p:nvPr/>
        </p:nvSpPr>
        <p:spPr>
          <a:xfrm>
            <a:off x="6492240" y="1682496"/>
            <a:ext cx="4754880" cy="292608"/>
          </a:xfrm>
          <a:prstGeom prst="rect">
            <a:avLst/>
          </a:prstGeom>
          <a:noFill/>
          <a:ln/>
        </p:spPr>
        <p:txBody>
          <a:bodyPr wrap="square" lIns="0" tIns="0" rIns="0" bIns="0" rtlCol="0" anchor="ctr"/>
          <a:lstStyle/>
          <a:p>
            <a:pPr indent="0" marL="0">
              <a:buNone/>
            </a:pPr>
            <a:r>
              <a:rPr lang="en-US" sz="1450" b="1" dirty="0">
                <a:solidFill>
                  <a:srgbClr val="065A82"/>
                </a:solidFill>
                <a:latin typeface="Malgun Gothic" pitchFamily="34" charset="0"/>
                <a:ea typeface="Malgun Gothic" pitchFamily="34" charset="-122"/>
                <a:cs typeface="Malgun Gothic" pitchFamily="34" charset="-120"/>
              </a:rPr>
              <a:t>Soft robotics</a:t>
            </a:r>
            <a:endParaRPr lang="en-US" sz="1450" dirty="0"/>
          </a:p>
        </p:txBody>
      </p:sp>
      <p:sp>
        <p:nvSpPr>
          <p:cNvPr id="12" name="Text 10"/>
          <p:cNvSpPr/>
          <p:nvPr/>
        </p:nvSpPr>
        <p:spPr>
          <a:xfrm>
            <a:off x="6492240" y="2066544"/>
            <a:ext cx="4754880" cy="786384"/>
          </a:xfrm>
          <a:prstGeom prst="rect">
            <a:avLst/>
          </a:prstGeom>
          <a:noFill/>
          <a:ln/>
        </p:spPr>
        <p:txBody>
          <a:bodyPr wrap="square" lIns="0" tIns="0" rIns="0" bIns="0" rtlCol="0" anchor="t"/>
          <a:lstStyle/>
          <a:p>
            <a:pPr indent="0" marL="0">
              <a:lnSpc>
                <a:spcPts val="1900"/>
              </a:lnSpc>
              <a:buNone/>
            </a:pPr>
            <a:r>
              <a:rPr lang="en-US" sz="1200" dirty="0">
                <a:solidFill>
                  <a:srgbClr val="1E2739"/>
                </a:solidFill>
                <a:latin typeface="Malgun Gothic" pitchFamily="34" charset="0"/>
                <a:ea typeface="Malgun Gothic" pitchFamily="34" charset="-122"/>
                <a:cs typeface="Malgun Gothic" pitchFamily="34" charset="-120"/>
              </a:rPr>
              <a:t>로봇 스킨, 광도파로 기반 촉각-시각 통합. 부드러운 구동체 위에서 형상이 계속 변한다.</a:t>
            </a:r>
            <a:endParaRPr lang="en-US" sz="1200" dirty="0"/>
          </a:p>
        </p:txBody>
      </p:sp>
      <p:sp>
        <p:nvSpPr>
          <p:cNvPr id="13" name="Text 11"/>
          <p:cNvSpPr/>
          <p:nvPr/>
        </p:nvSpPr>
        <p:spPr>
          <a:xfrm>
            <a:off x="6492240" y="2889504"/>
            <a:ext cx="4754880" cy="493776"/>
          </a:xfrm>
          <a:prstGeom prst="rect">
            <a:avLst/>
          </a:prstGeom>
          <a:noFill/>
          <a:ln/>
        </p:spPr>
        <p:txBody>
          <a:bodyPr wrap="square" lIns="0" tIns="0" rIns="0" bIns="0" rtlCol="0" anchor="t"/>
          <a:lstStyle/>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Sci. Robot. 1, eaai7529 (2016)</a:t>
            </a:r>
            <a:endParaRPr lang="en-US" sz="950" dirty="0"/>
          </a:p>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Nat. Mater. 19, 182 (2020)</a:t>
            </a:r>
            <a:endParaRPr lang="en-US" sz="950" dirty="0"/>
          </a:p>
        </p:txBody>
      </p:sp>
      <p:sp>
        <p:nvSpPr>
          <p:cNvPr id="14" name="Shape 12"/>
          <p:cNvSpPr/>
          <p:nvPr/>
        </p:nvSpPr>
        <p:spPr>
          <a:xfrm>
            <a:off x="566928" y="3694176"/>
            <a:ext cx="5358384" cy="2029968"/>
          </a:xfrm>
          <a:prstGeom prst="roundRect">
            <a:avLst>
              <a:gd name="adj" fmla="val 4054"/>
            </a:avLst>
          </a:prstGeom>
          <a:solidFill>
            <a:srgbClr val="EFF4F9"/>
          </a:solidFill>
          <a:ln/>
          <a:effectLst>
            <a:outerShdw sx="100000" sy="100000" kx="0" ky="0" algn="bl" rotWithShape="0" blurRad="114300" dist="25400" dir="5400000">
              <a:srgbClr val="7E90A8">
                <a:alpha val="16000"/>
              </a:srgbClr>
            </a:outerShdw>
          </a:effectLst>
        </p:spPr>
      </p:sp>
      <p:sp>
        <p:nvSpPr>
          <p:cNvPr id="15" name="Text 13"/>
          <p:cNvSpPr/>
          <p:nvPr/>
        </p:nvSpPr>
        <p:spPr>
          <a:xfrm>
            <a:off x="877824" y="3895344"/>
            <a:ext cx="4754880" cy="292608"/>
          </a:xfrm>
          <a:prstGeom prst="rect">
            <a:avLst/>
          </a:prstGeom>
          <a:noFill/>
          <a:ln/>
        </p:spPr>
        <p:txBody>
          <a:bodyPr wrap="square" lIns="0" tIns="0" rIns="0" bIns="0" rtlCol="0" anchor="ctr"/>
          <a:lstStyle/>
          <a:p>
            <a:pPr indent="0" marL="0">
              <a:buNone/>
            </a:pPr>
            <a:r>
              <a:rPr lang="en-US" sz="1450" b="1" dirty="0">
                <a:solidFill>
                  <a:srgbClr val="1C7293"/>
                </a:solidFill>
                <a:latin typeface="Malgun Gothic" pitchFamily="34" charset="0"/>
                <a:ea typeface="Malgun Gothic" pitchFamily="34" charset="-122"/>
                <a:cs typeface="Malgun Gothic" pitchFamily="34" charset="-120"/>
              </a:rPr>
              <a:t>Bioelectronics</a:t>
            </a:r>
            <a:endParaRPr lang="en-US" sz="1450" dirty="0"/>
          </a:p>
        </p:txBody>
      </p:sp>
      <p:sp>
        <p:nvSpPr>
          <p:cNvPr id="16" name="Text 14"/>
          <p:cNvSpPr/>
          <p:nvPr/>
        </p:nvSpPr>
        <p:spPr>
          <a:xfrm>
            <a:off x="877824" y="4279392"/>
            <a:ext cx="4754880" cy="786384"/>
          </a:xfrm>
          <a:prstGeom prst="rect">
            <a:avLst/>
          </a:prstGeom>
          <a:noFill/>
          <a:ln/>
        </p:spPr>
        <p:txBody>
          <a:bodyPr wrap="square" lIns="0" tIns="0" rIns="0" bIns="0" rtlCol="0" anchor="t"/>
          <a:lstStyle/>
          <a:p>
            <a:pPr indent="0" marL="0">
              <a:lnSpc>
                <a:spcPts val="1900"/>
              </a:lnSpc>
              <a:buNone/>
            </a:pPr>
            <a:r>
              <a:rPr lang="en-US" sz="1200" dirty="0">
                <a:solidFill>
                  <a:srgbClr val="1E2739"/>
                </a:solidFill>
                <a:latin typeface="Malgun Gothic" pitchFamily="34" charset="0"/>
                <a:ea typeface="Malgun Gothic" pitchFamily="34" charset="-122"/>
                <a:cs typeface="Malgun Gothic" pitchFamily="34" charset="-120"/>
              </a:rPr>
              <a:t>상처 치료용 웨어러블 LED, 심장 광유전학 디바이스, 무선 OLED 콘택트렌즈.</a:t>
            </a:r>
            <a:endParaRPr lang="en-US" sz="1200" dirty="0"/>
          </a:p>
        </p:txBody>
      </p:sp>
      <p:sp>
        <p:nvSpPr>
          <p:cNvPr id="17" name="Text 15"/>
          <p:cNvSpPr/>
          <p:nvPr/>
        </p:nvSpPr>
        <p:spPr>
          <a:xfrm>
            <a:off x="877824" y="5102352"/>
            <a:ext cx="4754880" cy="493776"/>
          </a:xfrm>
          <a:prstGeom prst="rect">
            <a:avLst/>
          </a:prstGeom>
          <a:noFill/>
          <a:ln/>
        </p:spPr>
        <p:txBody>
          <a:bodyPr wrap="square" lIns="0" tIns="0" rIns="0" bIns="0" rtlCol="0" anchor="t"/>
          <a:lstStyle/>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Nat. Commun. 15, 9380 (2024)</a:t>
            </a:r>
            <a:endParaRPr lang="en-US" sz="950" dirty="0"/>
          </a:p>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ACS Nano 19, 17478 (2025)</a:t>
            </a:r>
            <a:endParaRPr lang="en-US" sz="950" dirty="0"/>
          </a:p>
        </p:txBody>
      </p:sp>
      <p:sp>
        <p:nvSpPr>
          <p:cNvPr id="18" name="Shape 16"/>
          <p:cNvSpPr/>
          <p:nvPr/>
        </p:nvSpPr>
        <p:spPr>
          <a:xfrm>
            <a:off x="6181344" y="3694176"/>
            <a:ext cx="5358384" cy="2029968"/>
          </a:xfrm>
          <a:prstGeom prst="roundRect">
            <a:avLst>
              <a:gd name="adj" fmla="val 4054"/>
            </a:avLst>
          </a:prstGeom>
          <a:solidFill>
            <a:srgbClr val="EFF4F9"/>
          </a:solidFill>
          <a:ln/>
          <a:effectLst>
            <a:outerShdw sx="100000" sy="100000" kx="0" ky="0" algn="bl" rotWithShape="0" blurRad="114300" dist="25400" dir="5400000">
              <a:srgbClr val="7E90A8">
                <a:alpha val="16000"/>
              </a:srgbClr>
            </a:outerShdw>
          </a:effectLst>
        </p:spPr>
      </p:sp>
      <p:sp>
        <p:nvSpPr>
          <p:cNvPr id="19" name="Text 17"/>
          <p:cNvSpPr/>
          <p:nvPr/>
        </p:nvSpPr>
        <p:spPr>
          <a:xfrm>
            <a:off x="6492240" y="3895344"/>
            <a:ext cx="4754880" cy="292608"/>
          </a:xfrm>
          <a:prstGeom prst="rect">
            <a:avLst/>
          </a:prstGeom>
          <a:noFill/>
          <a:ln/>
        </p:spPr>
        <p:txBody>
          <a:bodyPr wrap="square" lIns="0" tIns="0" rIns="0" bIns="0" rtlCol="0" anchor="ctr"/>
          <a:lstStyle/>
          <a:p>
            <a:pPr indent="0" marL="0">
              <a:buNone/>
            </a:pPr>
            <a:r>
              <a:rPr lang="en-US" sz="1450" b="1" dirty="0">
                <a:solidFill>
                  <a:srgbClr val="065A82"/>
                </a:solidFill>
                <a:latin typeface="Malgun Gothic" pitchFamily="34" charset="0"/>
                <a:ea typeface="Malgun Gothic" pitchFamily="34" charset="-122"/>
                <a:cs typeface="Malgun Gothic" pitchFamily="34" charset="-120"/>
              </a:rPr>
              <a:t>Interactive surface</a:t>
            </a:r>
            <a:endParaRPr lang="en-US" sz="1450" dirty="0"/>
          </a:p>
        </p:txBody>
      </p:sp>
      <p:sp>
        <p:nvSpPr>
          <p:cNvPr id="20" name="Text 18"/>
          <p:cNvSpPr/>
          <p:nvPr/>
        </p:nvSpPr>
        <p:spPr>
          <a:xfrm>
            <a:off x="6492240" y="4279392"/>
            <a:ext cx="4754880" cy="786384"/>
          </a:xfrm>
          <a:prstGeom prst="rect">
            <a:avLst/>
          </a:prstGeom>
          <a:noFill/>
          <a:ln/>
        </p:spPr>
        <p:txBody>
          <a:bodyPr wrap="square" lIns="0" tIns="0" rIns="0" bIns="0" rtlCol="0" anchor="t"/>
          <a:lstStyle/>
          <a:p>
            <a:pPr indent="0" marL="0">
              <a:lnSpc>
                <a:spcPts val="1900"/>
              </a:lnSpc>
              <a:buNone/>
            </a:pPr>
            <a:r>
              <a:rPr lang="en-US" sz="1200" dirty="0">
                <a:solidFill>
                  <a:srgbClr val="1E2739"/>
                </a:solidFill>
                <a:latin typeface="Malgun Gothic" pitchFamily="34" charset="0"/>
                <a:ea typeface="Malgun Gothic" pitchFamily="34" charset="-122"/>
                <a:cs typeface="Malgun Gothic" pitchFamily="34" charset="-120"/>
              </a:rPr>
              <a:t>자동차 디지털 콕핏, 휴머노이드 인터페이스, 대형 사이니지 — 곡면 + 형상 변화.</a:t>
            </a:r>
            <a:endParaRPr lang="en-US" sz="1200" dirty="0"/>
          </a:p>
        </p:txBody>
      </p:sp>
      <p:sp>
        <p:nvSpPr>
          <p:cNvPr id="21" name="Text 19"/>
          <p:cNvSpPr/>
          <p:nvPr/>
        </p:nvSpPr>
        <p:spPr>
          <a:xfrm>
            <a:off x="6492240" y="5102352"/>
            <a:ext cx="4754880" cy="493776"/>
          </a:xfrm>
          <a:prstGeom prst="rect">
            <a:avLst/>
          </a:prstGeom>
          <a:noFill/>
          <a:ln/>
        </p:spPr>
        <p:txBody>
          <a:bodyPr wrap="square" lIns="0" tIns="0" rIns="0" bIns="0" rtlCol="0" anchor="t"/>
          <a:lstStyle/>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Nat. Photonics 18, 856 (2024)</a:t>
            </a:r>
            <a:endParaRPr lang="en-US" sz="950" dirty="0"/>
          </a:p>
          <a:p>
            <a:pPr indent="0" marL="0">
              <a:lnSpc>
                <a:spcPts val="1400"/>
              </a:lnSpc>
              <a:buNone/>
            </a:pPr>
            <a:r>
              <a:rPr lang="en-US" sz="950" dirty="0">
                <a:solidFill>
                  <a:srgbClr val="63728B"/>
                </a:solidFill>
                <a:latin typeface="Malgun Gothic" pitchFamily="34" charset="0"/>
                <a:ea typeface="Malgun Gothic" pitchFamily="34" charset="-122"/>
                <a:cs typeface="Malgun Gothic" pitchFamily="34" charset="-120"/>
              </a:rPr>
              <a:t>Mater. Today 53, 51 (2022)</a:t>
            </a:r>
            <a:endParaRPr lang="en-US" sz="950" dirty="0"/>
          </a:p>
        </p:txBody>
      </p:sp>
      <p:sp>
        <p:nvSpPr>
          <p:cNvPr id="22" name="Shape 20"/>
          <p:cNvSpPr/>
          <p:nvPr/>
        </p:nvSpPr>
        <p:spPr>
          <a:xfrm>
            <a:off x="566928" y="5742432"/>
            <a:ext cx="11057839" cy="475488"/>
          </a:xfrm>
          <a:prstGeom prst="roundRect">
            <a:avLst>
              <a:gd name="adj" fmla="val 17308"/>
            </a:avLst>
          </a:prstGeom>
          <a:solidFill>
            <a:srgbClr val="E2EBF3"/>
          </a:solidFill>
          <a:ln/>
          <a:effectLst>
            <a:outerShdw sx="100000" sy="100000" kx="0" ky="0" algn="bl" rotWithShape="0" blurRad="114300" dist="25400" dir="5400000">
              <a:srgbClr val="7E90A8">
                <a:alpha val="16000"/>
              </a:srgbClr>
            </a:outerShdw>
          </a:effectLst>
        </p:spPr>
      </p:sp>
      <p:sp>
        <p:nvSpPr>
          <p:cNvPr id="23" name="Text 21"/>
          <p:cNvSpPr/>
          <p:nvPr/>
        </p:nvSpPr>
        <p:spPr>
          <a:xfrm>
            <a:off x="859536" y="5742432"/>
            <a:ext cx="10472623" cy="475488"/>
          </a:xfrm>
          <a:prstGeom prst="rect">
            <a:avLst/>
          </a:prstGeom>
          <a:noFill/>
          <a:ln/>
        </p:spPr>
        <p:txBody>
          <a:bodyPr wrap="square" lIns="0" tIns="0" rIns="0" bIns="0" rtlCol="0" anchor="ctr"/>
          <a:lstStyle/>
          <a:p>
            <a:pPr indent="0" marL="0">
              <a:buNone/>
            </a:pPr>
            <a:r>
              <a:rPr lang="en-US" sz="1150" b="1" dirty="0">
                <a:solidFill>
                  <a:srgbClr val="21295C"/>
                </a:solidFill>
                <a:latin typeface="Malgun Gothic" pitchFamily="34" charset="0"/>
                <a:ea typeface="Malgun Gothic" pitchFamily="34" charset="-122"/>
                <a:cs typeface="Malgun Gothic" pitchFamily="34" charset="-120"/>
              </a:rPr>
              <a:t>공통점 — 모두 '평면이 아닌 곳'에서 '면적이 변하는' 화면을 요구한다. 접거나 마는 것으로는 도달할 수 없는 영역.</a:t>
            </a:r>
            <a:endParaRPr lang="en-US" sz="1150" dirty="0"/>
          </a:p>
        </p:txBody>
      </p:sp>
      <p:sp>
        <p:nvSpPr>
          <p:cNvPr id="24" name="Text 22"/>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인용 문헌은 본 논문 참고문헌 1–17번에서 발췌</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8</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02</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THE REAL PROBLEM</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스트레처블은</a:t>
            </a:r>
            <a:endParaRPr lang="en-US" sz="3600" dirty="0"/>
          </a:p>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결국 '디스플레이'다</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늘어나는 것 자체는 기계공학의 성취다.</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하지만 화면이 커지는 순간, 디스플레이만의 새로운 문제가 생긴다 — 이미지 왜곡.</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9</a:t>
            </a:r>
            <a:endParaRPr lang="en-US" sz="1000" dirty="0"/>
          </a:p>
        </p:txBody>
      </p:sp>
      <p:sp>
        <p:nvSpPr>
          <p:cNvPr id="3" name="Shape 1"/>
          <p:cNvSpPr/>
          <p:nvPr/>
        </p:nvSpPr>
        <p:spPr>
          <a:xfrm>
            <a:off x="566928" y="310896"/>
            <a:ext cx="1719072" cy="274320"/>
          </a:xfrm>
          <a:prstGeom prst="roundRect">
            <a:avLst>
              <a:gd name="adj" fmla="val 50000"/>
            </a:avLst>
          </a:prstGeom>
          <a:solidFill>
            <a:srgbClr val="1C7293"/>
          </a:solidFill>
          <a:ln/>
        </p:spPr>
      </p:sp>
      <p:sp>
        <p:nvSpPr>
          <p:cNvPr id="4" name="Text 2"/>
          <p:cNvSpPr/>
          <p:nvPr/>
        </p:nvSpPr>
        <p:spPr>
          <a:xfrm>
            <a:off x="566928" y="310896"/>
            <a:ext cx="1719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WHAT'S DIFFERENT</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형태가 변하는 것 vs 면적이 변하는 것</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536192"/>
          <a:ext cx="11057839" cy="914400"/>
        </p:xfrm>
        <a:graphic>
          <a:graphicData uri="http://schemas.openxmlformats.org/drawingml/2006/table">
            <a:tbl>
              <a:tblPr/>
              <a:tblGrid>
                <a:gridCol w="2103120"/>
                <a:gridCol w="2651760"/>
                <a:gridCol w="2212848"/>
                <a:gridCol w="1920240"/>
                <a:gridCol w="2168042"/>
              </a:tblGrid>
              <a:tr h="420624">
                <a:tc>
                  <a:txBody>
                    <a:bodyPr/>
                    <a:lstStyle/>
                    <a:p>
                      <a:pPr algn="l" indent="0" marL="0">
                        <a:buNone/>
                      </a:pPr>
                      <a:r>
                        <a:rPr lang="en-US" sz="1200" b="1" dirty="0">
                          <a:solidFill>
                            <a:srgbClr val="1E2739"/>
                          </a:solidFill>
                          <a:latin typeface="Malgun Gothic" pitchFamily="34" charset="0"/>
                          <a:ea typeface="Malgun Gothic" pitchFamily="34" charset="-122"/>
                          <a:cs typeface="Malgun Gothic" pitchFamily="34" charset="-120"/>
                        </a:rPr>
                        <a:t>폼팩터</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E2739"/>
                          </a:solidFill>
                          <a:latin typeface="Malgun Gothic" pitchFamily="34" charset="0"/>
                          <a:ea typeface="Malgun Gothic" pitchFamily="34" charset="-122"/>
                          <a:cs typeface="Malgun Gothic" pitchFamily="34" charset="-120"/>
                        </a:rPr>
                        <a:t>변형 방식</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E2739"/>
                          </a:solidFill>
                          <a:latin typeface="Malgun Gothic" pitchFamily="34" charset="0"/>
                          <a:ea typeface="Malgun Gothic" pitchFamily="34" charset="-122"/>
                          <a:cs typeface="Malgun Gothic" pitchFamily="34" charset="-120"/>
                        </a:rPr>
                        <a:t>화면 물리 면적</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E2739"/>
                          </a:solidFill>
                          <a:latin typeface="Malgun Gothic" pitchFamily="34" charset="0"/>
                          <a:ea typeface="Malgun Gothic" pitchFamily="34" charset="-122"/>
                          <a:cs typeface="Malgun Gothic" pitchFamily="34" charset="-120"/>
                        </a:rPr>
                        <a:t>픽셀 간 거리</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E2739"/>
                          </a:solidFill>
                          <a:latin typeface="Malgun Gothic" pitchFamily="34" charset="0"/>
                          <a:ea typeface="Malgun Gothic" pitchFamily="34" charset="-122"/>
                          <a:cs typeface="Malgun Gothic" pitchFamily="34" charset="-120"/>
                        </a:rPr>
                        <a:t>이미지 왜곡 위험</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Curved / Flexible</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곡률 변화 (면외 굽힘)</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불변</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불변</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Foldable</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접힘 (힌지 폴딩)</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불변 (펼침 시 노출)</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불변</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Rollable</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말림 (권취)</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노출 면적만 변화</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불변</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E2739"/>
                          </a:solidFill>
                          <a:latin typeface="Malgun Gothic" pitchFamily="34" charset="0"/>
                          <a:ea typeface="Malgun Gothic" pitchFamily="34" charset="-122"/>
                          <a:cs typeface="Malgun Gothic" pitchFamily="34" charset="-120"/>
                        </a:rPr>
                        <a:t>없음</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658368">
                <a:tc>
                  <a:txBody>
                    <a:bodyPr/>
                    <a:lstStyle/>
                    <a:p>
                      <a:pPr algn="l" indent="0" marL="0">
                        <a:buNone/>
                      </a:pPr>
                      <a:r>
                        <a:rPr lang="en-US" sz="1200" b="1" dirty="0">
                          <a:solidFill>
                            <a:srgbClr val="E2592C"/>
                          </a:solidFill>
                          <a:latin typeface="Malgun Gothic" pitchFamily="34" charset="0"/>
                          <a:ea typeface="Malgun Gothic" pitchFamily="34" charset="-122"/>
                          <a:cs typeface="Malgun Gothic" pitchFamily="34" charset="-120"/>
                        </a:rPr>
                        <a:t>Stretchable</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E2592C"/>
                          </a:solidFill>
                          <a:latin typeface="Malgun Gothic" pitchFamily="34" charset="0"/>
                          <a:ea typeface="Malgun Gothic" pitchFamily="34" charset="-122"/>
                          <a:cs typeface="Malgun Gothic" pitchFamily="34" charset="-120"/>
                        </a:rPr>
                        <a:t>면내 인장 (in-plane tensile)</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E2592C"/>
                          </a:solidFill>
                          <a:latin typeface="Malgun Gothic" pitchFamily="34" charset="0"/>
                          <a:ea typeface="Malgun Gothic" pitchFamily="34" charset="-122"/>
                          <a:cs typeface="Malgun Gothic" pitchFamily="34" charset="-120"/>
                        </a:rPr>
                        <a:t>실제로 증가</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E2592C"/>
                          </a:solidFill>
                          <a:latin typeface="Malgun Gothic" pitchFamily="34" charset="0"/>
                          <a:ea typeface="Malgun Gothic" pitchFamily="34" charset="-122"/>
                          <a:cs typeface="Malgun Gothic" pitchFamily="34" charset="-120"/>
                        </a:rPr>
                        <a:t>실제로 증가</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E2592C"/>
                          </a:solidFill>
                          <a:latin typeface="Malgun Gothic" pitchFamily="34" charset="0"/>
                          <a:ea typeface="Malgun Gothic" pitchFamily="34" charset="-122"/>
                          <a:cs typeface="Malgun Gothic" pitchFamily="34" charset="-120"/>
                        </a:rPr>
                        <a:t>있음 — 폼팩터 사상 최초</a:t>
                      </a:r>
                      <a:endParaRPr lang="en-US" sz="1200" dirty="0">
                        <a:latin typeface="Malgun Gothic" charset="0"/>
                        <a:ea typeface="Malgun Gothic" charset="0"/>
                        <a:cs typeface="Malgun Gothic" charset="0"/>
                      </a:endParaRPr>
                    </a:p>
                  </a:txBody>
                  <a:tcPr marL="127000" marR="1270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4590288"/>
            <a:ext cx="5358384" cy="1517904"/>
          </a:xfrm>
          <a:prstGeom prst="roundRect">
            <a:avLst>
              <a:gd name="adj" fmla="val 5422"/>
            </a:avLst>
          </a:prstGeom>
          <a:solidFill>
            <a:srgbClr val="EFF4F9"/>
          </a:solidFill>
          <a:ln/>
          <a:effectLst>
            <a:outerShdw sx="100000" sy="100000" kx="0" ky="0" algn="bl" rotWithShape="0" blurRad="114300" dist="25400" dir="5400000">
              <a:srgbClr val="7E90A8">
                <a:alpha val="16000"/>
              </a:srgbClr>
            </a:outerShdw>
          </a:effectLst>
        </p:spPr>
      </p:sp>
      <p:sp>
        <p:nvSpPr>
          <p:cNvPr id="8" name="Text 5"/>
          <p:cNvSpPr/>
          <p:nvPr/>
        </p:nvSpPr>
        <p:spPr>
          <a:xfrm>
            <a:off x="859536" y="4754880"/>
            <a:ext cx="4754880" cy="292608"/>
          </a:xfrm>
          <a:prstGeom prst="rect">
            <a:avLst/>
          </a:prstGeom>
          <a:noFill/>
          <a:ln/>
        </p:spPr>
        <p:txBody>
          <a:bodyPr wrap="square" lIns="0" tIns="0" rIns="0" bIns="0" rtlCol="0" anchor="ctr"/>
          <a:lstStyle/>
          <a:p>
            <a:pPr indent="0" marL="0">
              <a:buNone/>
            </a:pPr>
            <a:r>
              <a:rPr lang="en-US" sz="1450" b="1" dirty="0">
                <a:solidFill>
                  <a:srgbClr val="065A82"/>
                </a:solidFill>
                <a:latin typeface="Malgun Gothic" pitchFamily="34" charset="0"/>
                <a:ea typeface="Malgun Gothic" pitchFamily="34" charset="-122"/>
                <a:cs typeface="Malgun Gothic" pitchFamily="34" charset="-120"/>
              </a:rPr>
              <a:t>지금까지 왜 문제가 없었나</a:t>
            </a:r>
            <a:endParaRPr lang="en-US" sz="1450" dirty="0"/>
          </a:p>
        </p:txBody>
      </p:sp>
      <p:sp>
        <p:nvSpPr>
          <p:cNvPr id="9" name="Text 6"/>
          <p:cNvSpPr/>
          <p:nvPr/>
        </p:nvSpPr>
        <p:spPr>
          <a:xfrm>
            <a:off x="859536" y="5120640"/>
            <a:ext cx="4754880" cy="859536"/>
          </a:xfrm>
          <a:prstGeom prst="rect">
            <a:avLst/>
          </a:prstGeom>
          <a:noFill/>
          <a:ln/>
        </p:spPr>
        <p:txBody>
          <a:bodyPr wrap="square" lIns="0" tIns="0" rIns="0" bIns="0" rtlCol="0" anchor="t"/>
          <a:lstStyle/>
          <a:p>
            <a:pPr indent="0" marL="0">
              <a:lnSpc>
                <a:spcPts val="1900"/>
              </a:lnSpc>
              <a:buNone/>
            </a:pPr>
            <a:r>
              <a:rPr lang="en-US" sz="1200" dirty="0">
                <a:solidFill>
                  <a:srgbClr val="1E2739"/>
                </a:solidFill>
                <a:latin typeface="Malgun Gothic" pitchFamily="34" charset="0"/>
                <a:ea typeface="Malgun Gothic" pitchFamily="34" charset="-122"/>
                <a:cs typeface="Malgun Gothic" pitchFamily="34" charset="-120"/>
              </a:rPr>
              <a:t>화면 크기가 절대 변하지 않았기 때문이다. 픽셀 피치가 상수이면 이미지는 정의상 왜곡될 수 없다.</a:t>
            </a:r>
            <a:endParaRPr lang="en-US" sz="1200" dirty="0"/>
          </a:p>
        </p:txBody>
      </p:sp>
      <p:sp>
        <p:nvSpPr>
          <p:cNvPr id="10" name="Shape 7"/>
          <p:cNvSpPr/>
          <p:nvPr/>
        </p:nvSpPr>
        <p:spPr>
          <a:xfrm>
            <a:off x="6181344" y="4590288"/>
            <a:ext cx="5358384" cy="1517904"/>
          </a:xfrm>
          <a:prstGeom prst="roundRect">
            <a:avLst>
              <a:gd name="adj" fmla="val 5422"/>
            </a:avLst>
          </a:prstGeom>
          <a:solidFill>
            <a:srgbClr val="FBEAE2"/>
          </a:solidFill>
          <a:ln/>
          <a:effectLst>
            <a:outerShdw sx="100000" sy="100000" kx="0" ky="0" algn="bl" rotWithShape="0" blurRad="114300" dist="25400" dir="5400000">
              <a:srgbClr val="7E90A8">
                <a:alpha val="16000"/>
              </a:srgbClr>
            </a:outerShdw>
          </a:effectLst>
        </p:spPr>
      </p:sp>
      <p:sp>
        <p:nvSpPr>
          <p:cNvPr id="11" name="Text 8"/>
          <p:cNvSpPr/>
          <p:nvPr/>
        </p:nvSpPr>
        <p:spPr>
          <a:xfrm>
            <a:off x="6473952" y="4754880"/>
            <a:ext cx="4754880" cy="292608"/>
          </a:xfrm>
          <a:prstGeom prst="rect">
            <a:avLst/>
          </a:prstGeom>
          <a:noFill/>
          <a:ln/>
        </p:spPr>
        <p:txBody>
          <a:bodyPr wrap="square" lIns="0" tIns="0" rIns="0" bIns="0" rtlCol="0" anchor="ctr"/>
          <a:lstStyle/>
          <a:p>
            <a:pPr indent="0" marL="0">
              <a:buNone/>
            </a:pPr>
            <a:r>
              <a:rPr lang="en-US" sz="1450" b="1" dirty="0">
                <a:solidFill>
                  <a:srgbClr val="E2592C"/>
                </a:solidFill>
                <a:latin typeface="Malgun Gothic" pitchFamily="34" charset="0"/>
                <a:ea typeface="Malgun Gothic" pitchFamily="34" charset="-122"/>
                <a:cs typeface="Malgun Gothic" pitchFamily="34" charset="-120"/>
              </a:rPr>
              <a:t>이제 왜 문제가 되나</a:t>
            </a:r>
            <a:endParaRPr lang="en-US" sz="1450" dirty="0"/>
          </a:p>
        </p:txBody>
      </p:sp>
      <p:sp>
        <p:nvSpPr>
          <p:cNvPr id="12" name="Text 9"/>
          <p:cNvSpPr/>
          <p:nvPr/>
        </p:nvSpPr>
        <p:spPr>
          <a:xfrm>
            <a:off x="6473952" y="5120640"/>
            <a:ext cx="4754880" cy="859536"/>
          </a:xfrm>
          <a:prstGeom prst="rect">
            <a:avLst/>
          </a:prstGeom>
          <a:noFill/>
          <a:ln/>
        </p:spPr>
        <p:txBody>
          <a:bodyPr wrap="square" lIns="0" tIns="0" rIns="0" bIns="0" rtlCol="0" anchor="t"/>
          <a:lstStyle/>
          <a:p>
            <a:pPr indent="0" marL="0">
              <a:lnSpc>
                <a:spcPts val="1900"/>
              </a:lnSpc>
              <a:buNone/>
            </a:pPr>
            <a:r>
              <a:rPr lang="en-US" sz="1200" dirty="0">
                <a:solidFill>
                  <a:srgbClr val="1E2739"/>
                </a:solidFill>
                <a:latin typeface="Malgun Gothic" pitchFamily="34" charset="0"/>
                <a:ea typeface="Malgun Gothic" pitchFamily="34" charset="-122"/>
                <a:cs typeface="Malgun Gothic" pitchFamily="34" charset="-120"/>
              </a:rPr>
              <a:t>기판이 늘어나면 그 위 픽셀의 좌표가 실제로 움직인다. 어떻게 움직이느냐가 곧 화질이 된다.</a:t>
            </a:r>
            <a:endParaRPr lang="en-US" sz="1200" dirty="0"/>
          </a:p>
        </p:txBody>
      </p:sp>
      <p:sp>
        <p:nvSpPr>
          <p:cNvPr id="13"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10</a:t>
            </a:r>
            <a:endParaRPr lang="en-US" sz="1000" dirty="0"/>
          </a:p>
        </p:txBody>
      </p:sp>
      <p:sp>
        <p:nvSpPr>
          <p:cNvPr id="3" name="Shape 1"/>
          <p:cNvSpPr/>
          <p:nvPr/>
        </p:nvSpPr>
        <p:spPr>
          <a:xfrm>
            <a:off x="566928" y="310896"/>
            <a:ext cx="1046988" cy="274320"/>
          </a:xfrm>
          <a:prstGeom prst="roundRect">
            <a:avLst>
              <a:gd name="adj" fmla="val 50000"/>
            </a:avLst>
          </a:prstGeom>
          <a:solidFill>
            <a:srgbClr val="1C7293"/>
          </a:solidFill>
          <a:ln/>
        </p:spPr>
      </p:sp>
      <p:sp>
        <p:nvSpPr>
          <p:cNvPr id="4" name="Text 2"/>
          <p:cNvSpPr/>
          <p:nvPr/>
        </p:nvSpPr>
        <p:spPr>
          <a:xfrm>
            <a:off x="566928" y="310896"/>
            <a:ext cx="10469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INTUITION</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핑거 줌은 왜 왜곡이 없을까</a:t>
            </a:r>
            <a:endParaRPr lang="en-US" sz="2800" dirty="0"/>
          </a:p>
        </p:txBody>
      </p:sp>
      <p:pic>
        <p:nvPicPr>
          <p:cNvPr id="6" name="Image 0" descr="gen/zoom.png">    </p:cNvPr>
          <p:cNvPicPr>
            <a:picLocks noChangeAspect="1"/>
          </p:cNvPicPr>
          <p:nvPr/>
        </p:nvPicPr>
        <p:blipFill>
          <a:blip r:embed="rId1"/>
          <a:stretch>
            <a:fillRect/>
          </a:stretch>
        </p:blipFill>
        <p:spPr>
          <a:xfrm>
            <a:off x="1114454" y="1481328"/>
            <a:ext cx="9962788" cy="3017520"/>
          </a:xfrm>
          <a:prstGeom prst="rect">
            <a:avLst/>
          </a:prstGeom>
        </p:spPr>
      </p:pic>
      <p:sp>
        <p:nvSpPr>
          <p:cNvPr id="7" name="Text 4"/>
          <p:cNvSpPr/>
          <p:nvPr/>
        </p:nvSpPr>
        <p:spPr>
          <a:xfrm>
            <a:off x="566928" y="4553712"/>
            <a:ext cx="11057839"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개념도 (본 발표용 작성)</a:t>
            </a:r>
            <a:endParaRPr lang="en-US" sz="950" dirty="0"/>
          </a:p>
        </p:txBody>
      </p:sp>
      <p:sp>
        <p:nvSpPr>
          <p:cNvPr id="8" name="Shape 5"/>
          <p:cNvSpPr/>
          <p:nvPr/>
        </p:nvSpPr>
        <p:spPr>
          <a:xfrm>
            <a:off x="566928" y="4864608"/>
            <a:ext cx="5358384" cy="1225296"/>
          </a:xfrm>
          <a:prstGeom prst="roundRect">
            <a:avLst>
              <a:gd name="adj" fmla="val 6716"/>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859536" y="4956048"/>
            <a:ext cx="4773168" cy="1042416"/>
          </a:xfrm>
          <a:prstGeom prst="rect">
            <a:avLst/>
          </a:prstGeom>
          <a:noFill/>
          <a:ln/>
        </p:spPr>
        <p:txBody>
          <a:bodyPr wrap="square" lIns="0" tIns="0" rIns="0" bIns="0" rtlCol="0" anchor="t"/>
          <a:lstStyle/>
          <a:p>
            <a:pPr indent="0" marL="0">
              <a:lnSpc>
                <a:spcPts val="1800"/>
              </a:lnSpc>
              <a:buNone/>
            </a:pPr>
            <a:r>
              <a:rPr lang="en-US" sz="1350" b="1" dirty="0">
                <a:solidFill>
                  <a:srgbClr val="1C7293"/>
                </a:solidFill>
                <a:latin typeface="Malgun Gothic" pitchFamily="34" charset="0"/>
                <a:ea typeface="Malgun Gothic" pitchFamily="34" charset="-122"/>
                <a:cs typeface="Malgun Gothic" pitchFamily="34" charset="-120"/>
              </a:rPr>
              <a:t>디지털 확대
</a:t>
            </a:r>
            <a:pPr indent="0" marL="0">
              <a:lnSpc>
                <a:spcPts val="1800"/>
              </a:lnSpc>
              <a:buNone/>
            </a:pPr>
            <a:r>
              <a:rPr lang="en-US" sz="1150" dirty="0">
                <a:solidFill>
                  <a:srgbClr val="1E2739"/>
                </a:solidFill>
                <a:latin typeface="Malgun Gothic" pitchFamily="34" charset="0"/>
                <a:ea typeface="Malgun Gothic" pitchFamily="34" charset="-122"/>
                <a:cs typeface="Malgun Gothic" pitchFamily="34" charset="-120"/>
              </a:rPr>
              <a:t>모든 점이 원점 기준으로 같은 배율 k로 이동한다. 즉 </a:t>
            </a:r>
            <a:pPr indent="0" marL="0">
              <a:lnSpc>
                <a:spcPts val="1800"/>
              </a:lnSpc>
              <a:buNone/>
            </a:pPr>
            <a:r>
              <a:rPr lang="en-US" sz="1150" b="1" dirty="0">
                <a:solidFill>
                  <a:srgbClr val="1C7293"/>
                </a:solidFill>
                <a:latin typeface="Cambria" pitchFamily="34" charset="0"/>
                <a:ea typeface="Cambria" pitchFamily="34" charset="-122"/>
                <a:cs typeface="Cambria" pitchFamily="34" charset="-120"/>
              </a:rPr>
              <a:t>u = k·r</a:t>
            </a:r>
            <a:pPr indent="0" marL="0">
              <a:lnSpc>
                <a:spcPts val="1800"/>
              </a:lnSpc>
              <a:buNone/>
            </a:pPr>
            <a:r>
              <a:rPr lang="en-US" sz="1150" dirty="0">
                <a:solidFill>
                  <a:srgbClr val="1E2739"/>
                </a:solidFill>
                <a:latin typeface="Malgun Gothic" pitchFamily="34" charset="0"/>
                <a:ea typeface="Malgun Gothic" pitchFamily="34" charset="-122"/>
                <a:cs typeface="Malgun Gothic" pitchFamily="34" charset="-120"/>
              </a:rPr>
              <a:t>. 등방 스케일링이므로 종횡비가 완벽히 보존된다.</a:t>
            </a:r>
            <a:endParaRPr lang="en-US" sz="1150" dirty="0"/>
          </a:p>
        </p:txBody>
      </p:sp>
      <p:sp>
        <p:nvSpPr>
          <p:cNvPr id="10" name="Shape 7"/>
          <p:cNvSpPr/>
          <p:nvPr/>
        </p:nvSpPr>
        <p:spPr>
          <a:xfrm>
            <a:off x="6181344" y="4864608"/>
            <a:ext cx="5358384" cy="1225296"/>
          </a:xfrm>
          <a:prstGeom prst="roundRect">
            <a:avLst>
              <a:gd name="adj" fmla="val 6716"/>
            </a:avLst>
          </a:prstGeom>
          <a:solidFill>
            <a:srgbClr val="FBEAE2"/>
          </a:solidFill>
          <a:ln/>
          <a:effectLst>
            <a:outerShdw sx="100000" sy="100000" kx="0" ky="0" algn="bl" rotWithShape="0" blurRad="114300" dist="25400" dir="5400000">
              <a:srgbClr val="7E90A8">
                <a:alpha val="16000"/>
              </a:srgbClr>
            </a:outerShdw>
          </a:effectLst>
        </p:spPr>
      </p:sp>
      <p:sp>
        <p:nvSpPr>
          <p:cNvPr id="11" name="Text 8"/>
          <p:cNvSpPr/>
          <p:nvPr/>
        </p:nvSpPr>
        <p:spPr>
          <a:xfrm>
            <a:off x="6473952" y="4956048"/>
            <a:ext cx="4773168" cy="1042416"/>
          </a:xfrm>
          <a:prstGeom prst="rect">
            <a:avLst/>
          </a:prstGeom>
          <a:noFill/>
          <a:ln/>
        </p:spPr>
        <p:txBody>
          <a:bodyPr wrap="square" lIns="0" tIns="0" rIns="0" bIns="0" rtlCol="0" anchor="t"/>
          <a:lstStyle/>
          <a:p>
            <a:pPr indent="0" marL="0">
              <a:lnSpc>
                <a:spcPts val="1800"/>
              </a:lnSpc>
              <a:buNone/>
            </a:pPr>
            <a:r>
              <a:rPr lang="en-US" sz="1350" b="1" dirty="0">
                <a:solidFill>
                  <a:srgbClr val="E2592C"/>
                </a:solidFill>
                <a:latin typeface="Malgun Gothic" pitchFamily="34" charset="0"/>
                <a:ea typeface="Malgun Gothic" pitchFamily="34" charset="-122"/>
                <a:cs typeface="Malgun Gothic" pitchFamily="34" charset="-120"/>
              </a:rPr>
              <a:t>물리적 인장
</a:t>
            </a:r>
            <a:pPr indent="0" marL="0">
              <a:lnSpc>
                <a:spcPts val="1800"/>
              </a:lnSpc>
              <a:buNone/>
            </a:pPr>
            <a:r>
              <a:rPr lang="en-US" sz="1150" dirty="0">
                <a:solidFill>
                  <a:srgbClr val="1E2739"/>
                </a:solidFill>
                <a:latin typeface="Malgun Gothic" pitchFamily="34" charset="0"/>
                <a:ea typeface="Malgun Gothic" pitchFamily="34" charset="-122"/>
                <a:cs typeface="Malgun Gothic" pitchFamily="34" charset="-120"/>
              </a:rPr>
              <a:t>가로로 당기면 세로는 줄어든다. </a:t>
            </a:r>
            <a:pPr indent="0" marL="0">
              <a:lnSpc>
                <a:spcPts val="1800"/>
              </a:lnSpc>
              <a:buNone/>
            </a:pPr>
            <a:r>
              <a:rPr lang="en-US" sz="1150" b="1" dirty="0">
                <a:solidFill>
                  <a:srgbClr val="E2592C"/>
                </a:solidFill>
                <a:latin typeface="Cambria" pitchFamily="34" charset="0"/>
                <a:ea typeface="Cambria" pitchFamily="34" charset="-122"/>
                <a:cs typeface="Cambria" pitchFamily="34" charset="-120"/>
              </a:rPr>
              <a:t>εy = −ν·εx &lt; 0</a:t>
            </a:r>
            <a:pPr indent="0" marL="0">
              <a:lnSpc>
                <a:spcPts val="1800"/>
              </a:lnSpc>
              <a:buNone/>
            </a:pPr>
            <a:r>
              <a:rPr lang="en-US" sz="1150" dirty="0">
                <a:solidFill>
                  <a:srgbClr val="1E2739"/>
                </a:solidFill>
                <a:latin typeface="Malgun Gothic" pitchFamily="34" charset="0"/>
                <a:ea typeface="Malgun Gothic" pitchFamily="34" charset="-122"/>
                <a:cs typeface="Malgun Gothic" pitchFamily="34" charset="-120"/>
              </a:rPr>
              <a:t>. 배율이 방향마다 달라지므로 종횡비가 무너진다.</a:t>
            </a:r>
            <a:endParaRPr lang="en-US" sz="1150" dirty="0"/>
          </a:p>
        </p:txBody>
      </p:sp>
      <p:sp>
        <p:nvSpPr>
          <p:cNvPr id="12" name="Text 9"/>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11</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ROOT CAUSE</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엘라스토머 기판의 숙명 — 양의 푸아송비</a:t>
            </a:r>
            <a:endParaRPr lang="en-US" sz="2800" dirty="0"/>
          </a:p>
        </p:txBody>
      </p:sp>
      <p:pic>
        <p:nvPicPr>
          <p:cNvPr id="6" name="Image 0" descr="crops/f1a.png">    </p:cNvPr>
          <p:cNvPicPr>
            <a:picLocks noChangeAspect="1"/>
          </p:cNvPicPr>
          <p:nvPr/>
        </p:nvPicPr>
        <p:blipFill>
          <a:blip r:embed="rId1"/>
          <a:stretch>
            <a:fillRect/>
          </a:stretch>
        </p:blipFill>
        <p:spPr>
          <a:xfrm>
            <a:off x="758129" y="1444752"/>
            <a:ext cx="6109838" cy="2926080"/>
          </a:xfrm>
          <a:prstGeom prst="rect">
            <a:avLst/>
          </a:prstGeom>
        </p:spPr>
      </p:pic>
      <p:sp>
        <p:nvSpPr>
          <p:cNvPr id="7" name="Text 4"/>
          <p:cNvSpPr/>
          <p:nvPr/>
        </p:nvSpPr>
        <p:spPr>
          <a:xfrm>
            <a:off x="566928" y="4425696"/>
            <a:ext cx="649224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1a — 기존 스트레처블 디스플레이의 이미지 왜곡</a:t>
            </a:r>
            <a:endParaRPr lang="en-US" sz="950" dirty="0"/>
          </a:p>
        </p:txBody>
      </p:sp>
      <p:sp>
        <p:nvSpPr>
          <p:cNvPr id="8" name="Shape 5"/>
          <p:cNvSpPr/>
          <p:nvPr/>
        </p:nvSpPr>
        <p:spPr>
          <a:xfrm>
            <a:off x="7278624" y="1444752"/>
            <a:ext cx="4261104" cy="1188720"/>
          </a:xfrm>
          <a:prstGeom prst="roundRect">
            <a:avLst>
              <a:gd name="adj" fmla="val 6923"/>
            </a:avLst>
          </a:prstGeom>
          <a:solidFill>
            <a:srgbClr val="E2EBF3"/>
          </a:solidFill>
          <a:ln/>
          <a:effectLst>
            <a:outerShdw sx="100000" sy="100000" kx="0" ky="0" algn="bl" rotWithShape="0" blurRad="114300" dist="25400" dir="5400000">
              <a:srgbClr val="7E90A8">
                <a:alpha val="16000"/>
              </a:srgbClr>
            </a:outerShdw>
          </a:effectLst>
        </p:spPr>
      </p:sp>
      <p:pic>
        <p:nvPicPr>
          <p:cNvPr id="9" name="Image 1" descr="eq/eq12.png">    </p:cNvPr>
          <p:cNvPicPr>
            <a:picLocks noChangeAspect="1"/>
          </p:cNvPicPr>
          <p:nvPr/>
        </p:nvPicPr>
        <p:blipFill>
          <a:blip r:embed="rId2"/>
          <a:stretch>
            <a:fillRect/>
          </a:stretch>
        </p:blipFill>
        <p:spPr>
          <a:xfrm>
            <a:off x="8068869" y="1572768"/>
            <a:ext cx="2680614" cy="932688"/>
          </a:xfrm>
          <a:prstGeom prst="rect">
            <a:avLst/>
          </a:prstGeom>
        </p:spPr>
      </p:pic>
      <p:sp>
        <p:nvSpPr>
          <p:cNvPr id="10" name="Text 6"/>
          <p:cNvSpPr/>
          <p:nvPr/>
        </p:nvSpPr>
        <p:spPr>
          <a:xfrm>
            <a:off x="7278624" y="2798064"/>
            <a:ext cx="4261104" cy="301752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PDMS를 비롯한 대부분의 엘라스토머는 ν ≈ 0.5 — 자연계 물질은 거의 모두 양의 푸아송비를 가진다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1축으로 당기면 그 직교 방향은 반드시 수축한다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스트레처블 디스플레이 기판이 대부분 엘라스토머인 이유는 응력 완화 때문 — 그런데 그 대가가 왜곡이다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논문 표현: "they contract in the transverse direction under uniaxial tensile strain, thereby inevitably leading to image distortion"</a:t>
            </a:r>
            <a:endParaRPr lang="en-US" sz="1150" dirty="0"/>
          </a:p>
        </p:txBody>
      </p:sp>
      <p:sp>
        <p:nvSpPr>
          <p:cNvPr id="11" name="Text 7"/>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12</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QUANTIFIED</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얼마나 왜곡되는가 — 숫자로</a:t>
            </a:r>
            <a:endParaRPr lang="en-US" sz="2800" dirty="0"/>
          </a:p>
        </p:txBody>
      </p:sp>
      <p:pic>
        <p:nvPicPr>
          <p:cNvPr id="6" name="Image 0" descr="gen/distort.png">    </p:cNvPr>
          <p:cNvPicPr>
            <a:picLocks noChangeAspect="1"/>
          </p:cNvPicPr>
          <p:nvPr/>
        </p:nvPicPr>
        <p:blipFill>
          <a:blip r:embed="rId1"/>
          <a:stretch>
            <a:fillRect/>
          </a:stretch>
        </p:blipFill>
        <p:spPr>
          <a:xfrm>
            <a:off x="2154850" y="1444752"/>
            <a:ext cx="7881994" cy="2999232"/>
          </a:xfrm>
          <a:prstGeom prst="rect">
            <a:avLst/>
          </a:prstGeom>
        </p:spPr>
      </p:pic>
      <p:sp>
        <p:nvSpPr>
          <p:cNvPr id="7" name="Text 4"/>
          <p:cNvSpPr/>
          <p:nvPr/>
        </p:nvSpPr>
        <p:spPr>
          <a:xfrm>
            <a:off x="566928" y="4498848"/>
            <a:ext cx="11057839"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개념 계산 (본 발표용 작성) — 균일 변형 가정, εy = −ν·εx</a:t>
            </a:r>
            <a:endParaRPr lang="en-US" sz="950" dirty="0"/>
          </a:p>
        </p:txBody>
      </p:sp>
      <p:sp>
        <p:nvSpPr>
          <p:cNvPr id="8" name="Shape 5"/>
          <p:cNvSpPr/>
          <p:nvPr/>
        </p:nvSpPr>
        <p:spPr>
          <a:xfrm>
            <a:off x="566928" y="4809744"/>
            <a:ext cx="3529584" cy="1298448"/>
          </a:xfrm>
          <a:prstGeom prst="roundRect">
            <a:avLst>
              <a:gd name="adj" fmla="val 6338"/>
            </a:avLst>
          </a:prstGeom>
          <a:solidFill>
            <a:srgbClr val="FBEAE2"/>
          </a:solidFill>
          <a:ln/>
          <a:effectLst>
            <a:outerShdw sx="100000" sy="100000" kx="0" ky="0" algn="bl" rotWithShape="0" blurRad="114300" dist="25400" dir="5400000">
              <a:srgbClr val="7E90A8">
                <a:alpha val="16000"/>
              </a:srgbClr>
            </a:outerShdw>
          </a:effectLst>
        </p:spPr>
      </p:sp>
      <p:sp>
        <p:nvSpPr>
          <p:cNvPr id="9" name="Text 6"/>
          <p:cNvSpPr/>
          <p:nvPr/>
        </p:nvSpPr>
        <p:spPr>
          <a:xfrm>
            <a:off x="822960" y="4882896"/>
            <a:ext cx="3035808" cy="512064"/>
          </a:xfrm>
          <a:prstGeom prst="rect">
            <a:avLst/>
          </a:prstGeom>
          <a:noFill/>
          <a:ln/>
        </p:spPr>
        <p:txBody>
          <a:bodyPr wrap="square" lIns="0" tIns="0" rIns="0" bIns="0" rtlCol="0" anchor="ctr"/>
          <a:lstStyle/>
          <a:p>
            <a:pPr indent="0" marL="0">
              <a:buNone/>
            </a:pPr>
            <a:r>
              <a:rPr lang="en-US" sz="3000" b="1" dirty="0">
                <a:solidFill>
                  <a:srgbClr val="E2592C"/>
                </a:solidFill>
                <a:latin typeface="Cambria" pitchFamily="34" charset="0"/>
                <a:ea typeface="Cambria" pitchFamily="34" charset="-122"/>
                <a:cs typeface="Cambria" pitchFamily="34" charset="-120"/>
              </a:rPr>
              <a:t>1.24×</a:t>
            </a:r>
            <a:endParaRPr lang="en-US" sz="3000" dirty="0"/>
          </a:p>
        </p:txBody>
      </p:sp>
      <p:sp>
        <p:nvSpPr>
          <p:cNvPr id="10" name="Text 7"/>
          <p:cNvSpPr/>
          <p:nvPr/>
        </p:nvSpPr>
        <p:spPr>
          <a:xfrm>
            <a:off x="822960" y="5413248"/>
            <a:ext cx="3035808" cy="585216"/>
          </a:xfrm>
          <a:prstGeom prst="rect">
            <a:avLst/>
          </a:prstGeom>
          <a:noFill/>
          <a:ln/>
        </p:spPr>
        <p:txBody>
          <a:bodyPr wrap="square" lIns="0" tIns="0" rIns="0" bIns="0" rtlCol="0" anchor="t"/>
          <a:lstStyle/>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ν = +0.5 기판을 15% 늘렸을 때</a:t>
            </a:r>
            <a:endParaRPr lang="en-US" sz="1050" dirty="0"/>
          </a:p>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이미지 종횡비 왜곡</a:t>
            </a:r>
            <a:endParaRPr lang="en-US" sz="1050" dirty="0"/>
          </a:p>
        </p:txBody>
      </p:sp>
      <p:sp>
        <p:nvSpPr>
          <p:cNvPr id="11" name="Shape 8"/>
          <p:cNvSpPr/>
          <p:nvPr/>
        </p:nvSpPr>
        <p:spPr>
          <a:xfrm>
            <a:off x="4279392" y="4809744"/>
            <a:ext cx="3529584" cy="1298448"/>
          </a:xfrm>
          <a:prstGeom prst="roundRect">
            <a:avLst>
              <a:gd name="adj" fmla="val 6338"/>
            </a:avLst>
          </a:prstGeom>
          <a:solidFill>
            <a:srgbClr val="EFF4F9"/>
          </a:solidFill>
          <a:ln/>
          <a:effectLst>
            <a:outerShdw sx="100000" sy="100000" kx="0" ky="0" algn="bl" rotWithShape="0" blurRad="114300" dist="25400" dir="5400000">
              <a:srgbClr val="7E90A8">
                <a:alpha val="16000"/>
              </a:srgbClr>
            </a:outerShdw>
          </a:effectLst>
        </p:spPr>
      </p:sp>
      <p:sp>
        <p:nvSpPr>
          <p:cNvPr id="12" name="Text 9"/>
          <p:cNvSpPr/>
          <p:nvPr/>
        </p:nvSpPr>
        <p:spPr>
          <a:xfrm>
            <a:off x="4535424" y="4882896"/>
            <a:ext cx="3035808" cy="512064"/>
          </a:xfrm>
          <a:prstGeom prst="rect">
            <a:avLst/>
          </a:prstGeom>
          <a:noFill/>
          <a:ln/>
        </p:spPr>
        <p:txBody>
          <a:bodyPr wrap="square" lIns="0" tIns="0" rIns="0" bIns="0"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+32%</a:t>
            </a:r>
            <a:endParaRPr lang="en-US" sz="3000" dirty="0"/>
          </a:p>
        </p:txBody>
      </p:sp>
      <p:sp>
        <p:nvSpPr>
          <p:cNvPr id="13" name="Text 10"/>
          <p:cNvSpPr/>
          <p:nvPr/>
        </p:nvSpPr>
        <p:spPr>
          <a:xfrm>
            <a:off x="4535424" y="5413248"/>
            <a:ext cx="3035808" cy="585216"/>
          </a:xfrm>
          <a:prstGeom prst="rect">
            <a:avLst/>
          </a:prstGeom>
          <a:noFill/>
          <a:ln/>
        </p:spPr>
        <p:txBody>
          <a:bodyPr wrap="square" lIns="0" tIns="0" rIns="0" bIns="0" rtlCol="0" anchor="t"/>
          <a:lstStyle/>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ν = −1 이면 왜곡 없이</a:t>
            </a:r>
            <a:endParaRPr lang="en-US" sz="1050" dirty="0"/>
          </a:p>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확보되는 화면 면적</a:t>
            </a:r>
            <a:endParaRPr lang="en-US" sz="1050" dirty="0"/>
          </a:p>
        </p:txBody>
      </p:sp>
      <p:sp>
        <p:nvSpPr>
          <p:cNvPr id="14" name="Shape 11"/>
          <p:cNvSpPr/>
          <p:nvPr/>
        </p:nvSpPr>
        <p:spPr>
          <a:xfrm>
            <a:off x="7991856" y="4809744"/>
            <a:ext cx="3529584" cy="1298448"/>
          </a:xfrm>
          <a:prstGeom prst="roundRect">
            <a:avLst>
              <a:gd name="adj" fmla="val 6338"/>
            </a:avLst>
          </a:prstGeom>
          <a:solidFill>
            <a:srgbClr val="EFF4F9"/>
          </a:solidFill>
          <a:ln/>
          <a:effectLst>
            <a:outerShdw sx="100000" sy="100000" kx="0" ky="0" algn="bl" rotWithShape="0" blurRad="114300" dist="25400" dir="5400000">
              <a:srgbClr val="7E90A8">
                <a:alpha val="16000"/>
              </a:srgbClr>
            </a:outerShdw>
          </a:effectLst>
        </p:spPr>
      </p:sp>
      <p:sp>
        <p:nvSpPr>
          <p:cNvPr id="15" name="Text 12"/>
          <p:cNvSpPr/>
          <p:nvPr/>
        </p:nvSpPr>
        <p:spPr>
          <a:xfrm>
            <a:off x="8247888" y="4882896"/>
            <a:ext cx="3035808" cy="512064"/>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0.99</a:t>
            </a:r>
            <a:endParaRPr lang="en-US" sz="3000" dirty="0"/>
          </a:p>
        </p:txBody>
      </p:sp>
      <p:sp>
        <p:nvSpPr>
          <p:cNvPr id="16" name="Text 13"/>
          <p:cNvSpPr/>
          <p:nvPr/>
        </p:nvSpPr>
        <p:spPr>
          <a:xfrm>
            <a:off x="8247888" y="5413248"/>
            <a:ext cx="3035808" cy="585216"/>
          </a:xfrm>
          <a:prstGeom prst="rect">
            <a:avLst/>
          </a:prstGeom>
          <a:noFill/>
          <a:ln/>
        </p:spPr>
        <p:txBody>
          <a:bodyPr wrap="square" lIns="0" tIns="0" rIns="0" bIns="0" rtlCol="0" anchor="t"/>
          <a:lstStyle/>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지각적으로 왜곡이 사라지는</a:t>
            </a:r>
            <a:endParaRPr lang="en-US" sz="1050" dirty="0"/>
          </a:p>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등방 팽창 계수 ρ 임계값</a:t>
            </a:r>
            <a:endParaRPr lang="en-US" sz="1050" dirty="0"/>
          </a:p>
        </p:txBody>
      </p:sp>
      <p:sp>
        <p:nvSpPr>
          <p:cNvPr id="17" name="Text 14"/>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13</a:t>
            </a:r>
            <a:endParaRPr lang="en-US" sz="1000" dirty="0"/>
          </a:p>
        </p:txBody>
      </p:sp>
      <p:sp>
        <p:nvSpPr>
          <p:cNvPr id="3" name="Shape 1"/>
          <p:cNvSpPr/>
          <p:nvPr/>
        </p:nvSpPr>
        <p:spPr>
          <a:xfrm>
            <a:off x="566928" y="310896"/>
            <a:ext cx="1623060" cy="274320"/>
          </a:xfrm>
          <a:prstGeom prst="roundRect">
            <a:avLst>
              <a:gd name="adj" fmla="val 50000"/>
            </a:avLst>
          </a:prstGeom>
          <a:solidFill>
            <a:srgbClr val="1C7293"/>
          </a:solidFill>
          <a:ln/>
        </p:spPr>
      </p:sp>
      <p:sp>
        <p:nvSpPr>
          <p:cNvPr id="4" name="Text 2"/>
          <p:cNvSpPr/>
          <p:nvPr/>
        </p:nvSpPr>
        <p:spPr>
          <a:xfrm>
            <a:off x="566928" y="310896"/>
            <a:ext cx="16230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IDEAL CONDITION</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왜곡 없는 팽창의 수학적 조건 (Eq. 1)</a:t>
            </a:r>
            <a:endParaRPr lang="en-US" sz="2800" dirty="0"/>
          </a:p>
        </p:txBody>
      </p:sp>
      <p:sp>
        <p:nvSpPr>
          <p:cNvPr id="6" name="Shape 4"/>
          <p:cNvSpPr/>
          <p:nvPr/>
        </p:nvSpPr>
        <p:spPr>
          <a:xfrm>
            <a:off x="566928" y="1481328"/>
            <a:ext cx="5358384" cy="1243584"/>
          </a:xfrm>
          <a:prstGeom prst="roundRect">
            <a:avLst>
              <a:gd name="adj" fmla="val 5882"/>
            </a:avLst>
          </a:prstGeom>
          <a:solidFill>
            <a:srgbClr val="E2EBF3"/>
          </a:solidFill>
          <a:ln/>
        </p:spPr>
      </p:sp>
      <p:pic>
        <p:nvPicPr>
          <p:cNvPr id="7" name="Image 0" descr="eq/eq1.png">    </p:cNvPr>
          <p:cNvPicPr>
            <a:picLocks noChangeAspect="1"/>
          </p:cNvPicPr>
          <p:nvPr/>
        </p:nvPicPr>
        <p:blipFill>
          <a:blip r:embed="rId1"/>
          <a:stretch>
            <a:fillRect/>
          </a:stretch>
        </p:blipFill>
        <p:spPr>
          <a:xfrm>
            <a:off x="1844299" y="1591056"/>
            <a:ext cx="2803641" cy="1024128"/>
          </a:xfrm>
          <a:prstGeom prst="rect">
            <a:avLst/>
          </a:prstGeom>
        </p:spPr>
      </p:pic>
      <p:sp>
        <p:nvSpPr>
          <p:cNvPr id="8" name="Text 5"/>
          <p:cNvSpPr/>
          <p:nvPr/>
        </p:nvSpPr>
        <p:spPr>
          <a:xfrm>
            <a:off x="566928" y="2889504"/>
            <a:ext cx="5358384" cy="320040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u = (ux, uy): 변위 벡터,  r = (x, y): 기판 중심 기준 위치 벡터</a:t>
            </a:r>
            <a:endParaRPr lang="en-US" sz="1200" dirty="0"/>
          </a:p>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모든 점에서 두 비율이 같고, 그 값이 상수 k_iso 여야 한다 — 이것이 '순수한 확대'의 정의</a:t>
            </a:r>
            <a:endParaRPr lang="en-US" sz="1200" dirty="0"/>
          </a:p>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(ux/x, uy/y) 산점도가 y = x 직선 위 한 점으로 모이면 왜곡 없음</a:t>
            </a:r>
            <a:endParaRPr lang="en-US" sz="1200" dirty="0"/>
          </a:p>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흩어질수록(dispersion) 왜곡이 커진다 — 뒤에서 이 산포를 ρ로 정량화한다</a:t>
            </a:r>
            <a:endParaRPr lang="en-US" sz="1200" dirty="0"/>
          </a:p>
        </p:txBody>
      </p:sp>
      <p:pic>
        <p:nvPicPr>
          <p:cNvPr id="9" name="Image 1" descr="crops/f1b.png">    </p:cNvPr>
          <p:cNvPicPr>
            <a:picLocks noChangeAspect="1"/>
          </p:cNvPicPr>
          <p:nvPr/>
        </p:nvPicPr>
        <p:blipFill>
          <a:blip r:embed="rId2"/>
          <a:stretch>
            <a:fillRect/>
          </a:stretch>
        </p:blipFill>
        <p:spPr>
          <a:xfrm>
            <a:off x="6181344" y="1963075"/>
            <a:ext cx="5358384" cy="2328345"/>
          </a:xfrm>
          <a:prstGeom prst="rect">
            <a:avLst/>
          </a:prstGeom>
        </p:spPr>
      </p:pic>
      <p:sp>
        <p:nvSpPr>
          <p:cNvPr id="10" name="Text 6"/>
          <p:cNvSpPr/>
          <p:nvPr/>
        </p:nvSpPr>
        <p:spPr>
          <a:xfrm>
            <a:off x="6181344" y="4846320"/>
            <a:ext cx="5358384"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1b — 등방 팽창을 위한 픽셀 점의 kinematic 조건</a:t>
            </a:r>
            <a:endParaRPr lang="en-US" sz="950" dirty="0"/>
          </a:p>
        </p:txBody>
      </p:sp>
      <p:sp>
        <p:nvSpPr>
          <p:cNvPr id="11" name="Shape 7"/>
          <p:cNvSpPr/>
          <p:nvPr/>
        </p:nvSpPr>
        <p:spPr>
          <a:xfrm>
            <a:off x="566928" y="5358384"/>
            <a:ext cx="5358384" cy="749808"/>
          </a:xfrm>
          <a:prstGeom prst="roundRect">
            <a:avLst>
              <a:gd name="adj" fmla="val 10976"/>
            </a:avLst>
          </a:prstGeom>
          <a:solidFill>
            <a:srgbClr val="E2EBF3"/>
          </a:solidFill>
          <a:ln/>
          <a:effectLst>
            <a:outerShdw sx="100000" sy="100000" kx="0" ky="0" algn="bl" rotWithShape="0" blurRad="114300" dist="25400" dir="5400000">
              <a:srgbClr val="7E90A8">
                <a:alpha val="16000"/>
              </a:srgbClr>
            </a:outerShdw>
          </a:effectLst>
        </p:spPr>
      </p:sp>
      <p:sp>
        <p:nvSpPr>
          <p:cNvPr id="12" name="Text 8"/>
          <p:cNvSpPr/>
          <p:nvPr/>
        </p:nvSpPr>
        <p:spPr>
          <a:xfrm>
            <a:off x="841248" y="5358384"/>
            <a:ext cx="4809744" cy="749808"/>
          </a:xfrm>
          <a:prstGeom prst="rect">
            <a:avLst/>
          </a:prstGeom>
          <a:noFill/>
          <a:ln/>
        </p:spPr>
        <p:txBody>
          <a:bodyPr wrap="square" lIns="0" tIns="0" rIns="0" bIns="0" rtlCol="0" anchor="ctr"/>
          <a:lstStyle/>
          <a:p>
            <a:pPr indent="0" marL="0">
              <a:lnSpc>
                <a:spcPts val="1700"/>
              </a:lnSpc>
              <a:buNone/>
            </a:pPr>
            <a:r>
              <a:rPr lang="en-US" sz="1150" b="1" dirty="0">
                <a:solidFill>
                  <a:srgbClr val="21295C"/>
                </a:solidFill>
                <a:latin typeface="Malgun Gothic" pitchFamily="34" charset="0"/>
                <a:ea typeface="Malgun Gothic" pitchFamily="34" charset="-122"/>
                <a:cs typeface="Malgun Gothic" pitchFamily="34" charset="-120"/>
              </a:rPr>
              <a:t>이 한 줄이 논문 전체의 설계 목표다. 이후 모든 최적화는 '모든 점에서 이 식을 얼마나 잘 만족시키는가'로 환원된다.</a:t>
            </a:r>
            <a:endParaRPr lang="en-US" sz="1150" dirty="0"/>
          </a:p>
        </p:txBody>
      </p:sp>
      <p:sp>
        <p:nvSpPr>
          <p:cNvPr id="13" name="Text 9"/>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14</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03</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AUXETIC</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음의 푸아송비라는 답,</a:t>
            </a:r>
            <a:endParaRPr lang="en-US" sz="3600" dirty="0"/>
          </a:p>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그리고 그 계보</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가로로 당겼는데 세로도 늘어나는 구조가 있다면?</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2022년, 기계연구원이 이 아이디어를 디스플레이에 처음 가져왔다.</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15</a:t>
            </a:r>
            <a:endParaRPr lang="en-US" sz="1000" dirty="0"/>
          </a:p>
        </p:txBody>
      </p:sp>
      <p:sp>
        <p:nvSpPr>
          <p:cNvPr id="3" name="Shape 1"/>
          <p:cNvSpPr/>
          <p:nvPr/>
        </p:nvSpPr>
        <p:spPr>
          <a:xfrm>
            <a:off x="566928" y="310896"/>
            <a:ext cx="1239012" cy="274320"/>
          </a:xfrm>
          <a:prstGeom prst="roundRect">
            <a:avLst>
              <a:gd name="adj" fmla="val 50000"/>
            </a:avLst>
          </a:prstGeom>
          <a:solidFill>
            <a:srgbClr val="1C7293"/>
          </a:solidFill>
          <a:ln/>
        </p:spPr>
      </p:sp>
      <p:sp>
        <p:nvSpPr>
          <p:cNvPr id="4" name="Text 2"/>
          <p:cNvSpPr/>
          <p:nvPr/>
        </p:nvSpPr>
        <p:spPr>
          <a:xfrm>
            <a:off x="566928" y="310896"/>
            <a:ext cx="12390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AUXETIC 101</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Auxetic — 당기면 같이 두꺼워지는 물질</a:t>
            </a:r>
            <a:endParaRPr lang="en-US" sz="2800" dirty="0"/>
          </a:p>
        </p:txBody>
      </p:sp>
      <p:pic>
        <p:nvPicPr>
          <p:cNvPr id="6" name="Image 0" descr="gen/poisson.png">    </p:cNvPr>
          <p:cNvPicPr>
            <a:picLocks noChangeAspect="1"/>
          </p:cNvPicPr>
          <p:nvPr/>
        </p:nvPicPr>
        <p:blipFill>
          <a:blip r:embed="rId1"/>
          <a:stretch>
            <a:fillRect/>
          </a:stretch>
        </p:blipFill>
        <p:spPr>
          <a:xfrm>
            <a:off x="1427311" y="1444752"/>
            <a:ext cx="9337073" cy="2487168"/>
          </a:xfrm>
          <a:prstGeom prst="rect">
            <a:avLst/>
          </a:prstGeom>
        </p:spPr>
      </p:pic>
      <p:sp>
        <p:nvSpPr>
          <p:cNvPr id="7" name="Text 4"/>
          <p:cNvSpPr/>
          <p:nvPr/>
        </p:nvSpPr>
        <p:spPr>
          <a:xfrm>
            <a:off x="566928" y="3986784"/>
            <a:ext cx="11057839"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개념도 (본 발표용 작성) — 동일한 30% 1축 인장에 대한 세 가지 푸아송비의 응답</a:t>
            </a:r>
            <a:endParaRPr lang="en-US" sz="950" dirty="0"/>
          </a:p>
        </p:txBody>
      </p:sp>
      <p:sp>
        <p:nvSpPr>
          <p:cNvPr id="8" name="Shape 5"/>
          <p:cNvSpPr/>
          <p:nvPr/>
        </p:nvSpPr>
        <p:spPr>
          <a:xfrm>
            <a:off x="566928" y="4315968"/>
            <a:ext cx="3529584" cy="1792224"/>
          </a:xfrm>
          <a:prstGeom prst="roundRect">
            <a:avLst>
              <a:gd name="adj" fmla="val 4592"/>
            </a:avLst>
          </a:prstGeom>
          <a:solidFill>
            <a:srgbClr val="FBEAE2"/>
          </a:solidFill>
          <a:ln/>
          <a:effectLst>
            <a:outerShdw sx="100000" sy="100000" kx="0" ky="0" algn="bl" rotWithShape="0" blurRad="114300" dist="25400" dir="5400000">
              <a:srgbClr val="7E90A8">
                <a:alpha val="16000"/>
              </a:srgbClr>
            </a:outerShdw>
          </a:effectLst>
        </p:spPr>
      </p:sp>
      <p:sp>
        <p:nvSpPr>
          <p:cNvPr id="9" name="Text 6"/>
          <p:cNvSpPr/>
          <p:nvPr/>
        </p:nvSpPr>
        <p:spPr>
          <a:xfrm>
            <a:off x="822960" y="4480560"/>
            <a:ext cx="3017520" cy="292608"/>
          </a:xfrm>
          <a:prstGeom prst="rect">
            <a:avLst/>
          </a:prstGeom>
          <a:noFill/>
          <a:ln/>
        </p:spPr>
        <p:txBody>
          <a:bodyPr wrap="square" lIns="0" tIns="0" rIns="0" bIns="0" rtlCol="0" anchor="ctr"/>
          <a:lstStyle/>
          <a:p>
            <a:pPr indent="0" marL="0">
              <a:buNone/>
            </a:pPr>
            <a:r>
              <a:rPr lang="en-US" sz="1350" b="1" dirty="0">
                <a:solidFill>
                  <a:srgbClr val="E2592C"/>
                </a:solidFill>
                <a:latin typeface="Malgun Gothic" pitchFamily="34" charset="0"/>
                <a:ea typeface="Malgun Gothic" pitchFamily="34" charset="-122"/>
                <a:cs typeface="Malgun Gothic" pitchFamily="34" charset="-120"/>
              </a:rPr>
              <a:t>ν &gt; 0  (자연 물질)</a:t>
            </a:r>
            <a:endParaRPr lang="en-US" sz="1350" dirty="0"/>
          </a:p>
        </p:txBody>
      </p:sp>
      <p:sp>
        <p:nvSpPr>
          <p:cNvPr id="10" name="Text 7"/>
          <p:cNvSpPr/>
          <p:nvPr/>
        </p:nvSpPr>
        <p:spPr>
          <a:xfrm>
            <a:off x="822960" y="4846320"/>
            <a:ext cx="3017520" cy="1115568"/>
          </a:xfrm>
          <a:prstGeom prst="rect">
            <a:avLst/>
          </a:prstGeom>
          <a:noFill/>
          <a:ln/>
        </p:spPr>
        <p:txBody>
          <a:bodyPr wrap="square" lIns="0" tIns="0" rIns="0" bIns="0" rtlCol="0" anchor="t"/>
          <a:lstStyle/>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가로로 당기면 세로 수축. 엘라스토머 ν≈0.5, 금속 ν≈0.3. 이미지 왜곡의 원인.</a:t>
            </a:r>
            <a:endParaRPr lang="en-US" sz="1100" dirty="0"/>
          </a:p>
        </p:txBody>
      </p:sp>
      <p:sp>
        <p:nvSpPr>
          <p:cNvPr id="11" name="Shape 8"/>
          <p:cNvSpPr/>
          <p:nvPr/>
        </p:nvSpPr>
        <p:spPr>
          <a:xfrm>
            <a:off x="4279392" y="4315968"/>
            <a:ext cx="3529584" cy="1792224"/>
          </a:xfrm>
          <a:prstGeom prst="roundRect">
            <a:avLst>
              <a:gd name="adj" fmla="val 4592"/>
            </a:avLst>
          </a:prstGeom>
          <a:solidFill>
            <a:srgbClr val="EFF4F9"/>
          </a:solidFill>
          <a:ln/>
          <a:effectLst>
            <a:outerShdw sx="100000" sy="100000" kx="0" ky="0" algn="bl" rotWithShape="0" blurRad="114300" dist="25400" dir="5400000">
              <a:srgbClr val="7E90A8">
                <a:alpha val="16000"/>
              </a:srgbClr>
            </a:outerShdw>
          </a:effectLst>
        </p:spPr>
      </p:sp>
      <p:sp>
        <p:nvSpPr>
          <p:cNvPr id="12" name="Text 9"/>
          <p:cNvSpPr/>
          <p:nvPr/>
        </p:nvSpPr>
        <p:spPr>
          <a:xfrm>
            <a:off x="4535424" y="4480560"/>
            <a:ext cx="3017520" cy="292608"/>
          </a:xfrm>
          <a:prstGeom prst="rect">
            <a:avLst/>
          </a:prstGeom>
          <a:noFill/>
          <a:ln/>
        </p:spPr>
        <p:txBody>
          <a:bodyPr wrap="square" lIns="0" tIns="0" rIns="0" bIns="0" rtlCol="0" anchor="ctr"/>
          <a:lstStyle/>
          <a:p>
            <a:pPr indent="0" marL="0">
              <a:buNone/>
            </a:pPr>
            <a:r>
              <a:rPr lang="en-US" sz="1350" b="1" dirty="0">
                <a:solidFill>
                  <a:srgbClr val="C98A20"/>
                </a:solidFill>
                <a:latin typeface="Malgun Gothic" pitchFamily="34" charset="0"/>
                <a:ea typeface="Malgun Gothic" pitchFamily="34" charset="-122"/>
                <a:cs typeface="Malgun Gothic" pitchFamily="34" charset="-120"/>
              </a:rPr>
              <a:t>ν = 0</a:t>
            </a:r>
            <a:endParaRPr lang="en-US" sz="1350" dirty="0"/>
          </a:p>
        </p:txBody>
      </p:sp>
      <p:sp>
        <p:nvSpPr>
          <p:cNvPr id="13" name="Text 10"/>
          <p:cNvSpPr/>
          <p:nvPr/>
        </p:nvSpPr>
        <p:spPr>
          <a:xfrm>
            <a:off x="4535424" y="4846320"/>
            <a:ext cx="3017520" cy="1115568"/>
          </a:xfrm>
          <a:prstGeom prst="rect">
            <a:avLst/>
          </a:prstGeom>
          <a:noFill/>
          <a:ln/>
        </p:spPr>
        <p:txBody>
          <a:bodyPr wrap="square" lIns="0" tIns="0" rIns="0" bIns="0" rtlCol="0" anchor="t"/>
          <a:lstStyle/>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세로 치수 유지. 왜곡은 없지만 면적 이득이 1축 성분만큼만 생긴다.</a:t>
            </a:r>
            <a:endParaRPr lang="en-US" sz="1100" dirty="0"/>
          </a:p>
        </p:txBody>
      </p:sp>
      <p:sp>
        <p:nvSpPr>
          <p:cNvPr id="14" name="Shape 11"/>
          <p:cNvSpPr/>
          <p:nvPr/>
        </p:nvSpPr>
        <p:spPr>
          <a:xfrm>
            <a:off x="7991856" y="4315968"/>
            <a:ext cx="3529584" cy="1792224"/>
          </a:xfrm>
          <a:prstGeom prst="roundRect">
            <a:avLst>
              <a:gd name="adj" fmla="val 4592"/>
            </a:avLst>
          </a:prstGeom>
          <a:solidFill>
            <a:srgbClr val="EFF4F9"/>
          </a:solidFill>
          <a:ln/>
          <a:effectLst>
            <a:outerShdw sx="100000" sy="100000" kx="0" ky="0" algn="bl" rotWithShape="0" blurRad="114300" dist="25400" dir="5400000">
              <a:srgbClr val="7E90A8">
                <a:alpha val="16000"/>
              </a:srgbClr>
            </a:outerShdw>
          </a:effectLst>
        </p:spPr>
      </p:sp>
      <p:sp>
        <p:nvSpPr>
          <p:cNvPr id="15" name="Text 12"/>
          <p:cNvSpPr/>
          <p:nvPr/>
        </p:nvSpPr>
        <p:spPr>
          <a:xfrm>
            <a:off x="8247888" y="4480560"/>
            <a:ext cx="3017520" cy="292608"/>
          </a:xfrm>
          <a:prstGeom prst="rect">
            <a:avLst/>
          </a:prstGeom>
          <a:noFill/>
          <a:ln/>
        </p:spPr>
        <p:txBody>
          <a:bodyPr wrap="square" lIns="0" tIns="0" rIns="0" bIns="0" rtlCol="0" anchor="ctr"/>
          <a:lstStyle/>
          <a:p>
            <a:pPr indent="0" marL="0">
              <a:buNone/>
            </a:pPr>
            <a:r>
              <a:rPr lang="en-US" sz="1350" b="1" dirty="0">
                <a:solidFill>
                  <a:srgbClr val="1C7293"/>
                </a:solidFill>
                <a:latin typeface="Malgun Gothic" pitchFamily="34" charset="0"/>
                <a:ea typeface="Malgun Gothic" pitchFamily="34" charset="-122"/>
                <a:cs typeface="Malgun Gothic" pitchFamily="34" charset="-120"/>
              </a:rPr>
              <a:t>ν = −1  (auxetic)</a:t>
            </a:r>
            <a:endParaRPr lang="en-US" sz="1350" dirty="0"/>
          </a:p>
        </p:txBody>
      </p:sp>
      <p:sp>
        <p:nvSpPr>
          <p:cNvPr id="16" name="Text 13"/>
          <p:cNvSpPr/>
          <p:nvPr/>
        </p:nvSpPr>
        <p:spPr>
          <a:xfrm>
            <a:off x="8247888" y="4846320"/>
            <a:ext cx="3017520" cy="1115568"/>
          </a:xfrm>
          <a:prstGeom prst="rect">
            <a:avLst/>
          </a:prstGeom>
          <a:noFill/>
          <a:ln/>
        </p:spPr>
        <p:txBody>
          <a:bodyPr wrap="square" lIns="0" tIns="0" rIns="0" bIns="0" rtlCol="0" anchor="t"/>
          <a:lstStyle/>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가로 15% 인장에 세로도 15% 팽창. 완전한 등방 팽창 — 종횡비 보존 + 면적 최대.</a:t>
            </a:r>
            <a:endParaRPr lang="en-US" sz="1100" dirty="0"/>
          </a:p>
        </p:txBody>
      </p:sp>
      <p:sp>
        <p:nvSpPr>
          <p:cNvPr id="17" name="Text 14"/>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ν = −ε_transverse / ε_axial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16</a:t>
            </a:r>
            <a:endParaRPr lang="en-US" sz="1000" dirty="0"/>
          </a:p>
        </p:txBody>
      </p:sp>
      <p:sp>
        <p:nvSpPr>
          <p:cNvPr id="3" name="Shape 1"/>
          <p:cNvSpPr/>
          <p:nvPr/>
        </p:nvSpPr>
        <p:spPr>
          <a:xfrm>
            <a:off x="566928" y="310896"/>
            <a:ext cx="1046988" cy="274320"/>
          </a:xfrm>
          <a:prstGeom prst="roundRect">
            <a:avLst>
              <a:gd name="adj" fmla="val 50000"/>
            </a:avLst>
          </a:prstGeom>
          <a:solidFill>
            <a:srgbClr val="1C7293"/>
          </a:solidFill>
          <a:ln/>
        </p:spPr>
      </p:sp>
      <p:sp>
        <p:nvSpPr>
          <p:cNvPr id="4" name="Text 2"/>
          <p:cNvSpPr/>
          <p:nvPr/>
        </p:nvSpPr>
        <p:spPr>
          <a:xfrm>
            <a:off x="566928" y="310896"/>
            <a:ext cx="10469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MECHANISM</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Rotating squares — 회전만으로 ν = −1을 만든다</a:t>
            </a:r>
            <a:endParaRPr lang="en-US" sz="2800" dirty="0"/>
          </a:p>
        </p:txBody>
      </p:sp>
      <p:pic>
        <p:nvPicPr>
          <p:cNvPr id="6" name="Image 0" descr="gen/rotsq.png">    </p:cNvPr>
          <p:cNvPicPr>
            <a:picLocks noChangeAspect="1"/>
          </p:cNvPicPr>
          <p:nvPr/>
        </p:nvPicPr>
        <p:blipFill>
          <a:blip r:embed="rId1"/>
          <a:stretch>
            <a:fillRect/>
          </a:stretch>
        </p:blipFill>
        <p:spPr>
          <a:xfrm>
            <a:off x="566928" y="1667518"/>
            <a:ext cx="5760720" cy="2809733"/>
          </a:xfrm>
          <a:prstGeom prst="rect">
            <a:avLst/>
          </a:prstGeom>
        </p:spPr>
      </p:pic>
      <p:sp>
        <p:nvSpPr>
          <p:cNvPr id="7" name="Text 4"/>
          <p:cNvSpPr/>
          <p:nvPr/>
        </p:nvSpPr>
        <p:spPr>
          <a:xfrm>
            <a:off x="566928" y="4773168"/>
            <a:ext cx="576072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개념도 (본 발표용 작성) — 3×3 rotating-square 배열</a:t>
            </a:r>
            <a:endParaRPr lang="en-US" sz="950" dirty="0"/>
          </a:p>
        </p:txBody>
      </p:sp>
      <p:sp>
        <p:nvSpPr>
          <p:cNvPr id="8" name="Shape 5"/>
          <p:cNvSpPr/>
          <p:nvPr/>
        </p:nvSpPr>
        <p:spPr>
          <a:xfrm>
            <a:off x="6620256" y="1426464"/>
            <a:ext cx="4919472" cy="3566160"/>
          </a:xfrm>
          <a:prstGeom prst="roundRect">
            <a:avLst>
              <a:gd name="adj" fmla="val 2308"/>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6912864" y="1627632"/>
            <a:ext cx="4389120" cy="292608"/>
          </a:xfrm>
          <a:prstGeom prst="rect">
            <a:avLst/>
          </a:prstGeom>
          <a:noFill/>
          <a:ln/>
        </p:spPr>
        <p:txBody>
          <a:bodyPr wrap="square" lIns="0" tIns="0" rIns="0" bIns="0" rtlCol="0" anchor="ctr"/>
          <a:lstStyle/>
          <a:p>
            <a:pPr indent="0" marL="0">
              <a:buNone/>
            </a:pPr>
            <a:r>
              <a:rPr lang="en-US" sz="1450" b="1" dirty="0">
                <a:solidFill>
                  <a:srgbClr val="1C7293"/>
                </a:solidFill>
                <a:latin typeface="Malgun Gothic" pitchFamily="34" charset="0"/>
                <a:ea typeface="Malgun Gothic" pitchFamily="34" charset="-122"/>
                <a:cs typeface="Malgun Gothic" pitchFamily="34" charset="-120"/>
              </a:rPr>
              <a:t>동작 원리</a:t>
            </a:r>
            <a:endParaRPr lang="en-US" sz="1450" dirty="0"/>
          </a:p>
        </p:txBody>
      </p:sp>
      <p:sp>
        <p:nvSpPr>
          <p:cNvPr id="10" name="Text 7"/>
          <p:cNvSpPr/>
          <p:nvPr/>
        </p:nvSpPr>
        <p:spPr>
          <a:xfrm>
            <a:off x="6912864" y="2029968"/>
            <a:ext cx="4389120" cy="283464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강체 정사각형들이 모서리에서 힌지로 연결된 구조</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한 방향으로 당기면 사각형들이 번갈아 반대 방향으로 회전한다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회전하면서 사이에 마름모 형태의 빈 공간이 열리고, 배열의 피치가 두 방향 모두 증가한다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이상적 강체-힌지 가정에서 정확히 ν = −1</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Grima &amp; Evans, J. Mater. Sci. Lett. 19, 1563 (2000)</a:t>
            </a:r>
            <a:endParaRPr lang="en-US" sz="1150" dirty="0"/>
          </a:p>
        </p:txBody>
      </p:sp>
      <p:sp>
        <p:nvSpPr>
          <p:cNvPr id="11" name="Shape 8"/>
          <p:cNvSpPr/>
          <p:nvPr/>
        </p:nvSpPr>
        <p:spPr>
          <a:xfrm>
            <a:off x="6620256" y="5138928"/>
            <a:ext cx="4919472" cy="969264"/>
          </a:xfrm>
          <a:prstGeom prst="roundRect">
            <a:avLst>
              <a:gd name="adj" fmla="val 8491"/>
            </a:avLst>
          </a:prstGeom>
          <a:solidFill>
            <a:srgbClr val="FBEAE2"/>
          </a:solidFill>
          <a:ln/>
          <a:effectLst>
            <a:outerShdw sx="100000" sy="100000" kx="0" ky="0" algn="bl" rotWithShape="0" blurRad="114300" dist="25400" dir="5400000">
              <a:srgbClr val="7E90A8">
                <a:alpha val="16000"/>
              </a:srgbClr>
            </a:outerShdw>
          </a:effectLst>
        </p:spPr>
      </p:sp>
      <p:sp>
        <p:nvSpPr>
          <p:cNvPr id="12" name="Text 9"/>
          <p:cNvSpPr/>
          <p:nvPr/>
        </p:nvSpPr>
        <p:spPr>
          <a:xfrm>
            <a:off x="6894576" y="5138928"/>
            <a:ext cx="4389120" cy="969264"/>
          </a:xfrm>
          <a:prstGeom prst="rect">
            <a:avLst/>
          </a:prstGeom>
          <a:noFill/>
          <a:ln/>
        </p:spPr>
        <p:txBody>
          <a:bodyPr wrap="square" lIns="0" tIns="0" rIns="0" bIns="0" rtlCol="0" anchor="ctr"/>
          <a:lstStyle/>
          <a:p>
            <a:pPr indent="0" marL="0">
              <a:lnSpc>
                <a:spcPts val="1700"/>
              </a:lnSpc>
              <a:buNone/>
            </a:pPr>
            <a:r>
              <a:rPr lang="en-US" sz="1150" b="1" dirty="0">
                <a:solidFill>
                  <a:srgbClr val="E2592C"/>
                </a:solidFill>
                <a:latin typeface="Malgun Gothic" pitchFamily="34" charset="0"/>
                <a:ea typeface="Malgun Gothic" pitchFamily="34" charset="-122"/>
                <a:cs typeface="Malgun Gothic" pitchFamily="34" charset="-120"/>
              </a:rPr>
              <a:t>복선:  </a:t>
            </a:r>
            <a:pP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이 메커니즘의 본질은 </a:t>
            </a:r>
            <a:pPr indent="0" marL="0">
              <a:lnSpc>
                <a:spcPts val="1700"/>
              </a:lnSpc>
              <a:buNone/>
            </a:pPr>
            <a:r>
              <a:rPr lang="en-US" sz="1150" b="1" dirty="0">
                <a:solidFill>
                  <a:srgbClr val="E2592C"/>
                </a:solidFill>
                <a:latin typeface="Malgun Gothic" pitchFamily="34" charset="0"/>
                <a:ea typeface="Malgun Gothic" pitchFamily="34" charset="-122"/>
                <a:cs typeface="Malgun Gothic" pitchFamily="34" charset="-120"/>
              </a:rPr>
              <a:t>'회전'</a:t>
            </a:r>
            <a:pP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이다. 회전은 국소적으로 등방 스케일링이 아니다. 4부의 핵심 문제가 여기서 나온다.</a:t>
            </a:r>
            <a:endParaRPr lang="en-US" sz="1150" dirty="0"/>
          </a:p>
        </p:txBody>
      </p:sp>
      <p:sp>
        <p:nvSpPr>
          <p:cNvPr id="13"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17</a:t>
            </a:r>
            <a:endParaRPr lang="en-US" sz="1000" dirty="0"/>
          </a:p>
        </p:txBody>
      </p:sp>
      <p:sp>
        <p:nvSpPr>
          <p:cNvPr id="3" name="Shape 1"/>
          <p:cNvSpPr/>
          <p:nvPr/>
        </p:nvSpPr>
        <p:spPr>
          <a:xfrm>
            <a:off x="566928" y="310896"/>
            <a:ext cx="854964" cy="274320"/>
          </a:xfrm>
          <a:prstGeom prst="roundRect">
            <a:avLst>
              <a:gd name="adj" fmla="val 50000"/>
            </a:avLst>
          </a:prstGeom>
          <a:solidFill>
            <a:srgbClr val="1C7293"/>
          </a:solidFill>
          <a:ln/>
        </p:spPr>
      </p:sp>
      <p:sp>
        <p:nvSpPr>
          <p:cNvPr id="4" name="Text 2"/>
          <p:cNvSpPr/>
          <p:nvPr/>
        </p:nvSpPr>
        <p:spPr>
          <a:xfrm>
            <a:off x="566928" y="310896"/>
            <a:ext cx="8549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LINEAGE</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Auxetic 디스플레이 연구의 계보</a:t>
            </a:r>
            <a:endParaRPr lang="en-US" sz="2800" dirty="0"/>
          </a:p>
        </p:txBody>
      </p:sp>
      <p:sp>
        <p:nvSpPr>
          <p:cNvPr id="6" name="Shape 4"/>
          <p:cNvSpPr/>
          <p:nvPr/>
        </p:nvSpPr>
        <p:spPr>
          <a:xfrm>
            <a:off x="566928" y="1444752"/>
            <a:ext cx="11057839" cy="621792"/>
          </a:xfrm>
          <a:prstGeom prst="roundRect">
            <a:avLst>
              <a:gd name="adj" fmla="val 10294"/>
            </a:avLst>
          </a:prstGeom>
          <a:solidFill>
            <a:srgbClr val="EFF4F9"/>
          </a:solidFill>
          <a:ln/>
        </p:spPr>
      </p:sp>
      <p:sp>
        <p:nvSpPr>
          <p:cNvPr id="7" name="Text 5"/>
          <p:cNvSpPr/>
          <p:nvPr/>
        </p:nvSpPr>
        <p:spPr>
          <a:xfrm>
            <a:off x="749808" y="1444752"/>
            <a:ext cx="749808" cy="621792"/>
          </a:xfrm>
          <a:prstGeom prst="rect">
            <a:avLst/>
          </a:prstGeom>
          <a:noFill/>
          <a:ln/>
        </p:spPr>
        <p:txBody>
          <a:bodyPr wrap="square" lIns="0" tIns="0" rIns="0" bIns="0" rtlCol="0" anchor="ctr"/>
          <a:lstStyle/>
          <a:p>
            <a:pPr algn="ctr" indent="0" marL="0">
              <a:buNone/>
            </a:pPr>
            <a:r>
              <a:rPr lang="en-US" sz="1500" b="1" dirty="0">
                <a:solidFill>
                  <a:srgbClr val="9AA8BC"/>
                </a:solidFill>
                <a:latin typeface="Cambria" pitchFamily="34" charset="0"/>
                <a:ea typeface="Cambria" pitchFamily="34" charset="-122"/>
                <a:cs typeface="Cambria" pitchFamily="34" charset="-120"/>
              </a:rPr>
              <a:t>2000</a:t>
            </a:r>
            <a:endParaRPr lang="en-US" sz="1500" dirty="0"/>
          </a:p>
        </p:txBody>
      </p:sp>
      <p:sp>
        <p:nvSpPr>
          <p:cNvPr id="8" name="Text 6"/>
          <p:cNvSpPr/>
          <p:nvPr/>
        </p:nvSpPr>
        <p:spPr>
          <a:xfrm>
            <a:off x="1572768" y="1444752"/>
            <a:ext cx="2121408" cy="621792"/>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Grima &amp; Evans</a:t>
            </a:r>
            <a:endParaRPr lang="en-US" sz="1200" dirty="0"/>
          </a:p>
        </p:txBody>
      </p:sp>
      <p:sp>
        <p:nvSpPr>
          <p:cNvPr id="9" name="Text 7"/>
          <p:cNvSpPr/>
          <p:nvPr/>
        </p:nvSpPr>
        <p:spPr>
          <a:xfrm>
            <a:off x="3712464" y="1444752"/>
            <a:ext cx="2615184" cy="621792"/>
          </a:xfrm>
          <a:prstGeom prst="rect">
            <a:avLst/>
          </a:prstGeom>
          <a:noFill/>
          <a:ln/>
        </p:spPr>
        <p:txBody>
          <a:bodyPr wrap="square" lIns="0" tIns="0" rIns="0" bIns="0" rtlCol="0" anchor="ctr"/>
          <a:lstStyle/>
          <a:p>
            <a:pPr indent="0" marL="0">
              <a:buNone/>
            </a:pPr>
            <a:r>
              <a:rPr lang="en-US" sz="1000" i="1" dirty="0">
                <a:solidFill>
                  <a:srgbClr val="63728B"/>
                </a:solidFill>
                <a:latin typeface="Malgun Gothic" pitchFamily="34" charset="0"/>
                <a:ea typeface="Malgun Gothic" pitchFamily="34" charset="-122"/>
                <a:cs typeface="Malgun Gothic" pitchFamily="34" charset="-120"/>
              </a:rPr>
              <a:t>J. Mater. Sci. Lett. 19, 1563</a:t>
            </a:r>
            <a:endParaRPr lang="en-US" sz="1000" dirty="0"/>
          </a:p>
        </p:txBody>
      </p:sp>
      <p:sp>
        <p:nvSpPr>
          <p:cNvPr id="10" name="Text 8"/>
          <p:cNvSpPr/>
          <p:nvPr/>
        </p:nvSpPr>
        <p:spPr>
          <a:xfrm>
            <a:off x="6364224" y="1444752"/>
            <a:ext cx="5084064" cy="621792"/>
          </a:xfrm>
          <a:prstGeom prst="rect">
            <a:avLst/>
          </a:prstGeom>
          <a:noFill/>
          <a:ln/>
        </p:spPr>
        <p:txBody>
          <a:bodyPr wrap="square" lIns="0" tIns="0" rIns="0" bIns="0" rtlCol="0" anchor="ctr"/>
          <a:lstStyle/>
          <a:p>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Rotating squares로부터의 auxetic 거동 — 이론적 토대</a:t>
            </a:r>
            <a:endParaRPr lang="en-US" sz="1050" dirty="0"/>
          </a:p>
        </p:txBody>
      </p:sp>
      <p:sp>
        <p:nvSpPr>
          <p:cNvPr id="11" name="Shape 9"/>
          <p:cNvSpPr/>
          <p:nvPr/>
        </p:nvSpPr>
        <p:spPr>
          <a:xfrm>
            <a:off x="566928" y="2135124"/>
            <a:ext cx="11057839" cy="621792"/>
          </a:xfrm>
          <a:prstGeom prst="roundRect">
            <a:avLst>
              <a:gd name="adj" fmla="val 10294"/>
            </a:avLst>
          </a:prstGeom>
          <a:solidFill>
            <a:srgbClr val="FBEAE2"/>
          </a:solidFill>
          <a:ln/>
        </p:spPr>
      </p:sp>
      <p:sp>
        <p:nvSpPr>
          <p:cNvPr id="12" name="Text 10"/>
          <p:cNvSpPr/>
          <p:nvPr/>
        </p:nvSpPr>
        <p:spPr>
          <a:xfrm>
            <a:off x="749808" y="2135124"/>
            <a:ext cx="749808" cy="621792"/>
          </a:xfrm>
          <a:prstGeom prst="rect">
            <a:avLst/>
          </a:prstGeom>
          <a:noFill/>
          <a:ln/>
        </p:spPr>
        <p:txBody>
          <a:bodyPr wrap="square" lIns="0" tIns="0" rIns="0" bIns="0" rtlCol="0" anchor="ctr"/>
          <a:lstStyle/>
          <a:p>
            <a:pPr algn="ctr" indent="0" marL="0">
              <a:buNone/>
            </a:pPr>
            <a:r>
              <a:rPr lang="en-US" sz="1500" b="1" dirty="0">
                <a:solidFill>
                  <a:srgbClr val="E2592C"/>
                </a:solidFill>
                <a:latin typeface="Cambria" pitchFamily="34" charset="0"/>
                <a:ea typeface="Cambria" pitchFamily="34" charset="-122"/>
                <a:cs typeface="Cambria" pitchFamily="34" charset="-120"/>
              </a:rPr>
              <a:t>2022</a:t>
            </a:r>
            <a:endParaRPr lang="en-US" sz="1500" dirty="0"/>
          </a:p>
        </p:txBody>
      </p:sp>
      <p:sp>
        <p:nvSpPr>
          <p:cNvPr id="13" name="Text 11"/>
          <p:cNvSpPr/>
          <p:nvPr/>
        </p:nvSpPr>
        <p:spPr>
          <a:xfrm>
            <a:off x="1572768" y="2135124"/>
            <a:ext cx="2121408" cy="621792"/>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Jang et al.  (KIMM)</a:t>
            </a:r>
            <a:endParaRPr lang="en-US" sz="1200" dirty="0"/>
          </a:p>
        </p:txBody>
      </p:sp>
      <p:sp>
        <p:nvSpPr>
          <p:cNvPr id="14" name="Text 12"/>
          <p:cNvSpPr/>
          <p:nvPr/>
        </p:nvSpPr>
        <p:spPr>
          <a:xfrm>
            <a:off x="3712464" y="2135124"/>
            <a:ext cx="2615184" cy="621792"/>
          </a:xfrm>
          <a:prstGeom prst="rect">
            <a:avLst/>
          </a:prstGeom>
          <a:noFill/>
          <a:ln/>
        </p:spPr>
        <p:txBody>
          <a:bodyPr wrap="square" lIns="0" tIns="0" rIns="0" bIns="0" rtlCol="0" anchor="ctr"/>
          <a:lstStyle/>
          <a:p>
            <a:pPr indent="0" marL="0">
              <a:buNone/>
            </a:pPr>
            <a:r>
              <a:rPr lang="en-US" sz="1000" i="1" dirty="0">
                <a:solidFill>
                  <a:srgbClr val="63728B"/>
                </a:solidFill>
                <a:latin typeface="Malgun Gothic" pitchFamily="34" charset="0"/>
                <a:ea typeface="Malgun Gothic" pitchFamily="34" charset="-122"/>
                <a:cs typeface="Malgun Gothic" pitchFamily="34" charset="-120"/>
              </a:rPr>
              <a:t>Adv. Funct. Mater. 32, 2113299</a:t>
            </a:r>
            <a:endParaRPr lang="en-US" sz="1000" dirty="0"/>
          </a:p>
        </p:txBody>
      </p:sp>
      <p:sp>
        <p:nvSpPr>
          <p:cNvPr id="15" name="Text 13"/>
          <p:cNvSpPr/>
          <p:nvPr/>
        </p:nvSpPr>
        <p:spPr>
          <a:xfrm>
            <a:off x="6364224" y="2135124"/>
            <a:ext cx="5084064" cy="621792"/>
          </a:xfrm>
          <a:prstGeom prst="rect">
            <a:avLst/>
          </a:prstGeom>
          <a:noFill/>
          <a:ln/>
        </p:spPr>
        <p:txBody>
          <a:bodyPr wrap="square" lIns="0" tIns="0" rIns="0" bIns="0" rtlCol="0" anchor="ctr"/>
          <a:lstStyle/>
          <a:p>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최초의 auxetic meta-display. ν = −1, 신축률 24.5%, PI 기판 + micro-LED roll transfer, kirigami 회로기판</a:t>
            </a:r>
            <a:endParaRPr lang="en-US" sz="1050" dirty="0"/>
          </a:p>
        </p:txBody>
      </p:sp>
      <p:sp>
        <p:nvSpPr>
          <p:cNvPr id="16" name="Shape 14"/>
          <p:cNvSpPr/>
          <p:nvPr/>
        </p:nvSpPr>
        <p:spPr>
          <a:xfrm>
            <a:off x="566928" y="2825496"/>
            <a:ext cx="11057839" cy="621792"/>
          </a:xfrm>
          <a:prstGeom prst="roundRect">
            <a:avLst>
              <a:gd name="adj" fmla="val 10294"/>
            </a:avLst>
          </a:prstGeom>
          <a:solidFill>
            <a:srgbClr val="EFF4F9"/>
          </a:solidFill>
          <a:ln/>
        </p:spPr>
      </p:sp>
      <p:sp>
        <p:nvSpPr>
          <p:cNvPr id="17" name="Text 15"/>
          <p:cNvSpPr/>
          <p:nvPr/>
        </p:nvSpPr>
        <p:spPr>
          <a:xfrm>
            <a:off x="749808" y="2825496"/>
            <a:ext cx="749808" cy="621792"/>
          </a:xfrm>
          <a:prstGeom prst="rect">
            <a:avLst/>
          </a:prstGeom>
          <a:noFill/>
          <a:ln/>
        </p:spPr>
        <p:txBody>
          <a:bodyPr wrap="square" lIns="0" tIns="0" rIns="0" bIns="0" rtlCol="0" anchor="ctr"/>
          <a:lstStyle/>
          <a:p>
            <a:pPr algn="ctr" indent="0" marL="0">
              <a:buNone/>
            </a:pPr>
            <a:r>
              <a:rPr lang="en-US" sz="1500" b="1" dirty="0">
                <a:solidFill>
                  <a:srgbClr val="1C7293"/>
                </a:solidFill>
                <a:latin typeface="Cambria" pitchFamily="34" charset="0"/>
                <a:ea typeface="Cambria" pitchFamily="34" charset="-122"/>
                <a:cs typeface="Cambria" pitchFamily="34" charset="-120"/>
              </a:rPr>
              <a:t>2023</a:t>
            </a:r>
            <a:endParaRPr lang="en-US" sz="1500" dirty="0"/>
          </a:p>
        </p:txBody>
      </p:sp>
      <p:sp>
        <p:nvSpPr>
          <p:cNvPr id="18" name="Text 16"/>
          <p:cNvSpPr/>
          <p:nvPr/>
        </p:nvSpPr>
        <p:spPr>
          <a:xfrm>
            <a:off x="1572768" y="2825496"/>
            <a:ext cx="2121408" cy="621792"/>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Jang et al.  (KIMM)</a:t>
            </a:r>
            <a:endParaRPr lang="en-US" sz="1200" dirty="0"/>
          </a:p>
        </p:txBody>
      </p:sp>
      <p:sp>
        <p:nvSpPr>
          <p:cNvPr id="19" name="Text 17"/>
          <p:cNvSpPr/>
          <p:nvPr/>
        </p:nvSpPr>
        <p:spPr>
          <a:xfrm>
            <a:off x="3712464" y="2825496"/>
            <a:ext cx="2615184" cy="621792"/>
          </a:xfrm>
          <a:prstGeom prst="rect">
            <a:avLst/>
          </a:prstGeom>
          <a:noFill/>
          <a:ln/>
        </p:spPr>
        <p:txBody>
          <a:bodyPr wrap="square" lIns="0" tIns="0" rIns="0" bIns="0" rtlCol="0" anchor="ctr"/>
          <a:lstStyle/>
          <a:p>
            <a:pPr indent="0" marL="0">
              <a:buNone/>
            </a:pPr>
            <a:r>
              <a:rPr lang="en-US" sz="1000" i="1" dirty="0">
                <a:solidFill>
                  <a:srgbClr val="63728B"/>
                </a:solidFill>
                <a:latin typeface="Malgun Gothic" pitchFamily="34" charset="0"/>
                <a:ea typeface="Malgun Gothic" pitchFamily="34" charset="-122"/>
                <a:cs typeface="Malgun Gothic" pitchFamily="34" charset="-120"/>
              </a:rPr>
              <a:t>SID Symp. Dig. 54, 1137</a:t>
            </a:r>
            <a:endParaRPr lang="en-US" sz="1000" dirty="0"/>
          </a:p>
        </p:txBody>
      </p:sp>
      <p:sp>
        <p:nvSpPr>
          <p:cNvPr id="20" name="Text 18"/>
          <p:cNvSpPr/>
          <p:nvPr/>
        </p:nvSpPr>
        <p:spPr>
          <a:xfrm>
            <a:off x="6364224" y="2825496"/>
            <a:ext cx="5084064" cy="621792"/>
          </a:xfrm>
          <a:prstGeom prst="rect">
            <a:avLst/>
          </a:prstGeom>
          <a:noFill/>
          <a:ln/>
        </p:spPr>
        <p:txBody>
          <a:bodyPr wrap="square" lIns="0" tIns="0" rIns="0" bIns="0" rtlCol="0" anchor="ctr"/>
          <a:lstStyle/>
          <a:p>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컬러 micro-LED meta-display로 확장</a:t>
            </a:r>
            <a:endParaRPr lang="en-US" sz="1050" dirty="0"/>
          </a:p>
        </p:txBody>
      </p:sp>
      <p:sp>
        <p:nvSpPr>
          <p:cNvPr id="21" name="Shape 19"/>
          <p:cNvSpPr/>
          <p:nvPr/>
        </p:nvSpPr>
        <p:spPr>
          <a:xfrm>
            <a:off x="566928" y="3515868"/>
            <a:ext cx="11057839" cy="621792"/>
          </a:xfrm>
          <a:prstGeom prst="roundRect">
            <a:avLst>
              <a:gd name="adj" fmla="val 10294"/>
            </a:avLst>
          </a:prstGeom>
          <a:solidFill>
            <a:srgbClr val="EFF4F9"/>
          </a:solidFill>
          <a:ln/>
        </p:spPr>
      </p:sp>
      <p:sp>
        <p:nvSpPr>
          <p:cNvPr id="22" name="Text 20"/>
          <p:cNvSpPr/>
          <p:nvPr/>
        </p:nvSpPr>
        <p:spPr>
          <a:xfrm>
            <a:off x="749808" y="3515868"/>
            <a:ext cx="749808" cy="621792"/>
          </a:xfrm>
          <a:prstGeom prst="rect">
            <a:avLst/>
          </a:prstGeom>
          <a:noFill/>
          <a:ln/>
        </p:spPr>
        <p:txBody>
          <a:bodyPr wrap="square" lIns="0" tIns="0" rIns="0" bIns="0" rtlCol="0" anchor="ctr"/>
          <a:lstStyle/>
          <a:p>
            <a:pPr algn="ctr" indent="0" marL="0">
              <a:buNone/>
            </a:pPr>
            <a:r>
              <a:rPr lang="en-US" sz="1500" b="1" dirty="0">
                <a:solidFill>
                  <a:srgbClr val="1C7293"/>
                </a:solidFill>
                <a:latin typeface="Cambria" pitchFamily="34" charset="0"/>
                <a:ea typeface="Cambria" pitchFamily="34" charset="-122"/>
                <a:cs typeface="Cambria" pitchFamily="34" charset="-120"/>
              </a:rPr>
              <a:t>2023</a:t>
            </a:r>
            <a:endParaRPr lang="en-US" sz="1500" dirty="0"/>
          </a:p>
        </p:txBody>
      </p:sp>
      <p:sp>
        <p:nvSpPr>
          <p:cNvPr id="23" name="Text 21"/>
          <p:cNvSpPr/>
          <p:nvPr/>
        </p:nvSpPr>
        <p:spPr>
          <a:xfrm>
            <a:off x="1572768" y="3515868"/>
            <a:ext cx="2121408" cy="621792"/>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Du, Wang &amp; Kang</a:t>
            </a:r>
            <a:endParaRPr lang="en-US" sz="1200" dirty="0"/>
          </a:p>
        </p:txBody>
      </p:sp>
      <p:sp>
        <p:nvSpPr>
          <p:cNvPr id="24" name="Text 22"/>
          <p:cNvSpPr/>
          <p:nvPr/>
        </p:nvSpPr>
        <p:spPr>
          <a:xfrm>
            <a:off x="3712464" y="3515868"/>
            <a:ext cx="2615184" cy="621792"/>
          </a:xfrm>
          <a:prstGeom prst="rect">
            <a:avLst/>
          </a:prstGeom>
          <a:noFill/>
          <a:ln/>
        </p:spPr>
        <p:txBody>
          <a:bodyPr wrap="square" lIns="0" tIns="0" rIns="0" bIns="0" rtlCol="0" anchor="ctr"/>
          <a:lstStyle/>
          <a:p>
            <a:pPr indent="0" marL="0">
              <a:buNone/>
            </a:pPr>
            <a:r>
              <a:rPr lang="en-US" sz="1000" i="1" dirty="0">
                <a:solidFill>
                  <a:srgbClr val="63728B"/>
                </a:solidFill>
                <a:latin typeface="Malgun Gothic" pitchFamily="34" charset="0"/>
                <a:ea typeface="Malgun Gothic" pitchFamily="34" charset="-122"/>
                <a:cs typeface="Malgun Gothic" pitchFamily="34" charset="-120"/>
              </a:rPr>
              <a:t>ACS Appl. Mater. Interfaces 15, 19190</a:t>
            </a:r>
            <a:endParaRPr lang="en-US" sz="1000" dirty="0"/>
          </a:p>
        </p:txBody>
      </p:sp>
      <p:sp>
        <p:nvSpPr>
          <p:cNvPr id="25" name="Text 23"/>
          <p:cNvSpPr/>
          <p:nvPr/>
        </p:nvSpPr>
        <p:spPr>
          <a:xfrm>
            <a:off x="6364224" y="3515868"/>
            <a:ext cx="5084064" cy="621792"/>
          </a:xfrm>
          <a:prstGeom prst="rect">
            <a:avLst/>
          </a:prstGeom>
          <a:noFill/>
          <a:ln/>
        </p:spPr>
        <p:txBody>
          <a:bodyPr wrap="square" lIns="0" tIns="0" rIns="0" bIns="0" rtlCol="0" anchor="ctr"/>
          <a:lstStyle/>
          <a:p>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대변형 영역에서의 auxetic kirigami 메타물질</a:t>
            </a:r>
            <a:endParaRPr lang="en-US" sz="1050" dirty="0"/>
          </a:p>
        </p:txBody>
      </p:sp>
      <p:sp>
        <p:nvSpPr>
          <p:cNvPr id="26" name="Shape 24"/>
          <p:cNvSpPr/>
          <p:nvPr/>
        </p:nvSpPr>
        <p:spPr>
          <a:xfrm>
            <a:off x="566928" y="4206240"/>
            <a:ext cx="11057839" cy="621792"/>
          </a:xfrm>
          <a:prstGeom prst="roundRect">
            <a:avLst>
              <a:gd name="adj" fmla="val 10294"/>
            </a:avLst>
          </a:prstGeom>
          <a:solidFill>
            <a:srgbClr val="EFF4F9"/>
          </a:solidFill>
          <a:ln/>
        </p:spPr>
      </p:sp>
      <p:sp>
        <p:nvSpPr>
          <p:cNvPr id="27" name="Text 25"/>
          <p:cNvSpPr/>
          <p:nvPr/>
        </p:nvSpPr>
        <p:spPr>
          <a:xfrm>
            <a:off x="749808" y="4206240"/>
            <a:ext cx="749808" cy="621792"/>
          </a:xfrm>
          <a:prstGeom prst="rect">
            <a:avLst/>
          </a:prstGeom>
          <a:noFill/>
          <a:ln/>
        </p:spPr>
        <p:txBody>
          <a:bodyPr wrap="square" lIns="0" tIns="0" rIns="0" bIns="0" rtlCol="0" anchor="ctr"/>
          <a:lstStyle/>
          <a:p>
            <a:pPr algn="ctr" indent="0" marL="0">
              <a:buNone/>
            </a:pPr>
            <a:r>
              <a:rPr lang="en-US" sz="1500" b="1" dirty="0">
                <a:solidFill>
                  <a:srgbClr val="1C7293"/>
                </a:solidFill>
                <a:latin typeface="Cambria" pitchFamily="34" charset="0"/>
                <a:ea typeface="Cambria" pitchFamily="34" charset="-122"/>
                <a:cs typeface="Cambria" pitchFamily="34" charset="-120"/>
              </a:rPr>
              <a:t>2024</a:t>
            </a:r>
            <a:endParaRPr lang="en-US" sz="1500" dirty="0"/>
          </a:p>
        </p:txBody>
      </p:sp>
      <p:sp>
        <p:nvSpPr>
          <p:cNvPr id="28" name="Text 26"/>
          <p:cNvSpPr/>
          <p:nvPr/>
        </p:nvSpPr>
        <p:spPr>
          <a:xfrm>
            <a:off x="1572768" y="4206240"/>
            <a:ext cx="2121408" cy="621792"/>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Choi et al.</a:t>
            </a:r>
            <a:endParaRPr lang="en-US" sz="1200" dirty="0"/>
          </a:p>
        </p:txBody>
      </p:sp>
      <p:sp>
        <p:nvSpPr>
          <p:cNvPr id="29" name="Text 27"/>
          <p:cNvSpPr/>
          <p:nvPr/>
        </p:nvSpPr>
        <p:spPr>
          <a:xfrm>
            <a:off x="3712464" y="4206240"/>
            <a:ext cx="2615184" cy="621792"/>
          </a:xfrm>
          <a:prstGeom prst="rect">
            <a:avLst/>
          </a:prstGeom>
          <a:noFill/>
          <a:ln/>
        </p:spPr>
        <p:txBody>
          <a:bodyPr wrap="square" lIns="0" tIns="0" rIns="0" bIns="0" rtlCol="0" anchor="ctr"/>
          <a:lstStyle/>
          <a:p>
            <a:pPr indent="0" marL="0">
              <a:buNone/>
            </a:pPr>
            <a:r>
              <a:rPr lang="en-US" sz="1000" i="1" dirty="0">
                <a:solidFill>
                  <a:srgbClr val="63728B"/>
                </a:solidFill>
                <a:latin typeface="Malgun Gothic" pitchFamily="34" charset="0"/>
                <a:ea typeface="Malgun Gothic" pitchFamily="34" charset="-122"/>
                <a:cs typeface="Malgun Gothic" pitchFamily="34" charset="-120"/>
              </a:rPr>
              <a:t>Adv. Funct. Mater. 34, 2406725</a:t>
            </a:r>
            <a:endParaRPr lang="en-US" sz="1000" dirty="0"/>
          </a:p>
        </p:txBody>
      </p:sp>
      <p:sp>
        <p:nvSpPr>
          <p:cNvPr id="30" name="Text 28"/>
          <p:cNvSpPr/>
          <p:nvPr/>
        </p:nvSpPr>
        <p:spPr>
          <a:xfrm>
            <a:off x="6364224" y="4206240"/>
            <a:ext cx="5084064" cy="621792"/>
          </a:xfrm>
          <a:prstGeom prst="rect">
            <a:avLst/>
          </a:prstGeom>
          <a:noFill/>
          <a:ln/>
        </p:spPr>
        <p:txBody>
          <a:bodyPr wrap="square" lIns="0" tIns="0" rIns="0" bIns="0" rtlCol="0" anchor="ctr"/>
          <a:lstStyle/>
          <a:p>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양방향 zero-Poisson 엘라스토머 (자기변형 소프트 메타물질)</a:t>
            </a:r>
            <a:endParaRPr lang="en-US" sz="1050" dirty="0"/>
          </a:p>
        </p:txBody>
      </p:sp>
      <p:sp>
        <p:nvSpPr>
          <p:cNvPr id="31" name="Shape 29"/>
          <p:cNvSpPr/>
          <p:nvPr/>
        </p:nvSpPr>
        <p:spPr>
          <a:xfrm>
            <a:off x="566928" y="4896612"/>
            <a:ext cx="11057839" cy="621792"/>
          </a:xfrm>
          <a:prstGeom prst="roundRect">
            <a:avLst>
              <a:gd name="adj" fmla="val 10294"/>
            </a:avLst>
          </a:prstGeom>
          <a:solidFill>
            <a:srgbClr val="EFF4F9"/>
          </a:solidFill>
          <a:ln/>
        </p:spPr>
      </p:sp>
      <p:sp>
        <p:nvSpPr>
          <p:cNvPr id="32" name="Text 30"/>
          <p:cNvSpPr/>
          <p:nvPr/>
        </p:nvSpPr>
        <p:spPr>
          <a:xfrm>
            <a:off x="749808" y="4896612"/>
            <a:ext cx="749808" cy="621792"/>
          </a:xfrm>
          <a:prstGeom prst="rect">
            <a:avLst/>
          </a:prstGeom>
          <a:noFill/>
          <a:ln/>
        </p:spPr>
        <p:txBody>
          <a:bodyPr wrap="square" lIns="0" tIns="0" rIns="0" bIns="0" rtlCol="0" anchor="ctr"/>
          <a:lstStyle/>
          <a:p>
            <a:pPr algn="ctr" indent="0" marL="0">
              <a:buNone/>
            </a:pPr>
            <a:r>
              <a:rPr lang="en-US" sz="1500" b="1" dirty="0">
                <a:solidFill>
                  <a:srgbClr val="1C7293"/>
                </a:solidFill>
                <a:latin typeface="Cambria" pitchFamily="34" charset="0"/>
                <a:ea typeface="Cambria" pitchFamily="34" charset="-122"/>
                <a:cs typeface="Cambria" pitchFamily="34" charset="-120"/>
              </a:rPr>
              <a:t>2024</a:t>
            </a:r>
            <a:endParaRPr lang="en-US" sz="1500" dirty="0"/>
          </a:p>
        </p:txBody>
      </p:sp>
      <p:sp>
        <p:nvSpPr>
          <p:cNvPr id="33" name="Text 31"/>
          <p:cNvSpPr/>
          <p:nvPr/>
        </p:nvSpPr>
        <p:spPr>
          <a:xfrm>
            <a:off x="1572768" y="4896612"/>
            <a:ext cx="2121408" cy="621792"/>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Lee et al.</a:t>
            </a:r>
            <a:endParaRPr lang="en-US" sz="1200" dirty="0"/>
          </a:p>
        </p:txBody>
      </p:sp>
      <p:sp>
        <p:nvSpPr>
          <p:cNvPr id="34" name="Text 32"/>
          <p:cNvSpPr/>
          <p:nvPr/>
        </p:nvSpPr>
        <p:spPr>
          <a:xfrm>
            <a:off x="3712464" y="4896612"/>
            <a:ext cx="2615184" cy="621792"/>
          </a:xfrm>
          <a:prstGeom prst="rect">
            <a:avLst/>
          </a:prstGeom>
          <a:noFill/>
          <a:ln/>
        </p:spPr>
        <p:txBody>
          <a:bodyPr wrap="square" lIns="0" tIns="0" rIns="0" bIns="0" rtlCol="0" anchor="ctr"/>
          <a:lstStyle/>
          <a:p>
            <a:pPr indent="0" marL="0">
              <a:buNone/>
            </a:pPr>
            <a:r>
              <a:rPr lang="en-US" sz="1000" i="1" dirty="0">
                <a:solidFill>
                  <a:srgbClr val="63728B"/>
                </a:solidFill>
                <a:latin typeface="Malgun Gothic" pitchFamily="34" charset="0"/>
                <a:ea typeface="Malgun Gothic" pitchFamily="34" charset="-122"/>
                <a:cs typeface="Malgun Gothic" pitchFamily="34" charset="-120"/>
              </a:rPr>
              <a:t>Nat. Commun. 15, 7146</a:t>
            </a:r>
            <a:endParaRPr lang="en-US" sz="1000" dirty="0"/>
          </a:p>
        </p:txBody>
      </p:sp>
      <p:sp>
        <p:nvSpPr>
          <p:cNvPr id="35" name="Text 33"/>
          <p:cNvSpPr/>
          <p:nvPr/>
        </p:nvSpPr>
        <p:spPr>
          <a:xfrm>
            <a:off x="6364224" y="4896612"/>
            <a:ext cx="5084064" cy="621792"/>
          </a:xfrm>
          <a:prstGeom prst="rect">
            <a:avLst/>
          </a:prstGeom>
          <a:noFill/>
          <a:ln/>
        </p:spPr>
        <p:txBody>
          <a:bodyPr wrap="square" lIns="0" tIns="0" rIns="0" bIns="0" rtlCol="0" anchor="ctr"/>
          <a:lstStyle/>
          <a:p>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ν = −1의 seamless auxetic substrate — 이음매 없는 기판</a:t>
            </a:r>
            <a:endParaRPr lang="en-US" sz="1050" dirty="0"/>
          </a:p>
        </p:txBody>
      </p:sp>
      <p:sp>
        <p:nvSpPr>
          <p:cNvPr id="36" name="Shape 34"/>
          <p:cNvSpPr/>
          <p:nvPr/>
        </p:nvSpPr>
        <p:spPr>
          <a:xfrm>
            <a:off x="566928" y="5586984"/>
            <a:ext cx="11057839" cy="621792"/>
          </a:xfrm>
          <a:prstGeom prst="roundRect">
            <a:avLst>
              <a:gd name="adj" fmla="val 10294"/>
            </a:avLst>
          </a:prstGeom>
          <a:solidFill>
            <a:srgbClr val="E2EBF3"/>
          </a:solidFill>
          <a:ln/>
        </p:spPr>
      </p:sp>
      <p:sp>
        <p:nvSpPr>
          <p:cNvPr id="37" name="Text 35"/>
          <p:cNvSpPr/>
          <p:nvPr/>
        </p:nvSpPr>
        <p:spPr>
          <a:xfrm>
            <a:off x="749808" y="5586984"/>
            <a:ext cx="749808" cy="621792"/>
          </a:xfrm>
          <a:prstGeom prst="rect">
            <a:avLst/>
          </a:prstGeom>
          <a:noFill/>
          <a:ln/>
        </p:spPr>
        <p:txBody>
          <a:bodyPr wrap="square" lIns="0" tIns="0" rIns="0" bIns="0" rtlCol="0" anchor="ctr"/>
          <a:lstStyle/>
          <a:p>
            <a:pPr algn="ctr" indent="0" marL="0">
              <a:buNone/>
            </a:pPr>
            <a:r>
              <a:rPr lang="en-US" sz="1500" b="1" dirty="0">
                <a:solidFill>
                  <a:srgbClr val="065A82"/>
                </a:solidFill>
                <a:latin typeface="Cambria" pitchFamily="34" charset="0"/>
                <a:ea typeface="Cambria" pitchFamily="34" charset="-122"/>
                <a:cs typeface="Cambria" pitchFamily="34" charset="-120"/>
              </a:rPr>
              <a:t>2026</a:t>
            </a:r>
            <a:endParaRPr lang="en-US" sz="1500" dirty="0"/>
          </a:p>
        </p:txBody>
      </p:sp>
      <p:sp>
        <p:nvSpPr>
          <p:cNvPr id="38" name="Text 36"/>
          <p:cNvSpPr/>
          <p:nvPr/>
        </p:nvSpPr>
        <p:spPr>
          <a:xfrm>
            <a:off x="1572768" y="5586984"/>
            <a:ext cx="2121408" cy="621792"/>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Kim, Kim et al.  (KAIST)</a:t>
            </a:r>
            <a:endParaRPr lang="en-US" sz="1200" dirty="0"/>
          </a:p>
        </p:txBody>
      </p:sp>
      <p:sp>
        <p:nvSpPr>
          <p:cNvPr id="39" name="Text 37"/>
          <p:cNvSpPr/>
          <p:nvPr/>
        </p:nvSpPr>
        <p:spPr>
          <a:xfrm>
            <a:off x="3712464" y="5586984"/>
            <a:ext cx="2615184" cy="621792"/>
          </a:xfrm>
          <a:prstGeom prst="rect">
            <a:avLst/>
          </a:prstGeom>
          <a:noFill/>
          <a:ln/>
        </p:spPr>
        <p:txBody>
          <a:bodyPr wrap="square" lIns="0" tIns="0" rIns="0" bIns="0" rtlCol="0" anchor="ctr"/>
          <a:lstStyle/>
          <a:p>
            <a:pPr indent="0" marL="0">
              <a:buNone/>
            </a:pPr>
            <a:r>
              <a:rPr lang="en-US" sz="1000" i="1" dirty="0">
                <a:solidFill>
                  <a:srgbClr val="63728B"/>
                </a:solidFill>
                <a:latin typeface="Malgun Gothic" pitchFamily="34" charset="0"/>
                <a:ea typeface="Malgun Gothic" pitchFamily="34" charset="-122"/>
                <a:cs typeface="Malgun Gothic" pitchFamily="34" charset="-120"/>
              </a:rPr>
              <a:t>Nat. Commun. 17, 7389</a:t>
            </a:r>
            <a:endParaRPr lang="en-US" sz="1000" dirty="0"/>
          </a:p>
        </p:txBody>
      </p:sp>
      <p:sp>
        <p:nvSpPr>
          <p:cNvPr id="40" name="Text 38"/>
          <p:cNvSpPr/>
          <p:nvPr/>
        </p:nvSpPr>
        <p:spPr>
          <a:xfrm>
            <a:off x="6364224" y="5586984"/>
            <a:ext cx="5084064" cy="621792"/>
          </a:xfrm>
          <a:prstGeom prst="rect">
            <a:avLst/>
          </a:prstGeom>
          <a:noFill/>
          <a:ln/>
        </p:spPr>
        <p:txBody>
          <a:bodyPr wrap="square" lIns="0" tIns="0" rIns="0" bIns="0" rtlCol="0" anchor="ctr"/>
          <a:lstStyle/>
          <a:p>
            <a:pPr indent="0" marL="0">
              <a:lnSpc>
                <a:spcPts val="1400"/>
              </a:lnSpc>
              <a:buNone/>
            </a:pPr>
            <a:r>
              <a:rPr lang="en-US" sz="1050" b="1" dirty="0">
                <a:solidFill>
                  <a:srgbClr val="1E2739"/>
                </a:solidFill>
                <a:latin typeface="Malgun Gothic" pitchFamily="34" charset="0"/>
                <a:ea typeface="Malgun Gothic" pitchFamily="34" charset="-122"/>
                <a:cs typeface="Malgun Gothic" pitchFamily="34" charset="-120"/>
              </a:rPr>
              <a:t>Hybrid auxetic platform — 선택적 접합 + 등방 팽창 계수 ρ  ← 오늘의 논문</a:t>
            </a:r>
            <a:endParaRPr lang="en-US" sz="1050" dirty="0"/>
          </a:p>
        </p:txBody>
      </p:sp>
      <p:sp>
        <p:nvSpPr>
          <p:cNvPr id="41" name="Text 39"/>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본 논문 참고문헌 34–40번 및 Supplementary Table 1 기준</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18</a:t>
            </a:r>
            <a:endParaRPr lang="en-US" sz="1000" dirty="0"/>
          </a:p>
        </p:txBody>
      </p:sp>
      <p:sp>
        <p:nvSpPr>
          <p:cNvPr id="3" name="Shape 1"/>
          <p:cNvSpPr/>
          <p:nvPr/>
        </p:nvSpPr>
        <p:spPr>
          <a:xfrm>
            <a:off x="566928" y="310896"/>
            <a:ext cx="1046988" cy="274320"/>
          </a:xfrm>
          <a:prstGeom prst="roundRect">
            <a:avLst>
              <a:gd name="adj" fmla="val 50000"/>
            </a:avLst>
          </a:prstGeom>
          <a:solidFill>
            <a:srgbClr val="1C7293"/>
          </a:solidFill>
          <a:ln/>
        </p:spPr>
      </p:sp>
      <p:sp>
        <p:nvSpPr>
          <p:cNvPr id="4" name="Text 2"/>
          <p:cNvSpPr/>
          <p:nvPr/>
        </p:nvSpPr>
        <p:spPr>
          <a:xfrm>
            <a:off x="566928" y="310896"/>
            <a:ext cx="10469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2022 KIMM</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첫 auxetic meta-display — 무엇이 좋았고, 무엇이 남았나</a:t>
            </a:r>
            <a:endParaRPr lang="en-US" sz="2800" dirty="0"/>
          </a:p>
        </p:txBody>
      </p:sp>
      <p:sp>
        <p:nvSpPr>
          <p:cNvPr id="6" name="Shape 4"/>
          <p:cNvSpPr/>
          <p:nvPr/>
        </p:nvSpPr>
        <p:spPr>
          <a:xfrm>
            <a:off x="566928" y="1481328"/>
            <a:ext cx="5358384" cy="2139696"/>
          </a:xfrm>
          <a:prstGeom prst="roundRect">
            <a:avLst>
              <a:gd name="adj" fmla="val 3846"/>
            </a:avLst>
          </a:prstGeom>
          <a:solidFill>
            <a:srgbClr val="EFF4F9"/>
          </a:solidFill>
          <a:ln/>
          <a:effectLst>
            <a:outerShdw sx="100000" sy="100000" kx="0" ky="0" algn="bl" rotWithShape="0" blurRad="114300" dist="25400" dir="5400000">
              <a:srgbClr val="7E90A8">
                <a:alpha val="16000"/>
              </a:srgbClr>
            </a:outerShdw>
          </a:effectLst>
        </p:spPr>
      </p:sp>
      <p:sp>
        <p:nvSpPr>
          <p:cNvPr id="7" name="Text 5"/>
          <p:cNvSpPr/>
          <p:nvPr/>
        </p:nvSpPr>
        <p:spPr>
          <a:xfrm>
            <a:off x="877824" y="1664208"/>
            <a:ext cx="4754880" cy="292608"/>
          </a:xfrm>
          <a:prstGeom prst="rect">
            <a:avLst/>
          </a:prstGeom>
          <a:noFill/>
          <a:ln/>
        </p:spPr>
        <p:txBody>
          <a:bodyPr wrap="square" lIns="0" tIns="0" rIns="0" bIns="0" rtlCol="0" anchor="ctr"/>
          <a:lstStyle/>
          <a:p>
            <a:pPr indent="0" marL="0">
              <a:buNone/>
            </a:pPr>
            <a:r>
              <a:rPr lang="en-US" sz="1450" b="1" dirty="0">
                <a:solidFill>
                  <a:srgbClr val="1C7293"/>
                </a:solidFill>
                <a:latin typeface="Malgun Gothic" pitchFamily="34" charset="0"/>
                <a:ea typeface="Malgun Gothic" pitchFamily="34" charset="-122"/>
                <a:cs typeface="Malgun Gothic" pitchFamily="34" charset="-120"/>
              </a:rPr>
              <a:t>돌파구였던 지점</a:t>
            </a:r>
            <a:endParaRPr lang="en-US" sz="1450" dirty="0"/>
          </a:p>
        </p:txBody>
      </p:sp>
      <p:sp>
        <p:nvSpPr>
          <p:cNvPr id="8" name="Text 6"/>
          <p:cNvSpPr/>
          <p:nvPr/>
        </p:nvSpPr>
        <p:spPr>
          <a:xfrm>
            <a:off x="877824" y="2066544"/>
            <a:ext cx="4754880" cy="1444752"/>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ν = −1 kirigami 회로기판 위에 micro-LED를 roll transfer — 1축 인장에서 종횡비 보존</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신축률 24.5%, 그리고 PI 필름 기반 — 반도체·디스플레이 업계 표준 소재</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비가우스 곡면에 컨포멀하게 감기는 것까지 시연</a:t>
            </a:r>
            <a:endParaRPr lang="en-US" sz="1100" dirty="0"/>
          </a:p>
        </p:txBody>
      </p:sp>
      <p:sp>
        <p:nvSpPr>
          <p:cNvPr id="9" name="Shape 7"/>
          <p:cNvSpPr/>
          <p:nvPr/>
        </p:nvSpPr>
        <p:spPr>
          <a:xfrm>
            <a:off x="6181344" y="1481328"/>
            <a:ext cx="5358384" cy="2139696"/>
          </a:xfrm>
          <a:prstGeom prst="roundRect">
            <a:avLst>
              <a:gd name="adj" fmla="val 3846"/>
            </a:avLst>
          </a:prstGeom>
          <a:solidFill>
            <a:srgbClr val="FBEAE2"/>
          </a:solidFill>
          <a:ln/>
          <a:effectLst>
            <a:outerShdw sx="100000" sy="100000" kx="0" ky="0" algn="bl" rotWithShape="0" blurRad="114300" dist="25400" dir="5400000">
              <a:srgbClr val="7E90A8">
                <a:alpha val="16000"/>
              </a:srgbClr>
            </a:outerShdw>
          </a:effectLst>
        </p:spPr>
      </p:sp>
      <p:sp>
        <p:nvSpPr>
          <p:cNvPr id="10" name="Text 8"/>
          <p:cNvSpPr/>
          <p:nvPr/>
        </p:nvSpPr>
        <p:spPr>
          <a:xfrm>
            <a:off x="6492240" y="1664208"/>
            <a:ext cx="4754880" cy="292608"/>
          </a:xfrm>
          <a:prstGeom prst="rect">
            <a:avLst/>
          </a:prstGeom>
          <a:noFill/>
          <a:ln/>
        </p:spPr>
        <p:txBody>
          <a:bodyPr wrap="square" lIns="0" tIns="0" rIns="0" bIns="0" rtlCol="0" anchor="ctr"/>
          <a:lstStyle/>
          <a:p>
            <a:pPr indent="0" marL="0">
              <a:buNone/>
            </a:pPr>
            <a:r>
              <a:rPr lang="en-US" sz="1450" b="1" dirty="0">
                <a:solidFill>
                  <a:srgbClr val="E2592C"/>
                </a:solidFill>
                <a:latin typeface="Malgun Gothic" pitchFamily="34" charset="0"/>
                <a:ea typeface="Malgun Gothic" pitchFamily="34" charset="-122"/>
                <a:cs typeface="Malgun Gothic" pitchFamily="34" charset="-120"/>
              </a:rPr>
              <a:t>그래도 남은 제약</a:t>
            </a:r>
            <a:endParaRPr lang="en-US" sz="1450" dirty="0"/>
          </a:p>
        </p:txBody>
      </p:sp>
      <p:sp>
        <p:nvSpPr>
          <p:cNvPr id="11" name="Text 9"/>
          <p:cNvSpPr/>
          <p:nvPr/>
        </p:nvSpPr>
        <p:spPr>
          <a:xfrm>
            <a:off x="6492240" y="2066544"/>
            <a:ext cx="4754880" cy="1444752"/>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구조 자체가 곧 소자 기판 — 구멍이 뚫린 void-rich 시트 위에 디스플레이를 얹어야 한다</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픽셀은 회전 중심 부근에만 놓을 수 있다 → fill factor·해상도 제약</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컷(cut) 스케일이 픽셀 피치의 하한을 결정한다</a:t>
            </a:r>
            <a:endParaRPr lang="en-US" sz="1100" dirty="0"/>
          </a:p>
        </p:txBody>
      </p:sp>
      <p:sp>
        <p:nvSpPr>
          <p:cNvPr id="12" name="Shape 10"/>
          <p:cNvSpPr/>
          <p:nvPr/>
        </p:nvSpPr>
        <p:spPr>
          <a:xfrm>
            <a:off x="566928" y="3803904"/>
            <a:ext cx="11057839" cy="2304288"/>
          </a:xfrm>
          <a:prstGeom prst="roundRect">
            <a:avLst>
              <a:gd name="adj" fmla="val 3571"/>
            </a:avLst>
          </a:prstGeom>
          <a:solidFill>
            <a:srgbClr val="E2EBF3"/>
          </a:solidFill>
          <a:ln/>
          <a:effectLst>
            <a:outerShdw sx="100000" sy="100000" kx="0" ky="0" algn="bl" rotWithShape="0" blurRad="114300" dist="25400" dir="5400000">
              <a:srgbClr val="7E90A8">
                <a:alpha val="16000"/>
              </a:srgbClr>
            </a:outerShdw>
          </a:effectLst>
        </p:spPr>
      </p:sp>
      <p:sp>
        <p:nvSpPr>
          <p:cNvPr id="13" name="Text 11"/>
          <p:cNvSpPr/>
          <p:nvPr/>
        </p:nvSpPr>
        <p:spPr>
          <a:xfrm>
            <a:off x="877824" y="3986784"/>
            <a:ext cx="10241280" cy="292608"/>
          </a:xfrm>
          <a:prstGeom prst="rect">
            <a:avLst/>
          </a:prstGeom>
          <a:noFill/>
          <a:ln/>
        </p:spPr>
        <p:txBody>
          <a:bodyPr wrap="square" lIns="0" tIns="0" rIns="0" bIns="0" rtlCol="0" anchor="ctr"/>
          <a:lstStyle/>
          <a:p>
            <a:pPr indent="0" marL="0">
              <a:buNone/>
            </a:pPr>
            <a:r>
              <a:rPr lang="en-US" sz="1450" b="1" dirty="0">
                <a:solidFill>
                  <a:srgbClr val="21295C"/>
                </a:solidFill>
                <a:latin typeface="Malgun Gothic" pitchFamily="34" charset="0"/>
                <a:ea typeface="Malgun Gothic" pitchFamily="34" charset="-122"/>
                <a:cs typeface="Malgun Gothic" pitchFamily="34" charset="-120"/>
              </a:rPr>
              <a:t>핵심 병목 — 공정 호환성</a:t>
            </a:r>
            <a:endParaRPr lang="en-US" sz="1450" dirty="0"/>
          </a:p>
        </p:txBody>
      </p:sp>
      <p:sp>
        <p:nvSpPr>
          <p:cNvPr id="14" name="Text 12"/>
          <p:cNvSpPr/>
          <p:nvPr/>
        </p:nvSpPr>
        <p:spPr>
          <a:xfrm>
            <a:off x="877824" y="4389120"/>
            <a:ext cx="3291840" cy="274320"/>
          </a:xfrm>
          <a:prstGeom prst="rect">
            <a:avLst/>
          </a:prstGeom>
          <a:noFill/>
          <a:ln/>
        </p:spPr>
        <p:txBody>
          <a:bodyPr wrap="square" lIns="0" tIns="0" rIns="0" bIns="0" rtlCol="0" anchor="ctr"/>
          <a:lstStyle/>
          <a:p>
            <a:pPr indent="0" marL="0">
              <a:buNone/>
            </a:pPr>
            <a:r>
              <a:rPr lang="en-US" sz="1200" b="1" dirty="0">
                <a:solidFill>
                  <a:srgbClr val="E2592C"/>
                </a:solidFill>
                <a:latin typeface="Malgun Gothic" pitchFamily="34" charset="0"/>
                <a:ea typeface="Malgun Gothic" pitchFamily="34" charset="-122"/>
                <a:cs typeface="Malgun Gothic" pitchFamily="34" charset="-120"/>
              </a:rPr>
              <a:t>연속 평면의 부재</a:t>
            </a:r>
            <a:endParaRPr lang="en-US" sz="1200" dirty="0"/>
          </a:p>
        </p:txBody>
      </p:sp>
      <p:sp>
        <p:nvSpPr>
          <p:cNvPr id="15" name="Text 13"/>
          <p:cNvSpPr/>
          <p:nvPr/>
        </p:nvSpPr>
        <p:spPr>
          <a:xfrm>
            <a:off x="877824" y="4700016"/>
            <a:ext cx="3291840" cy="120700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스핀코팅·증착·전사·봉지 등 거의 모든 디스플레이 공정이 '평평한 연속 기판'을 전제로 최적화되어 있다. 구멍 뚫린 시트 위에서는 그대로 쓸 수 없다.</a:t>
            </a:r>
            <a:endParaRPr lang="en-US" sz="1050" dirty="0"/>
          </a:p>
        </p:txBody>
      </p:sp>
      <p:sp>
        <p:nvSpPr>
          <p:cNvPr id="16" name="Text 14"/>
          <p:cNvSpPr/>
          <p:nvPr/>
        </p:nvSpPr>
        <p:spPr>
          <a:xfrm>
            <a:off x="4462272" y="4389120"/>
            <a:ext cx="3291840" cy="274320"/>
          </a:xfrm>
          <a:prstGeom prst="rect">
            <a:avLst/>
          </a:prstGeom>
          <a:noFill/>
          <a:ln/>
        </p:spPr>
        <p:txBody>
          <a:bodyPr wrap="square" lIns="0" tIns="0" rIns="0" bIns="0" rtlCol="0" anchor="ctr"/>
          <a:lstStyle/>
          <a:p>
            <a:pPr indent="0" marL="0">
              <a:buNone/>
            </a:pPr>
            <a:r>
              <a:rPr lang="en-US" sz="1200" b="1" dirty="0">
                <a:solidFill>
                  <a:srgbClr val="E2592C"/>
                </a:solidFill>
                <a:latin typeface="Malgun Gothic" pitchFamily="34" charset="0"/>
                <a:ea typeface="Malgun Gothic" pitchFamily="34" charset="-122"/>
                <a:cs typeface="Malgun Gothic" pitchFamily="34" charset="-120"/>
              </a:rPr>
              <a:t>픽셀 배치의 자유도</a:t>
            </a:r>
            <a:endParaRPr lang="en-US" sz="1200" dirty="0"/>
          </a:p>
        </p:txBody>
      </p:sp>
      <p:sp>
        <p:nvSpPr>
          <p:cNvPr id="17" name="Text 15"/>
          <p:cNvSpPr/>
          <p:nvPr/>
        </p:nvSpPr>
        <p:spPr>
          <a:xfrm>
            <a:off x="4462272" y="4700016"/>
            <a:ext cx="3291840" cy="120700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왜곡이 작은 지점에만 픽셀을 두면 픽셀 분포가 공간적으로 불균일해지고, 결국 해상도가 제한된다.</a:t>
            </a:r>
            <a:endParaRPr lang="en-US" sz="1050" dirty="0"/>
          </a:p>
        </p:txBody>
      </p:sp>
      <p:sp>
        <p:nvSpPr>
          <p:cNvPr id="18" name="Text 16"/>
          <p:cNvSpPr/>
          <p:nvPr/>
        </p:nvSpPr>
        <p:spPr>
          <a:xfrm>
            <a:off x="8046720" y="4389120"/>
            <a:ext cx="3291840" cy="274320"/>
          </a:xfrm>
          <a:prstGeom prst="rect">
            <a:avLst/>
          </a:prstGeom>
          <a:noFill/>
          <a:ln/>
        </p:spPr>
        <p:txBody>
          <a:bodyPr wrap="square" lIns="0" tIns="0" rIns="0" bIns="0" rtlCol="0" anchor="ctr"/>
          <a:lstStyle/>
          <a:p>
            <a:pPr indent="0" marL="0">
              <a:buNone/>
            </a:pPr>
            <a:r>
              <a:rPr lang="en-US" sz="1200" b="1" dirty="0">
                <a:solidFill>
                  <a:srgbClr val="E2592C"/>
                </a:solidFill>
                <a:latin typeface="Malgun Gothic" pitchFamily="34" charset="0"/>
                <a:ea typeface="Malgun Gothic" pitchFamily="34" charset="-122"/>
                <a:cs typeface="Malgun Gothic" pitchFamily="34" charset="-120"/>
              </a:rPr>
              <a:t>신뢰성·사용성</a:t>
            </a:r>
            <a:endParaRPr lang="en-US" sz="1200" dirty="0"/>
          </a:p>
        </p:txBody>
      </p:sp>
      <p:sp>
        <p:nvSpPr>
          <p:cNvPr id="19" name="Text 17"/>
          <p:cNvSpPr/>
          <p:nvPr/>
        </p:nvSpPr>
        <p:spPr>
          <a:xfrm>
            <a:off x="8046720" y="4700016"/>
            <a:ext cx="3291840" cy="120700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구멍을 통한 이물 유입, 방수, 터치 스택 구성이 모두 난제로 남는다.</a:t>
            </a:r>
            <a:endParaRPr lang="en-US" sz="1050" dirty="0"/>
          </a:p>
        </p:txBody>
      </p:sp>
      <p:sp>
        <p:nvSpPr>
          <p:cNvPr id="20" name="Text 18"/>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Jang, B. et al., Adv. Funct. Mater. 32, 2113299 (2022) · 본 논문 도입부 및 Supplementary Table 1 참조</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19</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04</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REDEFINING</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Global NPR ≠</a:t>
            </a:r>
            <a:endParaRPr lang="en-US" sz="3600" dirty="0"/>
          </a:p>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Local isotropic expansion</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전체 푸아송비가 −1이어도 내부의 모든 점이 등방으로 커지는 것은 아니다.</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이 논문이 발견한 진짜 문제는 여기에 있다.</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20</a:t>
            </a:r>
            <a:endParaRPr lang="en-US" sz="1000" dirty="0"/>
          </a:p>
        </p:txBody>
      </p:sp>
      <p:sp>
        <p:nvSpPr>
          <p:cNvPr id="3" name="Shape 1"/>
          <p:cNvSpPr/>
          <p:nvPr/>
        </p:nvSpPr>
        <p:spPr>
          <a:xfrm>
            <a:off x="566928" y="310896"/>
            <a:ext cx="854964" cy="274320"/>
          </a:xfrm>
          <a:prstGeom prst="roundRect">
            <a:avLst>
              <a:gd name="adj" fmla="val 50000"/>
            </a:avLst>
          </a:prstGeom>
          <a:solidFill>
            <a:srgbClr val="1C7293"/>
          </a:solidFill>
          <a:ln/>
        </p:spPr>
      </p:sp>
      <p:sp>
        <p:nvSpPr>
          <p:cNvPr id="4" name="Text 2"/>
          <p:cNvSpPr/>
          <p:nvPr/>
        </p:nvSpPr>
        <p:spPr>
          <a:xfrm>
            <a:off x="566928" y="310896"/>
            <a:ext cx="8549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THE GAP</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전체는 등방인데, 내부는 아니다</a:t>
            </a:r>
            <a:endParaRPr lang="en-US" sz="2800" dirty="0"/>
          </a:p>
        </p:txBody>
      </p:sp>
      <p:pic>
        <p:nvPicPr>
          <p:cNvPr id="6" name="Image 0" descr="crops/f1c.png">    </p:cNvPr>
          <p:cNvPicPr>
            <a:picLocks noChangeAspect="1"/>
          </p:cNvPicPr>
          <p:nvPr/>
        </p:nvPicPr>
        <p:blipFill>
          <a:blip r:embed="rId1"/>
          <a:stretch>
            <a:fillRect/>
          </a:stretch>
        </p:blipFill>
        <p:spPr>
          <a:xfrm>
            <a:off x="806834" y="1444752"/>
            <a:ext cx="6231884" cy="3749040"/>
          </a:xfrm>
          <a:prstGeom prst="rect">
            <a:avLst/>
          </a:prstGeom>
        </p:spPr>
      </p:pic>
      <p:sp>
        <p:nvSpPr>
          <p:cNvPr id="7" name="Text 4"/>
          <p:cNvSpPr/>
          <p:nvPr/>
        </p:nvSpPr>
        <p:spPr>
          <a:xfrm>
            <a:off x="566928" y="5248656"/>
            <a:ext cx="6711696"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1c — rotating-square 프레임 표면 648개 격자점의 (ux/x, uy/y) 분포 (FEA, 15% 인장)</a:t>
            </a:r>
            <a:endParaRPr lang="en-US" sz="950" dirty="0"/>
          </a:p>
        </p:txBody>
      </p:sp>
      <p:sp>
        <p:nvSpPr>
          <p:cNvPr id="8" name="Text 5"/>
          <p:cNvSpPr/>
          <p:nvPr/>
        </p:nvSpPr>
        <p:spPr>
          <a:xfrm>
            <a:off x="7516368" y="1517904"/>
            <a:ext cx="4023360" cy="438912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프레임 전체의 외곽 치수는 두 방향 모두 같은 비율로 커진다 → 겉보기 ν = −1</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그러나 표면 격자점의 (ux/x, uy/y)를 찍어보면 y = x 선 근처가 아니라 크게 흩어진다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수평 인장과 수직 인장 모두에서 산포가 크다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원인은 단위셀의 회전 메커니즘 자체 — 회전은 국소적으로 등방 스케일링이 아니다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즉 auxetic 프레임의 표면 위 각 점은 서로 다른 k 값을 갖는다</a:t>
            </a:r>
            <a:endParaRPr lang="en-US" sz="1150" dirty="0"/>
          </a:p>
        </p:txBody>
      </p:sp>
      <p:sp>
        <p:nvSpPr>
          <p:cNvPr id="9" name="Text 6"/>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21</a:t>
            </a:r>
            <a:endParaRPr lang="en-US" sz="1000" dirty="0"/>
          </a:p>
        </p:txBody>
      </p:sp>
      <p:sp>
        <p:nvSpPr>
          <p:cNvPr id="3" name="Shape 1"/>
          <p:cNvSpPr/>
          <p:nvPr/>
        </p:nvSpPr>
        <p:spPr>
          <a:xfrm>
            <a:off x="566928" y="310896"/>
            <a:ext cx="1335024" cy="274320"/>
          </a:xfrm>
          <a:prstGeom prst="roundRect">
            <a:avLst>
              <a:gd name="adj" fmla="val 50000"/>
            </a:avLst>
          </a:prstGeom>
          <a:solidFill>
            <a:srgbClr val="1C7293"/>
          </a:solidFill>
          <a:ln/>
        </p:spPr>
      </p:sp>
      <p:sp>
        <p:nvSpPr>
          <p:cNvPr id="4" name="Text 2"/>
          <p:cNvSpPr/>
          <p:nvPr/>
        </p:nvSpPr>
        <p:spPr>
          <a:xfrm>
            <a:off x="566928" y="310896"/>
            <a:ext cx="13350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FULLY BONDED</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전면 접합의 결말 — 회전이 그대로 복사된다</a:t>
            </a:r>
            <a:endParaRPr lang="en-US" sz="2800" dirty="0"/>
          </a:p>
        </p:txBody>
      </p:sp>
      <p:pic>
        <p:nvPicPr>
          <p:cNvPr id="6" name="Image 0" descr="crops/f1d.png">    </p:cNvPr>
          <p:cNvPicPr>
            <a:picLocks noChangeAspect="1"/>
          </p:cNvPicPr>
          <p:nvPr/>
        </p:nvPicPr>
        <p:blipFill>
          <a:blip r:embed="rId1"/>
          <a:stretch>
            <a:fillRect/>
          </a:stretch>
        </p:blipFill>
        <p:spPr>
          <a:xfrm>
            <a:off x="1107686" y="1426464"/>
            <a:ext cx="6325124" cy="3877056"/>
          </a:xfrm>
          <a:prstGeom prst="rect">
            <a:avLst/>
          </a:prstGeom>
        </p:spPr>
      </p:pic>
      <p:sp>
        <p:nvSpPr>
          <p:cNvPr id="7" name="Text 4"/>
          <p:cNvSpPr/>
          <p:nvPr/>
        </p:nvSpPr>
        <p:spPr>
          <a:xfrm>
            <a:off x="566928" y="5358384"/>
            <a:ext cx="740664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1d — 전면 접합된 auxetic–elastomer 계의 변위장 |u| 및 이미지 변환 결과 (15% 인장)</a:t>
            </a:r>
            <a:endParaRPr lang="en-US" sz="950" dirty="0"/>
          </a:p>
        </p:txBody>
      </p:sp>
      <p:sp>
        <p:nvSpPr>
          <p:cNvPr id="8" name="Shape 5"/>
          <p:cNvSpPr/>
          <p:nvPr/>
        </p:nvSpPr>
        <p:spPr>
          <a:xfrm>
            <a:off x="8211312" y="1426464"/>
            <a:ext cx="3328416" cy="2212848"/>
          </a:xfrm>
          <a:prstGeom prst="roundRect">
            <a:avLst>
              <a:gd name="adj" fmla="val 3719"/>
            </a:avLst>
          </a:prstGeom>
          <a:solidFill>
            <a:srgbClr val="FBEAE2"/>
          </a:solidFill>
          <a:ln/>
          <a:effectLst>
            <a:outerShdw sx="100000" sy="100000" kx="0" ky="0" algn="bl" rotWithShape="0" blurRad="114300" dist="25400" dir="5400000">
              <a:srgbClr val="7E90A8">
                <a:alpha val="16000"/>
              </a:srgbClr>
            </a:outerShdw>
          </a:effectLst>
        </p:spPr>
      </p:sp>
      <p:sp>
        <p:nvSpPr>
          <p:cNvPr id="9" name="Text 6"/>
          <p:cNvSpPr/>
          <p:nvPr/>
        </p:nvSpPr>
        <p:spPr>
          <a:xfrm>
            <a:off x="8449056" y="1591056"/>
            <a:ext cx="2834640" cy="292608"/>
          </a:xfrm>
          <a:prstGeom prst="rect">
            <a:avLst/>
          </a:prstGeom>
          <a:noFill/>
          <a:ln/>
        </p:spPr>
        <p:txBody>
          <a:bodyPr wrap="square" lIns="0" tIns="0" rIns="0" bIns="0" rtlCol="0" anchor="ctr"/>
          <a:lstStyle/>
          <a:p>
            <a:pPr indent="0" marL="0">
              <a:buNone/>
            </a:pPr>
            <a:r>
              <a:rPr lang="en-US" sz="1450" b="1" dirty="0">
                <a:solidFill>
                  <a:srgbClr val="E2592C"/>
                </a:solidFill>
                <a:latin typeface="Malgun Gothic" pitchFamily="34" charset="0"/>
                <a:ea typeface="Malgun Gothic" pitchFamily="34" charset="-122"/>
                <a:cs typeface="Malgun Gothic" pitchFamily="34" charset="-120"/>
              </a:rPr>
              <a:t>무슨 일이 벌어지나</a:t>
            </a:r>
            <a:endParaRPr lang="en-US" sz="1450" dirty="0"/>
          </a:p>
        </p:txBody>
      </p:sp>
      <p:sp>
        <p:nvSpPr>
          <p:cNvPr id="10" name="Text 7"/>
          <p:cNvSpPr/>
          <p:nvPr/>
        </p:nvSpPr>
        <p:spPr>
          <a:xfrm>
            <a:off x="8449056" y="1975104"/>
            <a:ext cx="2852928" cy="1536192"/>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엘라스토머가 프레임에 완전히 구속되어 회전 궤적을 그대로 따라간다</a:t>
            </a:r>
            <a:endParaRPr lang="en-US" sz="1050" dirty="0"/>
          </a:p>
          <a:p>
            <a:pPr marL="342900" indent="-342900">
              <a:lnSpc>
                <a:spcPts val="1800"/>
              </a:lnSpc>
              <a:spcAft>
                <a:spcPts val="5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격자선이 물결치고 축구공이 국소적으로 찌그러진다</a:t>
            </a:r>
            <a:endParaRPr lang="en-US" sz="1050" dirty="0"/>
          </a:p>
          <a:p>
            <a:pPr marL="342900" indent="-342900">
              <a:lnSpc>
                <a:spcPts val="1800"/>
              </a:lnSpc>
              <a:spcAft>
                <a:spcPts val="5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기존 스트레처블만큼 심하지는 않지만, 왜곡은 분명히 남는다</a:t>
            </a:r>
            <a:endParaRPr lang="en-US" sz="1050" dirty="0"/>
          </a:p>
        </p:txBody>
      </p:sp>
      <p:sp>
        <p:nvSpPr>
          <p:cNvPr id="11" name="Shape 8"/>
          <p:cNvSpPr/>
          <p:nvPr/>
        </p:nvSpPr>
        <p:spPr>
          <a:xfrm>
            <a:off x="8211312" y="3803904"/>
            <a:ext cx="3328416" cy="2157984"/>
          </a:xfrm>
          <a:prstGeom prst="roundRect">
            <a:avLst>
              <a:gd name="adj" fmla="val 3814"/>
            </a:avLst>
          </a:prstGeom>
          <a:solidFill>
            <a:srgbClr val="EFF4F9"/>
          </a:solidFill>
          <a:ln/>
          <a:effectLst>
            <a:outerShdw sx="100000" sy="100000" kx="0" ky="0" algn="bl" rotWithShape="0" blurRad="114300" dist="25400" dir="5400000">
              <a:srgbClr val="7E90A8">
                <a:alpha val="16000"/>
              </a:srgbClr>
            </a:outerShdw>
          </a:effectLst>
        </p:spPr>
      </p:sp>
      <p:sp>
        <p:nvSpPr>
          <p:cNvPr id="12" name="Text 9"/>
          <p:cNvSpPr/>
          <p:nvPr/>
        </p:nvSpPr>
        <p:spPr>
          <a:xfrm>
            <a:off x="8449056" y="3968496"/>
            <a:ext cx="2834640" cy="292608"/>
          </a:xfrm>
          <a:prstGeom prst="rect">
            <a:avLst/>
          </a:prstGeom>
          <a:noFill/>
          <a:ln/>
        </p:spPr>
        <p:txBody>
          <a:bodyPr wrap="square" lIns="0" tIns="0" rIns="0" bIns="0" rtlCol="0" anchor="ctr"/>
          <a:lstStyle/>
          <a:p>
            <a:pPr indent="0" marL="0">
              <a:buNone/>
            </a:pPr>
            <a:r>
              <a:rPr lang="en-US" sz="1450" b="1" dirty="0">
                <a:solidFill>
                  <a:srgbClr val="21295C"/>
                </a:solidFill>
                <a:latin typeface="Malgun Gothic" pitchFamily="34" charset="0"/>
                <a:ea typeface="Malgun Gothic" pitchFamily="34" charset="-122"/>
                <a:cs typeface="Malgun Gothic" pitchFamily="34" charset="-120"/>
              </a:rPr>
              <a:t>셀을 줄이면 될까?</a:t>
            </a:r>
            <a:endParaRPr lang="en-US" sz="1450" dirty="0"/>
          </a:p>
        </p:txBody>
      </p:sp>
      <p:sp>
        <p:nvSpPr>
          <p:cNvPr id="13" name="Text 10"/>
          <p:cNvSpPr/>
          <p:nvPr/>
        </p:nvSpPr>
        <p:spPr>
          <a:xfrm>
            <a:off x="8449056" y="4352544"/>
            <a:ext cx="2852928" cy="146304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고PPI를 노려 단위셀 크기를 줄이면 산포는 좁아진다</a:t>
            </a:r>
            <a:endParaRPr lang="en-US" sz="1050" dirty="0"/>
          </a:p>
          <a:p>
            <a:pPr marL="342900" indent="-342900">
              <a:lnSpc>
                <a:spcPts val="1800"/>
              </a:lnSpc>
              <a:spcAft>
                <a:spcPts val="5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하지만 국부 변형은 사라지지 않고 잔존한다 (Supplementary Fig. 2)</a:t>
            </a:r>
            <a:endParaRPr lang="en-US" sz="1050" dirty="0"/>
          </a:p>
          <a:p>
            <a:pPr marL="342900" indent="-342900">
              <a:lnSpc>
                <a:spcPts val="1800"/>
              </a:lnSpc>
              <a:spcAft>
                <a:spcPts val="5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게다가 축소에는 별도의 물리적 벽이 있다 → 8부</a:t>
            </a:r>
            <a:endParaRPr lang="en-US" sz="1050" dirty="0"/>
          </a:p>
        </p:txBody>
      </p:sp>
      <p:sp>
        <p:nvSpPr>
          <p:cNvPr id="14" name="Text 11"/>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22</a:t>
            </a:r>
            <a:endParaRPr lang="en-US" sz="1000" dirty="0"/>
          </a:p>
        </p:txBody>
      </p:sp>
      <p:sp>
        <p:nvSpPr>
          <p:cNvPr id="3" name="Shape 1"/>
          <p:cNvSpPr/>
          <p:nvPr/>
        </p:nvSpPr>
        <p:spPr>
          <a:xfrm>
            <a:off x="566928" y="310896"/>
            <a:ext cx="854964" cy="274320"/>
          </a:xfrm>
          <a:prstGeom prst="roundRect">
            <a:avLst>
              <a:gd name="adj" fmla="val 50000"/>
            </a:avLst>
          </a:prstGeom>
          <a:solidFill>
            <a:srgbClr val="1C7293"/>
          </a:solidFill>
          <a:ln/>
        </p:spPr>
      </p:sp>
      <p:sp>
        <p:nvSpPr>
          <p:cNvPr id="4" name="Text 2"/>
          <p:cNvSpPr/>
          <p:nvPr/>
        </p:nvSpPr>
        <p:spPr>
          <a:xfrm>
            <a:off x="566928" y="310896"/>
            <a:ext cx="8549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DILEMMA</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이중 구속 — 서로가 서로를 망친다</a:t>
            </a:r>
            <a:endParaRPr lang="en-US" sz="2800" dirty="0"/>
          </a:p>
        </p:txBody>
      </p:sp>
      <p:sp>
        <p:nvSpPr>
          <p:cNvPr id="6" name="Shape 4"/>
          <p:cNvSpPr/>
          <p:nvPr/>
        </p:nvSpPr>
        <p:spPr>
          <a:xfrm>
            <a:off x="2395728" y="1874520"/>
            <a:ext cx="3246120" cy="1298448"/>
          </a:xfrm>
          <a:prstGeom prst="roundRect">
            <a:avLst>
              <a:gd name="adj" fmla="val 7042"/>
            </a:avLst>
          </a:prstGeom>
          <a:solidFill>
            <a:srgbClr val="E2EBF3"/>
          </a:solidFill>
          <a:ln w="19050">
            <a:solidFill>
              <a:srgbClr val="065A82"/>
            </a:solidFill>
            <a:prstDash val="solid"/>
          </a:ln>
        </p:spPr>
      </p:sp>
      <p:sp>
        <p:nvSpPr>
          <p:cNvPr id="7" name="Text 5"/>
          <p:cNvSpPr/>
          <p:nvPr/>
        </p:nvSpPr>
        <p:spPr>
          <a:xfrm>
            <a:off x="2395728" y="2057400"/>
            <a:ext cx="3246120" cy="310896"/>
          </a:xfrm>
          <a:prstGeom prst="rect">
            <a:avLst/>
          </a:prstGeom>
          <a:noFill/>
          <a:ln/>
        </p:spPr>
        <p:txBody>
          <a:bodyPr wrap="square" lIns="0" tIns="0" rIns="0" bIns="0" rtlCol="0" anchor="ctr"/>
          <a:lstStyle/>
          <a:p>
            <a:pPr algn="ctr" indent="0" marL="0">
              <a:buNone/>
            </a:pPr>
            <a:r>
              <a:rPr lang="en-US" sz="1500" b="1" dirty="0">
                <a:solidFill>
                  <a:srgbClr val="065A82"/>
                </a:solidFill>
                <a:latin typeface="Malgun Gothic" pitchFamily="34" charset="0"/>
                <a:ea typeface="Malgun Gothic" pitchFamily="34" charset="-122"/>
                <a:cs typeface="Malgun Gothic" pitchFamily="34" charset="-120"/>
              </a:rPr>
              <a:t>Auxetic framework</a:t>
            </a:r>
            <a:endParaRPr lang="en-US" sz="1500" dirty="0"/>
          </a:p>
        </p:txBody>
      </p:sp>
      <p:sp>
        <p:nvSpPr>
          <p:cNvPr id="8" name="Text 6"/>
          <p:cNvSpPr/>
          <p:nvPr/>
        </p:nvSpPr>
        <p:spPr>
          <a:xfrm>
            <a:off x="2395728" y="2441448"/>
            <a:ext cx="3246120" cy="566928"/>
          </a:xfrm>
          <a:prstGeom prst="rect">
            <a:avLst/>
          </a:prstGeom>
          <a:noFill/>
          <a:ln/>
        </p:spPr>
        <p:txBody>
          <a:bodyPr wrap="square" lIns="0" tIns="0" rIns="0" bIns="0" rtlCol="0" anchor="t"/>
          <a:lstStyle/>
          <a:p>
            <a:pPr algn="ct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회전 기반 단위셀</a:t>
            </a:r>
            <a:endParaRPr lang="en-US" sz="1150" dirty="0"/>
          </a:p>
          <a:p>
            <a:pPr algn="ct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(rotating squares)</a:t>
            </a:r>
            <a:endParaRPr lang="en-US" sz="1150" dirty="0"/>
          </a:p>
        </p:txBody>
      </p:sp>
      <p:sp>
        <p:nvSpPr>
          <p:cNvPr id="9" name="Shape 7"/>
          <p:cNvSpPr/>
          <p:nvPr/>
        </p:nvSpPr>
        <p:spPr>
          <a:xfrm>
            <a:off x="6565392" y="1874520"/>
            <a:ext cx="3246120" cy="1298448"/>
          </a:xfrm>
          <a:prstGeom prst="roundRect">
            <a:avLst>
              <a:gd name="adj" fmla="val 7042"/>
            </a:avLst>
          </a:prstGeom>
          <a:solidFill>
            <a:srgbClr val="E2EBF3"/>
          </a:solidFill>
          <a:ln w="19050">
            <a:solidFill>
              <a:srgbClr val="1C7293"/>
            </a:solidFill>
            <a:prstDash val="solid"/>
          </a:ln>
        </p:spPr>
      </p:sp>
      <p:sp>
        <p:nvSpPr>
          <p:cNvPr id="10" name="Text 8"/>
          <p:cNvSpPr/>
          <p:nvPr/>
        </p:nvSpPr>
        <p:spPr>
          <a:xfrm>
            <a:off x="6565392" y="2057400"/>
            <a:ext cx="3246120" cy="310896"/>
          </a:xfrm>
          <a:prstGeom prst="rect">
            <a:avLst/>
          </a:prstGeom>
          <a:noFill/>
          <a:ln/>
        </p:spPr>
        <p:txBody>
          <a:bodyPr wrap="square" lIns="0" tIns="0" rIns="0" bIns="0" rtlCol="0" anchor="ctr"/>
          <a:lstStyle/>
          <a:p>
            <a:pPr algn="ctr" indent="0" marL="0">
              <a:buNone/>
            </a:pPr>
            <a:r>
              <a:rPr lang="en-US" sz="1500" b="1" dirty="0">
                <a:solidFill>
                  <a:srgbClr val="1C7293"/>
                </a:solidFill>
                <a:latin typeface="Malgun Gothic" pitchFamily="34" charset="0"/>
                <a:ea typeface="Malgun Gothic" pitchFamily="34" charset="-122"/>
                <a:cs typeface="Malgun Gothic" pitchFamily="34" charset="-120"/>
              </a:rPr>
              <a:t>Elastomeric substrate</a:t>
            </a:r>
            <a:endParaRPr lang="en-US" sz="1500" dirty="0"/>
          </a:p>
        </p:txBody>
      </p:sp>
      <p:sp>
        <p:nvSpPr>
          <p:cNvPr id="11" name="Text 9"/>
          <p:cNvSpPr/>
          <p:nvPr/>
        </p:nvSpPr>
        <p:spPr>
          <a:xfrm>
            <a:off x="6565392" y="2441448"/>
            <a:ext cx="3246120" cy="566928"/>
          </a:xfrm>
          <a:prstGeom prst="rect">
            <a:avLst/>
          </a:prstGeom>
          <a:noFill/>
          <a:ln/>
        </p:spPr>
        <p:txBody>
          <a:bodyPr wrap="square" lIns="0" tIns="0" rIns="0" bIns="0" rtlCol="0" anchor="t"/>
          <a:lstStyle/>
          <a:p>
            <a:pPr algn="ct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연속 평면 기판</a:t>
            </a:r>
            <a:endParaRPr lang="en-US" sz="1150" dirty="0"/>
          </a:p>
          <a:p>
            <a:pPr algn="ct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(소자가 얹히는 곳)</a:t>
            </a:r>
            <a:endParaRPr lang="en-US" sz="1150" dirty="0"/>
          </a:p>
        </p:txBody>
      </p:sp>
      <p:sp>
        <p:nvSpPr>
          <p:cNvPr id="12" name="Shape 10"/>
          <p:cNvSpPr/>
          <p:nvPr/>
        </p:nvSpPr>
        <p:spPr>
          <a:xfrm>
            <a:off x="5769864" y="2185416"/>
            <a:ext cx="758952" cy="256032"/>
          </a:xfrm>
          <a:prstGeom prst="rightArrow">
            <a:avLst/>
          </a:prstGeom>
          <a:solidFill>
            <a:srgbClr val="E2592C"/>
          </a:solidFill>
          <a:ln/>
        </p:spPr>
      </p:sp>
      <p:sp>
        <p:nvSpPr>
          <p:cNvPr id="13" name="Shape 11"/>
          <p:cNvSpPr/>
          <p:nvPr/>
        </p:nvSpPr>
        <p:spPr>
          <a:xfrm>
            <a:off x="5769864" y="2624328"/>
            <a:ext cx="758952" cy="256032"/>
          </a:xfrm>
          <a:prstGeom prst="leftArrow">
            <a:avLst/>
          </a:prstGeom>
          <a:solidFill>
            <a:srgbClr val="E2592C"/>
          </a:solidFill>
          <a:ln/>
        </p:spPr>
      </p:sp>
      <p:sp>
        <p:nvSpPr>
          <p:cNvPr id="14" name="Shape 12"/>
          <p:cNvSpPr/>
          <p:nvPr/>
        </p:nvSpPr>
        <p:spPr>
          <a:xfrm>
            <a:off x="2212848" y="3401568"/>
            <a:ext cx="3611880" cy="1060704"/>
          </a:xfrm>
          <a:prstGeom prst="roundRect">
            <a:avLst>
              <a:gd name="adj" fmla="val 7759"/>
            </a:avLst>
          </a:prstGeom>
          <a:solidFill>
            <a:srgbClr val="FBEAE2"/>
          </a:solidFill>
          <a:ln/>
        </p:spPr>
      </p:sp>
      <p:sp>
        <p:nvSpPr>
          <p:cNvPr id="15" name="Text 13"/>
          <p:cNvSpPr/>
          <p:nvPr/>
        </p:nvSpPr>
        <p:spPr>
          <a:xfrm>
            <a:off x="2377440" y="3511296"/>
            <a:ext cx="3300984" cy="896112"/>
          </a:xfrm>
          <a:prstGeom prst="rect">
            <a:avLst/>
          </a:prstGeom>
          <a:noFill/>
          <a:ln/>
        </p:spPr>
        <p:txBody>
          <a:bodyPr wrap="square" lIns="0" tIns="0" rIns="0" bIns="0" rtlCol="0" anchor="t"/>
          <a:lstStyle/>
          <a:p>
            <a:pPr indent="0" marL="0">
              <a:lnSpc>
                <a:spcPts val="1600"/>
              </a:lnSpc>
              <a:buNone/>
            </a:pPr>
            <a:r>
              <a:rPr lang="en-US" sz="1250" b="1" dirty="0">
                <a:solidFill>
                  <a:srgbClr val="E2592C"/>
                </a:solidFill>
                <a:latin typeface="Malgun Gothic" pitchFamily="34" charset="0"/>
                <a:ea typeface="Malgun Gothic" pitchFamily="34" charset="-122"/>
                <a:cs typeface="Malgun Gothic" pitchFamily="34" charset="-120"/>
              </a:rPr>
              <a:t>① 프레임 → 기판
</a:t>
            </a:r>
            <a:pPr indent="0" marL="0">
              <a:lnSpc>
                <a:spcPts val="1600"/>
              </a:lnSpc>
              <a:buNone/>
            </a:pPr>
            <a:r>
              <a:rPr lang="en-US" sz="1100" dirty="0">
                <a:solidFill>
                  <a:srgbClr val="1E2739"/>
                </a:solidFill>
                <a:latin typeface="Malgun Gothic" pitchFamily="34" charset="0"/>
                <a:ea typeface="Malgun Gothic" pitchFamily="34" charset="-122"/>
                <a:cs typeface="Malgun Gothic" pitchFamily="34" charset="-120"/>
              </a:rPr>
              <a:t>단위셀의 회전 운동이 접합면을 통해 그대로 전달되어 엘라스토머 표면에 국부 변형을 만든다.</a:t>
            </a:r>
            <a:endParaRPr lang="en-US" sz="1100" dirty="0"/>
          </a:p>
        </p:txBody>
      </p:sp>
      <p:sp>
        <p:nvSpPr>
          <p:cNvPr id="16" name="Shape 14"/>
          <p:cNvSpPr/>
          <p:nvPr/>
        </p:nvSpPr>
        <p:spPr>
          <a:xfrm>
            <a:off x="6382512" y="3401568"/>
            <a:ext cx="3611880" cy="1060704"/>
          </a:xfrm>
          <a:prstGeom prst="roundRect">
            <a:avLst>
              <a:gd name="adj" fmla="val 7759"/>
            </a:avLst>
          </a:prstGeom>
          <a:solidFill>
            <a:srgbClr val="FBEAE2"/>
          </a:solidFill>
          <a:ln/>
        </p:spPr>
      </p:sp>
      <p:sp>
        <p:nvSpPr>
          <p:cNvPr id="17" name="Text 15"/>
          <p:cNvSpPr/>
          <p:nvPr/>
        </p:nvSpPr>
        <p:spPr>
          <a:xfrm>
            <a:off x="6547104" y="3511296"/>
            <a:ext cx="3300984" cy="896112"/>
          </a:xfrm>
          <a:prstGeom prst="rect">
            <a:avLst/>
          </a:prstGeom>
          <a:noFill/>
          <a:ln/>
        </p:spPr>
        <p:txBody>
          <a:bodyPr wrap="square" lIns="0" tIns="0" rIns="0" bIns="0" rtlCol="0" anchor="t"/>
          <a:lstStyle/>
          <a:p>
            <a:pPr indent="0" marL="0">
              <a:lnSpc>
                <a:spcPts val="1600"/>
              </a:lnSpc>
              <a:buNone/>
            </a:pPr>
            <a:r>
              <a:rPr lang="en-US" sz="1250" b="1" dirty="0">
                <a:solidFill>
                  <a:srgbClr val="E2592C"/>
                </a:solidFill>
                <a:latin typeface="Malgun Gothic" pitchFamily="34" charset="0"/>
                <a:ea typeface="Malgun Gothic" pitchFamily="34" charset="-122"/>
                <a:cs typeface="Malgun Gothic" pitchFamily="34" charset="-120"/>
              </a:rPr>
              <a:t>② 기판 → 프레임
</a:t>
            </a:r>
            <a:pPr indent="0" marL="0">
              <a:lnSpc>
                <a:spcPts val="1600"/>
              </a:lnSpc>
              <a:buNone/>
            </a:pPr>
            <a:r>
              <a:rPr lang="en-US" sz="1100" dirty="0">
                <a:solidFill>
                  <a:srgbClr val="1E2739"/>
                </a:solidFill>
                <a:latin typeface="Malgun Gothic" pitchFamily="34" charset="0"/>
                <a:ea typeface="Malgun Gothic" pitchFamily="34" charset="-122"/>
                <a:cs typeface="Malgun Gothic" pitchFamily="34" charset="-120"/>
              </a:rPr>
              <a:t>엘라스토머의 면내 강성이 단위셀의 회전을 구속해 auxetic 성능 자체를 떨어뜨린다.</a:t>
            </a:r>
            <a:endParaRPr lang="en-US" sz="1100" dirty="0"/>
          </a:p>
        </p:txBody>
      </p:sp>
      <p:sp>
        <p:nvSpPr>
          <p:cNvPr id="18" name="Shape 16"/>
          <p:cNvSpPr/>
          <p:nvPr/>
        </p:nvSpPr>
        <p:spPr>
          <a:xfrm>
            <a:off x="566928" y="4718304"/>
            <a:ext cx="5358384" cy="1389888"/>
          </a:xfrm>
          <a:prstGeom prst="roundRect">
            <a:avLst>
              <a:gd name="adj" fmla="val 5921"/>
            </a:avLst>
          </a:prstGeom>
          <a:solidFill>
            <a:srgbClr val="EFF4F9"/>
          </a:solidFill>
          <a:ln/>
          <a:effectLst>
            <a:outerShdw sx="100000" sy="100000" kx="0" ky="0" algn="bl" rotWithShape="0" blurRad="114300" dist="25400" dir="5400000">
              <a:srgbClr val="7E90A8">
                <a:alpha val="16000"/>
              </a:srgbClr>
            </a:outerShdw>
          </a:effectLst>
        </p:spPr>
      </p:sp>
      <p:sp>
        <p:nvSpPr>
          <p:cNvPr id="19" name="Text 17"/>
          <p:cNvSpPr/>
          <p:nvPr/>
        </p:nvSpPr>
        <p:spPr>
          <a:xfrm>
            <a:off x="859536" y="4864608"/>
            <a:ext cx="4754880" cy="292608"/>
          </a:xfrm>
          <a:prstGeom prst="rect">
            <a:avLst/>
          </a:prstGeom>
          <a:noFill/>
          <a:ln/>
        </p:spPr>
        <p:txBody>
          <a:bodyPr wrap="square" lIns="0" tIns="0" rIns="0" bIns="0" rtlCol="0" anchor="ctr"/>
          <a:lstStyle/>
          <a:p>
            <a:pPr indent="0" marL="0">
              <a:buNone/>
            </a:pPr>
            <a:r>
              <a:rPr lang="en-US" sz="1450" b="1" dirty="0">
                <a:solidFill>
                  <a:srgbClr val="21295C"/>
                </a:solidFill>
                <a:latin typeface="Malgun Gothic" pitchFamily="34" charset="0"/>
                <a:ea typeface="Malgun Gothic" pitchFamily="34" charset="-122"/>
                <a:cs typeface="Malgun Gothic" pitchFamily="34" charset="-120"/>
              </a:rPr>
              <a:t>그럼 엘라스토머 없이 쓰면?</a:t>
            </a:r>
            <a:endParaRPr lang="en-US" sz="1450" dirty="0"/>
          </a:p>
        </p:txBody>
      </p:sp>
      <p:sp>
        <p:nvSpPr>
          <p:cNvPr id="20" name="Text 18"/>
          <p:cNvSpPr/>
          <p:nvPr/>
        </p:nvSpPr>
        <p:spPr>
          <a:xfrm>
            <a:off x="859536" y="5193792"/>
            <a:ext cx="4773168" cy="841248"/>
          </a:xfrm>
          <a:prstGeom prst="rect">
            <a:avLst/>
          </a:prstGeom>
          <a:noFill/>
          <a:ln/>
        </p:spPr>
        <p:txBody>
          <a:bodyPr wrap="square" lIns="0" tIns="0" rIns="0" bIns="0" rtlCol="0" anchor="t"/>
          <a:lstStyle/>
          <a:p>
            <a:pPr indent="0" marL="0">
              <a:lnSpc>
                <a:spcPts val="1600"/>
              </a:lnSpc>
              <a:buNone/>
            </a:pPr>
            <a:r>
              <a:rPr lang="en-US" sz="1100" dirty="0">
                <a:solidFill>
                  <a:srgbClr val="1E2739"/>
                </a:solidFill>
                <a:latin typeface="Malgun Gothic" pitchFamily="34" charset="0"/>
                <a:ea typeface="Malgun Gothic" pitchFamily="34" charset="-122"/>
                <a:cs typeface="Malgun Gothic" pitchFamily="34" charset="-120"/>
              </a:rPr>
              <a:t>픽셀을 왜곡이 작은 지점에만 배치해야 한다 → 픽셀 분포가 불균일해지고 해상도가 제한된다. 게다가 연속 평면이 없으니 공정 호환성 문제가 그대로 남는다.</a:t>
            </a:r>
            <a:endParaRPr lang="en-US" sz="1100" dirty="0"/>
          </a:p>
        </p:txBody>
      </p:sp>
      <p:sp>
        <p:nvSpPr>
          <p:cNvPr id="21" name="Shape 19"/>
          <p:cNvSpPr/>
          <p:nvPr/>
        </p:nvSpPr>
        <p:spPr>
          <a:xfrm>
            <a:off x="6181344" y="4718304"/>
            <a:ext cx="5358384" cy="1389888"/>
          </a:xfrm>
          <a:prstGeom prst="roundRect">
            <a:avLst>
              <a:gd name="adj" fmla="val 5921"/>
            </a:avLst>
          </a:prstGeom>
          <a:solidFill>
            <a:srgbClr val="E2EBF3"/>
          </a:solidFill>
          <a:ln/>
          <a:effectLst>
            <a:outerShdw sx="100000" sy="100000" kx="0" ky="0" algn="bl" rotWithShape="0" blurRad="114300" dist="25400" dir="5400000">
              <a:srgbClr val="7E90A8">
                <a:alpha val="16000"/>
              </a:srgbClr>
            </a:outerShdw>
          </a:effectLst>
        </p:spPr>
      </p:sp>
      <p:sp>
        <p:nvSpPr>
          <p:cNvPr id="22" name="Text 20"/>
          <p:cNvSpPr/>
          <p:nvPr/>
        </p:nvSpPr>
        <p:spPr>
          <a:xfrm>
            <a:off x="6473952" y="4864608"/>
            <a:ext cx="4754880" cy="292608"/>
          </a:xfrm>
          <a:prstGeom prst="rect">
            <a:avLst/>
          </a:prstGeom>
          <a:noFill/>
          <a:ln/>
        </p:spPr>
        <p:txBody>
          <a:bodyPr wrap="square" lIns="0" tIns="0" rIns="0" bIns="0" rtlCol="0" anchor="ctr"/>
          <a:lstStyle/>
          <a:p>
            <a:pPr indent="0" marL="0">
              <a:buNone/>
            </a:pPr>
            <a:r>
              <a:rPr lang="en-US" sz="1450" b="1" dirty="0">
                <a:solidFill>
                  <a:srgbClr val="1C7293"/>
                </a:solidFill>
                <a:latin typeface="Malgun Gothic" pitchFamily="34" charset="0"/>
                <a:ea typeface="Malgun Gothic" pitchFamily="34" charset="-122"/>
                <a:cs typeface="Malgun Gothic" pitchFamily="34" charset="-120"/>
              </a:rPr>
              <a:t>논문의 해법 예고</a:t>
            </a:r>
            <a:endParaRPr lang="en-US" sz="1450" dirty="0"/>
          </a:p>
        </p:txBody>
      </p:sp>
      <p:sp>
        <p:nvSpPr>
          <p:cNvPr id="23" name="Text 21"/>
          <p:cNvSpPr/>
          <p:nvPr/>
        </p:nvSpPr>
        <p:spPr>
          <a:xfrm>
            <a:off x="6473952" y="5193792"/>
            <a:ext cx="4773168" cy="841248"/>
          </a:xfrm>
          <a:prstGeom prst="rect">
            <a:avLst/>
          </a:prstGeom>
          <a:noFill/>
          <a:ln/>
        </p:spPr>
        <p:txBody>
          <a:bodyPr wrap="square" lIns="0" tIns="0" rIns="0" bIns="0" rtlCol="0" anchor="t"/>
          <a:lstStyle/>
          <a:p>
            <a:pPr indent="0" marL="0">
              <a:lnSpc>
                <a:spcPts val="1600"/>
              </a:lnSpc>
              <a:buNone/>
            </a:pPr>
            <a:r>
              <a:rPr lang="en-US" sz="1100" dirty="0">
                <a:solidFill>
                  <a:srgbClr val="1E2739"/>
                </a:solidFill>
                <a:latin typeface="Malgun Gothic" pitchFamily="34" charset="0"/>
                <a:ea typeface="Malgun Gothic" pitchFamily="34" charset="-122"/>
                <a:cs typeface="Malgun Gothic" pitchFamily="34" charset="-120"/>
              </a:rPr>
              <a:t>전면도 아니고 무접합도 아닌 제3의 길 — 등방 팽창 조건을 만족하는 지점에서만 선택적으로 접합한다. 프레임은 '경계조건'만 주고, 그 사이는 연속 기판이 스스로 매끄럽게 보간한다.</a:t>
            </a:r>
            <a:endParaRPr lang="en-US" sz="1100" dirty="0"/>
          </a:p>
        </p:txBody>
      </p:sp>
      <p:sp>
        <p:nvSpPr>
          <p:cNvPr id="24" name="Text 22"/>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23</a:t>
            </a:r>
            <a:endParaRPr lang="en-US" sz="1000" dirty="0"/>
          </a:p>
        </p:txBody>
      </p:sp>
      <p:sp>
        <p:nvSpPr>
          <p:cNvPr id="3" name="Shape 1"/>
          <p:cNvSpPr/>
          <p:nvPr/>
        </p:nvSpPr>
        <p:spPr>
          <a:xfrm>
            <a:off x="566928" y="310896"/>
            <a:ext cx="662940" cy="274320"/>
          </a:xfrm>
          <a:prstGeom prst="roundRect">
            <a:avLst>
              <a:gd name="adj" fmla="val 50000"/>
            </a:avLst>
          </a:prstGeom>
          <a:solidFill>
            <a:srgbClr val="1C7293"/>
          </a:solidFill>
          <a:ln/>
        </p:spPr>
      </p:sp>
      <p:sp>
        <p:nvSpPr>
          <p:cNvPr id="4" name="Text 2"/>
          <p:cNvSpPr/>
          <p:nvPr/>
        </p:nvSpPr>
        <p:spPr>
          <a:xfrm>
            <a:off x="566928" y="310896"/>
            <a:ext cx="6629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GRIPS</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잡는 순간 대칭이 깨진다 — 그립 경계층</a:t>
            </a:r>
            <a:endParaRPr lang="en-US" sz="2800" dirty="0"/>
          </a:p>
        </p:txBody>
      </p:sp>
      <p:pic>
        <p:nvPicPr>
          <p:cNvPr id="6" name="Image 0" descr="gen/decay.png">    </p:cNvPr>
          <p:cNvPicPr>
            <a:picLocks noChangeAspect="1"/>
          </p:cNvPicPr>
          <p:nvPr/>
        </p:nvPicPr>
        <p:blipFill>
          <a:blip r:embed="rId1"/>
          <a:stretch>
            <a:fillRect/>
          </a:stretch>
        </p:blipFill>
        <p:spPr>
          <a:xfrm>
            <a:off x="566928" y="1650199"/>
            <a:ext cx="5577840" cy="2771218"/>
          </a:xfrm>
          <a:prstGeom prst="rect">
            <a:avLst/>
          </a:prstGeom>
        </p:spPr>
      </p:pic>
      <p:sp>
        <p:nvSpPr>
          <p:cNvPr id="7" name="Text 4"/>
          <p:cNvSpPr/>
          <p:nvPr/>
        </p:nvSpPr>
        <p:spPr>
          <a:xfrm>
            <a:off x="566928" y="4663440"/>
            <a:ext cx="557784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개념도 (Supplementary Note 1의 지수 감쇠 해에 기초하여 본 발표용 작성)</a:t>
            </a:r>
            <a:endParaRPr lang="en-US" sz="950" dirty="0"/>
          </a:p>
        </p:txBody>
      </p:sp>
      <p:sp>
        <p:nvSpPr>
          <p:cNvPr id="8" name="Text 5"/>
          <p:cNvSpPr/>
          <p:nvPr/>
        </p:nvSpPr>
        <p:spPr>
          <a:xfrm>
            <a:off x="6419088" y="1517904"/>
            <a:ext cx="5120640" cy="320040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실제 구동에는 반드시 그립(fixture)이 필요하다 — 어딘가를 잡고 당겨야 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그립 근처에서는 힌지 굽힘과 전단이 커지고, 단위셀의 회전이 억제된다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회전장 θ는 경계에서 내부로 지수적으로 감쇠한다 → 원리적으로 완전한 공간 균일성은 불가능</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결과: Δθ = θ_near − θ_center ≠ 0 — 잡은 부분 때문에 회전축이 중앙만이 아니게 된다</a:t>
            </a:r>
            <a:endParaRPr lang="en-US" sz="1150" dirty="0"/>
          </a:p>
        </p:txBody>
      </p:sp>
      <p:sp>
        <p:nvSpPr>
          <p:cNvPr id="9" name="Shape 6"/>
          <p:cNvSpPr/>
          <p:nvPr/>
        </p:nvSpPr>
        <p:spPr>
          <a:xfrm>
            <a:off x="6419088" y="4718304"/>
            <a:ext cx="5120640" cy="566928"/>
          </a:xfrm>
          <a:prstGeom prst="roundRect">
            <a:avLst>
              <a:gd name="adj" fmla="val 12903"/>
            </a:avLst>
          </a:prstGeom>
          <a:solidFill>
            <a:srgbClr val="E2EBF3"/>
          </a:solidFill>
          <a:ln/>
        </p:spPr>
      </p:sp>
      <p:pic>
        <p:nvPicPr>
          <p:cNvPr id="10" name="Image 1" descr="eq/eq10.png">    </p:cNvPr>
          <p:cNvPicPr>
            <a:picLocks noChangeAspect="1"/>
          </p:cNvPicPr>
          <p:nvPr/>
        </p:nvPicPr>
        <p:blipFill>
          <a:blip r:embed="rId2"/>
          <a:stretch>
            <a:fillRect/>
          </a:stretch>
        </p:blipFill>
        <p:spPr>
          <a:xfrm>
            <a:off x="7537915" y="4828032"/>
            <a:ext cx="2882986" cy="347472"/>
          </a:xfrm>
          <a:prstGeom prst="rect">
            <a:avLst/>
          </a:prstGeom>
        </p:spPr>
      </p:pic>
      <p:sp>
        <p:nvSpPr>
          <p:cNvPr id="11" name="Shape 7"/>
          <p:cNvSpPr/>
          <p:nvPr/>
        </p:nvSpPr>
        <p:spPr>
          <a:xfrm>
            <a:off x="6419088" y="5394960"/>
            <a:ext cx="5120640" cy="786384"/>
          </a:xfrm>
          <a:prstGeom prst="roundRect">
            <a:avLst>
              <a:gd name="adj" fmla="val 9302"/>
            </a:avLst>
          </a:prstGeom>
          <a:solidFill>
            <a:srgbClr val="E2EBF3"/>
          </a:solidFill>
          <a:ln/>
        </p:spPr>
      </p:sp>
      <p:pic>
        <p:nvPicPr>
          <p:cNvPr id="12" name="Image 2" descr="eq/eq9.png">    </p:cNvPr>
          <p:cNvPicPr>
            <a:picLocks noChangeAspect="1"/>
          </p:cNvPicPr>
          <p:nvPr/>
        </p:nvPicPr>
        <p:blipFill>
          <a:blip r:embed="rId3"/>
          <a:stretch>
            <a:fillRect/>
          </a:stretch>
        </p:blipFill>
        <p:spPr>
          <a:xfrm>
            <a:off x="7941093" y="5504688"/>
            <a:ext cx="2076630" cy="566928"/>
          </a:xfrm>
          <a:prstGeom prst="rect">
            <a:avLst/>
          </a:prstGeom>
        </p:spPr>
      </p:pic>
      <p:sp>
        <p:nvSpPr>
          <p:cNvPr id="13" name="Shape 8"/>
          <p:cNvSpPr/>
          <p:nvPr/>
        </p:nvSpPr>
        <p:spPr>
          <a:xfrm>
            <a:off x="566928" y="5047488"/>
            <a:ext cx="5577840" cy="1060704"/>
          </a:xfrm>
          <a:prstGeom prst="roundRect">
            <a:avLst>
              <a:gd name="adj" fmla="val 7759"/>
            </a:avLst>
          </a:prstGeom>
          <a:solidFill>
            <a:srgbClr val="FBEAE2"/>
          </a:solidFill>
          <a:ln/>
          <a:effectLst>
            <a:outerShdw sx="100000" sy="100000" kx="0" ky="0" algn="bl" rotWithShape="0" blurRad="114300" dist="25400" dir="5400000">
              <a:srgbClr val="7E90A8">
                <a:alpha val="16000"/>
              </a:srgbClr>
            </a:outerShdw>
          </a:effectLst>
        </p:spPr>
      </p:sp>
      <p:sp>
        <p:nvSpPr>
          <p:cNvPr id="14" name="Text 9"/>
          <p:cNvSpPr/>
          <p:nvPr/>
        </p:nvSpPr>
        <p:spPr>
          <a:xfrm>
            <a:off x="841248" y="5047488"/>
            <a:ext cx="5029200" cy="1060704"/>
          </a:xfrm>
          <a:prstGeom prst="rect">
            <a:avLst/>
          </a:prstGeom>
          <a:noFill/>
          <a:ln/>
        </p:spPr>
        <p:txBody>
          <a:bodyPr wrap="square" lIns="0" tIns="0" rIns="0" bIns="0" rtlCol="0" anchor="ctr"/>
          <a:lstStyle/>
          <a:p>
            <a:pP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이 논문의 차별점 — 그립의 존재를 '오차'로 보지 않고 설계 변수로 끌어들인다. 그립이 있는 상태에서 균일한 auxetic 효과를 내는 기하를 찾는다.</a:t>
            </a:r>
            <a:endParaRPr lang="en-US" sz="1150" dirty="0"/>
          </a:p>
        </p:txBody>
      </p:sp>
      <p:sp>
        <p:nvSpPr>
          <p:cNvPr id="15"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Note 1 · Eq. (S4), (S5)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24</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05</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METHODOLOGY</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이 논문의 설계 방법론</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① 그립이 있는 상태에서 균일한 auxetic 효과를 내는 기하를 먼저 찾고,</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② 그 위에서 등방 팽창을 유도하는 접합점을 설계한다. 순서가 중요하다.</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25</a:t>
            </a:r>
            <a:endParaRPr lang="en-US" sz="1000" dirty="0"/>
          </a:p>
        </p:txBody>
      </p:sp>
      <p:sp>
        <p:nvSpPr>
          <p:cNvPr id="3" name="Shape 1"/>
          <p:cNvSpPr/>
          <p:nvPr/>
        </p:nvSpPr>
        <p:spPr>
          <a:xfrm>
            <a:off x="566928" y="310896"/>
            <a:ext cx="950976" cy="274320"/>
          </a:xfrm>
          <a:prstGeom prst="roundRect">
            <a:avLst>
              <a:gd name="adj" fmla="val 50000"/>
            </a:avLst>
          </a:prstGeom>
          <a:solidFill>
            <a:srgbClr val="1C7293"/>
          </a:solidFill>
          <a:ln/>
        </p:spPr>
      </p:sp>
      <p:sp>
        <p:nvSpPr>
          <p:cNvPr id="4" name="Text 2"/>
          <p:cNvSpPr/>
          <p:nvPr/>
        </p:nvSpPr>
        <p:spPr>
          <a:xfrm>
            <a:off x="566928" y="310896"/>
            <a:ext cx="95097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OVERVIEW</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제안 플랫폼 — 세 개의 요소</a:t>
            </a:r>
            <a:endParaRPr lang="en-US" sz="2800" dirty="0"/>
          </a:p>
        </p:txBody>
      </p:sp>
      <p:pic>
        <p:nvPicPr>
          <p:cNvPr id="6" name="Image 0" descr="crops/f1e.png">    </p:cNvPr>
          <p:cNvPicPr>
            <a:picLocks noChangeAspect="1"/>
          </p:cNvPicPr>
          <p:nvPr/>
        </p:nvPicPr>
        <p:blipFill>
          <a:blip r:embed="rId1"/>
          <a:stretch>
            <a:fillRect/>
          </a:stretch>
        </p:blipFill>
        <p:spPr>
          <a:xfrm>
            <a:off x="566928" y="1466049"/>
            <a:ext cx="6675120" cy="3011503"/>
          </a:xfrm>
          <a:prstGeom prst="rect">
            <a:avLst/>
          </a:prstGeom>
        </p:spPr>
      </p:pic>
      <p:pic>
        <p:nvPicPr>
          <p:cNvPr id="7" name="Image 1" descr="crops/f1f.png">    </p:cNvPr>
          <p:cNvPicPr>
            <a:picLocks noChangeAspect="1"/>
          </p:cNvPicPr>
          <p:nvPr/>
        </p:nvPicPr>
        <p:blipFill>
          <a:blip r:embed="rId2"/>
          <a:stretch>
            <a:fillRect/>
          </a:stretch>
        </p:blipFill>
        <p:spPr>
          <a:xfrm>
            <a:off x="7737612" y="1463040"/>
            <a:ext cx="3489433" cy="3017520"/>
          </a:xfrm>
          <a:prstGeom prst="rect">
            <a:avLst/>
          </a:prstGeom>
        </p:spPr>
      </p:pic>
      <p:sp>
        <p:nvSpPr>
          <p:cNvPr id="8" name="Text 4"/>
          <p:cNvSpPr/>
          <p:nvPr/>
        </p:nvSpPr>
        <p:spPr>
          <a:xfrm>
            <a:off x="566928" y="4572000"/>
            <a:ext cx="1097280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1e, 1f — 제안 하이브리드 auxetic 메타물질 플랫폼의 구성과 동작 원리</a:t>
            </a:r>
            <a:endParaRPr lang="en-US" sz="950" dirty="0"/>
          </a:p>
        </p:txBody>
      </p:sp>
      <p:sp>
        <p:nvSpPr>
          <p:cNvPr id="9" name="Shape 5"/>
          <p:cNvSpPr/>
          <p:nvPr/>
        </p:nvSpPr>
        <p:spPr>
          <a:xfrm>
            <a:off x="566928" y="4864608"/>
            <a:ext cx="3529584" cy="1243584"/>
          </a:xfrm>
          <a:prstGeom prst="roundRect">
            <a:avLst>
              <a:gd name="adj" fmla="val 6618"/>
            </a:avLst>
          </a:prstGeom>
          <a:solidFill>
            <a:srgbClr val="EFF4F9"/>
          </a:solidFill>
          <a:ln/>
          <a:effectLst>
            <a:outerShdw sx="100000" sy="100000" kx="0" ky="0" algn="bl" rotWithShape="0" blurRad="114300" dist="25400" dir="5400000">
              <a:srgbClr val="7E90A8">
                <a:alpha val="16000"/>
              </a:srgbClr>
            </a:outerShdw>
          </a:effectLst>
        </p:spPr>
      </p:sp>
      <p:sp>
        <p:nvSpPr>
          <p:cNvPr id="10" name="Text 6"/>
          <p:cNvSpPr/>
          <p:nvPr/>
        </p:nvSpPr>
        <p:spPr>
          <a:xfrm>
            <a:off x="804672" y="4974336"/>
            <a:ext cx="3054096" cy="274320"/>
          </a:xfrm>
          <a:prstGeom prst="rect">
            <a:avLst/>
          </a:prstGeom>
          <a:noFill/>
          <a:ln/>
        </p:spPr>
        <p:txBody>
          <a:bodyPr wrap="square" lIns="0" tIns="0" rIns="0" bIns="0" rtlCol="0" anchor="ctr"/>
          <a:lstStyle/>
          <a:p>
            <a:pPr indent="0" marL="0">
              <a:buNone/>
            </a:pPr>
            <a:r>
              <a:rPr lang="en-US" sz="1250" b="1" dirty="0">
                <a:solidFill>
                  <a:srgbClr val="065A82"/>
                </a:solidFill>
                <a:latin typeface="Malgun Gothic" pitchFamily="34" charset="0"/>
                <a:ea typeface="Malgun Gothic" pitchFamily="34" charset="-122"/>
                <a:cs typeface="Malgun Gothic" pitchFamily="34" charset="-120"/>
              </a:rPr>
              <a:t>① Auxetic framework</a:t>
            </a:r>
            <a:endParaRPr lang="en-US" sz="1250" dirty="0"/>
          </a:p>
        </p:txBody>
      </p:sp>
      <p:sp>
        <p:nvSpPr>
          <p:cNvPr id="11" name="Text 7"/>
          <p:cNvSpPr/>
          <p:nvPr/>
        </p:nvSpPr>
        <p:spPr>
          <a:xfrm>
            <a:off x="804672" y="5266944"/>
            <a:ext cx="3054096" cy="768096"/>
          </a:xfrm>
          <a:prstGeom prst="rect">
            <a:avLst/>
          </a:prstGeom>
          <a:noFill/>
          <a:ln/>
        </p:spPr>
        <p:txBody>
          <a:bodyPr wrap="square" lIns="0" tIns="0" rIns="0" bIns="0" rtlCol="0" anchor="t"/>
          <a:lstStyle/>
          <a:p>
            <a:pPr indent="0" marL="0">
              <a:lnSpc>
                <a:spcPts val="1400"/>
              </a:lnSpc>
              <a:buNone/>
            </a:pPr>
            <a:r>
              <a:rPr lang="en-US" sz="1000" dirty="0">
                <a:solidFill>
                  <a:srgbClr val="1E2739"/>
                </a:solidFill>
                <a:latin typeface="Malgun Gothic" pitchFamily="34" charset="0"/>
                <a:ea typeface="Malgun Gothic" pitchFamily="34" charset="-122"/>
                <a:cs typeface="Malgun Gothic" pitchFamily="34" charset="-120"/>
              </a:rPr>
              <a:t>그립 존재 하에서 균일한 auxetic 효과를 내도록 W, L, D를 최적화한 rotating-square 프레임. 소자를 얹는 기판이 아니라 운동을 유도하는 외골격.</a:t>
            </a:r>
            <a:endParaRPr lang="en-US" sz="1000" dirty="0"/>
          </a:p>
        </p:txBody>
      </p:sp>
      <p:sp>
        <p:nvSpPr>
          <p:cNvPr id="12" name="Shape 8"/>
          <p:cNvSpPr/>
          <p:nvPr/>
        </p:nvSpPr>
        <p:spPr>
          <a:xfrm>
            <a:off x="4279392" y="4864608"/>
            <a:ext cx="3529584" cy="1243584"/>
          </a:xfrm>
          <a:prstGeom prst="roundRect">
            <a:avLst>
              <a:gd name="adj" fmla="val 6618"/>
            </a:avLst>
          </a:prstGeom>
          <a:solidFill>
            <a:srgbClr val="EFF4F9"/>
          </a:solidFill>
          <a:ln/>
          <a:effectLst>
            <a:outerShdw sx="100000" sy="100000" kx="0" ky="0" algn="bl" rotWithShape="0" blurRad="114300" dist="25400" dir="5400000">
              <a:srgbClr val="7E90A8">
                <a:alpha val="16000"/>
              </a:srgbClr>
            </a:outerShdw>
          </a:effectLst>
        </p:spPr>
      </p:sp>
      <p:sp>
        <p:nvSpPr>
          <p:cNvPr id="13" name="Text 9"/>
          <p:cNvSpPr/>
          <p:nvPr/>
        </p:nvSpPr>
        <p:spPr>
          <a:xfrm>
            <a:off x="4517136" y="4974336"/>
            <a:ext cx="3054096" cy="274320"/>
          </a:xfrm>
          <a:prstGeom prst="rect">
            <a:avLst/>
          </a:prstGeom>
          <a:noFill/>
          <a:ln/>
        </p:spPr>
        <p:txBody>
          <a:bodyPr wrap="square" lIns="0" tIns="0" rIns="0" bIns="0" rtlCol="0" anchor="ctr"/>
          <a:lstStyle/>
          <a:p>
            <a:pPr indent="0" marL="0">
              <a:buNone/>
            </a:pPr>
            <a:r>
              <a:rPr lang="en-US" sz="1250" b="1" dirty="0">
                <a:solidFill>
                  <a:srgbClr val="1C7293"/>
                </a:solidFill>
                <a:latin typeface="Malgun Gothic" pitchFamily="34" charset="0"/>
                <a:ea typeface="Malgun Gothic" pitchFamily="34" charset="-122"/>
                <a:cs typeface="Malgun Gothic" pitchFamily="34" charset="-120"/>
              </a:rPr>
              <a:t>② 연속 엘라스토머 기판</a:t>
            </a:r>
            <a:endParaRPr lang="en-US" sz="1250" dirty="0"/>
          </a:p>
        </p:txBody>
      </p:sp>
      <p:sp>
        <p:nvSpPr>
          <p:cNvPr id="14" name="Text 10"/>
          <p:cNvSpPr/>
          <p:nvPr/>
        </p:nvSpPr>
        <p:spPr>
          <a:xfrm>
            <a:off x="4517136" y="5266944"/>
            <a:ext cx="3054096" cy="768096"/>
          </a:xfrm>
          <a:prstGeom prst="rect">
            <a:avLst/>
          </a:prstGeom>
          <a:noFill/>
          <a:ln/>
        </p:spPr>
        <p:txBody>
          <a:bodyPr wrap="square" lIns="0" tIns="0" rIns="0" bIns="0" rtlCol="0" anchor="t"/>
          <a:lstStyle/>
          <a:p>
            <a:pPr indent="0" marL="0">
              <a:lnSpc>
                <a:spcPts val="1400"/>
              </a:lnSpc>
              <a:buNone/>
            </a:pPr>
            <a:r>
              <a:rPr lang="en-US" sz="1000" dirty="0">
                <a:solidFill>
                  <a:srgbClr val="1E2739"/>
                </a:solidFill>
                <a:latin typeface="Malgun Gothic" pitchFamily="34" charset="0"/>
                <a:ea typeface="Malgun Gothic" pitchFamily="34" charset="-122"/>
                <a:cs typeface="Malgun Gothic" pitchFamily="34" charset="-120"/>
              </a:rPr>
              <a:t>구멍 없는 연속 평면. 소자는 전부 여기 위에 만든다 → 기존 공정과 호환. 외곽에는 edge-stiffening layer를 두껍게 성형해 둘레 변형을 억제.</a:t>
            </a:r>
            <a:endParaRPr lang="en-US" sz="1000" dirty="0"/>
          </a:p>
        </p:txBody>
      </p:sp>
      <p:sp>
        <p:nvSpPr>
          <p:cNvPr id="15" name="Shape 11"/>
          <p:cNvSpPr/>
          <p:nvPr/>
        </p:nvSpPr>
        <p:spPr>
          <a:xfrm>
            <a:off x="7991856" y="4864608"/>
            <a:ext cx="3529584" cy="1243584"/>
          </a:xfrm>
          <a:prstGeom prst="roundRect">
            <a:avLst>
              <a:gd name="adj" fmla="val 6618"/>
            </a:avLst>
          </a:prstGeom>
          <a:solidFill>
            <a:srgbClr val="FBEAE2"/>
          </a:solidFill>
          <a:ln/>
          <a:effectLst>
            <a:outerShdw sx="100000" sy="100000" kx="0" ky="0" algn="bl" rotWithShape="0" blurRad="114300" dist="25400" dir="5400000">
              <a:srgbClr val="7E90A8">
                <a:alpha val="16000"/>
              </a:srgbClr>
            </a:outerShdw>
          </a:effectLst>
        </p:spPr>
      </p:sp>
      <p:sp>
        <p:nvSpPr>
          <p:cNvPr id="16" name="Text 12"/>
          <p:cNvSpPr/>
          <p:nvPr/>
        </p:nvSpPr>
        <p:spPr>
          <a:xfrm>
            <a:off x="8229600" y="4974336"/>
            <a:ext cx="3054096" cy="274320"/>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③ 선택적 접합점 (anchor)</a:t>
            </a:r>
            <a:endParaRPr lang="en-US" sz="1250" dirty="0"/>
          </a:p>
        </p:txBody>
      </p:sp>
      <p:sp>
        <p:nvSpPr>
          <p:cNvPr id="17" name="Text 13"/>
          <p:cNvSpPr/>
          <p:nvPr/>
        </p:nvSpPr>
        <p:spPr>
          <a:xfrm>
            <a:off x="8229600" y="5266944"/>
            <a:ext cx="3054096" cy="768096"/>
          </a:xfrm>
          <a:prstGeom prst="rect">
            <a:avLst/>
          </a:prstGeom>
          <a:noFill/>
          <a:ln/>
        </p:spPr>
        <p:txBody>
          <a:bodyPr wrap="square" lIns="0" tIns="0" rIns="0" bIns="0" rtlCol="0" anchor="t"/>
          <a:lstStyle/>
          <a:p>
            <a:pPr indent="0" marL="0">
              <a:lnSpc>
                <a:spcPts val="1400"/>
              </a:lnSpc>
              <a:buNone/>
            </a:pPr>
            <a:r>
              <a:rPr lang="en-US" sz="1000" dirty="0">
                <a:solidFill>
                  <a:srgbClr val="1E2739"/>
                </a:solidFill>
                <a:latin typeface="Malgun Gothic" pitchFamily="34" charset="0"/>
                <a:ea typeface="Malgun Gothic" pitchFamily="34" charset="-122"/>
                <a:cs typeface="Malgun Gothic" pitchFamily="34" charset="-120"/>
              </a:rPr>
              <a:t>u = k·r 을 만족하는 좌표에만 원기둥 앵커로 접합. 프레임은 등방 팽창의 경계조건만 제공하고, 그 사이는 연속 기판이 매끄럽게 보간한다.</a:t>
            </a:r>
            <a:endParaRPr lang="en-US" sz="1000" dirty="0"/>
          </a:p>
        </p:txBody>
      </p:sp>
      <p:sp>
        <p:nvSpPr>
          <p:cNvPr id="18" name="Text 14"/>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26</a:t>
            </a:r>
            <a:endParaRPr lang="en-US" sz="1000" dirty="0"/>
          </a:p>
        </p:txBody>
      </p:sp>
      <p:sp>
        <p:nvSpPr>
          <p:cNvPr id="3" name="Shape 1"/>
          <p:cNvSpPr/>
          <p:nvPr/>
        </p:nvSpPr>
        <p:spPr>
          <a:xfrm>
            <a:off x="566928" y="310896"/>
            <a:ext cx="1431036" cy="274320"/>
          </a:xfrm>
          <a:prstGeom prst="roundRect">
            <a:avLst>
              <a:gd name="adj" fmla="val 50000"/>
            </a:avLst>
          </a:prstGeom>
          <a:solidFill>
            <a:srgbClr val="1C7293"/>
          </a:solidFill>
          <a:ln/>
        </p:spPr>
      </p:sp>
      <p:sp>
        <p:nvSpPr>
          <p:cNvPr id="4" name="Text 2"/>
          <p:cNvSpPr/>
          <p:nvPr/>
        </p:nvSpPr>
        <p:spPr>
          <a:xfrm>
            <a:off x="566928" y="310896"/>
            <a:ext cx="14310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DESIGN TARGET</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설계 목표를 수식 하나로 (Eq. 2)</a:t>
            </a:r>
            <a:endParaRPr lang="en-US" sz="2800" dirty="0"/>
          </a:p>
        </p:txBody>
      </p:sp>
      <p:sp>
        <p:nvSpPr>
          <p:cNvPr id="6" name="Shape 4"/>
          <p:cNvSpPr/>
          <p:nvPr/>
        </p:nvSpPr>
        <p:spPr>
          <a:xfrm>
            <a:off x="566928" y="1481328"/>
            <a:ext cx="3931920" cy="1298448"/>
          </a:xfrm>
          <a:prstGeom prst="roundRect">
            <a:avLst>
              <a:gd name="adj" fmla="val 5634"/>
            </a:avLst>
          </a:prstGeom>
          <a:solidFill>
            <a:srgbClr val="E2EBF3"/>
          </a:solidFill>
          <a:ln/>
        </p:spPr>
      </p:sp>
      <p:pic>
        <p:nvPicPr>
          <p:cNvPr id="7" name="Image 0" descr="eq/eq2.png">    </p:cNvPr>
          <p:cNvPicPr>
            <a:picLocks noChangeAspect="1"/>
          </p:cNvPicPr>
          <p:nvPr/>
        </p:nvPicPr>
        <p:blipFill>
          <a:blip r:embed="rId1"/>
          <a:stretch>
            <a:fillRect/>
          </a:stretch>
        </p:blipFill>
        <p:spPr>
          <a:xfrm>
            <a:off x="1671523" y="1591056"/>
            <a:ext cx="1722730" cy="1078992"/>
          </a:xfrm>
          <a:prstGeom prst="rect">
            <a:avLst/>
          </a:prstGeom>
        </p:spPr>
      </p:pic>
      <p:sp>
        <p:nvSpPr>
          <p:cNvPr id="8" name="Text 5"/>
          <p:cNvSpPr/>
          <p:nvPr/>
        </p:nvSpPr>
        <p:spPr>
          <a:xfrm>
            <a:off x="566928" y="2944368"/>
            <a:ext cx="3931920" cy="3145536"/>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k = 위치벡터 r 방향으로의 '단위 거리당 변위'</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모든 접합점에서 k가 하나의 값 k_iso로 수렴하고, 동시에 u가 r과 평행하면 등방 팽창 상태</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반대로 접합점 사이에서 k가 흩어지면 그만큼 이미지 왜곡이 커진다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이 하나의 스칼라가 이후 모든 최적화의 목적함수가 된다</a:t>
            </a:r>
            <a:endParaRPr lang="en-US" sz="1150" dirty="0"/>
          </a:p>
        </p:txBody>
      </p:sp>
      <p:pic>
        <p:nvPicPr>
          <p:cNvPr id="9" name="Image 1" descr="gen/kvec.png">    </p:cNvPr>
          <p:cNvPicPr>
            <a:picLocks noChangeAspect="1"/>
          </p:cNvPicPr>
          <p:nvPr/>
        </p:nvPicPr>
        <p:blipFill>
          <a:blip r:embed="rId2"/>
          <a:stretch>
            <a:fillRect/>
          </a:stretch>
        </p:blipFill>
        <p:spPr>
          <a:xfrm>
            <a:off x="4791456" y="1792176"/>
            <a:ext cx="6748272" cy="2944465"/>
          </a:xfrm>
          <a:prstGeom prst="rect">
            <a:avLst/>
          </a:prstGeom>
        </p:spPr>
      </p:pic>
      <p:sp>
        <p:nvSpPr>
          <p:cNvPr id="10" name="Text 6"/>
          <p:cNvSpPr/>
          <p:nvPr/>
        </p:nvSpPr>
        <p:spPr>
          <a:xfrm>
            <a:off x="4791456" y="5120640"/>
            <a:ext cx="6748272"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개념도 (본 발표용 작성) — u가 r과 평행할 때만 순수한 등방 팽창</a:t>
            </a:r>
            <a:endParaRPr lang="en-US" sz="950" dirty="0"/>
          </a:p>
        </p:txBody>
      </p:sp>
      <p:sp>
        <p:nvSpPr>
          <p:cNvPr id="11" name="Shape 7"/>
          <p:cNvSpPr/>
          <p:nvPr/>
        </p:nvSpPr>
        <p:spPr>
          <a:xfrm>
            <a:off x="566928" y="5394960"/>
            <a:ext cx="3931920" cy="713232"/>
          </a:xfrm>
          <a:prstGeom prst="roundRect">
            <a:avLst>
              <a:gd name="adj" fmla="val 11538"/>
            </a:avLst>
          </a:prstGeom>
          <a:solidFill>
            <a:srgbClr val="E2EBF3"/>
          </a:solidFill>
          <a:ln/>
          <a:effectLst>
            <a:outerShdw sx="100000" sy="100000" kx="0" ky="0" algn="bl" rotWithShape="0" blurRad="114300" dist="25400" dir="5400000">
              <a:srgbClr val="7E90A8">
                <a:alpha val="16000"/>
              </a:srgbClr>
            </a:outerShdw>
          </a:effectLst>
        </p:spPr>
      </p:sp>
      <p:sp>
        <p:nvSpPr>
          <p:cNvPr id="12" name="Text 8"/>
          <p:cNvSpPr/>
          <p:nvPr/>
        </p:nvSpPr>
        <p:spPr>
          <a:xfrm>
            <a:off x="804672" y="5394960"/>
            <a:ext cx="3493008" cy="713232"/>
          </a:xfrm>
          <a:prstGeom prst="rect">
            <a:avLst/>
          </a:prstGeom>
          <a:noFill/>
          <a:ln/>
        </p:spPr>
        <p:txBody>
          <a:bodyPr wrap="square" lIns="0" tIns="0" rIns="0" bIns="0" rtlCol="0" anchor="ctr"/>
          <a:lstStyle/>
          <a:p>
            <a:pPr indent="0" marL="0">
              <a:buNone/>
            </a:pPr>
            <a:r>
              <a:rPr lang="en-US" sz="1150" b="1" dirty="0">
                <a:solidFill>
                  <a:srgbClr val="21295C"/>
                </a:solidFill>
                <a:latin typeface="Malgun Gothic" pitchFamily="34" charset="0"/>
                <a:ea typeface="Malgun Gothic" pitchFamily="34" charset="-122"/>
                <a:cs typeface="Malgun Gothic" pitchFamily="34" charset="-120"/>
              </a:rPr>
              <a:t>u ∥ r  이고  k = 일정  ⟺  Eq. (1)의 등방 팽창 조건</a:t>
            </a:r>
            <a:endParaRPr lang="en-US" sz="1150" dirty="0"/>
          </a:p>
        </p:txBody>
      </p:sp>
      <p:sp>
        <p:nvSpPr>
          <p:cNvPr id="13" name="Text 9"/>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27</a:t>
            </a:r>
            <a:endParaRPr lang="en-US" sz="1000" dirty="0"/>
          </a:p>
        </p:txBody>
      </p:sp>
      <p:sp>
        <p:nvSpPr>
          <p:cNvPr id="3" name="Shape 1"/>
          <p:cNvSpPr/>
          <p:nvPr/>
        </p:nvSpPr>
        <p:spPr>
          <a:xfrm>
            <a:off x="566928" y="310896"/>
            <a:ext cx="758952" cy="274320"/>
          </a:xfrm>
          <a:prstGeom prst="roundRect">
            <a:avLst>
              <a:gd name="adj" fmla="val 50000"/>
            </a:avLst>
          </a:prstGeom>
          <a:solidFill>
            <a:srgbClr val="1C7293"/>
          </a:solidFill>
          <a:ln/>
        </p:spPr>
      </p:sp>
      <p:sp>
        <p:nvSpPr>
          <p:cNvPr id="4" name="Text 2"/>
          <p:cNvSpPr/>
          <p:nvPr/>
        </p:nvSpPr>
        <p:spPr>
          <a:xfrm>
            <a:off x="566928" y="310896"/>
            <a:ext cx="75895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STEP 1</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기하 최적화 — 그립까지 포함한 목적함수 설계</a:t>
            </a:r>
            <a:endParaRPr lang="en-US" sz="2800" dirty="0"/>
          </a:p>
        </p:txBody>
      </p:sp>
      <p:pic>
        <p:nvPicPr>
          <p:cNvPr id="6" name="Image 0" descr="crops/f2a.png">    </p:cNvPr>
          <p:cNvPicPr>
            <a:picLocks noChangeAspect="1"/>
          </p:cNvPicPr>
          <p:nvPr/>
        </p:nvPicPr>
        <p:blipFill>
          <a:blip r:embed="rId1"/>
          <a:stretch>
            <a:fillRect/>
          </a:stretch>
        </p:blipFill>
        <p:spPr>
          <a:xfrm>
            <a:off x="1352604" y="1444752"/>
            <a:ext cx="5012328" cy="3127248"/>
          </a:xfrm>
          <a:prstGeom prst="rect">
            <a:avLst/>
          </a:prstGeom>
        </p:spPr>
      </p:pic>
      <p:sp>
        <p:nvSpPr>
          <p:cNvPr id="7" name="Text 4"/>
          <p:cNvSpPr/>
          <p:nvPr/>
        </p:nvSpPr>
        <p:spPr>
          <a:xfrm>
            <a:off x="566928" y="4626864"/>
            <a:ext cx="658368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2a — S(W, L, D) 도출 알고리즘</a:t>
            </a:r>
            <a:endParaRPr lang="en-US" sz="950" dirty="0"/>
          </a:p>
        </p:txBody>
      </p:sp>
      <p:sp>
        <p:nvSpPr>
          <p:cNvPr id="8" name="Shape 5"/>
          <p:cNvSpPr/>
          <p:nvPr/>
        </p:nvSpPr>
        <p:spPr>
          <a:xfrm>
            <a:off x="7388352" y="1444752"/>
            <a:ext cx="4160520" cy="1481328"/>
          </a:xfrm>
          <a:prstGeom prst="roundRect">
            <a:avLst>
              <a:gd name="adj" fmla="val 5556"/>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7626096" y="1572768"/>
            <a:ext cx="365760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기하 파라미터</a:t>
            </a:r>
            <a:endParaRPr lang="en-US" sz="1300" dirty="0"/>
          </a:p>
        </p:txBody>
      </p:sp>
      <p:sp>
        <p:nvSpPr>
          <p:cNvPr id="10" name="Text 7"/>
          <p:cNvSpPr/>
          <p:nvPr/>
        </p:nvSpPr>
        <p:spPr>
          <a:xfrm>
            <a:off x="7626096" y="1920240"/>
            <a:ext cx="3712464" cy="914400"/>
          </a:xfrm>
          <a:prstGeom prst="rect">
            <a:avLst/>
          </a:prstGeom>
          <a:noFill/>
          <a:ln/>
        </p:spPr>
        <p:txBody>
          <a:bodyPr wrap="square" lIns="0" tIns="0" rIns="0" bIns="0" rtlCol="0" anchor="t"/>
          <a:lstStyle/>
          <a:p>
            <a:pPr marL="342900" indent="-342900">
              <a:lnSpc>
                <a:spcPts val="1800"/>
              </a:lnSpc>
              <a:spcAft>
                <a:spcPts val="2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W : 슬릿 폭 (사각형 변)</a:t>
            </a:r>
            <a:endParaRPr lang="en-US" sz="1100" dirty="0"/>
          </a:p>
          <a:p>
            <a:pPr marL="342900" indent="-342900">
              <a:lnSpc>
                <a:spcPts val="1800"/>
              </a:lnSpc>
              <a:spcAft>
                <a:spcPts val="2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L : 힌지 길이</a:t>
            </a:r>
            <a:endParaRPr lang="en-US" sz="1100" dirty="0"/>
          </a:p>
          <a:p>
            <a:pPr marL="342900" indent="-342900">
              <a:lnSpc>
                <a:spcPts val="1800"/>
              </a:lnSpc>
              <a:spcAft>
                <a:spcPts val="2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D : 힌지 폭</a:t>
            </a:r>
            <a:endParaRPr lang="en-US" sz="1100" dirty="0"/>
          </a:p>
        </p:txBody>
      </p:sp>
      <p:sp>
        <p:nvSpPr>
          <p:cNvPr id="11" name="Shape 8"/>
          <p:cNvSpPr/>
          <p:nvPr/>
        </p:nvSpPr>
        <p:spPr>
          <a:xfrm>
            <a:off x="7388352" y="3054096"/>
            <a:ext cx="4160520" cy="3054096"/>
          </a:xfrm>
          <a:prstGeom prst="roundRect">
            <a:avLst>
              <a:gd name="adj" fmla="val 2695"/>
            </a:avLst>
          </a:prstGeom>
          <a:solidFill>
            <a:srgbClr val="EFF4F9"/>
          </a:solidFill>
          <a:ln/>
          <a:effectLst>
            <a:outerShdw sx="100000" sy="100000" kx="0" ky="0" algn="bl" rotWithShape="0" blurRad="114300" dist="25400" dir="5400000">
              <a:srgbClr val="7E90A8">
                <a:alpha val="16000"/>
              </a:srgbClr>
            </a:outerShdw>
          </a:effectLst>
        </p:spPr>
      </p:sp>
      <p:sp>
        <p:nvSpPr>
          <p:cNvPr id="12" name="Text 9"/>
          <p:cNvSpPr/>
          <p:nvPr/>
        </p:nvSpPr>
        <p:spPr>
          <a:xfrm>
            <a:off x="7626096" y="3182112"/>
            <a:ext cx="365760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알고리즘</a:t>
            </a:r>
            <a:endParaRPr lang="en-US" sz="1300" dirty="0"/>
          </a:p>
        </p:txBody>
      </p:sp>
      <p:sp>
        <p:nvSpPr>
          <p:cNvPr id="13" name="Text 10"/>
          <p:cNvSpPr/>
          <p:nvPr/>
        </p:nvSpPr>
        <p:spPr>
          <a:xfrm>
            <a:off x="7626096" y="3529584"/>
            <a:ext cx="3712464" cy="246888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그립(P_H, P_V)의 영향을 가장 크게 받는 두 tracing point a, b를 지정</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ε = 0, 3, …, 15% 각 단계에서 두 점의 k 차이 Δk_ab 를 수평·수직 인장 각각 계산</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각 방향의 최댓값을 Γ_H, Γ_V 로 정의</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S(W,L,D) = max(Γ_H, Γ_V) 를 최소화하는 (W, L, D)를 탐색</a:t>
            </a:r>
            <a:endParaRPr lang="en-US" sz="1100" dirty="0"/>
          </a:p>
        </p:txBody>
      </p:sp>
      <p:sp>
        <p:nvSpPr>
          <p:cNvPr id="14" name="Shape 11"/>
          <p:cNvSpPr/>
          <p:nvPr/>
        </p:nvSpPr>
        <p:spPr>
          <a:xfrm>
            <a:off x="566928" y="4956048"/>
            <a:ext cx="2651760" cy="1152144"/>
          </a:xfrm>
          <a:prstGeom prst="roundRect">
            <a:avLst>
              <a:gd name="adj" fmla="val 6349"/>
            </a:avLst>
          </a:prstGeom>
          <a:solidFill>
            <a:srgbClr val="E2EBF3"/>
          </a:solidFill>
          <a:ln/>
        </p:spPr>
      </p:sp>
      <p:pic>
        <p:nvPicPr>
          <p:cNvPr id="15" name="Image 1" descr="eq/eq3.png">    </p:cNvPr>
          <p:cNvPicPr>
            <a:picLocks noChangeAspect="1"/>
          </p:cNvPicPr>
          <p:nvPr/>
        </p:nvPicPr>
        <p:blipFill>
          <a:blip r:embed="rId2"/>
          <a:stretch>
            <a:fillRect/>
          </a:stretch>
        </p:blipFill>
        <p:spPr>
          <a:xfrm>
            <a:off x="781068" y="5065776"/>
            <a:ext cx="2223480" cy="932688"/>
          </a:xfrm>
          <a:prstGeom prst="rect">
            <a:avLst/>
          </a:prstGeom>
        </p:spPr>
      </p:pic>
      <p:sp>
        <p:nvSpPr>
          <p:cNvPr id="16" name="Shape 12"/>
          <p:cNvSpPr/>
          <p:nvPr/>
        </p:nvSpPr>
        <p:spPr>
          <a:xfrm>
            <a:off x="3401568" y="4956048"/>
            <a:ext cx="3749040" cy="1152144"/>
          </a:xfrm>
          <a:prstGeom prst="roundRect">
            <a:avLst>
              <a:gd name="adj" fmla="val 6349"/>
            </a:avLst>
          </a:prstGeom>
          <a:solidFill>
            <a:srgbClr val="E2EBF3"/>
          </a:solidFill>
          <a:ln/>
        </p:spPr>
      </p:sp>
      <p:pic>
        <p:nvPicPr>
          <p:cNvPr id="17" name="Image 2" descr="eq/eq4.png">    </p:cNvPr>
          <p:cNvPicPr>
            <a:picLocks noChangeAspect="1"/>
          </p:cNvPicPr>
          <p:nvPr/>
        </p:nvPicPr>
        <p:blipFill>
          <a:blip r:embed="rId3"/>
          <a:stretch>
            <a:fillRect/>
          </a:stretch>
        </p:blipFill>
        <p:spPr>
          <a:xfrm>
            <a:off x="3566160" y="5130348"/>
            <a:ext cx="3419856" cy="803544"/>
          </a:xfrm>
          <a:prstGeom prst="rect">
            <a:avLst/>
          </a:prstGeom>
        </p:spPr>
      </p:pic>
      <p:sp>
        <p:nvSpPr>
          <p:cNvPr id="18" name="Text 13"/>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28</a:t>
            </a:r>
            <a:endParaRPr lang="en-US" sz="1000" dirty="0"/>
          </a:p>
        </p:txBody>
      </p:sp>
      <p:sp>
        <p:nvSpPr>
          <p:cNvPr id="3" name="Shape 1"/>
          <p:cNvSpPr/>
          <p:nvPr/>
        </p:nvSpPr>
        <p:spPr>
          <a:xfrm>
            <a:off x="566928" y="310896"/>
            <a:ext cx="1431036" cy="274320"/>
          </a:xfrm>
          <a:prstGeom prst="roundRect">
            <a:avLst>
              <a:gd name="adj" fmla="val 50000"/>
            </a:avLst>
          </a:prstGeom>
          <a:solidFill>
            <a:srgbClr val="1C7293"/>
          </a:solidFill>
          <a:ln/>
        </p:spPr>
      </p:sp>
      <p:sp>
        <p:nvSpPr>
          <p:cNvPr id="4" name="Text 2"/>
          <p:cNvSpPr/>
          <p:nvPr/>
        </p:nvSpPr>
        <p:spPr>
          <a:xfrm>
            <a:off x="566928" y="310896"/>
            <a:ext cx="14310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STEP 1 RESULT</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W/D ≈ 35 에서 뚜렷한 최솟값</a:t>
            </a:r>
            <a:endParaRPr lang="en-US" sz="2800" dirty="0"/>
          </a:p>
        </p:txBody>
      </p:sp>
      <p:pic>
        <p:nvPicPr>
          <p:cNvPr id="6" name="Image 0" descr="crops/f2b.png">    </p:cNvPr>
          <p:cNvPicPr>
            <a:picLocks noChangeAspect="1"/>
          </p:cNvPicPr>
          <p:nvPr/>
        </p:nvPicPr>
        <p:blipFill>
          <a:blip r:embed="rId1"/>
          <a:stretch>
            <a:fillRect/>
          </a:stretch>
        </p:blipFill>
        <p:spPr>
          <a:xfrm>
            <a:off x="1348113" y="1444752"/>
            <a:ext cx="4929869" cy="3931920"/>
          </a:xfrm>
          <a:prstGeom prst="rect">
            <a:avLst/>
          </a:prstGeom>
        </p:spPr>
      </p:pic>
      <p:sp>
        <p:nvSpPr>
          <p:cNvPr id="7" name="Text 4"/>
          <p:cNvSpPr/>
          <p:nvPr/>
        </p:nvSpPr>
        <p:spPr>
          <a:xfrm>
            <a:off x="566928" y="5431536"/>
            <a:ext cx="649224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2b — W/D 와 L 에 대한 S(W, L, D)</a:t>
            </a:r>
            <a:endParaRPr lang="en-US" sz="950" dirty="0"/>
          </a:p>
        </p:txBody>
      </p:sp>
      <p:sp>
        <p:nvSpPr>
          <p:cNvPr id="8" name="Shape 5"/>
          <p:cNvSpPr/>
          <p:nvPr/>
        </p:nvSpPr>
        <p:spPr>
          <a:xfrm>
            <a:off x="7296912" y="1444752"/>
            <a:ext cx="4251960" cy="2121408"/>
          </a:xfrm>
          <a:prstGeom prst="roundRect">
            <a:avLst>
              <a:gd name="adj" fmla="val 3879"/>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7534656" y="1591056"/>
            <a:ext cx="3749040" cy="292608"/>
          </a:xfrm>
          <a:prstGeom prst="rect">
            <a:avLst/>
          </a:prstGeom>
          <a:noFill/>
          <a:ln/>
        </p:spPr>
        <p:txBody>
          <a:bodyPr wrap="square" lIns="0" tIns="0" rIns="0" bIns="0" rtlCol="0" anchor="ctr"/>
          <a:lstStyle/>
          <a:p>
            <a:pPr indent="0" marL="0">
              <a:buNone/>
            </a:pPr>
            <a:r>
              <a:rPr lang="en-US" sz="1300" b="1" dirty="0">
                <a:solidFill>
                  <a:srgbClr val="21295C"/>
                </a:solidFill>
                <a:latin typeface="Malgun Gothic" pitchFamily="34" charset="0"/>
                <a:ea typeface="Malgun Gothic" pitchFamily="34" charset="-122"/>
                <a:cs typeface="Malgun Gothic" pitchFamily="34" charset="-120"/>
              </a:rPr>
              <a:t>읽어야 할 세 가지</a:t>
            </a:r>
            <a:endParaRPr lang="en-US" sz="1300" dirty="0"/>
          </a:p>
        </p:txBody>
      </p:sp>
      <p:sp>
        <p:nvSpPr>
          <p:cNvPr id="10" name="Text 7"/>
          <p:cNvSpPr/>
          <p:nvPr/>
        </p:nvSpPr>
        <p:spPr>
          <a:xfrm>
            <a:off x="7534656" y="1956816"/>
            <a:ext cx="3785616" cy="1517904"/>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S는 힌지 길이 L에는 거의 둔감하다</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대신 슬릿-힌지 비 W/D 가 지배적이다</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W/D ≈ 35 부근에서 뚜렷한 최솟값이 나타난다</a:t>
            </a:r>
            <a:endParaRPr lang="en-US" sz="1100" dirty="0"/>
          </a:p>
        </p:txBody>
      </p:sp>
      <p:sp>
        <p:nvSpPr>
          <p:cNvPr id="11" name="Shape 8"/>
          <p:cNvSpPr/>
          <p:nvPr/>
        </p:nvSpPr>
        <p:spPr>
          <a:xfrm>
            <a:off x="7296912" y="3694176"/>
            <a:ext cx="4251960" cy="1481328"/>
          </a:xfrm>
          <a:prstGeom prst="roundRect">
            <a:avLst>
              <a:gd name="adj" fmla="val 5556"/>
            </a:avLst>
          </a:prstGeom>
          <a:solidFill>
            <a:srgbClr val="E2EBF3"/>
          </a:solidFill>
          <a:ln/>
          <a:effectLst>
            <a:outerShdw sx="100000" sy="100000" kx="0" ky="0" algn="bl" rotWithShape="0" blurRad="114300" dist="25400" dir="5400000">
              <a:srgbClr val="7E90A8">
                <a:alpha val="16000"/>
              </a:srgbClr>
            </a:outerShdw>
          </a:effectLst>
        </p:spPr>
      </p:sp>
      <p:sp>
        <p:nvSpPr>
          <p:cNvPr id="12" name="Text 9"/>
          <p:cNvSpPr/>
          <p:nvPr/>
        </p:nvSpPr>
        <p:spPr>
          <a:xfrm>
            <a:off x="7534656" y="3822192"/>
            <a:ext cx="374904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선정된 두 구성</a:t>
            </a:r>
            <a:endParaRPr lang="en-US" sz="1300" dirty="0"/>
          </a:p>
        </p:txBody>
      </p:sp>
      <p:sp>
        <p:nvSpPr>
          <p:cNvPr id="13" name="Text 10"/>
          <p:cNvSpPr/>
          <p:nvPr/>
        </p:nvSpPr>
        <p:spPr>
          <a:xfrm>
            <a:off x="7534656" y="4187952"/>
            <a:ext cx="3785616" cy="859536"/>
          </a:xfrm>
          <a:prstGeom prst="rect">
            <a:avLst/>
          </a:prstGeom>
          <a:noFill/>
          <a:ln/>
        </p:spPr>
        <p:txBody>
          <a:bodyPr wrap="square" lIns="0" tIns="0" rIns="0" bIns="0" rtlCol="0" anchor="t"/>
          <a:lstStyle/>
          <a:p>
            <a:pPr indent="0" marL="0">
              <a:lnSpc>
                <a:spcPts val="2000"/>
              </a:lnSpc>
              <a:buNone/>
            </a:pPr>
            <a:r>
              <a:rPr lang="en-US" sz="1150" b="1" dirty="0">
                <a:solidFill>
                  <a:srgbClr val="1C7293"/>
                </a:solidFill>
                <a:latin typeface="Malgun Gothic" pitchFamily="34" charset="0"/>
                <a:ea typeface="Malgun Gothic" pitchFamily="34" charset="-122"/>
                <a:cs typeface="Malgun Gothic" pitchFamily="34" charset="-120"/>
              </a:rPr>
              <a:t>(i)  최소 S  </a:t>
            </a:r>
            <a:pPr indent="0" marL="0">
              <a:lnSpc>
                <a:spcPts val="2000"/>
              </a:lnSpc>
              <a:buNone/>
            </a:pPr>
            <a:r>
              <a:rPr lang="en-US" sz="1150" dirty="0">
                <a:solidFill>
                  <a:srgbClr val="1E2739"/>
                </a:solidFill>
                <a:latin typeface="Cambria" pitchFamily="34" charset="0"/>
                <a:ea typeface="Cambria" pitchFamily="34" charset="-122"/>
                <a:cs typeface="Cambria" pitchFamily="34" charset="-120"/>
              </a:rPr>
              <a:t>(W, L, D) = (14, 0.5, 0.4) mm
</a:t>
            </a:r>
            <a:pPr indent="0" marL="0">
              <a:lnSpc>
                <a:spcPts val="2000"/>
              </a:lnSpc>
              <a:buNone/>
            </a:pPr>
            <a:r>
              <a:rPr lang="en-US" sz="1150" b="1" dirty="0">
                <a:solidFill>
                  <a:srgbClr val="E2592C"/>
                </a:solidFill>
                <a:latin typeface="Malgun Gothic" pitchFamily="34" charset="0"/>
                <a:ea typeface="Malgun Gothic" pitchFamily="34" charset="-122"/>
                <a:cs typeface="Malgun Gothic" pitchFamily="34" charset="-120"/>
              </a:rPr>
              <a:t>(ii) 최대 S  </a:t>
            </a:r>
            <a:pPr indent="0" marL="0">
              <a:lnSpc>
                <a:spcPts val="2000"/>
              </a:lnSpc>
              <a:buNone/>
            </a:pPr>
            <a:r>
              <a:rPr lang="en-US" sz="1150" dirty="0">
                <a:solidFill>
                  <a:srgbClr val="1E2739"/>
                </a:solidFill>
                <a:latin typeface="Cambria" pitchFamily="34" charset="0"/>
                <a:ea typeface="Cambria" pitchFamily="34" charset="-122"/>
                <a:cs typeface="Cambria" pitchFamily="34" charset="-120"/>
              </a:rPr>
              <a:t>(W, L, D) = (15, 0.9, 1) mm</a:t>
            </a:r>
            <a:endParaRPr lang="en-US" sz="1150" dirty="0"/>
          </a:p>
        </p:txBody>
      </p:sp>
      <p:sp>
        <p:nvSpPr>
          <p:cNvPr id="14" name="Shape 11"/>
          <p:cNvSpPr/>
          <p:nvPr/>
        </p:nvSpPr>
        <p:spPr>
          <a:xfrm>
            <a:off x="7296912" y="5303520"/>
            <a:ext cx="4251960" cy="804672"/>
          </a:xfrm>
          <a:prstGeom prst="roundRect">
            <a:avLst>
              <a:gd name="adj" fmla="val 10227"/>
            </a:avLst>
          </a:prstGeom>
          <a:solidFill>
            <a:srgbClr val="EFF4F9"/>
          </a:solidFill>
          <a:ln/>
          <a:effectLst>
            <a:outerShdw sx="100000" sy="100000" kx="0" ky="0" algn="bl" rotWithShape="0" blurRad="114300" dist="25400" dir="5400000">
              <a:srgbClr val="7E90A8">
                <a:alpha val="16000"/>
              </a:srgbClr>
            </a:outerShdw>
          </a:effectLst>
        </p:spPr>
      </p:sp>
      <p:sp>
        <p:nvSpPr>
          <p:cNvPr id="15" name="Text 12"/>
          <p:cNvSpPr/>
          <p:nvPr/>
        </p:nvSpPr>
        <p:spPr>
          <a:xfrm>
            <a:off x="7534656" y="5303520"/>
            <a:ext cx="3785616" cy="804672"/>
          </a:xfrm>
          <a:prstGeom prst="rect">
            <a:avLst/>
          </a:prstGeom>
          <a:noFill/>
          <a:ln/>
        </p:spPr>
        <p:txBody>
          <a:bodyPr wrap="square" lIns="0" tIns="0" rIns="0" bIns="0" rtlCol="0" anchor="ctr"/>
          <a:lstStyle/>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n_H = n_V 인 정사각 배열에서도 같은 경향 — 방법론이 일반화된다 (Suppl. Fig. 3)</a:t>
            </a:r>
            <a:endParaRPr lang="en-US" sz="1050" dirty="0"/>
          </a:p>
        </p:txBody>
      </p:sp>
      <p:sp>
        <p:nvSpPr>
          <p:cNvPr id="16" name="Text 13"/>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29</a:t>
            </a:r>
            <a:endParaRPr lang="en-US" sz="1000" dirty="0"/>
          </a:p>
        </p:txBody>
      </p:sp>
      <p:sp>
        <p:nvSpPr>
          <p:cNvPr id="3" name="Shape 1"/>
          <p:cNvSpPr/>
          <p:nvPr/>
        </p:nvSpPr>
        <p:spPr>
          <a:xfrm>
            <a:off x="566928" y="310896"/>
            <a:ext cx="1527048" cy="274320"/>
          </a:xfrm>
          <a:prstGeom prst="roundRect">
            <a:avLst>
              <a:gd name="adj" fmla="val 50000"/>
            </a:avLst>
          </a:prstGeom>
          <a:solidFill>
            <a:srgbClr val="1C7293"/>
          </a:solidFill>
          <a:ln/>
        </p:spPr>
      </p:sp>
      <p:sp>
        <p:nvSpPr>
          <p:cNvPr id="4" name="Text 2"/>
          <p:cNvSpPr/>
          <p:nvPr/>
        </p:nvSpPr>
        <p:spPr>
          <a:xfrm>
            <a:off x="566928" y="310896"/>
            <a:ext cx="152704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WHY A MINIMUM?</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왜 최적점이 존재하는가 — Supplementary Note 1</a:t>
            </a:r>
            <a:endParaRPr lang="en-US" sz="2800" dirty="0"/>
          </a:p>
        </p:txBody>
      </p:sp>
      <p:sp>
        <p:nvSpPr>
          <p:cNvPr id="6" name="Shape 4"/>
          <p:cNvSpPr/>
          <p:nvPr/>
        </p:nvSpPr>
        <p:spPr>
          <a:xfrm>
            <a:off x="566928" y="1463040"/>
            <a:ext cx="5358384" cy="2212848"/>
          </a:xfrm>
          <a:prstGeom prst="roundRect">
            <a:avLst>
              <a:gd name="adj" fmla="val 3719"/>
            </a:avLst>
          </a:prstGeom>
          <a:solidFill>
            <a:srgbClr val="EFF4F9"/>
          </a:solidFill>
          <a:ln/>
          <a:effectLst>
            <a:outerShdw sx="100000" sy="100000" kx="0" ky="0" algn="bl" rotWithShape="0" blurRad="114300" dist="25400" dir="5400000">
              <a:srgbClr val="7E90A8">
                <a:alpha val="16000"/>
              </a:srgbClr>
            </a:outerShdw>
          </a:effectLst>
        </p:spPr>
      </p:sp>
      <p:sp>
        <p:nvSpPr>
          <p:cNvPr id="7" name="Text 5"/>
          <p:cNvSpPr/>
          <p:nvPr/>
        </p:nvSpPr>
        <p:spPr>
          <a:xfrm>
            <a:off x="859536" y="1609344"/>
            <a:ext cx="475488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회전장의 지배 방정식</a:t>
            </a:r>
            <a:endParaRPr lang="en-US" sz="1300" dirty="0"/>
          </a:p>
        </p:txBody>
      </p:sp>
      <p:sp>
        <p:nvSpPr>
          <p:cNvPr id="8" name="Shape 6"/>
          <p:cNvSpPr/>
          <p:nvPr/>
        </p:nvSpPr>
        <p:spPr>
          <a:xfrm>
            <a:off x="859536" y="1975104"/>
            <a:ext cx="4773168" cy="512064"/>
          </a:xfrm>
          <a:prstGeom prst="roundRect">
            <a:avLst>
              <a:gd name="adj" fmla="val 14286"/>
            </a:avLst>
          </a:prstGeom>
          <a:solidFill>
            <a:srgbClr val="FFFFFF"/>
          </a:solidFill>
          <a:ln/>
        </p:spPr>
      </p:sp>
      <p:pic>
        <p:nvPicPr>
          <p:cNvPr id="9" name="Image 0" descr="eq/eq10.png">    </p:cNvPr>
          <p:cNvPicPr>
            <a:picLocks noChangeAspect="1"/>
          </p:cNvPicPr>
          <p:nvPr/>
        </p:nvPicPr>
        <p:blipFill>
          <a:blip r:embed="rId1"/>
          <a:stretch>
            <a:fillRect/>
          </a:stretch>
        </p:blipFill>
        <p:spPr>
          <a:xfrm>
            <a:off x="2032231" y="2084832"/>
            <a:ext cx="2427777" cy="292608"/>
          </a:xfrm>
          <a:prstGeom prst="rect">
            <a:avLst/>
          </a:prstGeom>
        </p:spPr>
      </p:pic>
      <p:sp>
        <p:nvSpPr>
          <p:cNvPr id="10" name="Text 7"/>
          <p:cNvSpPr/>
          <p:nvPr/>
        </p:nvSpPr>
        <p:spPr>
          <a:xfrm>
            <a:off x="859536" y="2596896"/>
            <a:ext cx="4773168" cy="987552"/>
          </a:xfrm>
          <a:prstGeom prst="rect">
            <a:avLst/>
          </a:prstGeom>
          <a:noFill/>
          <a:ln/>
        </p:spPr>
        <p:txBody>
          <a:bodyPr wrap="square" lIns="0" tIns="0" rIns="0" bIns="0" rtlCol="0" anchor="t"/>
          <a:lstStyle/>
          <a:p>
            <a:pPr marL="342900" indent="-342900">
              <a:lnSpc>
                <a:spcPts val="1800"/>
              </a:lnSpc>
              <a:spcAft>
                <a:spcPts val="3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C_b : 인접 셀 간 회전 결합 강성 (굽힘 + Timoshenko 전단)</a:t>
            </a:r>
            <a:endParaRPr lang="en-US" sz="1050" dirty="0"/>
          </a:p>
          <a:p>
            <a:pPr marL="342900" indent="-342900">
              <a:lnSpc>
                <a:spcPts val="1800"/>
              </a:lnSpc>
              <a:spcAft>
                <a:spcPts val="3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K_self : 셀 자체의 회전 저항 (부착부 인장·전단 + 내부 플렉셔)</a:t>
            </a:r>
            <a:endParaRPr lang="en-US" sz="1050" dirty="0"/>
          </a:p>
        </p:txBody>
      </p:sp>
      <p:sp>
        <p:nvSpPr>
          <p:cNvPr id="11" name="Shape 8"/>
          <p:cNvSpPr/>
          <p:nvPr/>
        </p:nvSpPr>
        <p:spPr>
          <a:xfrm>
            <a:off x="566928" y="3822192"/>
            <a:ext cx="5358384" cy="2286000"/>
          </a:xfrm>
          <a:prstGeom prst="roundRect">
            <a:avLst>
              <a:gd name="adj" fmla="val 3600"/>
            </a:avLst>
          </a:prstGeom>
          <a:solidFill>
            <a:srgbClr val="EFF4F9"/>
          </a:solidFill>
          <a:ln/>
          <a:effectLst>
            <a:outerShdw sx="100000" sy="100000" kx="0" ky="0" algn="bl" rotWithShape="0" blurRad="114300" dist="25400" dir="5400000">
              <a:srgbClr val="7E90A8">
                <a:alpha val="16000"/>
              </a:srgbClr>
            </a:outerShdw>
          </a:effectLst>
        </p:spPr>
      </p:sp>
      <p:sp>
        <p:nvSpPr>
          <p:cNvPr id="12" name="Text 9"/>
          <p:cNvSpPr/>
          <p:nvPr/>
        </p:nvSpPr>
        <p:spPr>
          <a:xfrm>
            <a:off x="859536" y="3968496"/>
            <a:ext cx="475488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감쇠 길이가 모든 것을 지배한다</a:t>
            </a:r>
            <a:endParaRPr lang="en-US" sz="1300" dirty="0"/>
          </a:p>
        </p:txBody>
      </p:sp>
      <p:sp>
        <p:nvSpPr>
          <p:cNvPr id="13" name="Shape 10"/>
          <p:cNvSpPr/>
          <p:nvPr/>
        </p:nvSpPr>
        <p:spPr>
          <a:xfrm>
            <a:off x="859536" y="4315968"/>
            <a:ext cx="4773168" cy="749808"/>
          </a:xfrm>
          <a:prstGeom prst="roundRect">
            <a:avLst>
              <a:gd name="adj" fmla="val 9756"/>
            </a:avLst>
          </a:prstGeom>
          <a:solidFill>
            <a:srgbClr val="FFFFFF"/>
          </a:solidFill>
          <a:ln/>
        </p:spPr>
      </p:sp>
      <p:pic>
        <p:nvPicPr>
          <p:cNvPr id="14" name="Image 1" descr="eq/eq9.png">    </p:cNvPr>
          <p:cNvPicPr>
            <a:picLocks noChangeAspect="1"/>
          </p:cNvPicPr>
          <p:nvPr/>
        </p:nvPicPr>
        <p:blipFill>
          <a:blip r:embed="rId2"/>
          <a:stretch>
            <a:fillRect/>
          </a:stretch>
        </p:blipFill>
        <p:spPr>
          <a:xfrm>
            <a:off x="2274793" y="4425696"/>
            <a:ext cx="1942654" cy="530352"/>
          </a:xfrm>
          <a:prstGeom prst="rect">
            <a:avLst/>
          </a:prstGeom>
        </p:spPr>
      </p:pic>
      <p:sp>
        <p:nvSpPr>
          <p:cNvPr id="15" name="Text 11"/>
          <p:cNvSpPr/>
          <p:nvPr/>
        </p:nvSpPr>
        <p:spPr>
          <a:xfrm>
            <a:off x="859536" y="5175504"/>
            <a:ext cx="4773168" cy="859536"/>
          </a:xfrm>
          <a:prstGeom prst="rect">
            <a:avLst/>
          </a:prstGeom>
          <a:noFill/>
          <a:ln/>
        </p:spPr>
        <p:txBody>
          <a:bodyPr wrap="square" lIns="0" tIns="0" rIns="0" bIns="0" rtlCol="0" anchor="t"/>
          <a:lstStyle/>
          <a:p>
            <a:pPr marL="342900" indent="-342900">
              <a:lnSpc>
                <a:spcPts val="1800"/>
              </a:lnSpc>
              <a:spcAft>
                <a:spcPts val="3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모든 기하·재료 의존성은 오직 l_x, l_y 를 통해서만 들어온다</a:t>
            </a:r>
            <a:endParaRPr lang="en-US" sz="1050" dirty="0"/>
          </a:p>
          <a:p>
            <a:pPr marL="342900" indent="-342900">
              <a:lnSpc>
                <a:spcPts val="1800"/>
              </a:lnSpc>
              <a:spcAft>
                <a:spcPts val="3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l 이 클수록 그립의 영향이 배열 내부로 깊이 침투한다</a:t>
            </a:r>
            <a:endParaRPr lang="en-US" sz="1050" dirty="0"/>
          </a:p>
        </p:txBody>
      </p:sp>
      <p:sp>
        <p:nvSpPr>
          <p:cNvPr id="16" name="Shape 12"/>
          <p:cNvSpPr/>
          <p:nvPr/>
        </p:nvSpPr>
        <p:spPr>
          <a:xfrm>
            <a:off x="6181344" y="1463040"/>
            <a:ext cx="5358384" cy="4645152"/>
          </a:xfrm>
          <a:prstGeom prst="roundRect">
            <a:avLst>
              <a:gd name="adj" fmla="val 1772"/>
            </a:avLst>
          </a:prstGeom>
          <a:solidFill>
            <a:srgbClr val="E2EBF3"/>
          </a:solidFill>
          <a:ln/>
          <a:effectLst>
            <a:outerShdw sx="100000" sy="100000" kx="0" ky="0" algn="bl" rotWithShape="0" blurRad="114300" dist="25400" dir="5400000">
              <a:srgbClr val="7E90A8">
                <a:alpha val="16000"/>
              </a:srgbClr>
            </a:outerShdw>
          </a:effectLst>
        </p:spPr>
      </p:sp>
      <p:sp>
        <p:nvSpPr>
          <p:cNvPr id="17" name="Text 13"/>
          <p:cNvSpPr/>
          <p:nvPr/>
        </p:nvSpPr>
        <p:spPr>
          <a:xfrm>
            <a:off x="6473952" y="1627632"/>
            <a:ext cx="4754880" cy="292608"/>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최적점이 생기는 이유</a:t>
            </a:r>
            <a:endParaRPr lang="en-US" sz="1350" dirty="0"/>
          </a:p>
        </p:txBody>
      </p:sp>
      <p:sp>
        <p:nvSpPr>
          <p:cNvPr id="18" name="Text 14"/>
          <p:cNvSpPr/>
          <p:nvPr/>
        </p:nvSpPr>
        <p:spPr>
          <a:xfrm>
            <a:off x="6473952" y="2029968"/>
            <a:ext cx="4773168" cy="31089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이산 Helmholtz 방정식의 내부 해는 e^(−i/l) 형태의 지수 커널을 가진다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n개 셀에 걸쳐 변위 적합성을 강제하면 최대 회전 대비 Δθ_max 가 누적 인자 S(n, l) 과 경계 보정 인자 F(l) 의 비로 표현된다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S(n, l) 과 F(l) 은 l 에 대한 민감도가 서로 반대 방향 — 이 상충이 내부 균형점을 만든다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따라서 슬릿-힌지 비 T = W/D 를 바꾸면 ∂Δθ_max/∂T = 0 인 T* 가 존재한다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L 에 둔감한 이유: l² 의 분자에 있는 1/L 이 분모의 내부 플렉셔 항 1/L 로 상쇄된다</a:t>
            </a:r>
            <a:endParaRPr lang="en-US" sz="1150" dirty="0"/>
          </a:p>
        </p:txBody>
      </p:sp>
      <p:sp>
        <p:nvSpPr>
          <p:cNvPr id="19" name="Shape 15"/>
          <p:cNvSpPr/>
          <p:nvPr/>
        </p:nvSpPr>
        <p:spPr>
          <a:xfrm>
            <a:off x="6181344" y="5266944"/>
            <a:ext cx="5358384" cy="841248"/>
          </a:xfrm>
          <a:prstGeom prst="roundRect">
            <a:avLst>
              <a:gd name="adj" fmla="val 9783"/>
            </a:avLst>
          </a:prstGeom>
          <a:solidFill>
            <a:srgbClr val="FBEAE2"/>
          </a:solidFill>
          <a:ln/>
          <a:effectLst>
            <a:outerShdw sx="100000" sy="100000" kx="0" ky="0" algn="bl" rotWithShape="0" blurRad="114300" dist="25400" dir="5400000">
              <a:srgbClr val="7E90A8">
                <a:alpha val="16000"/>
              </a:srgbClr>
            </a:outerShdw>
          </a:effectLst>
        </p:spPr>
      </p:sp>
      <p:sp>
        <p:nvSpPr>
          <p:cNvPr id="20" name="Text 16"/>
          <p:cNvSpPr/>
          <p:nvPr/>
        </p:nvSpPr>
        <p:spPr>
          <a:xfrm>
            <a:off x="6455664" y="5266944"/>
            <a:ext cx="4809744" cy="841248"/>
          </a:xfrm>
          <a:prstGeom prst="rect">
            <a:avLst/>
          </a:prstGeom>
          <a:noFill/>
          <a:ln/>
        </p:spPr>
        <p:txBody>
          <a:bodyPr wrap="square" lIns="0" tIns="0" rIns="0" bIns="0" rtlCol="0" anchor="ctr"/>
          <a:lstStyle/>
          <a:p>
            <a:pPr indent="0" marL="0">
              <a:lnSpc>
                <a:spcPts val="1700"/>
              </a:lnSpc>
              <a:buNone/>
            </a:pPr>
            <a:r>
              <a:rPr lang="en-US" sz="1150" b="1" dirty="0">
                <a:solidFill>
                  <a:srgbClr val="21295C"/>
                </a:solidFill>
                <a:latin typeface="Malgun Gothic" pitchFamily="34" charset="0"/>
                <a:ea typeface="Malgun Gothic" pitchFamily="34" charset="-122"/>
                <a:cs typeface="Malgun Gothic" pitchFamily="34" charset="-120"/>
              </a:rPr>
              <a:t>가장 중요한 결론 — Δθ_max 는 0으로 수렴하지 않는다. 경계층이 정하는 유한한 최솟값을 갖는다. '완벽한 균일성'은 목표가 될 수 없다.</a:t>
            </a:r>
            <a:endParaRPr lang="en-US" sz="1150" dirty="0"/>
          </a:p>
        </p:txBody>
      </p:sp>
      <p:sp>
        <p:nvSpPr>
          <p:cNvPr id="21" name="Text 17"/>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Note 1 · Eq. (S1)–(S8)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30</a:t>
            </a:r>
            <a:endParaRPr lang="en-US" sz="1000" dirty="0"/>
          </a:p>
        </p:txBody>
      </p:sp>
      <p:sp>
        <p:nvSpPr>
          <p:cNvPr id="3" name="Shape 1"/>
          <p:cNvSpPr/>
          <p:nvPr/>
        </p:nvSpPr>
        <p:spPr>
          <a:xfrm>
            <a:off x="566928" y="310896"/>
            <a:ext cx="1431036" cy="274320"/>
          </a:xfrm>
          <a:prstGeom prst="roundRect">
            <a:avLst>
              <a:gd name="adj" fmla="val 50000"/>
            </a:avLst>
          </a:prstGeom>
          <a:solidFill>
            <a:srgbClr val="1C7293"/>
          </a:solidFill>
          <a:ln/>
        </p:spPr>
      </p:sp>
      <p:sp>
        <p:nvSpPr>
          <p:cNvPr id="4" name="Text 2"/>
          <p:cNvSpPr/>
          <p:nvPr/>
        </p:nvSpPr>
        <p:spPr>
          <a:xfrm>
            <a:off x="566928" y="310896"/>
            <a:ext cx="14310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STEP 1 VERIFY</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균일한 auxetic 효과 — (i) vs (ii)</a:t>
            </a:r>
            <a:endParaRPr lang="en-US" sz="2800" dirty="0"/>
          </a:p>
        </p:txBody>
      </p:sp>
      <p:pic>
        <p:nvPicPr>
          <p:cNvPr id="6" name="Image 0" descr="crops/f2c.png">    </p:cNvPr>
          <p:cNvPicPr>
            <a:picLocks noChangeAspect="1"/>
          </p:cNvPicPr>
          <p:nvPr/>
        </p:nvPicPr>
        <p:blipFill>
          <a:blip r:embed="rId1"/>
          <a:stretch>
            <a:fillRect/>
          </a:stretch>
        </p:blipFill>
        <p:spPr>
          <a:xfrm>
            <a:off x="566928" y="1529066"/>
            <a:ext cx="5358384" cy="2848891"/>
          </a:xfrm>
          <a:prstGeom prst="rect">
            <a:avLst/>
          </a:prstGeom>
        </p:spPr>
      </p:pic>
      <p:pic>
        <p:nvPicPr>
          <p:cNvPr id="7" name="Image 1" descr="crops/f2d.png">    </p:cNvPr>
          <p:cNvPicPr>
            <a:picLocks noChangeAspect="1"/>
          </p:cNvPicPr>
          <p:nvPr/>
        </p:nvPicPr>
        <p:blipFill>
          <a:blip r:embed="rId2"/>
          <a:stretch>
            <a:fillRect/>
          </a:stretch>
        </p:blipFill>
        <p:spPr>
          <a:xfrm>
            <a:off x="6181344" y="1725826"/>
            <a:ext cx="5358384" cy="2455372"/>
          </a:xfrm>
          <a:prstGeom prst="rect">
            <a:avLst/>
          </a:prstGeom>
        </p:spPr>
      </p:pic>
      <p:sp>
        <p:nvSpPr>
          <p:cNvPr id="8" name="Text 4"/>
          <p:cNvSpPr/>
          <p:nvPr/>
        </p:nvSpPr>
        <p:spPr>
          <a:xfrm>
            <a:off x="566928" y="4572000"/>
            <a:ext cx="5358384"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2c — 수직 인장 ε = 6% 에서의 u_y 분포</a:t>
            </a:r>
            <a:endParaRPr lang="en-US" sz="950" dirty="0"/>
          </a:p>
        </p:txBody>
      </p:sp>
      <p:sp>
        <p:nvSpPr>
          <p:cNvPr id="9" name="Text 5"/>
          <p:cNvSpPr/>
          <p:nvPr/>
        </p:nvSpPr>
        <p:spPr>
          <a:xfrm>
            <a:off x="6181344" y="4572000"/>
            <a:ext cx="5358384"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2d — 수직 인장 ε = 15% 에서의 u_y 분포</a:t>
            </a:r>
            <a:endParaRPr lang="en-US" sz="950" dirty="0"/>
          </a:p>
        </p:txBody>
      </p:sp>
      <p:sp>
        <p:nvSpPr>
          <p:cNvPr id="10" name="Shape 6"/>
          <p:cNvSpPr/>
          <p:nvPr/>
        </p:nvSpPr>
        <p:spPr>
          <a:xfrm>
            <a:off x="566928" y="4901184"/>
            <a:ext cx="5358384" cy="1207008"/>
          </a:xfrm>
          <a:prstGeom prst="roundRect">
            <a:avLst>
              <a:gd name="adj" fmla="val 6818"/>
            </a:avLst>
          </a:prstGeom>
          <a:solidFill>
            <a:srgbClr val="EFF4F9"/>
          </a:solidFill>
          <a:ln/>
          <a:effectLst>
            <a:outerShdw sx="100000" sy="100000" kx="0" ky="0" algn="bl" rotWithShape="0" blurRad="114300" dist="25400" dir="5400000">
              <a:srgbClr val="7E90A8">
                <a:alpha val="16000"/>
              </a:srgbClr>
            </a:outerShdw>
          </a:effectLst>
        </p:spPr>
      </p:sp>
      <p:sp>
        <p:nvSpPr>
          <p:cNvPr id="11" name="Text 7"/>
          <p:cNvSpPr/>
          <p:nvPr/>
        </p:nvSpPr>
        <p:spPr>
          <a:xfrm>
            <a:off x="841248" y="4992624"/>
            <a:ext cx="4809744" cy="1042416"/>
          </a:xfrm>
          <a:prstGeom prst="rect">
            <a:avLst/>
          </a:prstGeom>
          <a:noFill/>
          <a:ln/>
        </p:spPr>
        <p:txBody>
          <a:bodyPr wrap="square" lIns="0" tIns="0" rIns="0" bIns="0" rtlCol="0" anchor="t"/>
          <a:lstStyle/>
          <a:p>
            <a:pPr indent="0" marL="0">
              <a:lnSpc>
                <a:spcPts val="1600"/>
              </a:lnSpc>
              <a:buNone/>
            </a:pPr>
            <a:r>
              <a:rPr lang="en-US" sz="1250" b="1" dirty="0">
                <a:solidFill>
                  <a:srgbClr val="1C7293"/>
                </a:solidFill>
                <a:latin typeface="Malgun Gothic" pitchFamily="34" charset="0"/>
                <a:ea typeface="Malgun Gothic" pitchFamily="34" charset="-122"/>
                <a:cs typeface="Malgun Gothic" pitchFamily="34" charset="-120"/>
              </a:rPr>
              <a:t>(i) (14, 0.5, 0.4) mm — 최소 S
</a:t>
            </a:r>
            <a:pPr indent="0" marL="0">
              <a:lnSpc>
                <a:spcPts val="1600"/>
              </a:lnSpc>
              <a:buNone/>
            </a:pPr>
            <a:r>
              <a:rPr lang="en-US" sz="1100" dirty="0">
                <a:solidFill>
                  <a:srgbClr val="1E2739"/>
                </a:solidFill>
                <a:latin typeface="Malgun Gothic" pitchFamily="34" charset="0"/>
                <a:ea typeface="Malgun Gothic" pitchFamily="34" charset="-122"/>
                <a:cs typeface="Malgun Gothic" pitchFamily="34" charset="-120"/>
              </a:rPr>
              <a:t>6%와 15% 모두에서 u_y 가 매끄럽게 단조 증가한다. 상·하단 셀의 회전이 일치하는 균일한 거동.</a:t>
            </a:r>
            <a:endParaRPr lang="en-US" sz="1100" dirty="0"/>
          </a:p>
        </p:txBody>
      </p:sp>
      <p:sp>
        <p:nvSpPr>
          <p:cNvPr id="12" name="Shape 8"/>
          <p:cNvSpPr/>
          <p:nvPr/>
        </p:nvSpPr>
        <p:spPr>
          <a:xfrm>
            <a:off x="6181344" y="4901184"/>
            <a:ext cx="5358384" cy="1207008"/>
          </a:xfrm>
          <a:prstGeom prst="roundRect">
            <a:avLst>
              <a:gd name="adj" fmla="val 6818"/>
            </a:avLst>
          </a:prstGeom>
          <a:solidFill>
            <a:srgbClr val="FBEAE2"/>
          </a:solidFill>
          <a:ln/>
          <a:effectLst>
            <a:outerShdw sx="100000" sy="100000" kx="0" ky="0" algn="bl" rotWithShape="0" blurRad="114300" dist="25400" dir="5400000">
              <a:srgbClr val="7E90A8">
                <a:alpha val="16000"/>
              </a:srgbClr>
            </a:outerShdw>
          </a:effectLst>
        </p:spPr>
      </p:sp>
      <p:sp>
        <p:nvSpPr>
          <p:cNvPr id="13" name="Text 9"/>
          <p:cNvSpPr/>
          <p:nvPr/>
        </p:nvSpPr>
        <p:spPr>
          <a:xfrm>
            <a:off x="6455664" y="4992624"/>
            <a:ext cx="4809744" cy="1042416"/>
          </a:xfrm>
          <a:prstGeom prst="rect">
            <a:avLst/>
          </a:prstGeom>
          <a:noFill/>
          <a:ln/>
        </p:spPr>
        <p:txBody>
          <a:bodyPr wrap="square" lIns="0" tIns="0" rIns="0" bIns="0" rtlCol="0" anchor="t"/>
          <a:lstStyle/>
          <a:p>
            <a:pPr indent="0" marL="0">
              <a:lnSpc>
                <a:spcPts val="1600"/>
              </a:lnSpc>
              <a:buNone/>
            </a:pPr>
            <a:r>
              <a:rPr lang="en-US" sz="1250" b="1" dirty="0">
                <a:solidFill>
                  <a:srgbClr val="E2592C"/>
                </a:solidFill>
                <a:latin typeface="Malgun Gothic" pitchFamily="34" charset="0"/>
                <a:ea typeface="Malgun Gothic" pitchFamily="34" charset="-122"/>
                <a:cs typeface="Malgun Gothic" pitchFamily="34" charset="-120"/>
              </a:rPr>
              <a:t>(ii) (15, 0.9, 1) mm — 최대 S
</a:t>
            </a:r>
            <a:pPr indent="0" marL="0">
              <a:lnSpc>
                <a:spcPts val="1600"/>
              </a:lnSpc>
              <a:buNone/>
            </a:pPr>
            <a:r>
              <a:rPr lang="en-US" sz="1100" dirty="0">
                <a:solidFill>
                  <a:srgbClr val="1E2739"/>
                </a:solidFill>
                <a:latin typeface="Malgun Gothic" pitchFamily="34" charset="0"/>
                <a:ea typeface="Malgun Gothic" pitchFamily="34" charset="-122"/>
                <a:cs typeface="Malgun Gothic" pitchFamily="34" charset="-120"/>
              </a:rPr>
              <a:t>두 변형률 모두에서 non-uniform auxetic effect가 보인다. n_H &gt; n_V 인 직사각 배열의 수직 인장에서 특히 심하다.</a:t>
            </a:r>
            <a:endParaRPr lang="en-US" sz="1100" dirty="0"/>
          </a:p>
        </p:txBody>
      </p:sp>
      <p:sp>
        <p:nvSpPr>
          <p:cNvPr id="14"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31</a:t>
            </a:r>
            <a:endParaRPr lang="en-US" sz="1000" dirty="0"/>
          </a:p>
        </p:txBody>
      </p:sp>
      <p:sp>
        <p:nvSpPr>
          <p:cNvPr id="3" name="Shape 1"/>
          <p:cNvSpPr/>
          <p:nvPr/>
        </p:nvSpPr>
        <p:spPr>
          <a:xfrm>
            <a:off x="566928" y="310896"/>
            <a:ext cx="758952" cy="274320"/>
          </a:xfrm>
          <a:prstGeom prst="roundRect">
            <a:avLst>
              <a:gd name="adj" fmla="val 50000"/>
            </a:avLst>
          </a:prstGeom>
          <a:solidFill>
            <a:srgbClr val="1C7293"/>
          </a:solidFill>
          <a:ln/>
        </p:spPr>
      </p:sp>
      <p:sp>
        <p:nvSpPr>
          <p:cNvPr id="4" name="Text 2"/>
          <p:cNvSpPr/>
          <p:nvPr/>
        </p:nvSpPr>
        <p:spPr>
          <a:xfrm>
            <a:off x="566928" y="310896"/>
            <a:ext cx="75895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STEP 2</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왜 '선택적' 접합인가</a:t>
            </a:r>
            <a:endParaRPr lang="en-US" sz="2800" dirty="0"/>
          </a:p>
        </p:txBody>
      </p:sp>
      <p:sp>
        <p:nvSpPr>
          <p:cNvPr id="6" name="Shape 4"/>
          <p:cNvSpPr/>
          <p:nvPr/>
        </p:nvSpPr>
        <p:spPr>
          <a:xfrm>
            <a:off x="566928" y="1481328"/>
            <a:ext cx="3529584" cy="2395728"/>
          </a:xfrm>
          <a:prstGeom prst="roundRect">
            <a:avLst>
              <a:gd name="adj" fmla="val 3435"/>
            </a:avLst>
          </a:prstGeom>
          <a:solidFill>
            <a:srgbClr val="FBEAE2"/>
          </a:solidFill>
          <a:ln/>
          <a:effectLst>
            <a:outerShdw sx="100000" sy="100000" kx="0" ky="0" algn="bl" rotWithShape="0" blurRad="114300" dist="25400" dir="5400000">
              <a:srgbClr val="7E90A8">
                <a:alpha val="16000"/>
              </a:srgbClr>
            </a:outerShdw>
          </a:effectLst>
        </p:spPr>
      </p:sp>
      <p:sp>
        <p:nvSpPr>
          <p:cNvPr id="7" name="Shape 5"/>
          <p:cNvSpPr/>
          <p:nvPr/>
        </p:nvSpPr>
        <p:spPr>
          <a:xfrm>
            <a:off x="822960" y="1700784"/>
            <a:ext cx="420624" cy="420624"/>
          </a:xfrm>
          <a:prstGeom prst="ellipse">
            <a:avLst/>
          </a:prstGeom>
          <a:solidFill>
            <a:srgbClr val="E2592C"/>
          </a:solidFill>
          <a:ln/>
        </p:spPr>
      </p:sp>
      <p:sp>
        <p:nvSpPr>
          <p:cNvPr id="8" name="Text 6"/>
          <p:cNvSpPr/>
          <p:nvPr/>
        </p:nvSpPr>
        <p:spPr>
          <a:xfrm>
            <a:off x="822960" y="17007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t>
            </a:r>
            <a:endParaRPr lang="en-US" sz="1500" dirty="0"/>
          </a:p>
        </p:txBody>
      </p:sp>
      <p:sp>
        <p:nvSpPr>
          <p:cNvPr id="9" name="Text 7"/>
          <p:cNvSpPr/>
          <p:nvPr/>
        </p:nvSpPr>
        <p:spPr>
          <a:xfrm>
            <a:off x="1371600" y="1700784"/>
            <a:ext cx="2523744" cy="420624"/>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전면 접합 (fully bonded)</a:t>
            </a:r>
            <a:endParaRPr lang="en-US" sz="1250" dirty="0"/>
          </a:p>
        </p:txBody>
      </p:sp>
      <p:sp>
        <p:nvSpPr>
          <p:cNvPr id="10" name="Text 8"/>
          <p:cNvSpPr/>
          <p:nvPr/>
        </p:nvSpPr>
        <p:spPr>
          <a:xfrm>
            <a:off x="822960" y="2267712"/>
            <a:ext cx="3035808" cy="1389888"/>
          </a:xfrm>
          <a:prstGeom prst="rect">
            <a:avLst/>
          </a:prstGeom>
          <a:noFill/>
          <a:ln/>
        </p:spPr>
        <p:txBody>
          <a:bodyPr wrap="square" lIns="0" tIns="0" rIns="0" bIns="0" rtlCol="0" anchor="t"/>
          <a:lstStyle/>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회전 궤적이 그대로 전사된다.</a:t>
            </a:r>
            <a:endParaRPr lang="en-US" sz="1100" dirty="0"/>
          </a:p>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 국부 왜곡 잔존</a:t>
            </a:r>
            <a:endParaRPr lang="en-US" sz="1100" dirty="0"/>
          </a:p>
        </p:txBody>
      </p:sp>
      <p:sp>
        <p:nvSpPr>
          <p:cNvPr id="11" name="Shape 9"/>
          <p:cNvSpPr/>
          <p:nvPr/>
        </p:nvSpPr>
        <p:spPr>
          <a:xfrm>
            <a:off x="4279392" y="1481328"/>
            <a:ext cx="3529584" cy="2395728"/>
          </a:xfrm>
          <a:prstGeom prst="roundRect">
            <a:avLst>
              <a:gd name="adj" fmla="val 3435"/>
            </a:avLst>
          </a:prstGeom>
          <a:solidFill>
            <a:srgbClr val="FBEAE2"/>
          </a:solidFill>
          <a:ln/>
          <a:effectLst>
            <a:outerShdw sx="100000" sy="100000" kx="0" ky="0" algn="bl" rotWithShape="0" blurRad="114300" dist="25400" dir="5400000">
              <a:srgbClr val="7E90A8">
                <a:alpha val="16000"/>
              </a:srgbClr>
            </a:outerShdw>
          </a:effectLst>
        </p:spPr>
      </p:sp>
      <p:sp>
        <p:nvSpPr>
          <p:cNvPr id="12" name="Shape 10"/>
          <p:cNvSpPr/>
          <p:nvPr/>
        </p:nvSpPr>
        <p:spPr>
          <a:xfrm>
            <a:off x="4535424" y="1700784"/>
            <a:ext cx="420624" cy="420624"/>
          </a:xfrm>
          <a:prstGeom prst="ellipse">
            <a:avLst/>
          </a:prstGeom>
          <a:solidFill>
            <a:srgbClr val="E2592C"/>
          </a:solidFill>
          <a:ln/>
        </p:spPr>
      </p:sp>
      <p:sp>
        <p:nvSpPr>
          <p:cNvPr id="13" name="Text 11"/>
          <p:cNvSpPr/>
          <p:nvPr/>
        </p:nvSpPr>
        <p:spPr>
          <a:xfrm>
            <a:off x="4535424" y="17007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t>
            </a:r>
            <a:endParaRPr lang="en-US" sz="1500" dirty="0"/>
          </a:p>
        </p:txBody>
      </p:sp>
      <p:sp>
        <p:nvSpPr>
          <p:cNvPr id="14" name="Text 12"/>
          <p:cNvSpPr/>
          <p:nvPr/>
        </p:nvSpPr>
        <p:spPr>
          <a:xfrm>
            <a:off x="5084064" y="1700784"/>
            <a:ext cx="2523744" cy="420624"/>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무접합 (stand-alone)</a:t>
            </a:r>
            <a:endParaRPr lang="en-US" sz="1250" dirty="0"/>
          </a:p>
        </p:txBody>
      </p:sp>
      <p:sp>
        <p:nvSpPr>
          <p:cNvPr id="15" name="Text 13"/>
          <p:cNvSpPr/>
          <p:nvPr/>
        </p:nvSpPr>
        <p:spPr>
          <a:xfrm>
            <a:off x="4535424" y="2267712"/>
            <a:ext cx="3035808" cy="1389888"/>
          </a:xfrm>
          <a:prstGeom prst="rect">
            <a:avLst/>
          </a:prstGeom>
          <a:noFill/>
          <a:ln/>
        </p:spPr>
        <p:txBody>
          <a:bodyPr wrap="square" lIns="0" tIns="0" rIns="0" bIns="0" rtlCol="0" anchor="t"/>
          <a:lstStyle/>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구동 자체가 불가능하고,</a:t>
            </a:r>
            <a:endParaRPr lang="en-US" sz="1100" dirty="0"/>
          </a:p>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연속 평면도 얻지 못한다.</a:t>
            </a:r>
            <a:endParaRPr lang="en-US" sz="1100" dirty="0"/>
          </a:p>
        </p:txBody>
      </p:sp>
      <p:sp>
        <p:nvSpPr>
          <p:cNvPr id="16" name="Shape 14"/>
          <p:cNvSpPr/>
          <p:nvPr/>
        </p:nvSpPr>
        <p:spPr>
          <a:xfrm>
            <a:off x="7991856" y="1481328"/>
            <a:ext cx="3529584" cy="2395728"/>
          </a:xfrm>
          <a:prstGeom prst="roundRect">
            <a:avLst>
              <a:gd name="adj" fmla="val 3435"/>
            </a:avLst>
          </a:prstGeom>
          <a:solidFill>
            <a:srgbClr val="E2EBF3"/>
          </a:solidFill>
          <a:ln/>
          <a:effectLst>
            <a:outerShdw sx="100000" sy="100000" kx="0" ky="0" algn="bl" rotWithShape="0" blurRad="114300" dist="25400" dir="5400000">
              <a:srgbClr val="7E90A8">
                <a:alpha val="16000"/>
              </a:srgbClr>
            </a:outerShdw>
          </a:effectLst>
        </p:spPr>
      </p:sp>
      <p:sp>
        <p:nvSpPr>
          <p:cNvPr id="17" name="Shape 15"/>
          <p:cNvSpPr/>
          <p:nvPr/>
        </p:nvSpPr>
        <p:spPr>
          <a:xfrm>
            <a:off x="8247888" y="1700784"/>
            <a:ext cx="420624" cy="420624"/>
          </a:xfrm>
          <a:prstGeom prst="ellipse">
            <a:avLst/>
          </a:prstGeom>
          <a:solidFill>
            <a:srgbClr val="1C7293"/>
          </a:solidFill>
          <a:ln/>
        </p:spPr>
      </p:sp>
      <p:sp>
        <p:nvSpPr>
          <p:cNvPr id="18" name="Text 16"/>
          <p:cNvSpPr/>
          <p:nvPr/>
        </p:nvSpPr>
        <p:spPr>
          <a:xfrm>
            <a:off x="8247888" y="17007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t>
            </a:r>
            <a:endParaRPr lang="en-US" sz="1500" dirty="0"/>
          </a:p>
        </p:txBody>
      </p:sp>
      <p:sp>
        <p:nvSpPr>
          <p:cNvPr id="19" name="Text 17"/>
          <p:cNvSpPr/>
          <p:nvPr/>
        </p:nvSpPr>
        <p:spPr>
          <a:xfrm>
            <a:off x="8796528" y="1700784"/>
            <a:ext cx="2523744" cy="420624"/>
          </a:xfrm>
          <a:prstGeom prst="rect">
            <a:avLst/>
          </a:prstGeom>
          <a:noFill/>
          <a:ln/>
        </p:spPr>
        <p:txBody>
          <a:bodyPr wrap="square" lIns="0" tIns="0" rIns="0" bIns="0" rtlCol="0" anchor="ctr"/>
          <a:lstStyle/>
          <a:p>
            <a:pPr indent="0" marL="0">
              <a:buNone/>
            </a:pPr>
            <a:r>
              <a:rPr lang="en-US" sz="1250" b="1" dirty="0">
                <a:solidFill>
                  <a:srgbClr val="1C7293"/>
                </a:solidFill>
                <a:latin typeface="Malgun Gothic" pitchFamily="34" charset="0"/>
                <a:ea typeface="Malgun Gothic" pitchFamily="34" charset="-122"/>
                <a:cs typeface="Malgun Gothic" pitchFamily="34" charset="-120"/>
              </a:rPr>
              <a:t>선택적 접합 (제안)</a:t>
            </a:r>
            <a:endParaRPr lang="en-US" sz="1250" dirty="0"/>
          </a:p>
        </p:txBody>
      </p:sp>
      <p:sp>
        <p:nvSpPr>
          <p:cNvPr id="20" name="Text 18"/>
          <p:cNvSpPr/>
          <p:nvPr/>
        </p:nvSpPr>
        <p:spPr>
          <a:xfrm>
            <a:off x="8247888" y="2267712"/>
            <a:ext cx="3035808" cy="1389888"/>
          </a:xfrm>
          <a:prstGeom prst="rect">
            <a:avLst/>
          </a:prstGeom>
          <a:noFill/>
          <a:ln/>
        </p:spPr>
        <p:txBody>
          <a:bodyPr wrap="square" lIns="0" tIns="0" rIns="0" bIns="0" rtlCol="0" anchor="t"/>
          <a:lstStyle/>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u = k·r 을 만족하는 좌표에서만 앵커로 접합.</a:t>
            </a:r>
            <a:endParaRPr lang="en-US" sz="1100" dirty="0"/>
          </a:p>
          <a:p>
            <a:pPr indent="0" marL="0">
              <a:lnSpc>
                <a:spcPts val="1700"/>
              </a:lnSpc>
              <a:buNone/>
            </a:pPr>
            <a:r>
              <a:rPr lang="en-US" sz="1100" dirty="0">
                <a:solidFill>
                  <a:srgbClr val="1E2739"/>
                </a:solidFill>
                <a:latin typeface="Malgun Gothic" pitchFamily="34" charset="0"/>
                <a:ea typeface="Malgun Gothic" pitchFamily="34" charset="-122"/>
                <a:cs typeface="Malgun Gothic" pitchFamily="34" charset="-120"/>
              </a:rPr>
              <a:t>→ 프레임은 경계조건만 제공</a:t>
            </a:r>
            <a:endParaRPr lang="en-US" sz="1100" dirty="0"/>
          </a:p>
        </p:txBody>
      </p:sp>
      <p:sp>
        <p:nvSpPr>
          <p:cNvPr id="21" name="Shape 19"/>
          <p:cNvSpPr/>
          <p:nvPr/>
        </p:nvSpPr>
        <p:spPr>
          <a:xfrm>
            <a:off x="566928" y="4096512"/>
            <a:ext cx="11057839" cy="2011680"/>
          </a:xfrm>
          <a:prstGeom prst="roundRect">
            <a:avLst>
              <a:gd name="adj" fmla="val 4091"/>
            </a:avLst>
          </a:prstGeom>
          <a:solidFill>
            <a:srgbClr val="EFF4F9"/>
          </a:solidFill>
          <a:ln/>
          <a:effectLst>
            <a:outerShdw sx="100000" sy="100000" kx="0" ky="0" algn="bl" rotWithShape="0" blurRad="114300" dist="25400" dir="5400000">
              <a:srgbClr val="7E90A8">
                <a:alpha val="16000"/>
              </a:srgbClr>
            </a:outerShdw>
          </a:effectLst>
        </p:spPr>
      </p:sp>
      <p:sp>
        <p:nvSpPr>
          <p:cNvPr id="22" name="Text 20"/>
          <p:cNvSpPr/>
          <p:nvPr/>
        </p:nvSpPr>
        <p:spPr>
          <a:xfrm>
            <a:off x="877824" y="4279392"/>
            <a:ext cx="10241280" cy="292608"/>
          </a:xfrm>
          <a:prstGeom prst="rect">
            <a:avLst/>
          </a:prstGeom>
          <a:noFill/>
          <a:ln/>
        </p:spPr>
        <p:txBody>
          <a:bodyPr wrap="square" lIns="0" tIns="0" rIns="0" bIns="0" rtlCol="0" anchor="ctr"/>
          <a:lstStyle/>
          <a:p>
            <a:pPr indent="0" marL="0">
              <a:buNone/>
            </a:pPr>
            <a:r>
              <a:rPr lang="en-US" sz="1450" b="1" dirty="0">
                <a:solidFill>
                  <a:srgbClr val="21295C"/>
                </a:solidFill>
                <a:latin typeface="Malgun Gothic" pitchFamily="34" charset="0"/>
                <a:ea typeface="Malgun Gothic" pitchFamily="34" charset="-122"/>
                <a:cs typeface="Malgun Gothic" pitchFamily="34" charset="-120"/>
              </a:rPr>
              <a:t>선택적 접합이 성립하는 이유</a:t>
            </a:r>
            <a:endParaRPr lang="en-US" sz="1450" dirty="0"/>
          </a:p>
        </p:txBody>
      </p:sp>
      <p:sp>
        <p:nvSpPr>
          <p:cNvPr id="23" name="Text 21"/>
          <p:cNvSpPr/>
          <p:nvPr/>
        </p:nvSpPr>
        <p:spPr>
          <a:xfrm>
            <a:off x="877824" y="4681728"/>
            <a:ext cx="3291840" cy="274320"/>
          </a:xfrm>
          <a:prstGeom prst="rect">
            <a:avLst/>
          </a:prstGeom>
          <a:noFill/>
          <a:ln/>
        </p:spPr>
        <p:txBody>
          <a:bodyPr wrap="square" lIns="0" tIns="0" rIns="0" bIns="0" rtlCol="0" anchor="ctr"/>
          <a:lstStyle/>
          <a:p>
            <a:pPr indent="0" marL="0">
              <a:buNone/>
            </a:pPr>
            <a:r>
              <a:rPr lang="en-US" sz="1200" b="1" dirty="0">
                <a:solidFill>
                  <a:srgbClr val="1C7293"/>
                </a:solidFill>
                <a:latin typeface="Malgun Gothic" pitchFamily="34" charset="0"/>
                <a:ea typeface="Malgun Gothic" pitchFamily="34" charset="-122"/>
                <a:cs typeface="Malgun Gothic" pitchFamily="34" charset="-120"/>
              </a:rPr>
              <a:t>프레임의 역할이 바뀐다</a:t>
            </a:r>
            <a:endParaRPr lang="en-US" sz="1200" dirty="0"/>
          </a:p>
        </p:txBody>
      </p:sp>
      <p:sp>
        <p:nvSpPr>
          <p:cNvPr id="24" name="Text 22"/>
          <p:cNvSpPr/>
          <p:nvPr/>
        </p:nvSpPr>
        <p:spPr>
          <a:xfrm>
            <a:off x="877824" y="4992624"/>
            <a:ext cx="3291840" cy="93268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'소자를 얹는 기판'이 아니라 '등방 팽창의 경계조건을 주는 외골격'이 된다. 회전은 프레임 내부에서만 일어난다.</a:t>
            </a:r>
            <a:endParaRPr lang="en-US" sz="1050" dirty="0"/>
          </a:p>
        </p:txBody>
      </p:sp>
      <p:sp>
        <p:nvSpPr>
          <p:cNvPr id="25" name="Text 23"/>
          <p:cNvSpPr/>
          <p:nvPr/>
        </p:nvSpPr>
        <p:spPr>
          <a:xfrm>
            <a:off x="4462272" y="4681728"/>
            <a:ext cx="3291840" cy="274320"/>
          </a:xfrm>
          <a:prstGeom prst="rect">
            <a:avLst/>
          </a:prstGeom>
          <a:noFill/>
          <a:ln/>
        </p:spPr>
        <p:txBody>
          <a:bodyPr wrap="square" lIns="0" tIns="0" rIns="0" bIns="0" rtlCol="0" anchor="ctr"/>
          <a:lstStyle/>
          <a:p>
            <a:pPr indent="0" marL="0">
              <a:buNone/>
            </a:pPr>
            <a:r>
              <a:rPr lang="en-US" sz="1200" b="1" dirty="0">
                <a:solidFill>
                  <a:srgbClr val="1C7293"/>
                </a:solidFill>
                <a:latin typeface="Malgun Gothic" pitchFamily="34" charset="0"/>
                <a:ea typeface="Malgun Gothic" pitchFamily="34" charset="-122"/>
                <a:cs typeface="Malgun Gothic" pitchFamily="34" charset="-120"/>
              </a:rPr>
              <a:t>연속 기판이 보간한다</a:t>
            </a:r>
            <a:endParaRPr lang="en-US" sz="1200" dirty="0"/>
          </a:p>
        </p:txBody>
      </p:sp>
      <p:sp>
        <p:nvSpPr>
          <p:cNvPr id="26" name="Text 24"/>
          <p:cNvSpPr/>
          <p:nvPr/>
        </p:nvSpPr>
        <p:spPr>
          <a:xfrm>
            <a:off x="4462272" y="4992624"/>
            <a:ext cx="3291840" cy="93268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접합점 사이의 엘라스토머는 구속이 없으므로 스스로 매끄러운 변위장을 만든다. 이것이 local-to-global 연속성의 근원.</a:t>
            </a:r>
            <a:endParaRPr lang="en-US" sz="1050" dirty="0"/>
          </a:p>
        </p:txBody>
      </p:sp>
      <p:sp>
        <p:nvSpPr>
          <p:cNvPr id="27" name="Text 25"/>
          <p:cNvSpPr/>
          <p:nvPr/>
        </p:nvSpPr>
        <p:spPr>
          <a:xfrm>
            <a:off x="8046720" y="4681728"/>
            <a:ext cx="3291840" cy="274320"/>
          </a:xfrm>
          <a:prstGeom prst="rect">
            <a:avLst/>
          </a:prstGeom>
          <a:noFill/>
          <a:ln/>
        </p:spPr>
        <p:txBody>
          <a:bodyPr wrap="square" lIns="0" tIns="0" rIns="0" bIns="0" rtlCol="0" anchor="ctr"/>
          <a:lstStyle/>
          <a:p>
            <a:pPr indent="0" marL="0">
              <a:buNone/>
            </a:pPr>
            <a:r>
              <a:rPr lang="en-US" sz="1200" b="1" dirty="0">
                <a:solidFill>
                  <a:srgbClr val="1C7293"/>
                </a:solidFill>
                <a:latin typeface="Malgun Gothic" pitchFamily="34" charset="0"/>
                <a:ea typeface="Malgun Gothic" pitchFamily="34" charset="-122"/>
                <a:cs typeface="Malgun Gothic" pitchFamily="34" charset="-120"/>
              </a:rPr>
              <a:t>edge-stiffening layer</a:t>
            </a:r>
            <a:endParaRPr lang="en-US" sz="1200" dirty="0"/>
          </a:p>
        </p:txBody>
      </p:sp>
      <p:sp>
        <p:nvSpPr>
          <p:cNvPr id="28" name="Text 26"/>
          <p:cNvSpPr/>
          <p:nvPr/>
        </p:nvSpPr>
        <p:spPr>
          <a:xfrm>
            <a:off x="8046720" y="4992624"/>
            <a:ext cx="3291840" cy="93268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엘라스토머 외곽을 중앙보다 두껍게 성형해 둘레 변형을 억제한다. 앵커가 주는 경계조건이 흐트러지지 않도록.</a:t>
            </a:r>
            <a:endParaRPr lang="en-US" sz="1050" dirty="0"/>
          </a:p>
        </p:txBody>
      </p:sp>
      <p:sp>
        <p:nvSpPr>
          <p:cNvPr id="29" name="Text 27"/>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32</a:t>
            </a:r>
            <a:endParaRPr lang="en-US" sz="1000" dirty="0"/>
          </a:p>
        </p:txBody>
      </p:sp>
      <p:sp>
        <p:nvSpPr>
          <p:cNvPr id="3" name="Shape 1"/>
          <p:cNvSpPr/>
          <p:nvPr/>
        </p:nvSpPr>
        <p:spPr>
          <a:xfrm>
            <a:off x="566928" y="310896"/>
            <a:ext cx="950976" cy="274320"/>
          </a:xfrm>
          <a:prstGeom prst="roundRect">
            <a:avLst>
              <a:gd name="adj" fmla="val 50000"/>
            </a:avLst>
          </a:prstGeom>
          <a:solidFill>
            <a:srgbClr val="1C7293"/>
          </a:solidFill>
          <a:ln/>
        </p:spPr>
      </p:sp>
      <p:sp>
        <p:nvSpPr>
          <p:cNvPr id="4" name="Text 2"/>
          <p:cNvSpPr/>
          <p:nvPr/>
        </p:nvSpPr>
        <p:spPr>
          <a:xfrm>
            <a:off x="566928" y="310896"/>
            <a:ext cx="95097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STEP 2-1</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연결점의 기하학 — 직교성과 개수</a:t>
            </a:r>
            <a:endParaRPr lang="en-US" sz="2800" dirty="0"/>
          </a:p>
        </p:txBody>
      </p:sp>
      <p:pic>
        <p:nvPicPr>
          <p:cNvPr id="6" name="Image 0" descr="crops/f3a.png">    </p:cNvPr>
          <p:cNvPicPr>
            <a:picLocks noChangeAspect="1"/>
          </p:cNvPicPr>
          <p:nvPr/>
        </p:nvPicPr>
        <p:blipFill>
          <a:blip r:embed="rId1"/>
          <a:stretch>
            <a:fillRect/>
          </a:stretch>
        </p:blipFill>
        <p:spPr>
          <a:xfrm>
            <a:off x="590652" y="1463040"/>
            <a:ext cx="3701592" cy="2834640"/>
          </a:xfrm>
          <a:prstGeom prst="rect">
            <a:avLst/>
          </a:prstGeom>
        </p:spPr>
      </p:pic>
      <p:pic>
        <p:nvPicPr>
          <p:cNvPr id="7" name="Image 1" descr="crops/f3b.png">    </p:cNvPr>
          <p:cNvPicPr>
            <a:picLocks noChangeAspect="1"/>
          </p:cNvPicPr>
          <p:nvPr/>
        </p:nvPicPr>
        <p:blipFill>
          <a:blip r:embed="rId2"/>
          <a:stretch>
            <a:fillRect/>
          </a:stretch>
        </p:blipFill>
        <p:spPr>
          <a:xfrm>
            <a:off x="4553712" y="1519670"/>
            <a:ext cx="6995160" cy="2721379"/>
          </a:xfrm>
          <a:prstGeom prst="rect">
            <a:avLst/>
          </a:prstGeom>
        </p:spPr>
      </p:pic>
      <p:sp>
        <p:nvSpPr>
          <p:cNvPr id="8" name="Text 4"/>
          <p:cNvSpPr/>
          <p:nvPr/>
        </p:nvSpPr>
        <p:spPr>
          <a:xfrm>
            <a:off x="566928" y="4389120"/>
            <a:ext cx="374904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3a — 직교 / 비직교 4점 배치</a:t>
            </a:r>
            <a:endParaRPr lang="en-US" sz="950" dirty="0"/>
          </a:p>
        </p:txBody>
      </p:sp>
      <p:sp>
        <p:nvSpPr>
          <p:cNvPr id="9" name="Text 5"/>
          <p:cNvSpPr/>
          <p:nvPr/>
        </p:nvSpPr>
        <p:spPr>
          <a:xfrm>
            <a:off x="4553712" y="4389120"/>
            <a:ext cx="699516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3b — 4, 8, 16점에 대한 ρ 분포 (N = 10 격자, 랜덤 배치)</a:t>
            </a:r>
            <a:endParaRPr lang="en-US" sz="950" dirty="0"/>
          </a:p>
        </p:txBody>
      </p:sp>
      <p:sp>
        <p:nvSpPr>
          <p:cNvPr id="10" name="Shape 6"/>
          <p:cNvSpPr/>
          <p:nvPr/>
        </p:nvSpPr>
        <p:spPr>
          <a:xfrm>
            <a:off x="566928" y="4718304"/>
            <a:ext cx="3529584" cy="1389888"/>
          </a:xfrm>
          <a:prstGeom prst="roundRect">
            <a:avLst>
              <a:gd name="adj" fmla="val 5921"/>
            </a:avLst>
          </a:prstGeom>
          <a:solidFill>
            <a:srgbClr val="EFF4F9"/>
          </a:solidFill>
          <a:ln/>
          <a:effectLst>
            <a:outerShdw sx="100000" sy="100000" kx="0" ky="0" algn="bl" rotWithShape="0" blurRad="114300" dist="25400" dir="5400000">
              <a:srgbClr val="7E90A8">
                <a:alpha val="16000"/>
              </a:srgbClr>
            </a:outerShdw>
          </a:effectLst>
        </p:spPr>
      </p:sp>
      <p:sp>
        <p:nvSpPr>
          <p:cNvPr id="11" name="Text 7"/>
          <p:cNvSpPr/>
          <p:nvPr/>
        </p:nvSpPr>
        <p:spPr>
          <a:xfrm>
            <a:off x="822960" y="4846320"/>
            <a:ext cx="3035808" cy="292608"/>
          </a:xfrm>
          <a:prstGeom prst="rect">
            <a:avLst/>
          </a:prstGeom>
          <a:noFill/>
          <a:ln/>
        </p:spPr>
        <p:txBody>
          <a:bodyPr wrap="square" lIns="0" tIns="0" rIns="0" bIns="0" rtlCol="0" anchor="ctr"/>
          <a:lstStyle/>
          <a:p>
            <a:pPr indent="0" marL="0">
              <a:buNone/>
            </a:pPr>
            <a:r>
              <a:rPr lang="en-US" sz="1250" b="1" dirty="0">
                <a:solidFill>
                  <a:srgbClr val="1C7293"/>
                </a:solidFill>
                <a:latin typeface="Malgun Gothic" pitchFamily="34" charset="0"/>
                <a:ea typeface="Malgun Gothic" pitchFamily="34" charset="-122"/>
                <a:cs typeface="Malgun Gothic" pitchFamily="34" charset="-120"/>
              </a:rPr>
              <a:t>직교 조건이 강하다</a:t>
            </a:r>
            <a:endParaRPr lang="en-US" sz="1250" dirty="0"/>
          </a:p>
        </p:txBody>
      </p:sp>
      <p:sp>
        <p:nvSpPr>
          <p:cNvPr id="12" name="Text 8"/>
          <p:cNvSpPr/>
          <p:nvPr/>
        </p:nvSpPr>
        <p:spPr>
          <a:xfrm>
            <a:off x="822960" y="5157216"/>
            <a:ext cx="3035808" cy="859536"/>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대칭 4점 세트를 잇는 두 직선이 직교하면(α = 90°), 4점만으로도 높은 ρ를 얻는다.</a:t>
            </a:r>
            <a:endParaRPr lang="en-US" sz="1050" dirty="0"/>
          </a:p>
        </p:txBody>
      </p:sp>
      <p:sp>
        <p:nvSpPr>
          <p:cNvPr id="13" name="Shape 9"/>
          <p:cNvSpPr/>
          <p:nvPr/>
        </p:nvSpPr>
        <p:spPr>
          <a:xfrm>
            <a:off x="4279392" y="4718304"/>
            <a:ext cx="3529584" cy="1389888"/>
          </a:xfrm>
          <a:prstGeom prst="roundRect">
            <a:avLst>
              <a:gd name="adj" fmla="val 5921"/>
            </a:avLst>
          </a:prstGeom>
          <a:solidFill>
            <a:srgbClr val="EFF4F9"/>
          </a:solidFill>
          <a:ln/>
          <a:effectLst>
            <a:outerShdw sx="100000" sy="100000" kx="0" ky="0" algn="bl" rotWithShape="0" blurRad="114300" dist="25400" dir="5400000">
              <a:srgbClr val="7E90A8">
                <a:alpha val="16000"/>
              </a:srgbClr>
            </a:outerShdw>
          </a:effectLst>
        </p:spPr>
      </p:sp>
      <p:sp>
        <p:nvSpPr>
          <p:cNvPr id="14" name="Text 10"/>
          <p:cNvSpPr/>
          <p:nvPr/>
        </p:nvSpPr>
        <p:spPr>
          <a:xfrm>
            <a:off x="4535424" y="4846320"/>
            <a:ext cx="3035808" cy="292608"/>
          </a:xfrm>
          <a:prstGeom prst="rect">
            <a:avLst/>
          </a:prstGeom>
          <a:noFill/>
          <a:ln/>
        </p:spPr>
        <p:txBody>
          <a:bodyPr wrap="square" lIns="0" tIns="0" rIns="0" bIns="0" rtlCol="0" anchor="ctr"/>
          <a:lstStyle/>
          <a:p>
            <a:pPr indent="0" marL="0">
              <a:buNone/>
            </a:pPr>
            <a:r>
              <a:rPr lang="en-US" sz="1250" b="1" dirty="0">
                <a:solidFill>
                  <a:srgbClr val="065A82"/>
                </a:solidFill>
                <a:latin typeface="Malgun Gothic" pitchFamily="34" charset="0"/>
                <a:ea typeface="Malgun Gothic" pitchFamily="34" charset="-122"/>
                <a:cs typeface="Malgun Gothic" pitchFamily="34" charset="-120"/>
              </a:rPr>
              <a:t>개수가 직교성을 대신한다</a:t>
            </a:r>
            <a:endParaRPr lang="en-US" sz="1250" dirty="0"/>
          </a:p>
        </p:txBody>
      </p:sp>
      <p:sp>
        <p:nvSpPr>
          <p:cNvPr id="15" name="Text 11"/>
          <p:cNvSpPr/>
          <p:nvPr/>
        </p:nvSpPr>
        <p:spPr>
          <a:xfrm>
            <a:off x="4535424" y="5157216"/>
            <a:ext cx="3035808" cy="859536"/>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점을 16개까지 늘리면 비직교 배치에서도 ρ가 높아진다. 점 간격이 작아지기 때문.</a:t>
            </a:r>
            <a:endParaRPr lang="en-US" sz="1050" dirty="0"/>
          </a:p>
        </p:txBody>
      </p:sp>
      <p:sp>
        <p:nvSpPr>
          <p:cNvPr id="16" name="Shape 12"/>
          <p:cNvSpPr/>
          <p:nvPr/>
        </p:nvSpPr>
        <p:spPr>
          <a:xfrm>
            <a:off x="7991856" y="4718304"/>
            <a:ext cx="3529584" cy="1389888"/>
          </a:xfrm>
          <a:prstGeom prst="roundRect">
            <a:avLst>
              <a:gd name="adj" fmla="val 5921"/>
            </a:avLst>
          </a:prstGeom>
          <a:solidFill>
            <a:srgbClr val="FBEAE2"/>
          </a:solidFill>
          <a:ln/>
          <a:effectLst>
            <a:outerShdw sx="100000" sy="100000" kx="0" ky="0" algn="bl" rotWithShape="0" blurRad="114300" dist="25400" dir="5400000">
              <a:srgbClr val="7E90A8">
                <a:alpha val="16000"/>
              </a:srgbClr>
            </a:outerShdw>
          </a:effectLst>
        </p:spPr>
      </p:sp>
      <p:sp>
        <p:nvSpPr>
          <p:cNvPr id="17" name="Text 13"/>
          <p:cNvSpPr/>
          <p:nvPr/>
        </p:nvSpPr>
        <p:spPr>
          <a:xfrm>
            <a:off x="8247888" y="4846320"/>
            <a:ext cx="3035808" cy="292608"/>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진짜 변수는 '간격의 균질성'</a:t>
            </a:r>
            <a:endParaRPr lang="en-US" sz="1250" dirty="0"/>
          </a:p>
        </p:txBody>
      </p:sp>
      <p:sp>
        <p:nvSpPr>
          <p:cNvPr id="18" name="Text 14"/>
          <p:cNvSpPr/>
          <p:nvPr/>
        </p:nvSpPr>
        <p:spPr>
          <a:xfrm>
            <a:off x="8247888" y="5157216"/>
            <a:ext cx="3035808" cy="859536"/>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u = kr 을 만족하는 점이 많아질수록 점 간 간격 분포가 균질해지고, 그것이 등방 팽창에 기여한다.</a:t>
            </a:r>
            <a:endParaRPr lang="en-US" sz="1050" dirty="0"/>
          </a:p>
        </p:txBody>
      </p:sp>
      <p:sp>
        <p:nvSpPr>
          <p:cNvPr id="19" name="Text 15"/>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33</a:t>
            </a:r>
            <a:endParaRPr lang="en-US" sz="1000" dirty="0"/>
          </a:p>
        </p:txBody>
      </p:sp>
      <p:sp>
        <p:nvSpPr>
          <p:cNvPr id="3" name="Shape 1"/>
          <p:cNvSpPr/>
          <p:nvPr/>
        </p:nvSpPr>
        <p:spPr>
          <a:xfrm>
            <a:off x="566928" y="310896"/>
            <a:ext cx="950976" cy="274320"/>
          </a:xfrm>
          <a:prstGeom prst="roundRect">
            <a:avLst>
              <a:gd name="adj" fmla="val 50000"/>
            </a:avLst>
          </a:prstGeom>
          <a:solidFill>
            <a:srgbClr val="1C7293"/>
          </a:solidFill>
          <a:ln/>
        </p:spPr>
      </p:sp>
      <p:sp>
        <p:nvSpPr>
          <p:cNvPr id="4" name="Text 2"/>
          <p:cNvSpPr/>
          <p:nvPr/>
        </p:nvSpPr>
        <p:spPr>
          <a:xfrm>
            <a:off x="566928" y="310896"/>
            <a:ext cx="95097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STEP 2-2</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Semi-linearity factor 와 중첩 맵</a:t>
            </a:r>
            <a:endParaRPr lang="en-US" sz="2800" dirty="0"/>
          </a:p>
        </p:txBody>
      </p:sp>
      <p:pic>
        <p:nvPicPr>
          <p:cNvPr id="6" name="Image 0" descr="crops/f3c.png">    </p:cNvPr>
          <p:cNvPicPr>
            <a:picLocks noChangeAspect="1"/>
          </p:cNvPicPr>
          <p:nvPr/>
        </p:nvPicPr>
        <p:blipFill>
          <a:blip r:embed="rId1"/>
          <a:stretch>
            <a:fillRect/>
          </a:stretch>
        </p:blipFill>
        <p:spPr>
          <a:xfrm>
            <a:off x="1098411" y="1463040"/>
            <a:ext cx="4606314" cy="3931920"/>
          </a:xfrm>
          <a:prstGeom prst="rect">
            <a:avLst/>
          </a:prstGeom>
        </p:spPr>
      </p:pic>
      <p:sp>
        <p:nvSpPr>
          <p:cNvPr id="7" name="Text 4"/>
          <p:cNvSpPr/>
          <p:nvPr/>
        </p:nvSpPr>
        <p:spPr>
          <a:xfrm>
            <a:off x="566928" y="5486400"/>
            <a:ext cx="566928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3c — 연결점 결정 알고리즘</a:t>
            </a:r>
            <a:endParaRPr lang="en-US" sz="950" dirty="0"/>
          </a:p>
        </p:txBody>
      </p:sp>
      <p:sp>
        <p:nvSpPr>
          <p:cNvPr id="8" name="Shape 5"/>
          <p:cNvSpPr/>
          <p:nvPr/>
        </p:nvSpPr>
        <p:spPr>
          <a:xfrm>
            <a:off x="6473952" y="1463040"/>
            <a:ext cx="5074920" cy="1133856"/>
          </a:xfrm>
          <a:prstGeom prst="roundRect">
            <a:avLst>
              <a:gd name="adj" fmla="val 6452"/>
            </a:avLst>
          </a:prstGeom>
          <a:solidFill>
            <a:srgbClr val="E2EBF3"/>
          </a:solidFill>
          <a:ln/>
        </p:spPr>
      </p:sp>
      <p:pic>
        <p:nvPicPr>
          <p:cNvPr id="9" name="Image 1" descr="eq/eq7.png">    </p:cNvPr>
          <p:cNvPicPr>
            <a:picLocks noChangeAspect="1"/>
          </p:cNvPicPr>
          <p:nvPr/>
        </p:nvPicPr>
        <p:blipFill>
          <a:blip r:embed="rId2"/>
          <a:stretch>
            <a:fillRect/>
          </a:stretch>
        </p:blipFill>
        <p:spPr>
          <a:xfrm>
            <a:off x="6668882" y="1572768"/>
            <a:ext cx="4685060" cy="914400"/>
          </a:xfrm>
          <a:prstGeom prst="rect">
            <a:avLst/>
          </a:prstGeom>
        </p:spPr>
      </p:pic>
      <p:sp>
        <p:nvSpPr>
          <p:cNvPr id="10" name="Text 6"/>
          <p:cNvSpPr/>
          <p:nvPr/>
        </p:nvSpPr>
        <p:spPr>
          <a:xfrm>
            <a:off x="6473952" y="2743200"/>
            <a:ext cx="5074920" cy="338328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M_ij : r 과 u 의 사잇각 α 가 10° 미만이면 1, 아니면 0 — 유효 해공간(gray)을 정의하는 이진 변수</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N_ij : u 를 r 방향으로 투영한 성분 — '얼마나 크게' 방사 방향으로 움직이는가</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K_ij = M_ij × N_ij — 방향 조건과 크기 조건을 곱으로 결합한 semi-linearity factor</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K^H 는 Δk_ab^(H) 가 최대인 ε = 3% 에서, K^V 는 Δk_ab^(V) 가 최대인 ε = 15% 에서 산출한다 — 가장 불리한 조건에서 정의해야 전 구간에서 성립한다</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각각을 0–255로 정규화해 파랑(H)·초록(V)으로 매핑하고, (R, G, B) = (R, K̃^V, K̃^H) 로 중첩</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 두 방향을 동시에 만족하는 좌표를 '색'으로 찾아내는 계산적·시각적 알고리즘</a:t>
            </a:r>
            <a:endParaRPr lang="en-US" sz="1100" dirty="0"/>
          </a:p>
        </p:txBody>
      </p:sp>
      <p:sp>
        <p:nvSpPr>
          <p:cNvPr id="11" name="Text 7"/>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34</a:t>
            </a:r>
            <a:endParaRPr lang="en-US" sz="1000" dirty="0"/>
          </a:p>
        </p:txBody>
      </p:sp>
      <p:sp>
        <p:nvSpPr>
          <p:cNvPr id="3" name="Shape 1"/>
          <p:cNvSpPr/>
          <p:nvPr/>
        </p:nvSpPr>
        <p:spPr>
          <a:xfrm>
            <a:off x="566928" y="310896"/>
            <a:ext cx="950976" cy="274320"/>
          </a:xfrm>
          <a:prstGeom prst="roundRect">
            <a:avLst>
              <a:gd name="adj" fmla="val 50000"/>
            </a:avLst>
          </a:prstGeom>
          <a:solidFill>
            <a:srgbClr val="1C7293"/>
          </a:solidFill>
          <a:ln/>
        </p:spPr>
      </p:sp>
      <p:sp>
        <p:nvSpPr>
          <p:cNvPr id="4" name="Text 2"/>
          <p:cNvSpPr/>
          <p:nvPr/>
        </p:nvSpPr>
        <p:spPr>
          <a:xfrm>
            <a:off x="566928" y="310896"/>
            <a:ext cx="95097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STEP 2-3</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10% tolerance — 최종 연결점 확정</a:t>
            </a:r>
            <a:endParaRPr lang="en-US" sz="2800" dirty="0"/>
          </a:p>
        </p:txBody>
      </p:sp>
      <p:pic>
        <p:nvPicPr>
          <p:cNvPr id="6" name="Image 0" descr="crops/f3d.png">    </p:cNvPr>
          <p:cNvPicPr>
            <a:picLocks noChangeAspect="1"/>
          </p:cNvPicPr>
          <p:nvPr/>
        </p:nvPicPr>
        <p:blipFill>
          <a:blip r:embed="rId1"/>
          <a:stretch>
            <a:fillRect/>
          </a:stretch>
        </p:blipFill>
        <p:spPr>
          <a:xfrm>
            <a:off x="1132880" y="1463040"/>
            <a:ext cx="4903136" cy="3986784"/>
          </a:xfrm>
          <a:prstGeom prst="rect">
            <a:avLst/>
          </a:prstGeom>
        </p:spPr>
      </p:pic>
      <p:sp>
        <p:nvSpPr>
          <p:cNvPr id="7" name="Text 4"/>
          <p:cNvSpPr/>
          <p:nvPr/>
        </p:nvSpPr>
        <p:spPr>
          <a:xfrm>
            <a:off x="566928" y="5541264"/>
            <a:ext cx="603504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3d — 10% tolerance 조건을 만족하는 최적 연결점(빨간 점)</a:t>
            </a:r>
            <a:endParaRPr lang="en-US" sz="950" dirty="0"/>
          </a:p>
        </p:txBody>
      </p:sp>
      <p:sp>
        <p:nvSpPr>
          <p:cNvPr id="8" name="Shape 5"/>
          <p:cNvSpPr/>
          <p:nvPr/>
        </p:nvSpPr>
        <p:spPr>
          <a:xfrm>
            <a:off x="6839712" y="1463040"/>
            <a:ext cx="4709160" cy="969264"/>
          </a:xfrm>
          <a:prstGeom prst="roundRect">
            <a:avLst>
              <a:gd name="adj" fmla="val 7547"/>
            </a:avLst>
          </a:prstGeom>
          <a:solidFill>
            <a:srgbClr val="E2EBF3"/>
          </a:solidFill>
          <a:ln/>
        </p:spPr>
      </p:sp>
      <p:pic>
        <p:nvPicPr>
          <p:cNvPr id="9" name="Image 1" descr="eq/eq8.png">    </p:cNvPr>
          <p:cNvPicPr>
            <a:picLocks noChangeAspect="1"/>
          </p:cNvPicPr>
          <p:nvPr/>
        </p:nvPicPr>
        <p:blipFill>
          <a:blip r:embed="rId2"/>
          <a:stretch>
            <a:fillRect/>
          </a:stretch>
        </p:blipFill>
        <p:spPr>
          <a:xfrm>
            <a:off x="7423092" y="1572768"/>
            <a:ext cx="3542400" cy="749808"/>
          </a:xfrm>
          <a:prstGeom prst="rect">
            <a:avLst/>
          </a:prstGeom>
        </p:spPr>
      </p:pic>
      <p:sp>
        <p:nvSpPr>
          <p:cNvPr id="10" name="Text 6"/>
          <p:cNvSpPr/>
          <p:nvPr/>
        </p:nvSpPr>
        <p:spPr>
          <a:xfrm>
            <a:off x="6839712" y="2578608"/>
            <a:ext cx="4709160" cy="2139696"/>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임의의 두 후보점 (i,j), (m,n)의 K 값 상대 편차가 10% 미만이어야 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수평·수직 두 방향 모두에서 동시에 만족해야 최종 앵커로 채택 (빨간 점)</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논문 시연에서는 이렇게 24개의 앵커 사이트가 결정되었다</a:t>
            </a:r>
            <a:endParaRPr lang="en-US" sz="1150" dirty="0"/>
          </a:p>
        </p:txBody>
      </p:sp>
      <p:sp>
        <p:nvSpPr>
          <p:cNvPr id="11" name="Shape 7"/>
          <p:cNvSpPr/>
          <p:nvPr/>
        </p:nvSpPr>
        <p:spPr>
          <a:xfrm>
            <a:off x="6839712" y="4846320"/>
            <a:ext cx="4709160" cy="1261872"/>
          </a:xfrm>
          <a:prstGeom prst="roundRect">
            <a:avLst>
              <a:gd name="adj" fmla="val 6522"/>
            </a:avLst>
          </a:prstGeom>
          <a:solidFill>
            <a:srgbClr val="FBEAE2"/>
          </a:solidFill>
          <a:ln/>
          <a:effectLst>
            <a:outerShdw sx="100000" sy="100000" kx="0" ky="0" algn="bl" rotWithShape="0" blurRad="114300" dist="25400" dir="5400000">
              <a:srgbClr val="7E90A8">
                <a:alpha val="16000"/>
              </a:srgbClr>
            </a:outerShdw>
          </a:effectLst>
        </p:spPr>
      </p:sp>
      <p:sp>
        <p:nvSpPr>
          <p:cNvPr id="12" name="Text 8"/>
          <p:cNvSpPr/>
          <p:nvPr/>
        </p:nvSpPr>
        <p:spPr>
          <a:xfrm>
            <a:off x="7077456" y="4974336"/>
            <a:ext cx="4206240" cy="292608"/>
          </a:xfrm>
          <a:prstGeom prst="rect">
            <a:avLst/>
          </a:prstGeom>
          <a:noFill/>
          <a:ln/>
        </p:spPr>
        <p:txBody>
          <a:bodyPr wrap="square" lIns="0" tIns="0" rIns="0" bIns="0" rtlCol="0" anchor="ctr"/>
          <a:lstStyle/>
          <a:p>
            <a:pPr indent="0" marL="0">
              <a:buNone/>
            </a:pPr>
            <a:r>
              <a:rPr lang="en-US" sz="1300" b="1" dirty="0">
                <a:solidFill>
                  <a:srgbClr val="E2592C"/>
                </a:solidFill>
                <a:latin typeface="Malgun Gothic" pitchFamily="34" charset="0"/>
                <a:ea typeface="Malgun Gothic" pitchFamily="34" charset="-122"/>
                <a:cs typeface="Malgun Gothic" pitchFamily="34" charset="-120"/>
              </a:rPr>
              <a:t>순서가 중요하다</a:t>
            </a:r>
            <a:endParaRPr lang="en-US" sz="1300" dirty="0"/>
          </a:p>
        </p:txBody>
      </p:sp>
      <p:sp>
        <p:nvSpPr>
          <p:cNvPr id="13" name="Text 9"/>
          <p:cNvSpPr/>
          <p:nvPr/>
        </p:nvSpPr>
        <p:spPr>
          <a:xfrm>
            <a:off x="7077456" y="5321808"/>
            <a:ext cx="4242816" cy="749808"/>
          </a:xfrm>
          <a:prstGeom prst="rect">
            <a:avLst/>
          </a:prstGeom>
          <a:noFill/>
          <a:ln/>
        </p:spPr>
        <p:txBody>
          <a:bodyPr wrap="square" lIns="0" tIns="0" rIns="0" bIns="0" rtlCol="0" anchor="t"/>
          <a:lstStyle/>
          <a:p>
            <a:pPr indent="0" marL="0">
              <a:lnSpc>
                <a:spcPts val="1600"/>
              </a:lnSpc>
              <a:buNone/>
            </a:pPr>
            <a:r>
              <a:rPr lang="en-US" sz="1100" dirty="0">
                <a:solidFill>
                  <a:srgbClr val="1E2739"/>
                </a:solidFill>
                <a:latin typeface="Malgun Gothic" pitchFamily="34" charset="0"/>
                <a:ea typeface="Malgun Gothic" pitchFamily="34" charset="-122"/>
                <a:cs typeface="Malgun Gothic" pitchFamily="34" charset="-120"/>
              </a:rPr>
              <a:t>최대 S 구성 (ii)에서는 조건 (6)을 만족하는 유효 연결점이 아예 존재하지 않는다 (Suppl. Fig. 8). 기하 최적화가 선행되어야 연결 설계가 가능하다.</a:t>
            </a:r>
            <a:endParaRPr lang="en-US" sz="1100" dirty="0"/>
          </a:p>
        </p:txBody>
      </p:sp>
      <p:sp>
        <p:nvSpPr>
          <p:cNvPr id="14"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35</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GENERALITY</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다른 auxetic 기하로의 일반화</a:t>
            </a:r>
            <a:endParaRPr lang="en-US" sz="2800" dirty="0"/>
          </a:p>
        </p:txBody>
      </p:sp>
      <p:pic>
        <p:nvPicPr>
          <p:cNvPr id="6" name="Image 0" descr="crops/sf9.png">    </p:cNvPr>
          <p:cNvPicPr>
            <a:picLocks noChangeAspect="1"/>
          </p:cNvPicPr>
          <p:nvPr/>
        </p:nvPicPr>
        <p:blipFill>
          <a:blip r:embed="rId1"/>
          <a:stretch>
            <a:fillRect/>
          </a:stretch>
        </p:blipFill>
        <p:spPr>
          <a:xfrm>
            <a:off x="3593170" y="1463040"/>
            <a:ext cx="5005355" cy="3767328"/>
          </a:xfrm>
          <a:prstGeom prst="rect">
            <a:avLst/>
          </a:prstGeom>
        </p:spPr>
      </p:pic>
      <p:sp>
        <p:nvSpPr>
          <p:cNvPr id="7" name="Text 4"/>
          <p:cNvSpPr/>
          <p:nvPr/>
        </p:nvSpPr>
        <p:spPr>
          <a:xfrm>
            <a:off x="566928" y="5321808"/>
            <a:ext cx="11057839"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Supplementary Fig. 9 — rotating-hexagon (a) 및 rotating-triangle (b) 기반 하이브리드 플랫폼 설계 결과</a:t>
            </a:r>
            <a:endParaRPr lang="en-US" sz="950" dirty="0"/>
          </a:p>
        </p:txBody>
      </p:sp>
      <p:sp>
        <p:nvSpPr>
          <p:cNvPr id="8" name="Shape 5"/>
          <p:cNvSpPr/>
          <p:nvPr/>
        </p:nvSpPr>
        <p:spPr>
          <a:xfrm>
            <a:off x="566928" y="5577840"/>
            <a:ext cx="3529584" cy="585216"/>
          </a:xfrm>
          <a:prstGeom prst="roundRect">
            <a:avLst>
              <a:gd name="adj" fmla="val 14063"/>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786384" y="5577840"/>
            <a:ext cx="3108960" cy="585216"/>
          </a:xfrm>
          <a:prstGeom prst="rect">
            <a:avLst/>
          </a:prstGeom>
          <a:noFill/>
          <a:ln/>
        </p:spPr>
        <p:txBody>
          <a:bodyPr wrap="square" lIns="0" tIns="0" rIns="0" bIns="0" rtlCol="0" anchor="ctr"/>
          <a:lstStyle/>
          <a:p>
            <a:pPr indent="0" marL="0">
              <a:lnSpc>
                <a:spcPts val="1400"/>
              </a:lnSpc>
              <a:buNone/>
            </a:pPr>
            <a:r>
              <a:rPr lang="en-US" sz="1050" b="1" dirty="0">
                <a:solidFill>
                  <a:srgbClr val="1C7293"/>
                </a:solidFill>
                <a:latin typeface="Malgun Gothic" pitchFamily="34" charset="0"/>
                <a:ea typeface="Malgun Gothic" pitchFamily="34" charset="-122"/>
                <a:cs typeface="Malgun Gothic" pitchFamily="34" charset="-120"/>
              </a:rPr>
              <a:t>Rotating hexagon  </a:t>
            </a:r>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ρ = 0.998 (수평) / 0.9974 (수직)</a:t>
            </a:r>
            <a:endParaRPr lang="en-US" sz="1050" dirty="0"/>
          </a:p>
        </p:txBody>
      </p:sp>
      <p:sp>
        <p:nvSpPr>
          <p:cNvPr id="10" name="Shape 7"/>
          <p:cNvSpPr/>
          <p:nvPr/>
        </p:nvSpPr>
        <p:spPr>
          <a:xfrm>
            <a:off x="4279392" y="5577840"/>
            <a:ext cx="3529584" cy="585216"/>
          </a:xfrm>
          <a:prstGeom prst="roundRect">
            <a:avLst>
              <a:gd name="adj" fmla="val 14063"/>
            </a:avLst>
          </a:prstGeom>
          <a:solidFill>
            <a:srgbClr val="EFF4F9"/>
          </a:solidFill>
          <a:ln/>
          <a:effectLst>
            <a:outerShdw sx="100000" sy="100000" kx="0" ky="0" algn="bl" rotWithShape="0" blurRad="114300" dist="25400" dir="5400000">
              <a:srgbClr val="7E90A8">
                <a:alpha val="16000"/>
              </a:srgbClr>
            </a:outerShdw>
          </a:effectLst>
        </p:spPr>
      </p:sp>
      <p:sp>
        <p:nvSpPr>
          <p:cNvPr id="11" name="Text 8"/>
          <p:cNvSpPr/>
          <p:nvPr/>
        </p:nvSpPr>
        <p:spPr>
          <a:xfrm>
            <a:off x="4498848" y="5577840"/>
            <a:ext cx="3108960" cy="585216"/>
          </a:xfrm>
          <a:prstGeom prst="rect">
            <a:avLst/>
          </a:prstGeom>
          <a:noFill/>
          <a:ln/>
        </p:spPr>
        <p:txBody>
          <a:bodyPr wrap="square" lIns="0" tIns="0" rIns="0" bIns="0" rtlCol="0" anchor="ctr"/>
          <a:lstStyle/>
          <a:p>
            <a:pPr indent="0" marL="0">
              <a:lnSpc>
                <a:spcPts val="1400"/>
              </a:lnSpc>
              <a:buNone/>
            </a:pPr>
            <a:r>
              <a:rPr lang="en-US" sz="1050" b="1" dirty="0">
                <a:solidFill>
                  <a:srgbClr val="065A82"/>
                </a:solidFill>
                <a:latin typeface="Malgun Gothic" pitchFamily="34" charset="0"/>
                <a:ea typeface="Malgun Gothic" pitchFamily="34" charset="-122"/>
                <a:cs typeface="Malgun Gothic" pitchFamily="34" charset="-120"/>
              </a:rPr>
              <a:t>Rotating triangle  </a:t>
            </a:r>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ρ = 0.9905 (수평) / 0.991 (수직)</a:t>
            </a:r>
            <a:endParaRPr lang="en-US" sz="1050" dirty="0"/>
          </a:p>
        </p:txBody>
      </p:sp>
      <p:sp>
        <p:nvSpPr>
          <p:cNvPr id="12" name="Shape 9"/>
          <p:cNvSpPr/>
          <p:nvPr/>
        </p:nvSpPr>
        <p:spPr>
          <a:xfrm>
            <a:off x="7991856" y="5577840"/>
            <a:ext cx="3529584" cy="585216"/>
          </a:xfrm>
          <a:prstGeom prst="roundRect">
            <a:avLst>
              <a:gd name="adj" fmla="val 14063"/>
            </a:avLst>
          </a:prstGeom>
          <a:solidFill>
            <a:srgbClr val="FBEAE2"/>
          </a:solidFill>
          <a:ln/>
          <a:effectLst>
            <a:outerShdw sx="100000" sy="100000" kx="0" ky="0" algn="bl" rotWithShape="0" blurRad="114300" dist="25400" dir="5400000">
              <a:srgbClr val="7E90A8">
                <a:alpha val="16000"/>
              </a:srgbClr>
            </a:outerShdw>
          </a:effectLst>
        </p:spPr>
      </p:sp>
      <p:sp>
        <p:nvSpPr>
          <p:cNvPr id="13" name="Text 10"/>
          <p:cNvSpPr/>
          <p:nvPr/>
        </p:nvSpPr>
        <p:spPr>
          <a:xfrm>
            <a:off x="8211312" y="5577840"/>
            <a:ext cx="3108960" cy="585216"/>
          </a:xfrm>
          <a:prstGeom prst="rect">
            <a:avLst/>
          </a:prstGeom>
          <a:noFill/>
          <a:ln/>
        </p:spPr>
        <p:txBody>
          <a:bodyPr wrap="square" lIns="0" tIns="0" rIns="0" bIns="0" rtlCol="0" anchor="ctr"/>
          <a:lstStyle/>
          <a:p>
            <a:pPr indent="0" marL="0">
              <a:lnSpc>
                <a:spcPts val="1400"/>
              </a:lnSpc>
              <a:buNone/>
            </a:pPr>
            <a:r>
              <a:rPr lang="en-US" sz="1050" b="1" dirty="0">
                <a:solidFill>
                  <a:srgbClr val="E2592C"/>
                </a:solidFill>
                <a:latin typeface="Malgun Gothic" pitchFamily="34" charset="0"/>
                <a:ea typeface="Malgun Gothic" pitchFamily="34" charset="-122"/>
                <a:cs typeface="Malgun Gothic" pitchFamily="34" charset="-120"/>
              </a:rPr>
              <a:t>본문 채택: rotating square  </a:t>
            </a:r>
            <a:pPr indent="0" marL="0">
              <a:lnSpc>
                <a:spcPts val="1400"/>
              </a:lnSpc>
              <a:buNone/>
            </a:pPr>
            <a:r>
              <a:rPr lang="en-US" sz="1050" dirty="0">
                <a:solidFill>
                  <a:srgbClr val="1E2739"/>
                </a:solidFill>
                <a:latin typeface="Malgun Gothic" pitchFamily="34" charset="0"/>
                <a:ea typeface="Malgun Gothic" pitchFamily="34" charset="-122"/>
                <a:cs typeface="Malgun Gothic" pitchFamily="34" charset="-120"/>
              </a:rPr>
              <a:t>디스플레이의 일반적 형상과 정합</a:t>
            </a:r>
            <a:endParaRPr lang="en-US" sz="1050" dirty="0"/>
          </a:p>
        </p:txBody>
      </p:sp>
      <p:sp>
        <p:nvSpPr>
          <p:cNvPr id="14" name="Text 11"/>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Fig. 9</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36</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06</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NEW METRIC</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등방 팽창 계수 ρ</a:t>
            </a:r>
            <a:endParaRPr lang="en-US" sz="3600" dirty="0"/>
          </a:p>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 통계에서 빌려온 잣대</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익스팬더블 디스플레이 시대에는 '바깥쪽 푸아송비'만으로</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왜곡의 유무와 정도를 판별할 수 없다. 그래서 새 지표가 필요했다.</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37</a:t>
            </a:r>
            <a:endParaRPr lang="en-US" sz="1000" dirty="0"/>
          </a:p>
        </p:txBody>
      </p:sp>
      <p:sp>
        <p:nvSpPr>
          <p:cNvPr id="3" name="Shape 1"/>
          <p:cNvSpPr/>
          <p:nvPr/>
        </p:nvSpPr>
        <p:spPr>
          <a:xfrm>
            <a:off x="566928" y="310896"/>
            <a:ext cx="1046988" cy="274320"/>
          </a:xfrm>
          <a:prstGeom prst="roundRect">
            <a:avLst>
              <a:gd name="adj" fmla="val 50000"/>
            </a:avLst>
          </a:prstGeom>
          <a:solidFill>
            <a:srgbClr val="1C7293"/>
          </a:solidFill>
          <a:ln/>
        </p:spPr>
      </p:sp>
      <p:sp>
        <p:nvSpPr>
          <p:cNvPr id="4" name="Text 2"/>
          <p:cNvSpPr/>
          <p:nvPr/>
        </p:nvSpPr>
        <p:spPr>
          <a:xfrm>
            <a:off x="566928" y="310896"/>
            <a:ext cx="10469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WHY NOT ν</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푸아송비로는 잴 수 없는 것</a:t>
            </a:r>
            <a:endParaRPr lang="en-US" sz="2800" dirty="0"/>
          </a:p>
        </p:txBody>
      </p:sp>
      <p:sp>
        <p:nvSpPr>
          <p:cNvPr id="6" name="Shape 4"/>
          <p:cNvSpPr/>
          <p:nvPr/>
        </p:nvSpPr>
        <p:spPr>
          <a:xfrm>
            <a:off x="566928" y="1481328"/>
            <a:ext cx="5358384" cy="2615184"/>
          </a:xfrm>
          <a:prstGeom prst="roundRect">
            <a:avLst>
              <a:gd name="adj" fmla="val 3147"/>
            </a:avLst>
          </a:prstGeom>
          <a:solidFill>
            <a:srgbClr val="FBEAE2"/>
          </a:solidFill>
          <a:ln/>
          <a:effectLst>
            <a:outerShdw sx="100000" sy="100000" kx="0" ky="0" algn="bl" rotWithShape="0" blurRad="114300" dist="25400" dir="5400000">
              <a:srgbClr val="7E90A8">
                <a:alpha val="16000"/>
              </a:srgbClr>
            </a:outerShdw>
          </a:effectLst>
        </p:spPr>
      </p:sp>
      <p:sp>
        <p:nvSpPr>
          <p:cNvPr id="7" name="Text 5"/>
          <p:cNvSpPr/>
          <p:nvPr/>
        </p:nvSpPr>
        <p:spPr>
          <a:xfrm>
            <a:off x="877824" y="1664208"/>
            <a:ext cx="4754880" cy="292608"/>
          </a:xfrm>
          <a:prstGeom prst="rect">
            <a:avLst/>
          </a:prstGeom>
          <a:noFill/>
          <a:ln/>
        </p:spPr>
        <p:txBody>
          <a:bodyPr wrap="square" lIns="0" tIns="0" rIns="0" bIns="0" rtlCol="0" anchor="ctr"/>
          <a:lstStyle/>
          <a:p>
            <a:pPr indent="0" marL="0">
              <a:buNone/>
            </a:pPr>
            <a:r>
              <a:rPr lang="en-US" sz="1450" b="1" dirty="0">
                <a:solidFill>
                  <a:srgbClr val="E2592C"/>
                </a:solidFill>
                <a:latin typeface="Malgun Gothic" pitchFamily="34" charset="0"/>
                <a:ea typeface="Malgun Gothic" pitchFamily="34" charset="-122"/>
                <a:cs typeface="Malgun Gothic" pitchFamily="34" charset="-120"/>
              </a:rPr>
              <a:t>푸아송비 ν 가 말해주는 것</a:t>
            </a:r>
            <a:endParaRPr lang="en-US" sz="1450" dirty="0"/>
          </a:p>
        </p:txBody>
      </p:sp>
      <p:sp>
        <p:nvSpPr>
          <p:cNvPr id="8" name="Text 6"/>
          <p:cNvSpPr/>
          <p:nvPr/>
        </p:nvSpPr>
        <p:spPr>
          <a:xfrm>
            <a:off x="877824" y="2066544"/>
            <a:ext cx="4754880" cy="1883664"/>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외곽 치수의 변화율 비 — 본질적으로 global·경계 기반 지표</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"전체 종횡비를 지켰다" 까지만 보증한다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내부 각 픽셀이 제자리에서 등방으로 커졌는지는 전혀 말해주지 않는다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방향이 두 개(H, V)면 지표도 두 개 — 하나의 숫자로 플랫폼을 비교할 수 없다</a:t>
            </a:r>
            <a:endParaRPr lang="en-US" sz="1150" dirty="0"/>
          </a:p>
        </p:txBody>
      </p:sp>
      <p:sp>
        <p:nvSpPr>
          <p:cNvPr id="9" name="Shape 7"/>
          <p:cNvSpPr/>
          <p:nvPr/>
        </p:nvSpPr>
        <p:spPr>
          <a:xfrm>
            <a:off x="6181344" y="1481328"/>
            <a:ext cx="5358384" cy="2615184"/>
          </a:xfrm>
          <a:prstGeom prst="roundRect">
            <a:avLst>
              <a:gd name="adj" fmla="val 3147"/>
            </a:avLst>
          </a:prstGeom>
          <a:solidFill>
            <a:srgbClr val="E2EBF3"/>
          </a:solidFill>
          <a:ln/>
          <a:effectLst>
            <a:outerShdw sx="100000" sy="100000" kx="0" ky="0" algn="bl" rotWithShape="0" blurRad="114300" dist="25400" dir="5400000">
              <a:srgbClr val="7E90A8">
                <a:alpha val="16000"/>
              </a:srgbClr>
            </a:outerShdw>
          </a:effectLst>
        </p:spPr>
      </p:sp>
      <p:sp>
        <p:nvSpPr>
          <p:cNvPr id="10" name="Text 8"/>
          <p:cNvSpPr/>
          <p:nvPr/>
        </p:nvSpPr>
        <p:spPr>
          <a:xfrm>
            <a:off x="6492240" y="1664208"/>
            <a:ext cx="4754880" cy="292608"/>
          </a:xfrm>
          <a:prstGeom prst="rect">
            <a:avLst/>
          </a:prstGeom>
          <a:noFill/>
          <a:ln/>
        </p:spPr>
        <p:txBody>
          <a:bodyPr wrap="square" lIns="0" tIns="0" rIns="0" bIns="0" rtlCol="0" anchor="ctr"/>
          <a:lstStyle/>
          <a:p>
            <a:pPr indent="0" marL="0">
              <a:buNone/>
            </a:pPr>
            <a:r>
              <a:rPr lang="en-US" sz="1450" b="1" dirty="0">
                <a:solidFill>
                  <a:srgbClr val="1C7293"/>
                </a:solidFill>
                <a:latin typeface="Malgun Gothic" pitchFamily="34" charset="0"/>
                <a:ea typeface="Malgun Gothic" pitchFamily="34" charset="-122"/>
                <a:cs typeface="Malgun Gothic" pitchFamily="34" charset="-120"/>
              </a:rPr>
              <a:t>실제로 필요한 것</a:t>
            </a:r>
            <a:endParaRPr lang="en-US" sz="1450" dirty="0"/>
          </a:p>
        </p:txBody>
      </p:sp>
      <p:sp>
        <p:nvSpPr>
          <p:cNvPr id="11" name="Text 9"/>
          <p:cNvSpPr/>
          <p:nvPr/>
        </p:nvSpPr>
        <p:spPr>
          <a:xfrm>
            <a:off x="6492240" y="2066544"/>
            <a:ext cx="4754880" cy="1883664"/>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픽셀 단위(field-level)로 왜곡을 측정하는 지표</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local과 global을 하나의 스칼라로 동시에 포착</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FEA든 DIC 실측이든 동일한 방식으로 계산 가능</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플랫폼·기하에 무관하게 비교 가능 — 일종의 공통 스펙</a:t>
            </a:r>
            <a:endParaRPr lang="en-US" sz="1150" dirty="0"/>
          </a:p>
        </p:txBody>
      </p:sp>
      <p:sp>
        <p:nvSpPr>
          <p:cNvPr id="12" name="Shape 10"/>
          <p:cNvSpPr/>
          <p:nvPr/>
        </p:nvSpPr>
        <p:spPr>
          <a:xfrm>
            <a:off x="566928" y="4315968"/>
            <a:ext cx="11057839" cy="1792224"/>
          </a:xfrm>
          <a:prstGeom prst="roundRect">
            <a:avLst>
              <a:gd name="adj" fmla="val 4592"/>
            </a:avLst>
          </a:prstGeom>
          <a:solidFill>
            <a:srgbClr val="EFF4F9"/>
          </a:solidFill>
          <a:ln/>
          <a:effectLst>
            <a:outerShdw sx="100000" sy="100000" kx="0" ky="0" algn="bl" rotWithShape="0" blurRad="114300" dist="25400" dir="5400000">
              <a:srgbClr val="7E90A8">
                <a:alpha val="16000"/>
              </a:srgbClr>
            </a:outerShdw>
          </a:effectLst>
        </p:spPr>
      </p:sp>
      <p:sp>
        <p:nvSpPr>
          <p:cNvPr id="13" name="Text 11"/>
          <p:cNvSpPr/>
          <p:nvPr/>
        </p:nvSpPr>
        <p:spPr>
          <a:xfrm>
            <a:off x="877824" y="4498848"/>
            <a:ext cx="10241280" cy="292608"/>
          </a:xfrm>
          <a:prstGeom prst="rect">
            <a:avLst/>
          </a:prstGeom>
          <a:noFill/>
          <a:ln/>
        </p:spPr>
        <p:txBody>
          <a:bodyPr wrap="square" lIns="0" tIns="0" rIns="0" bIns="0" rtlCol="0" anchor="ctr"/>
          <a:lstStyle/>
          <a:p>
            <a:pPr indent="0" marL="0">
              <a:buNone/>
            </a:pPr>
            <a:r>
              <a:rPr lang="en-US" sz="1450" b="1" dirty="0">
                <a:solidFill>
                  <a:srgbClr val="21295C"/>
                </a:solidFill>
                <a:latin typeface="Malgun Gothic" pitchFamily="34" charset="0"/>
                <a:ea typeface="Malgun Gothic" pitchFamily="34" charset="-122"/>
                <a:cs typeface="Malgun Gothic" pitchFamily="34" charset="-120"/>
              </a:rPr>
              <a:t>문제의식</a:t>
            </a:r>
            <a:endParaRPr lang="en-US" sz="1450" dirty="0"/>
          </a:p>
        </p:txBody>
      </p:sp>
      <p:sp>
        <p:nvSpPr>
          <p:cNvPr id="14" name="Text 12"/>
          <p:cNvSpPr/>
          <p:nvPr/>
        </p:nvSpPr>
        <p:spPr>
          <a:xfrm>
            <a:off x="877824" y="4864608"/>
            <a:ext cx="10424160" cy="1060704"/>
          </a:xfrm>
          <a:prstGeom prst="rect">
            <a:avLst/>
          </a:prstGeom>
          <a:noFill/>
          <a:ln/>
        </p:spPr>
        <p:txBody>
          <a:bodyPr wrap="square" lIns="0" tIns="0" rIns="0" bIns="0" rtlCol="0" anchor="t"/>
          <a:lstStyle/>
          <a:p>
            <a:pPr indent="0" marL="0">
              <a:lnSpc>
                <a:spcPts val="2200"/>
              </a:lnSpc>
              <a:buNone/>
            </a:pPr>
            <a:r>
              <a:rPr lang="en-US" sz="1300" dirty="0">
                <a:solidFill>
                  <a:srgbClr val="1E2739"/>
                </a:solidFill>
                <a:latin typeface="Malgun Gothic" pitchFamily="34" charset="0"/>
                <a:ea typeface="Malgun Gothic" pitchFamily="34" charset="-122"/>
                <a:cs typeface="Malgun Gothic" pitchFamily="34" charset="-120"/>
              </a:rPr>
              <a:t>스트레처블에서 익스팬더블(expandable) 디스플레이로 갈수록 화면의 크기를 실제로 조작하는 단계에 들어선다. 그런데 단순한 바깥쪽 푸아송비만으로는 특정 플랫폼에 이미지 왜곡이 있는지 없는지, 있다면 어느 정도인지 판별하기 어렵다. 논문은 이 빈틈을 메우기 위해 통계학의 상관계수에서 아이디어를 가져왔다.</a:t>
            </a:r>
            <a:endParaRPr lang="en-US" sz="1300" dirty="0"/>
          </a:p>
        </p:txBody>
      </p:sp>
      <p:sp>
        <p:nvSpPr>
          <p:cNvPr id="15" name="Text 13"/>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38</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DEFINITION</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등방 팽창 계수 ρ 의 정의 (Eq. 4, 5)</a:t>
            </a:r>
            <a:endParaRPr lang="en-US" sz="2800" dirty="0"/>
          </a:p>
        </p:txBody>
      </p:sp>
      <p:sp>
        <p:nvSpPr>
          <p:cNvPr id="6" name="Shape 4"/>
          <p:cNvSpPr/>
          <p:nvPr/>
        </p:nvSpPr>
        <p:spPr>
          <a:xfrm>
            <a:off x="566928" y="1481328"/>
            <a:ext cx="6035040" cy="1115568"/>
          </a:xfrm>
          <a:prstGeom prst="roundRect">
            <a:avLst>
              <a:gd name="adj" fmla="val 6557"/>
            </a:avLst>
          </a:prstGeom>
          <a:solidFill>
            <a:srgbClr val="E2EBF3"/>
          </a:solidFill>
          <a:ln/>
        </p:spPr>
      </p:sp>
      <p:pic>
        <p:nvPicPr>
          <p:cNvPr id="7" name="Image 0" descr="eq/eq5.png">    </p:cNvPr>
          <p:cNvPicPr>
            <a:picLocks noChangeAspect="1"/>
          </p:cNvPicPr>
          <p:nvPr/>
        </p:nvPicPr>
        <p:blipFill>
          <a:blip r:embed="rId1"/>
          <a:stretch>
            <a:fillRect/>
          </a:stretch>
        </p:blipFill>
        <p:spPr>
          <a:xfrm>
            <a:off x="2263606" y="1591056"/>
            <a:ext cx="2641684" cy="896112"/>
          </a:xfrm>
          <a:prstGeom prst="rect">
            <a:avLst/>
          </a:prstGeom>
        </p:spPr>
      </p:pic>
      <p:sp>
        <p:nvSpPr>
          <p:cNvPr id="8" name="Shape 5"/>
          <p:cNvSpPr/>
          <p:nvPr/>
        </p:nvSpPr>
        <p:spPr>
          <a:xfrm>
            <a:off x="566928" y="2743200"/>
            <a:ext cx="6035040" cy="1298448"/>
          </a:xfrm>
          <a:prstGeom prst="roundRect">
            <a:avLst>
              <a:gd name="adj" fmla="val 5634"/>
            </a:avLst>
          </a:prstGeom>
          <a:solidFill>
            <a:srgbClr val="E2EBF3"/>
          </a:solidFill>
          <a:ln/>
        </p:spPr>
      </p:sp>
      <p:pic>
        <p:nvPicPr>
          <p:cNvPr id="9" name="Image 1" descr="eq/eq6.png">    </p:cNvPr>
          <p:cNvPicPr>
            <a:picLocks noChangeAspect="1"/>
          </p:cNvPicPr>
          <p:nvPr/>
        </p:nvPicPr>
        <p:blipFill>
          <a:blip r:embed="rId2"/>
          <a:stretch>
            <a:fillRect/>
          </a:stretch>
        </p:blipFill>
        <p:spPr>
          <a:xfrm>
            <a:off x="2217013" y="2852928"/>
            <a:ext cx="2734871" cy="1078992"/>
          </a:xfrm>
          <a:prstGeom prst="rect">
            <a:avLst/>
          </a:prstGeom>
        </p:spPr>
      </p:pic>
      <p:sp>
        <p:nvSpPr>
          <p:cNvPr id="10" name="Text 6"/>
          <p:cNvSpPr/>
          <p:nvPr/>
        </p:nvSpPr>
        <p:spPr>
          <a:xfrm>
            <a:off x="566928" y="4206240"/>
            <a:ext cx="6035040" cy="192024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기판 위 점들을 중심 기준 N × N 격자로 표현하고, 위치와 변위의 x·y 성분을 각각 1 × 2N² 행렬 R, U 로 배열한다</a:t>
            </a:r>
            <a:endParaRPr lang="en-US" sz="1200" dirty="0"/>
          </a:p>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ρ = R 과 U 의 공분산을 각각의 표준편차 곱으로 나눈 값 — 통계의 상관계수 그대로</a:t>
            </a:r>
            <a:endParaRPr lang="en-US" sz="1200" dirty="0"/>
          </a:p>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ρ 는 두 비율 u_x/x 와 u_y/y 사이의 선형 상관을 정량화한다</a:t>
            </a:r>
            <a:endParaRPr lang="en-US" sz="1200" dirty="0"/>
          </a:p>
          <a:p>
            <a:pPr marL="342900" indent="-342900">
              <a:lnSpc>
                <a:spcPts val="1800"/>
              </a:lnSpc>
              <a:spcAft>
                <a:spcPts val="700"/>
              </a:spcAft>
              <a:buSzPct val="100000"/>
              <a:buChar char="•"/>
            </a:pPr>
            <a:r>
              <a:rPr lang="en-US" sz="1200" dirty="0">
                <a:solidFill>
                  <a:srgbClr val="1E2739"/>
                </a:solidFill>
                <a:latin typeface="Malgun Gothic" pitchFamily="34" charset="0"/>
                <a:ea typeface="Malgun Gothic" pitchFamily="34" charset="-122"/>
                <a:cs typeface="Malgun Gothic" pitchFamily="34" charset="-120"/>
              </a:rPr>
              <a:t>ρ → 1 이면 산점도의 점들이 u_y/y = u_x/x 직선으로 수렴 → Eq. (1)에 근접 → 왜곡 없음</a:t>
            </a:r>
            <a:endParaRPr lang="en-US" sz="1200" dirty="0"/>
          </a:p>
        </p:txBody>
      </p:sp>
      <p:pic>
        <p:nvPicPr>
          <p:cNvPr id="11" name="Image 2" descr="crops/sf4.png">    </p:cNvPr>
          <p:cNvPicPr>
            <a:picLocks noChangeAspect="1"/>
          </p:cNvPicPr>
          <p:nvPr/>
        </p:nvPicPr>
        <p:blipFill>
          <a:blip r:embed="rId3"/>
          <a:stretch>
            <a:fillRect/>
          </a:stretch>
        </p:blipFill>
        <p:spPr>
          <a:xfrm>
            <a:off x="6839712" y="1543062"/>
            <a:ext cx="4709160" cy="1577315"/>
          </a:xfrm>
          <a:prstGeom prst="rect">
            <a:avLst/>
          </a:prstGeom>
        </p:spPr>
      </p:pic>
      <p:sp>
        <p:nvSpPr>
          <p:cNvPr id="12" name="Text 7"/>
          <p:cNvSpPr/>
          <p:nvPr/>
        </p:nvSpPr>
        <p:spPr>
          <a:xfrm>
            <a:off x="6839712" y="3255264"/>
            <a:ext cx="470916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Supplementary Fig. 4 — 통계적 접근을 이용한 ρ 정량화</a:t>
            </a:r>
            <a:endParaRPr lang="en-US" sz="950" dirty="0"/>
          </a:p>
        </p:txBody>
      </p:sp>
      <p:sp>
        <p:nvSpPr>
          <p:cNvPr id="13" name="Shape 8"/>
          <p:cNvSpPr/>
          <p:nvPr/>
        </p:nvSpPr>
        <p:spPr>
          <a:xfrm>
            <a:off x="6839712" y="3621024"/>
            <a:ext cx="4709160" cy="2487168"/>
          </a:xfrm>
          <a:prstGeom prst="roundRect">
            <a:avLst>
              <a:gd name="adj" fmla="val 3309"/>
            </a:avLst>
          </a:prstGeom>
          <a:solidFill>
            <a:srgbClr val="E2EBF3"/>
          </a:solidFill>
          <a:ln/>
          <a:effectLst>
            <a:outerShdw sx="100000" sy="100000" kx="0" ky="0" algn="bl" rotWithShape="0" blurRad="114300" dist="25400" dir="5400000">
              <a:srgbClr val="7E90A8">
                <a:alpha val="16000"/>
              </a:srgbClr>
            </a:outerShdw>
          </a:effectLst>
        </p:spPr>
      </p:sp>
      <p:sp>
        <p:nvSpPr>
          <p:cNvPr id="14" name="Text 9"/>
          <p:cNvSpPr/>
          <p:nvPr/>
        </p:nvSpPr>
        <p:spPr>
          <a:xfrm>
            <a:off x="7095744" y="3785616"/>
            <a:ext cx="4206240" cy="2194560"/>
          </a:xfrm>
          <a:prstGeom prst="rect">
            <a:avLst/>
          </a:prstGeom>
          <a:noFill/>
          <a:ln/>
        </p:spPr>
        <p:txBody>
          <a:bodyPr wrap="square" lIns="0" tIns="0" rIns="0" bIns="0" rtlCol="0" anchor="t"/>
          <a:lstStyle/>
          <a:p>
            <a:pPr indent="0" marL="0">
              <a:lnSpc>
                <a:spcPts val="1900"/>
              </a:lnSpc>
              <a:buNone/>
            </a:pPr>
            <a:r>
              <a:rPr lang="en-US" sz="1300" b="1" dirty="0">
                <a:solidFill>
                  <a:srgbClr val="1C7293"/>
                </a:solidFill>
                <a:latin typeface="Malgun Gothic" pitchFamily="34" charset="0"/>
                <a:ea typeface="Malgun Gothic" pitchFamily="34" charset="-122"/>
                <a:cs typeface="Malgun Gothic" pitchFamily="34" charset="-120"/>
              </a:rPr>
              <a:t>왜 상관계수인가
</a:t>
            </a:r>
            <a:pPr indent="0" marL="0">
              <a:lnSpc>
                <a:spcPts val="1900"/>
              </a:lnSpc>
              <a:buNone/>
            </a:pPr>
            <a:r>
              <a:rPr lang="en-US" sz="1150" dirty="0">
                <a:solidFill>
                  <a:srgbClr val="1E2739"/>
                </a:solidFill>
                <a:latin typeface="Malgun Gothic" pitchFamily="34" charset="0"/>
                <a:ea typeface="Malgun Gothic" pitchFamily="34" charset="-122"/>
                <a:cs typeface="Malgun Gothic" pitchFamily="34" charset="-120"/>
              </a:rPr>
              <a:t>ρ 는 스케일에 무관하고(−1 ~ 1로 정규화), 격자점 개수와 무관하며, FEA 예측값이든 DIC 실측값이든 같은 방식으로 계산된다. 서로 다른 플랫폼을 같은 잣대로 줄 세울 수 있다.</a:t>
            </a:r>
            <a:endParaRPr lang="en-US" sz="1150" dirty="0"/>
          </a:p>
        </p:txBody>
      </p:sp>
      <p:sp>
        <p:nvSpPr>
          <p:cNvPr id="15"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Fig. 4</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39</a:t>
            </a:r>
            <a:endParaRPr lang="en-US" sz="1000" dirty="0"/>
          </a:p>
        </p:txBody>
      </p:sp>
      <p:sp>
        <p:nvSpPr>
          <p:cNvPr id="3" name="Shape 1"/>
          <p:cNvSpPr/>
          <p:nvPr/>
        </p:nvSpPr>
        <p:spPr>
          <a:xfrm>
            <a:off x="566928" y="310896"/>
            <a:ext cx="1046988" cy="274320"/>
          </a:xfrm>
          <a:prstGeom prst="roundRect">
            <a:avLst>
              <a:gd name="adj" fmla="val 50000"/>
            </a:avLst>
          </a:prstGeom>
          <a:solidFill>
            <a:srgbClr val="1C7293"/>
          </a:solidFill>
          <a:ln/>
        </p:spPr>
      </p:sp>
      <p:sp>
        <p:nvSpPr>
          <p:cNvPr id="4" name="Text 2"/>
          <p:cNvSpPr/>
          <p:nvPr/>
        </p:nvSpPr>
        <p:spPr>
          <a:xfrm>
            <a:off x="566928" y="310896"/>
            <a:ext cx="10469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THRESHOLD</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ρ ≥ 0.99 — '왜곡 없음'의 실무 기준</a:t>
            </a:r>
            <a:endParaRPr lang="en-US" sz="2800" dirty="0"/>
          </a:p>
        </p:txBody>
      </p:sp>
      <p:pic>
        <p:nvPicPr>
          <p:cNvPr id="6" name="Image 0" descr="crops/sf5.png">    </p:cNvPr>
          <p:cNvPicPr>
            <a:picLocks noChangeAspect="1"/>
          </p:cNvPicPr>
          <p:nvPr/>
        </p:nvPicPr>
        <p:blipFill>
          <a:blip r:embed="rId1"/>
          <a:stretch>
            <a:fillRect/>
          </a:stretch>
        </p:blipFill>
        <p:spPr>
          <a:xfrm>
            <a:off x="887385" y="1463040"/>
            <a:ext cx="4223693" cy="4206240"/>
          </a:xfrm>
          <a:prstGeom prst="rect">
            <a:avLst/>
          </a:prstGeom>
        </p:spPr>
      </p:pic>
      <p:sp>
        <p:nvSpPr>
          <p:cNvPr id="7" name="Text 4"/>
          <p:cNvSpPr/>
          <p:nvPr/>
        </p:nvSpPr>
        <p:spPr>
          <a:xfrm>
            <a:off x="566928" y="5742432"/>
            <a:ext cx="4864608"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Supplementary Fig. 5 — ρ = 0.3 ~ 0.99 에서의 실제 이미지 왜곡</a:t>
            </a:r>
            <a:endParaRPr lang="en-US" sz="950" dirty="0"/>
          </a:p>
        </p:txBody>
      </p:sp>
      <p:pic>
        <p:nvPicPr>
          <p:cNvPr id="8" name="Image 1" descr="gen/rhoscatter.png">    </p:cNvPr>
          <p:cNvPicPr>
            <a:picLocks noChangeAspect="1"/>
          </p:cNvPicPr>
          <p:nvPr/>
        </p:nvPicPr>
        <p:blipFill>
          <a:blip r:embed="rId2"/>
          <a:stretch>
            <a:fillRect/>
          </a:stretch>
        </p:blipFill>
        <p:spPr>
          <a:xfrm>
            <a:off x="5750315" y="1463040"/>
            <a:ext cx="5717521" cy="1572768"/>
          </a:xfrm>
          <a:prstGeom prst="rect">
            <a:avLst/>
          </a:prstGeom>
        </p:spPr>
      </p:pic>
      <p:sp>
        <p:nvSpPr>
          <p:cNvPr id="9" name="Text 5"/>
          <p:cNvSpPr/>
          <p:nvPr/>
        </p:nvSpPr>
        <p:spPr>
          <a:xfrm>
            <a:off x="5669280" y="3072384"/>
            <a:ext cx="5879592"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개념도 (본 발표용 작성) — ρ 에 따른 (u_x/x, u_y/y) 산점도의 수렴</a:t>
            </a:r>
            <a:endParaRPr lang="en-US" sz="950" dirty="0"/>
          </a:p>
        </p:txBody>
      </p:sp>
      <p:sp>
        <p:nvSpPr>
          <p:cNvPr id="10" name="Shape 6"/>
          <p:cNvSpPr/>
          <p:nvPr/>
        </p:nvSpPr>
        <p:spPr>
          <a:xfrm>
            <a:off x="5669280" y="3438144"/>
            <a:ext cx="5879592" cy="841248"/>
          </a:xfrm>
          <a:prstGeom prst="roundRect">
            <a:avLst>
              <a:gd name="adj" fmla="val 9783"/>
            </a:avLst>
          </a:prstGeom>
          <a:solidFill>
            <a:srgbClr val="FBEAE2"/>
          </a:solidFill>
          <a:ln/>
          <a:effectLst>
            <a:outerShdw sx="100000" sy="100000" kx="0" ky="0" algn="bl" rotWithShape="0" blurRad="114300" dist="25400" dir="5400000">
              <a:srgbClr val="7E90A8">
                <a:alpha val="16000"/>
              </a:srgbClr>
            </a:outerShdw>
          </a:effectLst>
        </p:spPr>
      </p:sp>
      <p:sp>
        <p:nvSpPr>
          <p:cNvPr id="11" name="Text 7"/>
          <p:cNvSpPr/>
          <p:nvPr/>
        </p:nvSpPr>
        <p:spPr>
          <a:xfrm>
            <a:off x="5907024" y="3493008"/>
            <a:ext cx="1316736" cy="402336"/>
          </a:xfrm>
          <a:prstGeom prst="rect">
            <a:avLst/>
          </a:prstGeom>
          <a:noFill/>
          <a:ln/>
        </p:spPr>
        <p:txBody>
          <a:bodyPr wrap="square" lIns="0" tIns="0" rIns="0" bIns="0" rtlCol="0" anchor="ctr"/>
          <a:lstStyle/>
          <a:p>
            <a:pPr indent="0" marL="0">
              <a:buNone/>
            </a:pPr>
            <a:r>
              <a:rPr lang="en-US" sz="1600" b="1" dirty="0">
                <a:solidFill>
                  <a:srgbClr val="E2592C"/>
                </a:solidFill>
                <a:latin typeface="Cambria" pitchFamily="34" charset="0"/>
                <a:ea typeface="Cambria" pitchFamily="34" charset="-122"/>
                <a:cs typeface="Cambria" pitchFamily="34" charset="-120"/>
              </a:rPr>
              <a:t>ρ ≤ 0.95</a:t>
            </a:r>
            <a:endParaRPr lang="en-US" sz="1600" dirty="0"/>
          </a:p>
        </p:txBody>
      </p:sp>
      <p:sp>
        <p:nvSpPr>
          <p:cNvPr id="12" name="Text 8"/>
          <p:cNvSpPr/>
          <p:nvPr/>
        </p:nvSpPr>
        <p:spPr>
          <a:xfrm>
            <a:off x="5907024" y="3877056"/>
            <a:ext cx="1316736" cy="310896"/>
          </a:xfrm>
          <a:prstGeom prst="rect">
            <a:avLst/>
          </a:prstGeom>
          <a:noFill/>
          <a:ln/>
        </p:spPr>
        <p:txBody>
          <a:bodyPr wrap="square" lIns="0" tIns="0" rIns="0" bIns="0" rtlCol="0" anchor="ctr"/>
          <a:lstStyle/>
          <a:p>
            <a:pPr indent="0" marL="0">
              <a:buNone/>
            </a:pPr>
            <a:r>
              <a:rPr lang="en-US" sz="1050" b="1" dirty="0">
                <a:solidFill>
                  <a:srgbClr val="21295C"/>
                </a:solidFill>
                <a:latin typeface="Malgun Gothic" pitchFamily="34" charset="0"/>
                <a:ea typeface="Malgun Gothic" pitchFamily="34" charset="-122"/>
                <a:cs typeface="Malgun Gothic" pitchFamily="34" charset="-120"/>
              </a:rPr>
              <a:t>왜곡이 지각된다</a:t>
            </a:r>
            <a:endParaRPr lang="en-US" sz="1050" dirty="0"/>
          </a:p>
        </p:txBody>
      </p:sp>
      <p:sp>
        <p:nvSpPr>
          <p:cNvPr id="13" name="Text 9"/>
          <p:cNvSpPr/>
          <p:nvPr/>
        </p:nvSpPr>
        <p:spPr>
          <a:xfrm>
            <a:off x="7351776" y="3438144"/>
            <a:ext cx="4023360" cy="841248"/>
          </a:xfrm>
          <a:prstGeom prst="rect">
            <a:avLst/>
          </a:prstGeom>
          <a:noFill/>
          <a:ln/>
        </p:spPr>
        <p:txBody>
          <a:bodyPr wrap="square" lIns="0" tIns="0" rIns="0" bIns="0" rtlCol="0" anchor="ctr"/>
          <a:lstStyle/>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세 가지 변형 함수족 모두에서 육안으로 왜곡이 확인된다.</a:t>
            </a:r>
            <a:endParaRPr lang="en-US" sz="1050" dirty="0"/>
          </a:p>
        </p:txBody>
      </p:sp>
      <p:sp>
        <p:nvSpPr>
          <p:cNvPr id="14" name="Shape 10"/>
          <p:cNvSpPr/>
          <p:nvPr/>
        </p:nvSpPr>
        <p:spPr>
          <a:xfrm>
            <a:off x="5669280" y="4370832"/>
            <a:ext cx="5879592" cy="841248"/>
          </a:xfrm>
          <a:prstGeom prst="roundRect">
            <a:avLst>
              <a:gd name="adj" fmla="val 9783"/>
            </a:avLst>
          </a:prstGeom>
          <a:solidFill>
            <a:srgbClr val="E2EBF3"/>
          </a:solidFill>
          <a:ln/>
          <a:effectLst>
            <a:outerShdw sx="100000" sy="100000" kx="0" ky="0" algn="bl" rotWithShape="0" blurRad="114300" dist="25400" dir="5400000">
              <a:srgbClr val="7E90A8">
                <a:alpha val="16000"/>
              </a:srgbClr>
            </a:outerShdw>
          </a:effectLst>
        </p:spPr>
      </p:sp>
      <p:sp>
        <p:nvSpPr>
          <p:cNvPr id="15" name="Text 11"/>
          <p:cNvSpPr/>
          <p:nvPr/>
        </p:nvSpPr>
        <p:spPr>
          <a:xfrm>
            <a:off x="5907024" y="4425696"/>
            <a:ext cx="1316736" cy="402336"/>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ρ = 0.99</a:t>
            </a:r>
            <a:endParaRPr lang="en-US" sz="1600" dirty="0"/>
          </a:p>
        </p:txBody>
      </p:sp>
      <p:sp>
        <p:nvSpPr>
          <p:cNvPr id="16" name="Text 12"/>
          <p:cNvSpPr/>
          <p:nvPr/>
        </p:nvSpPr>
        <p:spPr>
          <a:xfrm>
            <a:off x="5907024" y="4809744"/>
            <a:ext cx="1316736" cy="310896"/>
          </a:xfrm>
          <a:prstGeom prst="rect">
            <a:avLst/>
          </a:prstGeom>
          <a:noFill/>
          <a:ln/>
        </p:spPr>
        <p:txBody>
          <a:bodyPr wrap="square" lIns="0" tIns="0" rIns="0" bIns="0" rtlCol="0" anchor="ctr"/>
          <a:lstStyle/>
          <a:p>
            <a:pPr indent="0" marL="0">
              <a:buNone/>
            </a:pPr>
            <a:r>
              <a:rPr lang="en-US" sz="1050" b="1" dirty="0">
                <a:solidFill>
                  <a:srgbClr val="21295C"/>
                </a:solidFill>
                <a:latin typeface="Malgun Gothic" pitchFamily="34" charset="0"/>
                <a:ea typeface="Malgun Gothic" pitchFamily="34" charset="-122"/>
                <a:cs typeface="Malgun Gothic" pitchFamily="34" charset="-120"/>
              </a:rPr>
              <a:t>지각 임계</a:t>
            </a:r>
            <a:endParaRPr lang="en-US" sz="1050" dirty="0"/>
          </a:p>
        </p:txBody>
      </p:sp>
      <p:sp>
        <p:nvSpPr>
          <p:cNvPr id="17" name="Text 13"/>
          <p:cNvSpPr/>
          <p:nvPr/>
        </p:nvSpPr>
        <p:spPr>
          <a:xfrm>
            <a:off x="7351776" y="4370832"/>
            <a:ext cx="4023360" cy="841248"/>
          </a:xfrm>
          <a:prstGeom prst="rect">
            <a:avLst/>
          </a:prstGeom>
          <a:noFill/>
          <a:ln/>
        </p:spPr>
        <p:txBody>
          <a:bodyPr wrap="square" lIns="0" tIns="0" rIns="0" bIns="0" rtlCol="0" anchor="ctr"/>
          <a:lstStyle/>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확대 이미지에서도 왜곡이 사실상 보이지 않는 지점. 논문이 제시하는 실무 기준선.</a:t>
            </a:r>
            <a:endParaRPr lang="en-US" sz="1050" dirty="0"/>
          </a:p>
        </p:txBody>
      </p:sp>
      <p:sp>
        <p:nvSpPr>
          <p:cNvPr id="18" name="Shape 14"/>
          <p:cNvSpPr/>
          <p:nvPr/>
        </p:nvSpPr>
        <p:spPr>
          <a:xfrm>
            <a:off x="5669280" y="5303520"/>
            <a:ext cx="5879592" cy="841248"/>
          </a:xfrm>
          <a:prstGeom prst="roundRect">
            <a:avLst>
              <a:gd name="adj" fmla="val 9783"/>
            </a:avLst>
          </a:prstGeom>
          <a:solidFill>
            <a:srgbClr val="EFF4F9"/>
          </a:solidFill>
          <a:ln/>
          <a:effectLst>
            <a:outerShdw sx="100000" sy="100000" kx="0" ky="0" algn="bl" rotWithShape="0" blurRad="114300" dist="25400" dir="5400000">
              <a:srgbClr val="7E90A8">
                <a:alpha val="16000"/>
              </a:srgbClr>
            </a:outerShdw>
          </a:effectLst>
        </p:spPr>
      </p:sp>
      <p:sp>
        <p:nvSpPr>
          <p:cNvPr id="19" name="Text 15"/>
          <p:cNvSpPr/>
          <p:nvPr/>
        </p:nvSpPr>
        <p:spPr>
          <a:xfrm>
            <a:off x="5907024" y="5358384"/>
            <a:ext cx="1316736" cy="402336"/>
          </a:xfrm>
          <a:prstGeom prst="rect">
            <a:avLst/>
          </a:prstGeom>
          <a:noFill/>
          <a:ln/>
        </p:spPr>
        <p:txBody>
          <a:bodyPr wrap="square" lIns="0" tIns="0" rIns="0" bIns="0" rtlCol="0" anchor="ctr"/>
          <a:lstStyle/>
          <a:p>
            <a:pPr indent="0" marL="0">
              <a:buNone/>
            </a:pPr>
            <a:r>
              <a:rPr lang="en-US" sz="1600" b="1" dirty="0">
                <a:solidFill>
                  <a:srgbClr val="065A82"/>
                </a:solidFill>
                <a:latin typeface="Cambria" pitchFamily="34" charset="0"/>
                <a:ea typeface="Cambria" pitchFamily="34" charset="-122"/>
                <a:cs typeface="Cambria" pitchFamily="34" charset="-120"/>
              </a:rPr>
              <a:t>의미</a:t>
            </a:r>
            <a:endParaRPr lang="en-US" sz="1600" dirty="0"/>
          </a:p>
        </p:txBody>
      </p:sp>
      <p:sp>
        <p:nvSpPr>
          <p:cNvPr id="20" name="Text 16"/>
          <p:cNvSpPr/>
          <p:nvPr/>
        </p:nvSpPr>
        <p:spPr>
          <a:xfrm>
            <a:off x="5907024" y="5742432"/>
            <a:ext cx="1316736" cy="310896"/>
          </a:xfrm>
          <a:prstGeom prst="rect">
            <a:avLst/>
          </a:prstGeom>
          <a:noFill/>
          <a:ln/>
        </p:spPr>
        <p:txBody>
          <a:bodyPr wrap="square" lIns="0" tIns="0" rIns="0" bIns="0" rtlCol="0" anchor="ctr"/>
          <a:lstStyle/>
          <a:p>
            <a:pPr indent="0" marL="0">
              <a:buNone/>
            </a:pPr>
            <a:r>
              <a:rPr lang="en-US" sz="1050" b="1" dirty="0">
                <a:solidFill>
                  <a:srgbClr val="21295C"/>
                </a:solidFill>
                <a:latin typeface="Malgun Gothic" pitchFamily="34" charset="0"/>
                <a:ea typeface="Malgun Gothic" pitchFamily="34" charset="-122"/>
                <a:cs typeface="Malgun Gothic" pitchFamily="34" charset="-120"/>
              </a:rPr>
              <a:t>공통 스펙의 후보</a:t>
            </a:r>
            <a:endParaRPr lang="en-US" sz="1050" dirty="0"/>
          </a:p>
        </p:txBody>
      </p:sp>
      <p:sp>
        <p:nvSpPr>
          <p:cNvPr id="21" name="Text 17"/>
          <p:cNvSpPr/>
          <p:nvPr/>
        </p:nvSpPr>
        <p:spPr>
          <a:xfrm>
            <a:off x="7351776" y="5303520"/>
            <a:ext cx="4023360" cy="841248"/>
          </a:xfrm>
          <a:prstGeom prst="rect">
            <a:avLst/>
          </a:prstGeom>
          <a:noFill/>
          <a:ln/>
        </p:spPr>
        <p:txBody>
          <a:bodyPr wrap="square" lIns="0" tIns="0" rIns="0" bIns="0" rtlCol="0" anchor="ctr"/>
          <a:lstStyle/>
          <a:p>
            <a:pPr indent="0" marL="0">
              <a:lnSpc>
                <a:spcPts val="1500"/>
              </a:lnSpc>
              <a:buNone/>
            </a:pPr>
            <a:r>
              <a:rPr lang="en-US" sz="1050" dirty="0">
                <a:solidFill>
                  <a:srgbClr val="1E2739"/>
                </a:solidFill>
                <a:latin typeface="Malgun Gothic" pitchFamily="34" charset="0"/>
                <a:ea typeface="Malgun Gothic" pitchFamily="34" charset="-122"/>
                <a:cs typeface="Malgun Gothic" pitchFamily="34" charset="-120"/>
              </a:rPr>
              <a:t>플랫폼·기하에 무관하게 계산 가능한 하나의 숫자. 시야각이나 색재현율처럼 스펙화할 수 있다.</a:t>
            </a:r>
            <a:endParaRPr lang="en-US" sz="1050" dirty="0"/>
          </a:p>
        </p:txBody>
      </p:sp>
      <p:sp>
        <p:nvSpPr>
          <p:cNvPr id="22" name="Text 18"/>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Fig. 5 — 세 가지 변형 함수족에 대해 ρ = 0.3, 0.6, 0.9, 0.95, 0.99 를 만들어 실제 이미지에 적용</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40</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07</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VALIDATION</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실험 검증</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FEA와 DIC로 변위장을 재고, 스프레이 패턴으로 눈으로 확인하고,</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마지막에 실제 LED 디스플레이를 얹어 구동한다.</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41</a:t>
            </a:r>
            <a:endParaRPr lang="en-US" sz="1000" dirty="0"/>
          </a:p>
        </p:txBody>
      </p:sp>
      <p:sp>
        <p:nvSpPr>
          <p:cNvPr id="3" name="Shape 1"/>
          <p:cNvSpPr/>
          <p:nvPr/>
        </p:nvSpPr>
        <p:spPr>
          <a:xfrm>
            <a:off x="566928" y="310896"/>
            <a:ext cx="1239012" cy="274320"/>
          </a:xfrm>
          <a:prstGeom prst="roundRect">
            <a:avLst>
              <a:gd name="adj" fmla="val 50000"/>
            </a:avLst>
          </a:prstGeom>
          <a:solidFill>
            <a:srgbClr val="1C7293"/>
          </a:solidFill>
          <a:ln/>
        </p:spPr>
      </p:sp>
      <p:sp>
        <p:nvSpPr>
          <p:cNvPr id="4" name="Text 2"/>
          <p:cNvSpPr/>
          <p:nvPr/>
        </p:nvSpPr>
        <p:spPr>
          <a:xfrm>
            <a:off x="566928" y="310896"/>
            <a:ext cx="12390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FABRICATION</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제작 공정과 계면 신뢰성</a:t>
            </a:r>
            <a:endParaRPr lang="en-US" sz="2800" dirty="0"/>
          </a:p>
        </p:txBody>
      </p:sp>
      <p:pic>
        <p:nvPicPr>
          <p:cNvPr id="6" name="Image 0" descr="crops/sf10.png">    </p:cNvPr>
          <p:cNvPicPr>
            <a:picLocks noChangeAspect="1"/>
          </p:cNvPicPr>
          <p:nvPr/>
        </p:nvPicPr>
        <p:blipFill>
          <a:blip r:embed="rId1"/>
          <a:stretch>
            <a:fillRect/>
          </a:stretch>
        </p:blipFill>
        <p:spPr>
          <a:xfrm>
            <a:off x="1621068" y="1444752"/>
            <a:ext cx="4566840" cy="3529584"/>
          </a:xfrm>
          <a:prstGeom prst="rect">
            <a:avLst/>
          </a:prstGeom>
        </p:spPr>
      </p:pic>
      <p:sp>
        <p:nvSpPr>
          <p:cNvPr id="7" name="Text 4"/>
          <p:cNvSpPr/>
          <p:nvPr/>
        </p:nvSpPr>
        <p:spPr>
          <a:xfrm>
            <a:off x="566928" y="5029200"/>
            <a:ext cx="667512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Supplementary Fig. 10 — 프레임·기판 제작 및 LED 어레이 전사·본딩 절차</a:t>
            </a:r>
            <a:endParaRPr lang="en-US" sz="950" dirty="0"/>
          </a:p>
        </p:txBody>
      </p:sp>
      <p:sp>
        <p:nvSpPr>
          <p:cNvPr id="8" name="Shape 5"/>
          <p:cNvSpPr/>
          <p:nvPr/>
        </p:nvSpPr>
        <p:spPr>
          <a:xfrm>
            <a:off x="7479792" y="1444752"/>
            <a:ext cx="4069080" cy="2395728"/>
          </a:xfrm>
          <a:prstGeom prst="roundRect">
            <a:avLst>
              <a:gd name="adj" fmla="val 3435"/>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7717536" y="1572768"/>
            <a:ext cx="356616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재료와 치수</a:t>
            </a:r>
            <a:endParaRPr lang="en-US" sz="1300" dirty="0"/>
          </a:p>
        </p:txBody>
      </p:sp>
      <p:sp>
        <p:nvSpPr>
          <p:cNvPr id="10" name="Text 7"/>
          <p:cNvSpPr/>
          <p:nvPr/>
        </p:nvSpPr>
        <p:spPr>
          <a:xfrm>
            <a:off x="7717536" y="1920240"/>
            <a:ext cx="3621024" cy="1810512"/>
          </a:xfrm>
          <a:prstGeom prst="rect">
            <a:avLst/>
          </a:prstGeom>
          <a:noFill/>
          <a:ln/>
        </p:spPr>
        <p:txBody>
          <a:bodyPr wrap="square" lIns="0" tIns="0" rIns="0" bIns="0" rtlCol="0" anchor="t"/>
          <a:lstStyle/>
          <a:p>
            <a:pPr marL="342900" indent="-342900">
              <a:lnSpc>
                <a:spcPts val="1800"/>
              </a:lnSpc>
              <a:spcAft>
                <a:spcPts val="4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프레임: TASK-15 경질 수지, E = 868.74 MPa (3D 프린팅 마스터 → Dragon Skin 20 소프트몰드 복제)</a:t>
            </a:r>
            <a:endParaRPr lang="en-US" sz="1050" dirty="0"/>
          </a:p>
          <a:p>
            <a:pPr marL="342900" indent="-342900">
              <a:lnSpc>
                <a:spcPts val="1800"/>
              </a:lnSpc>
              <a:spcAft>
                <a:spcPts val="4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기판: Dragon Skin 10, 두께 50 µm, E = 0.125 MPa, edge-stiffening layer 일체 성형</a:t>
            </a:r>
            <a:endParaRPr lang="en-US" sz="1050" dirty="0"/>
          </a:p>
          <a:p>
            <a:pPr marL="342900" indent="-342900">
              <a:lnSpc>
                <a:spcPts val="1800"/>
              </a:lnSpc>
              <a:spcAft>
                <a:spcPts val="400"/>
              </a:spcAft>
              <a:buSzPct val="100000"/>
              <a:buChar char="•"/>
            </a:pPr>
            <a:r>
              <a:rPr lang="en-US" sz="1050" dirty="0">
                <a:solidFill>
                  <a:srgbClr val="1E2739"/>
                </a:solidFill>
                <a:latin typeface="Malgun Gothic" pitchFamily="34" charset="0"/>
                <a:ea typeface="Malgun Gothic" pitchFamily="34" charset="-122"/>
                <a:cs typeface="Malgun Gothic" pitchFamily="34" charset="-120"/>
              </a:rPr>
              <a:t>접착: AXIA 2700 — 원기둥 앵커 상면에만 도포</a:t>
            </a:r>
            <a:endParaRPr lang="en-US" sz="1050" dirty="0"/>
          </a:p>
        </p:txBody>
      </p:sp>
      <p:sp>
        <p:nvSpPr>
          <p:cNvPr id="11" name="Shape 8"/>
          <p:cNvSpPr/>
          <p:nvPr/>
        </p:nvSpPr>
        <p:spPr>
          <a:xfrm>
            <a:off x="7479792" y="3968496"/>
            <a:ext cx="4069080" cy="2139696"/>
          </a:xfrm>
          <a:prstGeom prst="roundRect">
            <a:avLst>
              <a:gd name="adj" fmla="val 3846"/>
            </a:avLst>
          </a:prstGeom>
          <a:solidFill>
            <a:srgbClr val="E2EBF3"/>
          </a:solidFill>
          <a:ln/>
          <a:effectLst>
            <a:outerShdw sx="100000" sy="100000" kx="0" ky="0" algn="bl" rotWithShape="0" blurRad="114300" dist="25400" dir="5400000">
              <a:srgbClr val="7E90A8">
                <a:alpha val="16000"/>
              </a:srgbClr>
            </a:outerShdw>
          </a:effectLst>
        </p:spPr>
      </p:sp>
      <p:sp>
        <p:nvSpPr>
          <p:cNvPr id="12" name="Text 9"/>
          <p:cNvSpPr/>
          <p:nvPr/>
        </p:nvSpPr>
        <p:spPr>
          <a:xfrm>
            <a:off x="7717536" y="4096512"/>
            <a:ext cx="356616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계면 신뢰성 (Suppl. Fig. 11)</a:t>
            </a:r>
            <a:endParaRPr lang="en-US" sz="1300" dirty="0"/>
          </a:p>
        </p:txBody>
      </p:sp>
      <p:sp>
        <p:nvSpPr>
          <p:cNvPr id="13" name="Text 10"/>
          <p:cNvSpPr/>
          <p:nvPr/>
        </p:nvSpPr>
        <p:spPr>
          <a:xfrm>
            <a:off x="7717536" y="4443984"/>
            <a:ext cx="3621024" cy="1554480"/>
          </a:xfrm>
          <a:prstGeom prst="rect">
            <a:avLst/>
          </a:prstGeom>
          <a:noFill/>
          <a:ln/>
        </p:spPr>
        <p:txBody>
          <a:bodyPr wrap="square" lIns="0" tIns="0" rIns="0" bIns="0" rtlCol="0" anchor="t"/>
          <a:lstStyle/>
          <a:p>
            <a:pPr indent="0" marL="0">
              <a:lnSpc>
                <a:spcPts val="1800"/>
              </a:lnSpc>
              <a:buNone/>
            </a:pPr>
            <a:r>
              <a:rPr lang="en-US" sz="1500" b="1" dirty="0">
                <a:solidFill>
                  <a:srgbClr val="1C7293"/>
                </a:solidFill>
                <a:latin typeface="Cambria" pitchFamily="34" charset="0"/>
                <a:ea typeface="Cambria" pitchFamily="34" charset="-122"/>
                <a:cs typeface="Cambria" pitchFamily="34" charset="-120"/>
              </a:rPr>
              <a:t>1.518 MPa</a:t>
            </a:r>
            <a:pPr indent="0" marL="0">
              <a:lnSpc>
                <a:spcPts val="1800"/>
              </a:lnSpc>
              <a:buNone/>
            </a:pPr>
            <a:r>
              <a:rPr lang="en-US" sz="1050" dirty="0">
                <a:solidFill>
                  <a:srgbClr val="1E2739"/>
                </a:solidFill>
                <a:latin typeface="Malgun Gothic" pitchFamily="34" charset="0"/>
                <a:ea typeface="Malgun Gothic" pitchFamily="34" charset="-122"/>
                <a:cs typeface="Malgun Gothic" pitchFamily="34" charset="-120"/>
              </a:rPr>
              <a:t>   접착제 lap shear 강도
</a:t>
            </a:r>
            <a:pPr indent="0" marL="0">
              <a:lnSpc>
                <a:spcPts val="1800"/>
              </a:lnSpc>
              <a:buNone/>
            </a:pPr>
            <a:r>
              <a:rPr lang="en-US" sz="1500" b="1" dirty="0">
                <a:solidFill>
                  <a:srgbClr val="21295C"/>
                </a:solidFill>
                <a:latin typeface="Cambria" pitchFamily="34" charset="0"/>
                <a:ea typeface="Cambria" pitchFamily="34" charset="-122"/>
                <a:cs typeface="Cambria" pitchFamily="34" charset="-120"/>
              </a:rPr>
              <a:t>0.22 MPa</a:t>
            </a:r>
            <a:pPr indent="0" marL="0">
              <a:lnSpc>
                <a:spcPts val="1800"/>
              </a:lnSpc>
              <a:buNone/>
            </a:pPr>
            <a:r>
              <a:rPr lang="en-US" sz="1050" dirty="0">
                <a:solidFill>
                  <a:srgbClr val="1E2739"/>
                </a:solidFill>
                <a:latin typeface="Malgun Gothic" pitchFamily="34" charset="0"/>
                <a:ea typeface="Malgun Gothic" pitchFamily="34" charset="-122"/>
                <a:cs typeface="Malgun Gothic" pitchFamily="34" charset="-120"/>
              </a:rPr>
              <a:t>   15% 수직 인장 시 최대 계면 전단 (24개 앵커 중)
</a:t>
            </a:r>
            <a:pPr indent="0" marL="0">
              <a:lnSpc>
                <a:spcPts val="1800"/>
              </a:lnSpc>
              <a:buNone/>
            </a:pPr>
            <a:r>
              <a:rPr lang="en-US" sz="1500" b="1" dirty="0">
                <a:solidFill>
                  <a:srgbClr val="21295C"/>
                </a:solidFill>
                <a:latin typeface="Cambria" pitchFamily="34" charset="0"/>
                <a:ea typeface="Cambria" pitchFamily="34" charset="-122"/>
                <a:cs typeface="Cambria" pitchFamily="34" charset="-120"/>
              </a:rPr>
              <a:t>0.246 MPa</a:t>
            </a:r>
            <a:pPr indent="0" marL="0">
              <a:lnSpc>
                <a:spcPts val="1800"/>
              </a:lnSpc>
              <a:buNone/>
            </a:pPr>
            <a:r>
              <a:rPr lang="en-US" sz="1050" dirty="0">
                <a:solidFill>
                  <a:srgbClr val="1E2739"/>
                </a:solidFill>
                <a:latin typeface="Malgun Gothic" pitchFamily="34" charset="0"/>
                <a:ea typeface="Malgun Gothic" pitchFamily="34" charset="-122"/>
                <a:cs typeface="Malgun Gothic" pitchFamily="34" charset="-120"/>
              </a:rPr>
              <a:t>   터치 모사 30 mN 압입 시 최대 계면 전단</a:t>
            </a:r>
            <a:endParaRPr lang="en-US" sz="1500" dirty="0"/>
          </a:p>
        </p:txBody>
      </p:sp>
      <p:sp>
        <p:nvSpPr>
          <p:cNvPr id="14" name="Text 11"/>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Methods · Supplementary Fig. 10, 11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42</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FEA vs DIC</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등방 팽창의 실측 — 변위장과 ρ</a:t>
            </a:r>
            <a:endParaRPr lang="en-US" sz="2800" dirty="0"/>
          </a:p>
        </p:txBody>
      </p:sp>
      <p:pic>
        <p:nvPicPr>
          <p:cNvPr id="6" name="Image 0" descr="crops/f4a.png">    </p:cNvPr>
          <p:cNvPicPr>
            <a:picLocks noChangeAspect="1"/>
          </p:cNvPicPr>
          <p:nvPr/>
        </p:nvPicPr>
        <p:blipFill>
          <a:blip r:embed="rId1"/>
          <a:stretch>
            <a:fillRect/>
          </a:stretch>
        </p:blipFill>
        <p:spPr>
          <a:xfrm>
            <a:off x="898415" y="1444752"/>
            <a:ext cx="6743665" cy="3547872"/>
          </a:xfrm>
          <a:prstGeom prst="rect">
            <a:avLst/>
          </a:prstGeom>
        </p:spPr>
      </p:pic>
      <p:pic>
        <p:nvPicPr>
          <p:cNvPr id="7" name="Image 1" descr="crops/f4b.png">    </p:cNvPr>
          <p:cNvPicPr>
            <a:picLocks noChangeAspect="1"/>
          </p:cNvPicPr>
          <p:nvPr/>
        </p:nvPicPr>
        <p:blipFill>
          <a:blip r:embed="rId2"/>
          <a:stretch>
            <a:fillRect/>
          </a:stretch>
        </p:blipFill>
        <p:spPr>
          <a:xfrm>
            <a:off x="8372519" y="1444752"/>
            <a:ext cx="2978571" cy="3072384"/>
          </a:xfrm>
          <a:prstGeom prst="rect">
            <a:avLst/>
          </a:prstGeom>
        </p:spPr>
      </p:pic>
      <p:sp>
        <p:nvSpPr>
          <p:cNvPr id="8" name="Text 4"/>
          <p:cNvSpPr/>
          <p:nvPr/>
        </p:nvSpPr>
        <p:spPr>
          <a:xfrm>
            <a:off x="566928" y="5065776"/>
            <a:ext cx="740664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4a — |u| 공간 분포 (상단 FEA / 하단 DIC 실측)</a:t>
            </a:r>
            <a:endParaRPr lang="en-US" sz="950" dirty="0"/>
          </a:p>
        </p:txBody>
      </p:sp>
      <p:sp>
        <p:nvSpPr>
          <p:cNvPr id="9" name="Text 5"/>
          <p:cNvSpPr/>
          <p:nvPr/>
        </p:nvSpPr>
        <p:spPr>
          <a:xfrm>
            <a:off x="8174736" y="4626864"/>
            <a:ext cx="3374136"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4b — DIC 기반 등방 팽창 계수 비교</a:t>
            </a:r>
            <a:endParaRPr lang="en-US" sz="950" dirty="0"/>
          </a:p>
        </p:txBody>
      </p:sp>
      <p:sp>
        <p:nvSpPr>
          <p:cNvPr id="10" name="Shape 6"/>
          <p:cNvSpPr/>
          <p:nvPr/>
        </p:nvSpPr>
        <p:spPr>
          <a:xfrm>
            <a:off x="566928" y="5376672"/>
            <a:ext cx="7406640" cy="731520"/>
          </a:xfrm>
          <a:prstGeom prst="roundRect">
            <a:avLst>
              <a:gd name="adj" fmla="val 11250"/>
            </a:avLst>
          </a:prstGeom>
          <a:solidFill>
            <a:srgbClr val="EFF4F9"/>
          </a:solidFill>
          <a:ln/>
          <a:effectLst>
            <a:outerShdw sx="100000" sy="100000" kx="0" ky="0" algn="bl" rotWithShape="0" blurRad="114300" dist="25400" dir="5400000">
              <a:srgbClr val="7E90A8">
                <a:alpha val="16000"/>
              </a:srgbClr>
            </a:outerShdw>
          </a:effectLst>
        </p:spPr>
      </p:sp>
      <p:sp>
        <p:nvSpPr>
          <p:cNvPr id="11" name="Text 7"/>
          <p:cNvSpPr/>
          <p:nvPr/>
        </p:nvSpPr>
        <p:spPr>
          <a:xfrm>
            <a:off x="841248" y="5376672"/>
            <a:ext cx="6858000" cy="731520"/>
          </a:xfrm>
          <a:prstGeom prst="rect">
            <a:avLst/>
          </a:prstGeom>
          <a:noFill/>
          <a:ln/>
        </p:spPr>
        <p:txBody>
          <a:bodyPr wrap="square" lIns="0" tIns="0" rIns="0" bIns="0" rtlCol="0" anchor="ctr"/>
          <a:lstStyle/>
          <a:p>
            <a:pPr indent="0" marL="0">
              <a:lnSpc>
                <a:spcPts val="1700"/>
              </a:lnSpc>
              <a:buNone/>
            </a:pPr>
            <a:r>
              <a:rPr lang="en-US" sz="1150" b="1" dirty="0">
                <a:solidFill>
                  <a:srgbClr val="E2592C"/>
                </a:solidFill>
                <a:latin typeface="Malgun Gothic" pitchFamily="34" charset="0"/>
                <a:ea typeface="Malgun Gothic" pitchFamily="34" charset="-122"/>
                <a:cs typeface="Malgun Gothic" pitchFamily="34" charset="-120"/>
              </a:rPr>
              <a:t>전면 접합:  </a:t>
            </a:r>
            <a:pP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|u| 분포에 뚜렷한 방향성과 패턴이 나타난다.      </a:t>
            </a:r>
            <a:pPr indent="0" marL="0">
              <a:lnSpc>
                <a:spcPts val="1700"/>
              </a:lnSpc>
              <a:buNone/>
            </a:pPr>
            <a:r>
              <a:rPr lang="en-US" sz="1150" b="1" dirty="0">
                <a:solidFill>
                  <a:srgbClr val="1C7293"/>
                </a:solidFill>
                <a:latin typeface="Malgun Gothic" pitchFamily="34" charset="0"/>
                <a:ea typeface="Malgun Gothic" pitchFamily="34" charset="-122"/>
                <a:cs typeface="Malgun Gothic" pitchFamily="34" charset="-120"/>
              </a:rPr>
              <a:t>제안 플랫폼:  </a:t>
            </a:r>
            <a:pPr indent="0" marL="0">
              <a:lnSpc>
                <a:spcPts val="1700"/>
              </a:lnSpc>
              <a:buNone/>
            </a:pPr>
            <a:r>
              <a:rPr lang="en-US" sz="1150" dirty="0">
                <a:solidFill>
                  <a:srgbClr val="1E2739"/>
                </a:solidFill>
                <a:latin typeface="Malgun Gothic" pitchFamily="34" charset="0"/>
                <a:ea typeface="Malgun Gothic" pitchFamily="34" charset="-122"/>
                <a:cs typeface="Malgun Gothic" pitchFamily="34" charset="-120"/>
              </a:rPr>
              <a:t>|u| 가 모든 방향에서 |r| 에 선형 비례한다 — u = k·r 그대로.</a:t>
            </a:r>
            <a:endParaRPr lang="en-US" sz="1150" dirty="0"/>
          </a:p>
        </p:txBody>
      </p:sp>
      <p:sp>
        <p:nvSpPr>
          <p:cNvPr id="12" name="Shape 8"/>
          <p:cNvSpPr/>
          <p:nvPr/>
        </p:nvSpPr>
        <p:spPr>
          <a:xfrm>
            <a:off x="8174736" y="4937760"/>
            <a:ext cx="3374136" cy="1170432"/>
          </a:xfrm>
          <a:prstGeom prst="roundRect">
            <a:avLst>
              <a:gd name="adj" fmla="val 7031"/>
            </a:avLst>
          </a:prstGeom>
          <a:solidFill>
            <a:srgbClr val="E2EBF3"/>
          </a:solidFill>
          <a:ln/>
          <a:effectLst>
            <a:outerShdw sx="100000" sy="100000" kx="0" ky="0" algn="bl" rotWithShape="0" blurRad="114300" dist="25400" dir="5400000">
              <a:srgbClr val="7E90A8">
                <a:alpha val="16000"/>
              </a:srgbClr>
            </a:outerShdw>
          </a:effectLst>
        </p:spPr>
      </p:sp>
      <p:sp>
        <p:nvSpPr>
          <p:cNvPr id="13" name="Text 9"/>
          <p:cNvSpPr/>
          <p:nvPr/>
        </p:nvSpPr>
        <p:spPr>
          <a:xfrm>
            <a:off x="8412480" y="4937760"/>
            <a:ext cx="2926080" cy="1170432"/>
          </a:xfrm>
          <a:prstGeom prst="rect">
            <a:avLst/>
          </a:prstGeom>
          <a:noFill/>
          <a:ln/>
        </p:spPr>
        <p:txBody>
          <a:bodyPr wrap="square" lIns="0" tIns="0" rIns="0" bIns="0" rtlCol="0" anchor="ctr"/>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3~15% 전 구간에서 제안 플랫폼의 ρ 가 일관되게 1에 가깝고, 전면 접합 대비 수평·수직 모두 우위. FEA와 DIC가 잘 일치한다.</a:t>
            </a:r>
            <a:endParaRPr lang="en-US" sz="1050" dirty="0"/>
          </a:p>
        </p:txBody>
      </p:sp>
      <p:sp>
        <p:nvSpPr>
          <p:cNvPr id="14"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DIC: ARAMIS (stereo CCD) · FEA: COMSOL Multiphysics, 기하 비선형 정적 해석</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43</a:t>
            </a:r>
            <a:endParaRPr lang="en-US" sz="1000" dirty="0"/>
          </a:p>
        </p:txBody>
      </p:sp>
      <p:sp>
        <p:nvSpPr>
          <p:cNvPr id="3" name="Shape 1"/>
          <p:cNvSpPr/>
          <p:nvPr/>
        </p:nvSpPr>
        <p:spPr>
          <a:xfrm>
            <a:off x="566928" y="310896"/>
            <a:ext cx="1335024" cy="274320"/>
          </a:xfrm>
          <a:prstGeom prst="roundRect">
            <a:avLst>
              <a:gd name="adj" fmla="val 50000"/>
            </a:avLst>
          </a:prstGeom>
          <a:solidFill>
            <a:srgbClr val="1C7293"/>
          </a:solidFill>
          <a:ln/>
        </p:spPr>
      </p:sp>
      <p:sp>
        <p:nvSpPr>
          <p:cNvPr id="4" name="Text 2"/>
          <p:cNvSpPr/>
          <p:nvPr/>
        </p:nvSpPr>
        <p:spPr>
          <a:xfrm>
            <a:off x="566928" y="310896"/>
            <a:ext cx="13350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VISUAL PROOF</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눈으로 보는 검증 — 스프레이 프린팅 패턴</a:t>
            </a:r>
            <a:endParaRPr lang="en-US" sz="2800" dirty="0"/>
          </a:p>
        </p:txBody>
      </p:sp>
      <p:pic>
        <p:nvPicPr>
          <p:cNvPr id="6" name="Image 0" descr="crops/f4cde.png">    </p:cNvPr>
          <p:cNvPicPr>
            <a:picLocks noChangeAspect="1"/>
          </p:cNvPicPr>
          <p:nvPr/>
        </p:nvPicPr>
        <p:blipFill>
          <a:blip r:embed="rId1"/>
          <a:stretch>
            <a:fillRect/>
          </a:stretch>
        </p:blipFill>
        <p:spPr>
          <a:xfrm>
            <a:off x="1177392" y="1444752"/>
            <a:ext cx="9836912" cy="1883664"/>
          </a:xfrm>
          <a:prstGeom prst="rect">
            <a:avLst/>
          </a:prstGeom>
        </p:spPr>
      </p:pic>
      <p:pic>
        <p:nvPicPr>
          <p:cNvPr id="7" name="Image 1" descr="crops/f4fgh.png">    </p:cNvPr>
          <p:cNvPicPr>
            <a:picLocks noChangeAspect="1"/>
          </p:cNvPicPr>
          <p:nvPr/>
        </p:nvPicPr>
        <p:blipFill>
          <a:blip r:embed="rId2"/>
          <a:stretch>
            <a:fillRect/>
          </a:stretch>
        </p:blipFill>
        <p:spPr>
          <a:xfrm>
            <a:off x="1691933" y="3438144"/>
            <a:ext cx="8807830" cy="2084832"/>
          </a:xfrm>
          <a:prstGeom prst="rect">
            <a:avLst/>
          </a:prstGeom>
        </p:spPr>
      </p:pic>
      <p:sp>
        <p:nvSpPr>
          <p:cNvPr id="8" name="Text 4"/>
          <p:cNvSpPr/>
          <p:nvPr/>
        </p:nvSpPr>
        <p:spPr>
          <a:xfrm>
            <a:off x="566928" y="5596128"/>
            <a:ext cx="11057839"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4c–h — 15% 수평/수직 인장 하에서 전면 접합(좌) 대비 제안 플랫폼(우)의 문자·모티프 패턴</a:t>
            </a:r>
            <a:endParaRPr lang="en-US" sz="950" dirty="0"/>
          </a:p>
        </p:txBody>
      </p:sp>
      <p:sp>
        <p:nvSpPr>
          <p:cNvPr id="9" name="Shape 5"/>
          <p:cNvSpPr/>
          <p:nvPr/>
        </p:nvSpPr>
        <p:spPr>
          <a:xfrm>
            <a:off x="566928" y="5888736"/>
            <a:ext cx="11057839" cy="310896"/>
          </a:xfrm>
          <a:prstGeom prst="roundRect">
            <a:avLst>
              <a:gd name="adj" fmla="val 26471"/>
            </a:avLst>
          </a:prstGeom>
          <a:solidFill>
            <a:srgbClr val="E2EBF3"/>
          </a:solidFill>
          <a:ln/>
          <a:effectLst>
            <a:outerShdw sx="100000" sy="100000" kx="0" ky="0" algn="bl" rotWithShape="0" blurRad="114300" dist="25400" dir="5400000">
              <a:srgbClr val="7E90A8">
                <a:alpha val="16000"/>
              </a:srgbClr>
            </a:outerShdw>
          </a:effectLst>
        </p:spPr>
      </p:sp>
      <p:sp>
        <p:nvSpPr>
          <p:cNvPr id="10" name="Text 6"/>
          <p:cNvSpPr/>
          <p:nvPr/>
        </p:nvSpPr>
        <p:spPr>
          <a:xfrm>
            <a:off x="786384" y="5888736"/>
            <a:ext cx="10618927" cy="310896"/>
          </a:xfrm>
          <a:prstGeom prst="rect">
            <a:avLst/>
          </a:prstGeom>
          <a:noFill/>
          <a:ln/>
        </p:spPr>
        <p:txBody>
          <a:bodyPr wrap="square" lIns="0" tIns="0" rIns="0" bIns="0" rtlCol="0" anchor="ctr"/>
          <a:lstStyle/>
          <a:p>
            <a:pPr indent="0" marL="0">
              <a:buNone/>
            </a:pPr>
            <a:r>
              <a:rPr lang="en-US" sz="950" dirty="0">
                <a:solidFill>
                  <a:srgbClr val="1E2739"/>
                </a:solidFill>
                <a:latin typeface="Malgun Gothic" pitchFamily="34" charset="0"/>
                <a:ea typeface="Malgun Gothic" pitchFamily="34" charset="-122"/>
                <a:cs typeface="Malgun Gothic" pitchFamily="34" charset="-120"/>
              </a:rPr>
              <a:t>(n_H, n_V) = (5, 4) with (W, L, D) = (14, 0.5, 0.4) mm      ·      (n_H, n_V) = (5, 5) with (W, L, D) = (17, 0.5, 0.5) mm      ·      전면 접합에서는 국부 왜곡이 뚜렷하나 제안 플랫폼은 형태와 국부 종횡비를 보존</a:t>
            </a:r>
            <a:endParaRPr lang="en-US" sz="950" dirty="0"/>
          </a:p>
        </p:txBody>
      </p:sp>
      <p:sp>
        <p:nvSpPr>
          <p:cNvPr id="11" name="Text 7"/>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44</a:t>
            </a:r>
            <a:endParaRPr lang="en-US" sz="1000" dirty="0"/>
          </a:p>
        </p:txBody>
      </p:sp>
      <p:sp>
        <p:nvSpPr>
          <p:cNvPr id="3" name="Shape 1"/>
          <p:cNvSpPr/>
          <p:nvPr/>
        </p:nvSpPr>
        <p:spPr>
          <a:xfrm>
            <a:off x="566928" y="310896"/>
            <a:ext cx="1239012" cy="274320"/>
          </a:xfrm>
          <a:prstGeom prst="roundRect">
            <a:avLst>
              <a:gd name="adj" fmla="val 50000"/>
            </a:avLst>
          </a:prstGeom>
          <a:solidFill>
            <a:srgbClr val="1C7293"/>
          </a:solidFill>
          <a:ln/>
        </p:spPr>
      </p:sp>
      <p:sp>
        <p:nvSpPr>
          <p:cNvPr id="4" name="Text 2"/>
          <p:cNvSpPr/>
          <p:nvPr/>
        </p:nvSpPr>
        <p:spPr>
          <a:xfrm>
            <a:off x="566928" y="310896"/>
            <a:ext cx="123901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DEVICE DEMO</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스트레처블 LED 디스플레이 — 구동과 신뢰성</a:t>
            </a:r>
            <a:endParaRPr lang="en-US" sz="2800" dirty="0"/>
          </a:p>
        </p:txBody>
      </p:sp>
      <p:pic>
        <p:nvPicPr>
          <p:cNvPr id="6" name="Image 0" descr="crops/f5a.png">    </p:cNvPr>
          <p:cNvPicPr>
            <a:picLocks noChangeAspect="1"/>
          </p:cNvPicPr>
          <p:nvPr/>
        </p:nvPicPr>
        <p:blipFill>
          <a:blip r:embed="rId1"/>
          <a:stretch>
            <a:fillRect/>
          </a:stretch>
        </p:blipFill>
        <p:spPr>
          <a:xfrm>
            <a:off x="988653" y="1444752"/>
            <a:ext cx="5831670" cy="3566160"/>
          </a:xfrm>
          <a:prstGeom prst="rect">
            <a:avLst/>
          </a:prstGeom>
        </p:spPr>
      </p:pic>
      <p:pic>
        <p:nvPicPr>
          <p:cNvPr id="7" name="Image 1" descr="crops/f5bc.png">    </p:cNvPr>
          <p:cNvPicPr>
            <a:picLocks noChangeAspect="1"/>
          </p:cNvPicPr>
          <p:nvPr/>
        </p:nvPicPr>
        <p:blipFill>
          <a:blip r:embed="rId2"/>
          <a:stretch>
            <a:fillRect/>
          </a:stretch>
        </p:blipFill>
        <p:spPr>
          <a:xfrm>
            <a:off x="7635616" y="1444752"/>
            <a:ext cx="3757432" cy="3566160"/>
          </a:xfrm>
          <a:prstGeom prst="rect">
            <a:avLst/>
          </a:prstGeom>
        </p:spPr>
      </p:pic>
      <p:sp>
        <p:nvSpPr>
          <p:cNvPr id="8" name="Text 4"/>
          <p:cNvSpPr/>
          <p:nvPr/>
        </p:nvSpPr>
        <p:spPr>
          <a:xfrm>
            <a:off x="566928" y="5084064"/>
            <a:ext cx="667512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5a — 7 × 5 스트레처블 LED 어레이의 수평·수직 10 % / 15 % 인장</a:t>
            </a:r>
            <a:endParaRPr lang="en-US" sz="950" dirty="0"/>
          </a:p>
        </p:txBody>
      </p:sp>
      <p:sp>
        <p:nvSpPr>
          <p:cNvPr id="9" name="Text 5"/>
          <p:cNvSpPr/>
          <p:nvPr/>
        </p:nvSpPr>
        <p:spPr>
          <a:xfrm>
            <a:off x="7479792" y="5084064"/>
            <a:ext cx="406908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5b, c — I–V 특성 및 반복 인장 시 정규화 휘도</a:t>
            </a:r>
            <a:endParaRPr lang="en-US" sz="950" dirty="0"/>
          </a:p>
        </p:txBody>
      </p:sp>
      <p:sp>
        <p:nvSpPr>
          <p:cNvPr id="10" name="Shape 6"/>
          <p:cNvSpPr/>
          <p:nvPr/>
        </p:nvSpPr>
        <p:spPr>
          <a:xfrm>
            <a:off x="566928" y="5358384"/>
            <a:ext cx="3529584" cy="749808"/>
          </a:xfrm>
          <a:prstGeom prst="roundRect">
            <a:avLst>
              <a:gd name="adj" fmla="val 10976"/>
            </a:avLst>
          </a:prstGeom>
          <a:solidFill>
            <a:srgbClr val="EFF4F9"/>
          </a:solidFill>
          <a:ln/>
          <a:effectLst>
            <a:outerShdw sx="100000" sy="100000" kx="0" ky="0" algn="bl" rotWithShape="0" blurRad="114300" dist="25400" dir="5400000">
              <a:srgbClr val="7E90A8">
                <a:alpha val="16000"/>
              </a:srgbClr>
            </a:outerShdw>
          </a:effectLst>
        </p:spPr>
      </p:sp>
      <p:sp>
        <p:nvSpPr>
          <p:cNvPr id="11" name="Text 7"/>
          <p:cNvSpPr/>
          <p:nvPr/>
        </p:nvSpPr>
        <p:spPr>
          <a:xfrm>
            <a:off x="786384" y="5358384"/>
            <a:ext cx="3108960" cy="749808"/>
          </a:xfrm>
          <a:prstGeom prst="rect">
            <a:avLst/>
          </a:prstGeom>
          <a:noFill/>
          <a:ln/>
        </p:spPr>
        <p:txBody>
          <a:bodyPr wrap="square" lIns="0" tIns="0" rIns="0" bIns="0" rtlCol="0" anchor="ctr"/>
          <a:lstStyle/>
          <a:p>
            <a:pPr indent="0" marL="0">
              <a:lnSpc>
                <a:spcPts val="1300"/>
              </a:lnSpc>
              <a:buNone/>
            </a:pPr>
            <a:r>
              <a:rPr lang="en-US" sz="950" b="1" dirty="0">
                <a:solidFill>
                  <a:srgbClr val="1C7293"/>
                </a:solidFill>
                <a:latin typeface="Malgun Gothic" pitchFamily="34" charset="0"/>
                <a:ea typeface="Malgun Gothic" pitchFamily="34" charset="-122"/>
                <a:cs typeface="Malgun Gothic" pitchFamily="34" charset="-120"/>
              </a:rPr>
              <a:t>소자 구조  </a:t>
            </a:r>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Rigid island + serpentine interconnect. 30 µm PI 위에 레이저 패터닝, 캐소드/애노드를 PI 상·하면에 분리 배치해 전기적 절연 확보. FPCB로 구동.</a:t>
            </a:r>
            <a:endParaRPr lang="en-US" sz="950" dirty="0"/>
          </a:p>
        </p:txBody>
      </p:sp>
      <p:sp>
        <p:nvSpPr>
          <p:cNvPr id="12" name="Shape 8"/>
          <p:cNvSpPr/>
          <p:nvPr/>
        </p:nvSpPr>
        <p:spPr>
          <a:xfrm>
            <a:off x="4279392" y="5358384"/>
            <a:ext cx="3529584" cy="749808"/>
          </a:xfrm>
          <a:prstGeom prst="roundRect">
            <a:avLst>
              <a:gd name="adj" fmla="val 10976"/>
            </a:avLst>
          </a:prstGeom>
          <a:solidFill>
            <a:srgbClr val="EFF4F9"/>
          </a:solidFill>
          <a:ln/>
          <a:effectLst>
            <a:outerShdw sx="100000" sy="100000" kx="0" ky="0" algn="bl" rotWithShape="0" blurRad="114300" dist="25400" dir="5400000">
              <a:srgbClr val="7E90A8">
                <a:alpha val="16000"/>
              </a:srgbClr>
            </a:outerShdw>
          </a:effectLst>
        </p:spPr>
      </p:sp>
      <p:sp>
        <p:nvSpPr>
          <p:cNvPr id="13" name="Text 9"/>
          <p:cNvSpPr/>
          <p:nvPr/>
        </p:nvSpPr>
        <p:spPr>
          <a:xfrm>
            <a:off x="4498848" y="5358384"/>
            <a:ext cx="3108960" cy="749808"/>
          </a:xfrm>
          <a:prstGeom prst="rect">
            <a:avLst/>
          </a:prstGeom>
          <a:noFill/>
          <a:ln/>
        </p:spPr>
        <p:txBody>
          <a:bodyPr wrap="square" lIns="0" tIns="0" rIns="0" bIns="0" rtlCol="0" anchor="ctr"/>
          <a:lstStyle/>
          <a:p>
            <a:pPr indent="0" marL="0">
              <a:lnSpc>
                <a:spcPts val="1300"/>
              </a:lnSpc>
              <a:buNone/>
            </a:pPr>
            <a:r>
              <a:rPr lang="en-US" sz="950" b="1" dirty="0">
                <a:solidFill>
                  <a:srgbClr val="1C7293"/>
                </a:solidFill>
                <a:latin typeface="Malgun Gothic" pitchFamily="34" charset="0"/>
                <a:ea typeface="Malgun Gothic" pitchFamily="34" charset="-122"/>
                <a:cs typeface="Malgun Gothic" pitchFamily="34" charset="-120"/>
              </a:rPr>
              <a:t>광전 특성  </a:t>
            </a:r>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εH, εV = 0 → 15% 전 구간에서 I–V 변화가 미미. 메시 구조 자체의 유효 푸아송비는 0에 가깝지만, 하부 엘라스토머의 변위를 그대로 따라가므로 등방 팽창이 전달된다.</a:t>
            </a:r>
            <a:endParaRPr lang="en-US" sz="950" dirty="0"/>
          </a:p>
        </p:txBody>
      </p:sp>
      <p:sp>
        <p:nvSpPr>
          <p:cNvPr id="14" name="Shape 10"/>
          <p:cNvSpPr/>
          <p:nvPr/>
        </p:nvSpPr>
        <p:spPr>
          <a:xfrm>
            <a:off x="7991856" y="5358384"/>
            <a:ext cx="3529584" cy="749808"/>
          </a:xfrm>
          <a:prstGeom prst="roundRect">
            <a:avLst>
              <a:gd name="adj" fmla="val 10976"/>
            </a:avLst>
          </a:prstGeom>
          <a:solidFill>
            <a:srgbClr val="EFF4F9"/>
          </a:solidFill>
          <a:ln/>
          <a:effectLst>
            <a:outerShdw sx="100000" sy="100000" kx="0" ky="0" algn="bl" rotWithShape="0" blurRad="114300" dist="25400" dir="5400000">
              <a:srgbClr val="7E90A8">
                <a:alpha val="16000"/>
              </a:srgbClr>
            </a:outerShdw>
          </a:effectLst>
        </p:spPr>
      </p:sp>
      <p:sp>
        <p:nvSpPr>
          <p:cNvPr id="15" name="Text 11"/>
          <p:cNvSpPr/>
          <p:nvPr/>
        </p:nvSpPr>
        <p:spPr>
          <a:xfrm>
            <a:off x="8211312" y="5358384"/>
            <a:ext cx="3108960" cy="749808"/>
          </a:xfrm>
          <a:prstGeom prst="rect">
            <a:avLst/>
          </a:prstGeom>
          <a:noFill/>
          <a:ln/>
        </p:spPr>
        <p:txBody>
          <a:bodyPr wrap="square" lIns="0" tIns="0" rIns="0" bIns="0" rtlCol="0" anchor="ctr"/>
          <a:lstStyle/>
          <a:p>
            <a:pPr indent="0" marL="0">
              <a:lnSpc>
                <a:spcPts val="1300"/>
              </a:lnSpc>
              <a:buNone/>
            </a:pPr>
            <a:r>
              <a:rPr lang="en-US" sz="950" b="1" dirty="0">
                <a:solidFill>
                  <a:srgbClr val="1C7293"/>
                </a:solidFill>
                <a:latin typeface="Malgun Gothic" pitchFamily="34" charset="0"/>
                <a:ea typeface="Malgun Gothic" pitchFamily="34" charset="-122"/>
                <a:cs typeface="Malgun Gothic" pitchFamily="34" charset="-120"/>
              </a:rPr>
              <a:t>기계 신뢰성  </a:t>
            </a:r>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15 % 변형에서 수평·수직 각 500 사이클 반복 후에도 휘도 저하 2 % 미만.</a:t>
            </a:r>
            <a:endParaRPr lang="en-US" sz="950" dirty="0"/>
          </a:p>
        </p:txBody>
      </p:sp>
      <p:sp>
        <p:nvSpPr>
          <p:cNvPr id="16" name="Text 12"/>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LED: Samsung Semiconductor LM102A · 측정: Keithley 2400 + Konica Minolta CS-2000</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45</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PM DISPLAY</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Passive-matrix 구동 — 20% 인장에서도 형태 유지</a:t>
            </a:r>
            <a:endParaRPr lang="en-US" sz="2800" dirty="0"/>
          </a:p>
        </p:txBody>
      </p:sp>
      <p:pic>
        <p:nvPicPr>
          <p:cNvPr id="6" name="Image 0" descr="crops/f5de.png">    </p:cNvPr>
          <p:cNvPicPr>
            <a:picLocks noChangeAspect="1"/>
          </p:cNvPicPr>
          <p:nvPr/>
        </p:nvPicPr>
        <p:blipFill>
          <a:blip r:embed="rId1"/>
          <a:stretch>
            <a:fillRect/>
          </a:stretch>
        </p:blipFill>
        <p:spPr>
          <a:xfrm>
            <a:off x="1451653" y="1444752"/>
            <a:ext cx="9288389" cy="3931920"/>
          </a:xfrm>
          <a:prstGeom prst="rect">
            <a:avLst/>
          </a:prstGeom>
        </p:spPr>
      </p:pic>
      <p:sp>
        <p:nvSpPr>
          <p:cNvPr id="7" name="Text 4"/>
          <p:cNvSpPr/>
          <p:nvPr/>
        </p:nvSpPr>
        <p:spPr>
          <a:xfrm>
            <a:off x="566928" y="5449824"/>
            <a:ext cx="11057839"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Fig. 5d, e — 10 × 10 PM LED 어레이의 화살표 패턴 및 'AUXETIC' 텍스트 애니메이션 (20 % 인장)</a:t>
            </a:r>
            <a:endParaRPr lang="en-US" sz="950" dirty="0"/>
          </a:p>
        </p:txBody>
      </p:sp>
      <p:sp>
        <p:nvSpPr>
          <p:cNvPr id="8" name="Shape 5"/>
          <p:cNvSpPr/>
          <p:nvPr/>
        </p:nvSpPr>
        <p:spPr>
          <a:xfrm>
            <a:off x="566928" y="5742432"/>
            <a:ext cx="3529584" cy="457200"/>
          </a:xfrm>
          <a:prstGeom prst="roundRect">
            <a:avLst>
              <a:gd name="adj" fmla="val 18000"/>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786384" y="5742432"/>
            <a:ext cx="3108960" cy="457200"/>
          </a:xfrm>
          <a:prstGeom prst="rect">
            <a:avLst/>
          </a:prstGeom>
          <a:noFill/>
          <a:ln/>
        </p:spPr>
        <p:txBody>
          <a:bodyPr wrap="square" lIns="0" tIns="0" rIns="0" bIns="0" rtlCol="0" anchor="ctr"/>
          <a:lstStyle/>
          <a:p>
            <a:pPr indent="0" marL="0">
              <a:buNone/>
            </a:pPr>
            <a:r>
              <a:rPr lang="en-US" sz="950" b="1" dirty="0">
                <a:solidFill>
                  <a:srgbClr val="1C7293"/>
                </a:solidFill>
                <a:latin typeface="Malgun Gothic" pitchFamily="34" charset="0"/>
                <a:ea typeface="Malgun Gothic" pitchFamily="34" charset="-122"/>
                <a:cs typeface="Malgun Gothic" pitchFamily="34" charset="-120"/>
              </a:rPr>
              <a:t>10 × 10 PM LED  </a:t>
            </a:r>
            <a:pPr indent="0" marL="0">
              <a:buNone/>
            </a:pPr>
            <a:r>
              <a:rPr lang="en-US" sz="950" dirty="0">
                <a:solidFill>
                  <a:srgbClr val="1E2739"/>
                </a:solidFill>
                <a:latin typeface="Malgun Gothic" pitchFamily="34" charset="0"/>
                <a:ea typeface="Malgun Gothic" pitchFamily="34" charset="-122"/>
                <a:cs typeface="Malgun Gothic" pitchFamily="34" charset="-120"/>
              </a:rPr>
              <a:t>(n_H, n_V) = (5, 5) 플랫폼 위에 대면적 적용성 검증</a:t>
            </a:r>
            <a:endParaRPr lang="en-US" sz="950" dirty="0"/>
          </a:p>
        </p:txBody>
      </p:sp>
      <p:sp>
        <p:nvSpPr>
          <p:cNvPr id="10" name="Shape 7"/>
          <p:cNvSpPr/>
          <p:nvPr/>
        </p:nvSpPr>
        <p:spPr>
          <a:xfrm>
            <a:off x="4279392" y="5742432"/>
            <a:ext cx="3529584" cy="457200"/>
          </a:xfrm>
          <a:prstGeom prst="roundRect">
            <a:avLst>
              <a:gd name="adj" fmla="val 18000"/>
            </a:avLst>
          </a:prstGeom>
          <a:solidFill>
            <a:srgbClr val="EFF4F9"/>
          </a:solidFill>
          <a:ln/>
          <a:effectLst>
            <a:outerShdw sx="100000" sy="100000" kx="0" ky="0" algn="bl" rotWithShape="0" blurRad="114300" dist="25400" dir="5400000">
              <a:srgbClr val="7E90A8">
                <a:alpha val="16000"/>
              </a:srgbClr>
            </a:outerShdw>
          </a:effectLst>
        </p:spPr>
      </p:sp>
      <p:sp>
        <p:nvSpPr>
          <p:cNvPr id="11" name="Text 8"/>
          <p:cNvSpPr/>
          <p:nvPr/>
        </p:nvSpPr>
        <p:spPr>
          <a:xfrm>
            <a:off x="4498848" y="5742432"/>
            <a:ext cx="3108960" cy="457200"/>
          </a:xfrm>
          <a:prstGeom prst="rect">
            <a:avLst/>
          </a:prstGeom>
          <a:noFill/>
          <a:ln/>
        </p:spPr>
        <p:txBody>
          <a:bodyPr wrap="square" lIns="0" tIns="0" rIns="0" bIns="0" rtlCol="0" anchor="ctr"/>
          <a:lstStyle/>
          <a:p>
            <a:pPr indent="0" marL="0">
              <a:buNone/>
            </a:pPr>
            <a:r>
              <a:rPr lang="en-US" sz="950" b="1" dirty="0">
                <a:solidFill>
                  <a:srgbClr val="065A82"/>
                </a:solidFill>
                <a:latin typeface="Malgun Gothic" pitchFamily="34" charset="0"/>
                <a:ea typeface="Malgun Gothic" pitchFamily="34" charset="-122"/>
                <a:cs typeface="Malgun Gothic" pitchFamily="34" charset="-120"/>
              </a:rPr>
              <a:t>정적 패턴  </a:t>
            </a:r>
            <a:pPr indent="0" marL="0">
              <a:buNone/>
            </a:pPr>
            <a:r>
              <a:rPr lang="en-US" sz="950" dirty="0">
                <a:solidFill>
                  <a:srgbClr val="1E2739"/>
                </a:solidFill>
                <a:latin typeface="Malgun Gothic" pitchFamily="34" charset="0"/>
                <a:ea typeface="Malgun Gothic" pitchFamily="34" charset="-122"/>
                <a:cs typeface="Malgun Gothic" pitchFamily="34" charset="-120"/>
              </a:rPr>
              <a:t>교차 화살표 패턴이 20 % 수평·수직 인장에서 구조적 정확성 유지</a:t>
            </a:r>
            <a:endParaRPr lang="en-US" sz="950" dirty="0"/>
          </a:p>
        </p:txBody>
      </p:sp>
      <p:sp>
        <p:nvSpPr>
          <p:cNvPr id="12" name="Shape 9"/>
          <p:cNvSpPr/>
          <p:nvPr/>
        </p:nvSpPr>
        <p:spPr>
          <a:xfrm>
            <a:off x="7991856" y="5742432"/>
            <a:ext cx="3529584" cy="457200"/>
          </a:xfrm>
          <a:prstGeom prst="roundRect">
            <a:avLst>
              <a:gd name="adj" fmla="val 18000"/>
            </a:avLst>
          </a:prstGeom>
          <a:solidFill>
            <a:srgbClr val="FBEAE2"/>
          </a:solidFill>
          <a:ln/>
          <a:effectLst>
            <a:outerShdw sx="100000" sy="100000" kx="0" ky="0" algn="bl" rotWithShape="0" blurRad="114300" dist="25400" dir="5400000">
              <a:srgbClr val="7E90A8">
                <a:alpha val="16000"/>
              </a:srgbClr>
            </a:outerShdw>
          </a:effectLst>
        </p:spPr>
      </p:sp>
      <p:sp>
        <p:nvSpPr>
          <p:cNvPr id="13" name="Text 10"/>
          <p:cNvSpPr/>
          <p:nvPr/>
        </p:nvSpPr>
        <p:spPr>
          <a:xfrm>
            <a:off x="8211312" y="5742432"/>
            <a:ext cx="3108960" cy="457200"/>
          </a:xfrm>
          <a:prstGeom prst="rect">
            <a:avLst/>
          </a:prstGeom>
          <a:noFill/>
          <a:ln/>
        </p:spPr>
        <p:txBody>
          <a:bodyPr wrap="square" lIns="0" tIns="0" rIns="0" bIns="0" rtlCol="0" anchor="ctr"/>
          <a:lstStyle/>
          <a:p>
            <a:pPr indent="0" marL="0">
              <a:buNone/>
            </a:pPr>
            <a:r>
              <a:rPr lang="en-US" sz="950" b="1" dirty="0">
                <a:solidFill>
                  <a:srgbClr val="E2592C"/>
                </a:solidFill>
                <a:latin typeface="Malgun Gothic" pitchFamily="34" charset="0"/>
                <a:ea typeface="Malgun Gothic" pitchFamily="34" charset="-122"/>
                <a:cs typeface="Malgun Gothic" pitchFamily="34" charset="-120"/>
              </a:rPr>
              <a:t>동적 구동  </a:t>
            </a:r>
            <a:pPr indent="0" marL="0">
              <a:buNone/>
            </a:pPr>
            <a:r>
              <a:rPr lang="en-US" sz="950" dirty="0">
                <a:solidFill>
                  <a:srgbClr val="1E2739"/>
                </a:solidFill>
                <a:latin typeface="Malgun Gothic" pitchFamily="34" charset="0"/>
                <a:ea typeface="Malgun Gothic" pitchFamily="34" charset="-122"/>
                <a:cs typeface="Malgun Gothic" pitchFamily="34" charset="-120"/>
              </a:rPr>
              <a:t>'AUXETIC' 텍스트 흐름 애니메이션에서도 글자 형태 보존 (Supplementary Movie 1)</a:t>
            </a:r>
            <a:endParaRPr lang="en-US" sz="950" dirty="0"/>
          </a:p>
        </p:txBody>
      </p:sp>
      <p:sp>
        <p:nvSpPr>
          <p:cNvPr id="14" name="Text 11"/>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11A2E"/>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6E7C99"/>
                </a:solidFill>
                <a:latin typeface="Malgun Gothic" pitchFamily="34" charset="0"/>
                <a:ea typeface="Malgun Gothic" pitchFamily="34" charset="-122"/>
                <a:cs typeface="Malgun Gothic" pitchFamily="34" charset="-120"/>
              </a:rPr>
              <a:t>46</a:t>
            </a:r>
            <a:endParaRPr lang="en-US" sz="1000" dirty="0"/>
          </a:p>
        </p:txBody>
      </p:sp>
      <p:sp>
        <p:nvSpPr>
          <p:cNvPr id="3" name="Text 1"/>
          <p:cNvSpPr/>
          <p:nvPr/>
        </p:nvSpPr>
        <p:spPr>
          <a:xfrm>
            <a:off x="8899855" y="1097280"/>
            <a:ext cx="2743200" cy="2926080"/>
          </a:xfrm>
          <a:prstGeom prst="rect">
            <a:avLst/>
          </a:prstGeom>
          <a:noFill/>
          <a:ln/>
        </p:spPr>
        <p:txBody>
          <a:bodyPr wrap="square" lIns="0" tIns="0" rIns="0" bIns="0" rtlCol="0" anchor="ctr"/>
          <a:lstStyle/>
          <a:p>
            <a:pPr algn="r" indent="0" marL="0">
              <a:buNone/>
            </a:pPr>
            <a:r>
              <a:rPr lang="en-US" sz="19000" b="1" dirty="0">
                <a:solidFill>
                  <a:srgbClr val="26375F"/>
                </a:solidFill>
                <a:latin typeface="Cambria" pitchFamily="34" charset="0"/>
                <a:ea typeface="Cambria" pitchFamily="34" charset="-122"/>
                <a:cs typeface="Cambria" pitchFamily="34" charset="-120"/>
              </a:rPr>
              <a:t>08</a:t>
            </a:r>
            <a:endParaRPr lang="en-US" sz="19000" dirty="0"/>
          </a:p>
        </p:txBody>
      </p:sp>
      <p:sp>
        <p:nvSpPr>
          <p:cNvPr id="4" name="Text 2"/>
          <p:cNvSpPr/>
          <p:nvPr/>
        </p:nvSpPr>
        <p:spPr>
          <a:xfrm>
            <a:off x="658368" y="2212848"/>
            <a:ext cx="8412480" cy="310896"/>
          </a:xfrm>
          <a:prstGeom prst="rect">
            <a:avLst/>
          </a:prstGeom>
          <a:noFill/>
          <a:ln/>
        </p:spPr>
        <p:txBody>
          <a:bodyPr wrap="square" lIns="0" tIns="0" rIns="0" bIns="0" rtlCol="0" anchor="ctr"/>
          <a:lstStyle/>
          <a:p>
            <a:pPr indent="0" marL="0">
              <a:buNone/>
            </a:pPr>
            <a:r>
              <a:rPr lang="en-US" sz="1300" b="1" spc="200" kern="0" dirty="0">
                <a:solidFill>
                  <a:srgbClr val="3E93AE"/>
                </a:solidFill>
                <a:latin typeface="Malgun Gothic" pitchFamily="34" charset="0"/>
                <a:ea typeface="Malgun Gothic" pitchFamily="34" charset="-122"/>
                <a:cs typeface="Malgun Gothic" pitchFamily="34" charset="-120"/>
              </a:rPr>
              <a:t>SCALABILITY</a:t>
            </a:r>
            <a:endParaRPr lang="en-US" sz="1300" dirty="0"/>
          </a:p>
        </p:txBody>
      </p:sp>
      <p:sp>
        <p:nvSpPr>
          <p:cNvPr id="5" name="Text 3"/>
          <p:cNvSpPr/>
          <p:nvPr/>
        </p:nvSpPr>
        <p:spPr>
          <a:xfrm>
            <a:off x="658368" y="2606040"/>
            <a:ext cx="8595360" cy="123444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Malgun Gothic" pitchFamily="34" charset="0"/>
                <a:ea typeface="Malgun Gothic" pitchFamily="34" charset="-122"/>
                <a:cs typeface="Malgun Gothic" pitchFamily="34" charset="-120"/>
              </a:rPr>
              <a:t>고해상도로 갈 수 있는가</a:t>
            </a:r>
            <a:endParaRPr lang="en-US" sz="3600" dirty="0"/>
          </a:p>
        </p:txBody>
      </p:sp>
      <p:sp>
        <p:nvSpPr>
          <p:cNvPr id="6" name="Text 4"/>
          <p:cNvSpPr/>
          <p:nvPr/>
        </p:nvSpPr>
        <p:spPr>
          <a:xfrm>
            <a:off x="658368" y="3977640"/>
            <a:ext cx="7863840" cy="914400"/>
          </a:xfrm>
          <a:prstGeom prst="rect">
            <a:avLst/>
          </a:prstGeom>
          <a:noFill/>
          <a:ln/>
        </p:spPr>
        <p:txBody>
          <a:bodyPr wrap="square" lIns="0" tIns="0" rIns="0" bIns="0" rtlCol="0" anchor="t"/>
          <a:lstStyle/>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"단위셀을 잘게 쪼개면 되지 않나?" 라는 자연스러운 질문에</a:t>
            </a:r>
            <a:endParaRPr lang="en-US" sz="1350" dirty="0"/>
          </a:p>
          <a:p>
            <a:pPr indent="0" marL="0">
              <a:lnSpc>
                <a:spcPts val="2200"/>
              </a:lnSpc>
              <a:buNone/>
            </a:pPr>
            <a:r>
              <a:rPr lang="en-US" sz="1350" dirty="0">
                <a:solidFill>
                  <a:srgbClr val="AAB8D0"/>
                </a:solidFill>
                <a:latin typeface="Malgun Gothic" pitchFamily="34" charset="0"/>
                <a:ea typeface="Malgun Gothic" pitchFamily="34" charset="-122"/>
                <a:cs typeface="Malgun Gothic" pitchFamily="34" charset="-120"/>
              </a:rPr>
              <a:t>논문은 왜 그 길이 막혀 있는지, 그리고 자신들의 길은 왜 열려 있는지로 답한다.</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47</a:t>
            </a:r>
            <a:endParaRPr lang="en-US" sz="1000" dirty="0"/>
          </a:p>
        </p:txBody>
      </p:sp>
      <p:sp>
        <p:nvSpPr>
          <p:cNvPr id="3" name="Shape 1"/>
          <p:cNvSpPr/>
          <p:nvPr/>
        </p:nvSpPr>
        <p:spPr>
          <a:xfrm>
            <a:off x="566928" y="310896"/>
            <a:ext cx="950976" cy="274320"/>
          </a:xfrm>
          <a:prstGeom prst="roundRect">
            <a:avLst>
              <a:gd name="adj" fmla="val 50000"/>
            </a:avLst>
          </a:prstGeom>
          <a:solidFill>
            <a:srgbClr val="1C7293"/>
          </a:solidFill>
          <a:ln/>
        </p:spPr>
      </p:sp>
      <p:sp>
        <p:nvSpPr>
          <p:cNvPr id="4" name="Text 2"/>
          <p:cNvSpPr/>
          <p:nvPr/>
        </p:nvSpPr>
        <p:spPr>
          <a:xfrm>
            <a:off x="566928" y="310896"/>
            <a:ext cx="95097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THE WALL</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"셀을 줄이면 되지 않나?" — 네 겹의 벽</a:t>
            </a:r>
            <a:endParaRPr lang="en-US" sz="2800" dirty="0"/>
          </a:p>
        </p:txBody>
      </p:sp>
      <p:sp>
        <p:nvSpPr>
          <p:cNvPr id="6" name="Shape 4"/>
          <p:cNvSpPr/>
          <p:nvPr/>
        </p:nvSpPr>
        <p:spPr>
          <a:xfrm>
            <a:off x="566928" y="1481328"/>
            <a:ext cx="11057839" cy="658368"/>
          </a:xfrm>
          <a:prstGeom prst="roundRect">
            <a:avLst>
              <a:gd name="adj" fmla="val 12500"/>
            </a:avLst>
          </a:prstGeom>
          <a:solidFill>
            <a:srgbClr val="E2EBF3"/>
          </a:solidFill>
          <a:ln/>
          <a:effectLst>
            <a:outerShdw sx="100000" sy="100000" kx="0" ky="0" algn="bl" rotWithShape="0" blurRad="114300" dist="25400" dir="5400000">
              <a:srgbClr val="7E90A8">
                <a:alpha val="16000"/>
              </a:srgbClr>
            </a:outerShdw>
          </a:effectLst>
        </p:spPr>
      </p:sp>
      <p:sp>
        <p:nvSpPr>
          <p:cNvPr id="7" name="Text 5"/>
          <p:cNvSpPr/>
          <p:nvPr/>
        </p:nvSpPr>
        <p:spPr>
          <a:xfrm>
            <a:off x="859536" y="1481328"/>
            <a:ext cx="10472623" cy="658368"/>
          </a:xfrm>
          <a:prstGeom prst="rect">
            <a:avLst/>
          </a:prstGeom>
          <a:noFill/>
          <a:ln/>
        </p:spPr>
        <p:txBody>
          <a:bodyPr wrap="square" lIns="0" tIns="0" rIns="0" bIns="0" rtlCol="0" anchor="ctr"/>
          <a:lstStyle/>
          <a:p>
            <a:pPr indent="0" marL="0">
              <a:buNone/>
            </a:pPr>
            <a:r>
              <a:rPr lang="en-US" sz="1250" b="1" dirty="0">
                <a:solidFill>
                  <a:srgbClr val="21295C"/>
                </a:solidFill>
                <a:latin typeface="Malgun Gothic" pitchFamily="34" charset="0"/>
                <a:ea typeface="Malgun Gothic" pitchFamily="34" charset="-122"/>
                <a:cs typeface="Malgun Gothic" pitchFamily="34" charset="-120"/>
              </a:rPr>
              <a:t>전제:  </a:t>
            </a:r>
            <a:pPr indent="0" marL="0">
              <a:buNone/>
            </a:pPr>
            <a:r>
              <a:rPr lang="en-US" sz="1250" dirty="0">
                <a:solidFill>
                  <a:srgbClr val="1E2739"/>
                </a:solidFill>
                <a:latin typeface="Malgun Gothic" pitchFamily="34" charset="0"/>
                <a:ea typeface="Malgun Gothic" pitchFamily="34" charset="-122"/>
                <a:cs typeface="Malgun Gothic" pitchFamily="34" charset="-120"/>
              </a:rPr>
              <a:t>300 PPI 를 목표로 하면 단위셀 대각 길이 ≈ 85 µm, 변 ≈ 60 µm, 그리고 최적 W/D 비를 유지하려면 힌지 폭 ≈ 1.7 µm 가 필요하다.</a:t>
            </a:r>
            <a:endParaRPr lang="en-US" sz="1250" dirty="0"/>
          </a:p>
        </p:txBody>
      </p:sp>
      <p:sp>
        <p:nvSpPr>
          <p:cNvPr id="8" name="Shape 6"/>
          <p:cNvSpPr/>
          <p:nvPr/>
        </p:nvSpPr>
        <p:spPr>
          <a:xfrm>
            <a:off x="566928" y="2340864"/>
            <a:ext cx="5358384" cy="1792224"/>
          </a:xfrm>
          <a:prstGeom prst="roundRect">
            <a:avLst>
              <a:gd name="adj" fmla="val 4592"/>
            </a:avLst>
          </a:prstGeom>
          <a:solidFill>
            <a:srgbClr val="FBEAE2"/>
          </a:solidFill>
          <a:ln/>
          <a:effectLst>
            <a:outerShdw sx="100000" sy="100000" kx="0" ky="0" algn="bl" rotWithShape="0" blurRad="114300" dist="25400" dir="5400000">
              <a:srgbClr val="7E90A8">
                <a:alpha val="16000"/>
              </a:srgbClr>
            </a:outerShdw>
          </a:effectLst>
        </p:spPr>
      </p:sp>
      <p:sp>
        <p:nvSpPr>
          <p:cNvPr id="9" name="Text 7"/>
          <p:cNvSpPr/>
          <p:nvPr/>
        </p:nvSpPr>
        <p:spPr>
          <a:xfrm>
            <a:off x="841248" y="2487168"/>
            <a:ext cx="4809744" cy="292608"/>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① 역학적 벽 — Kinematic locking</a:t>
            </a:r>
            <a:endParaRPr lang="en-US" sz="1250" dirty="0"/>
          </a:p>
        </p:txBody>
      </p:sp>
      <p:sp>
        <p:nvSpPr>
          <p:cNvPr id="10" name="Text 8"/>
          <p:cNvSpPr/>
          <p:nvPr/>
        </p:nvSpPr>
        <p:spPr>
          <a:xfrm>
            <a:off x="841248" y="2816352"/>
            <a:ext cx="4809744" cy="120700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힌지의 면내 굽힘 강성은 폭의 세제곱에 비례해 급감하는 반면, 엘라스토머 계면의 마찰·접착력은 면적에 비례해 훨씬 천천히 줄어든다. 1.7 µm 힌지에서는 계면력이 구조 강성을 압도해 회전 자체가 잠긴다.</a:t>
            </a:r>
            <a:endParaRPr lang="en-US" sz="1050" dirty="0"/>
          </a:p>
        </p:txBody>
      </p:sp>
      <p:sp>
        <p:nvSpPr>
          <p:cNvPr id="11" name="Shape 9"/>
          <p:cNvSpPr/>
          <p:nvPr/>
        </p:nvSpPr>
        <p:spPr>
          <a:xfrm>
            <a:off x="6181344" y="2340864"/>
            <a:ext cx="5358384" cy="1792224"/>
          </a:xfrm>
          <a:prstGeom prst="roundRect">
            <a:avLst>
              <a:gd name="adj" fmla="val 4592"/>
            </a:avLst>
          </a:prstGeom>
          <a:solidFill>
            <a:srgbClr val="FBEAE2"/>
          </a:solidFill>
          <a:ln/>
          <a:effectLst>
            <a:outerShdw sx="100000" sy="100000" kx="0" ky="0" algn="bl" rotWithShape="0" blurRad="114300" dist="25400" dir="5400000">
              <a:srgbClr val="7E90A8">
                <a:alpha val="16000"/>
              </a:srgbClr>
            </a:outerShdw>
          </a:effectLst>
        </p:spPr>
      </p:sp>
      <p:sp>
        <p:nvSpPr>
          <p:cNvPr id="12" name="Text 10"/>
          <p:cNvSpPr/>
          <p:nvPr/>
        </p:nvSpPr>
        <p:spPr>
          <a:xfrm>
            <a:off x="6455664" y="2487168"/>
            <a:ext cx="4809744" cy="292608"/>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② 형상 안정성의 벽 — Buckling vs Aspect ratio</a:t>
            </a:r>
            <a:endParaRPr lang="en-US" sz="1250" dirty="0"/>
          </a:p>
        </p:txBody>
      </p:sp>
      <p:sp>
        <p:nvSpPr>
          <p:cNvPr id="13" name="Text 11"/>
          <p:cNvSpPr/>
          <p:nvPr/>
        </p:nvSpPr>
        <p:spPr>
          <a:xfrm>
            <a:off x="6455664" y="2816352"/>
            <a:ext cx="4809744" cy="120700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면내 거동을 유지하려 기판 두께를 함께 줄이면 면외 굽힘 강성이 두께의 세제곱으로 떨어져 좌굴·주름이 생긴다. 반대로 두께를 유지하면 고종횡비 구조가 되어 제작이 어려워진다.</a:t>
            </a:r>
            <a:endParaRPr lang="en-US" sz="1050" dirty="0"/>
          </a:p>
        </p:txBody>
      </p:sp>
      <p:sp>
        <p:nvSpPr>
          <p:cNvPr id="14" name="Shape 12"/>
          <p:cNvSpPr/>
          <p:nvPr/>
        </p:nvSpPr>
        <p:spPr>
          <a:xfrm>
            <a:off x="566928" y="4297680"/>
            <a:ext cx="5358384" cy="1792224"/>
          </a:xfrm>
          <a:prstGeom prst="roundRect">
            <a:avLst>
              <a:gd name="adj" fmla="val 4592"/>
            </a:avLst>
          </a:prstGeom>
          <a:solidFill>
            <a:srgbClr val="FBEAE2"/>
          </a:solidFill>
          <a:ln/>
          <a:effectLst>
            <a:outerShdw sx="100000" sy="100000" kx="0" ky="0" algn="bl" rotWithShape="0" blurRad="114300" dist="25400" dir="5400000">
              <a:srgbClr val="7E90A8">
                <a:alpha val="16000"/>
              </a:srgbClr>
            </a:outerShdw>
          </a:effectLst>
        </p:spPr>
      </p:sp>
      <p:sp>
        <p:nvSpPr>
          <p:cNvPr id="15" name="Text 13"/>
          <p:cNvSpPr/>
          <p:nvPr/>
        </p:nvSpPr>
        <p:spPr>
          <a:xfrm>
            <a:off x="841248" y="4443984"/>
            <a:ext cx="4809744" cy="292608"/>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③ 공정의 벽 — Collapse &amp; Stiction</a:t>
            </a:r>
            <a:endParaRPr lang="en-US" sz="1250" dirty="0"/>
          </a:p>
        </p:txBody>
      </p:sp>
      <p:sp>
        <p:nvSpPr>
          <p:cNvPr id="16" name="Text 14"/>
          <p:cNvSpPr/>
          <p:nvPr/>
        </p:nvSpPr>
        <p:spPr>
          <a:xfrm>
            <a:off x="841248" y="4773168"/>
            <a:ext cx="4809744" cy="120700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소프트 리소그래피에서는 액상 공정 중 모세관력에 의한 측면 붕괴, 폴리이미드 식각에서는 건조 중 잔류응력에 의한 스티션·컬링이 발생해 전사 공정 자체가 불가능해진다. 2PP는 수지가 취성이고 대면적에는 비현실적.</a:t>
            </a:r>
            <a:endParaRPr lang="en-US" sz="1050" dirty="0"/>
          </a:p>
        </p:txBody>
      </p:sp>
      <p:sp>
        <p:nvSpPr>
          <p:cNvPr id="17" name="Shape 15"/>
          <p:cNvSpPr/>
          <p:nvPr/>
        </p:nvSpPr>
        <p:spPr>
          <a:xfrm>
            <a:off x="6181344" y="4297680"/>
            <a:ext cx="5358384" cy="1792224"/>
          </a:xfrm>
          <a:prstGeom prst="roundRect">
            <a:avLst>
              <a:gd name="adj" fmla="val 4592"/>
            </a:avLst>
          </a:prstGeom>
          <a:solidFill>
            <a:srgbClr val="FBEAE2"/>
          </a:solidFill>
          <a:ln/>
          <a:effectLst>
            <a:outerShdw sx="100000" sy="100000" kx="0" ky="0" algn="bl" rotWithShape="0" blurRad="114300" dist="25400" dir="5400000">
              <a:srgbClr val="7E90A8">
                <a:alpha val="16000"/>
              </a:srgbClr>
            </a:outerShdw>
          </a:effectLst>
        </p:spPr>
      </p:sp>
      <p:sp>
        <p:nvSpPr>
          <p:cNvPr id="18" name="Text 16"/>
          <p:cNvSpPr/>
          <p:nvPr/>
        </p:nvSpPr>
        <p:spPr>
          <a:xfrm>
            <a:off x="6455664" y="4443984"/>
            <a:ext cx="4809744" cy="292608"/>
          </a:xfrm>
          <a:prstGeom prst="rect">
            <a:avLst/>
          </a:prstGeom>
          <a:noFill/>
          <a:ln/>
        </p:spPr>
        <p:txBody>
          <a:bodyPr wrap="square" lIns="0" tIns="0" rIns="0" bIns="0" rtlCol="0" anchor="ctr"/>
          <a:lstStyle/>
          <a:p>
            <a:pPr indent="0" marL="0">
              <a:buNone/>
            </a:pPr>
            <a:r>
              <a:rPr lang="en-US" sz="1250" b="1" dirty="0">
                <a:solidFill>
                  <a:srgbClr val="E2592C"/>
                </a:solidFill>
                <a:latin typeface="Malgun Gothic" pitchFamily="34" charset="0"/>
                <a:ea typeface="Malgun Gothic" pitchFamily="34" charset="-122"/>
                <a:cs typeface="Malgun Gothic" pitchFamily="34" charset="-120"/>
              </a:rPr>
              <a:t>④ 응용의 벽 — Fill factor &amp; Interconnect</a:t>
            </a:r>
            <a:endParaRPr lang="en-US" sz="1250" dirty="0"/>
          </a:p>
        </p:txBody>
      </p:sp>
      <p:sp>
        <p:nvSpPr>
          <p:cNvPr id="19" name="Text 17"/>
          <p:cNvSpPr/>
          <p:nvPr/>
        </p:nvSpPr>
        <p:spPr>
          <a:xfrm>
            <a:off x="6455664" y="4773168"/>
            <a:ext cx="4809744" cy="1207008"/>
          </a:xfrm>
          <a:prstGeom prst="rect">
            <a:avLst/>
          </a:prstGeom>
          <a:noFill/>
          <a:ln/>
        </p:spPr>
        <p:txBody>
          <a:bodyPr wrap="square" lIns="0" tIns="0" rIns="0" bIns="0" rtlCol="0" anchor="t"/>
          <a:lstStyle/>
          <a:p>
            <a:pPr indent="0" marL="0">
              <a:lnSpc>
                <a:spcPts val="1600"/>
              </a:lnSpc>
              <a:buNone/>
            </a:pPr>
            <a:r>
              <a:rPr lang="en-US" sz="1050" dirty="0">
                <a:solidFill>
                  <a:srgbClr val="1E2739"/>
                </a:solidFill>
                <a:latin typeface="Malgun Gothic" pitchFamily="34" charset="0"/>
                <a:ea typeface="Malgun Gothic" pitchFamily="34" charset="-122"/>
                <a:cs typeface="Malgun Gothic" pitchFamily="34" charset="-120"/>
              </a:rPr>
              <a:t>픽셀을 셀 중앙에만 두면 fill factor가 급감하고, 가장자리에 두면 회전·병진으로 지그재그 정렬 오차가 생겨 모아레·에일리어싱이 발생한다. 1.7 µm 힌지를 건너는 금속 배선은 파단되어 액체금속이 필요해지고, 그러면 CMOS 양산 공정과 호환되지 않는다.</a:t>
            </a:r>
            <a:endParaRPr lang="en-US" sz="1050" dirty="0"/>
          </a:p>
        </p:txBody>
      </p:sp>
      <p:sp>
        <p:nvSpPr>
          <p:cNvPr id="20" name="Text 18"/>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Note 2</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48</a:t>
            </a:r>
            <a:endParaRPr lang="en-US" sz="1000" dirty="0"/>
          </a:p>
        </p:txBody>
      </p:sp>
      <p:sp>
        <p:nvSpPr>
          <p:cNvPr id="3" name="Shape 1"/>
          <p:cNvSpPr/>
          <p:nvPr/>
        </p:nvSpPr>
        <p:spPr>
          <a:xfrm>
            <a:off x="566928" y="310896"/>
            <a:ext cx="1719072" cy="274320"/>
          </a:xfrm>
          <a:prstGeom prst="roundRect">
            <a:avLst>
              <a:gd name="adj" fmla="val 50000"/>
            </a:avLst>
          </a:prstGeom>
          <a:solidFill>
            <a:srgbClr val="1C7293"/>
          </a:solidFill>
          <a:ln/>
        </p:spPr>
      </p:sp>
      <p:sp>
        <p:nvSpPr>
          <p:cNvPr id="4" name="Text 2"/>
          <p:cNvSpPr/>
          <p:nvPr/>
        </p:nvSpPr>
        <p:spPr>
          <a:xfrm>
            <a:off x="566928" y="310896"/>
            <a:ext cx="17190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STRAIN SHIELDING</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축소 대신 차폐 — 1000 PPI 이상으로 가는 길</a:t>
            </a:r>
            <a:endParaRPr lang="en-US" sz="2800" dirty="0"/>
          </a:p>
        </p:txBody>
      </p:sp>
      <p:pic>
        <p:nvPicPr>
          <p:cNvPr id="6" name="Image 0" descr="crops/sf14.png">    </p:cNvPr>
          <p:cNvPicPr>
            <a:picLocks noChangeAspect="1"/>
          </p:cNvPicPr>
          <p:nvPr/>
        </p:nvPicPr>
        <p:blipFill>
          <a:blip r:embed="rId1"/>
          <a:stretch>
            <a:fillRect/>
          </a:stretch>
        </p:blipFill>
        <p:spPr>
          <a:xfrm>
            <a:off x="918554" y="1444752"/>
            <a:ext cx="6063307" cy="3017520"/>
          </a:xfrm>
          <a:prstGeom prst="rect">
            <a:avLst/>
          </a:prstGeom>
        </p:spPr>
      </p:pic>
      <p:sp>
        <p:nvSpPr>
          <p:cNvPr id="7" name="Text 4"/>
          <p:cNvSpPr/>
          <p:nvPr/>
        </p:nvSpPr>
        <p:spPr>
          <a:xfrm>
            <a:off x="566928" y="4535424"/>
            <a:ext cx="6766560" cy="237744"/>
          </a:xfrm>
          <a:prstGeom prst="rect">
            <a:avLst/>
          </a:prstGeom>
          <a:noFill/>
          <a:ln/>
        </p:spPr>
        <p:txBody>
          <a:bodyPr wrap="square" lIns="0" tIns="0" rIns="0" bIns="0" rtlCol="0" anchor="ctr"/>
          <a:lstStyle/>
          <a:p>
            <a:pPr algn="ctr" indent="0" marL="0">
              <a:buNone/>
            </a:pPr>
            <a:r>
              <a:rPr lang="en-US" sz="950" i="1" dirty="0">
                <a:solidFill>
                  <a:srgbClr val="63728B"/>
                </a:solidFill>
                <a:latin typeface="Malgun Gothic" pitchFamily="34" charset="0"/>
                <a:ea typeface="Malgun Gothic" pitchFamily="34" charset="-122"/>
                <a:cs typeface="Malgun Gothic" pitchFamily="34" charset="-120"/>
              </a:rPr>
              <a:t>Supplementary Fig. 14 — 마이크로스케일 rigid-island 5×5 PM LED 어레이의 strain shielding</a:t>
            </a:r>
            <a:endParaRPr lang="en-US" sz="950" dirty="0"/>
          </a:p>
        </p:txBody>
      </p:sp>
      <p:sp>
        <p:nvSpPr>
          <p:cNvPr id="8" name="Shape 5"/>
          <p:cNvSpPr/>
          <p:nvPr/>
        </p:nvSpPr>
        <p:spPr>
          <a:xfrm>
            <a:off x="7571232" y="1444752"/>
            <a:ext cx="3977640" cy="3035808"/>
          </a:xfrm>
          <a:prstGeom prst="roundRect">
            <a:avLst>
              <a:gd name="adj" fmla="val 2711"/>
            </a:avLst>
          </a:prstGeom>
          <a:solidFill>
            <a:srgbClr val="EFF4F9"/>
          </a:solidFill>
          <a:ln/>
          <a:effectLst>
            <a:outerShdw sx="100000" sy="100000" kx="0" ky="0" algn="bl" rotWithShape="0" blurRad="114300" dist="25400" dir="5400000">
              <a:srgbClr val="7E90A8">
                <a:alpha val="16000"/>
              </a:srgbClr>
            </a:outerShdw>
          </a:effectLst>
        </p:spPr>
      </p:sp>
      <p:sp>
        <p:nvSpPr>
          <p:cNvPr id="9" name="Text 6"/>
          <p:cNvSpPr/>
          <p:nvPr/>
        </p:nvSpPr>
        <p:spPr>
          <a:xfrm>
            <a:off x="7808976" y="1591056"/>
            <a:ext cx="3474720" cy="292608"/>
          </a:xfrm>
          <a:prstGeom prst="rect">
            <a:avLst/>
          </a:prstGeom>
          <a:noFill/>
          <a:ln/>
        </p:spPr>
        <p:txBody>
          <a:bodyPr wrap="square" lIns="0" tIns="0" rIns="0" bIns="0" rtlCol="0" anchor="ctr"/>
          <a:lstStyle/>
          <a:p>
            <a:pPr indent="0" marL="0">
              <a:buNone/>
            </a:pPr>
            <a:r>
              <a:rPr lang="en-US" sz="1300" b="1" dirty="0">
                <a:solidFill>
                  <a:srgbClr val="1C7293"/>
                </a:solidFill>
                <a:latin typeface="Malgun Gothic" pitchFamily="34" charset="0"/>
                <a:ea typeface="Malgun Gothic" pitchFamily="34" charset="-122"/>
                <a:cs typeface="Malgun Gothic" pitchFamily="34" charset="-120"/>
              </a:rPr>
              <a:t>논리</a:t>
            </a:r>
            <a:endParaRPr lang="en-US" sz="1300" dirty="0"/>
          </a:p>
        </p:txBody>
      </p:sp>
      <p:sp>
        <p:nvSpPr>
          <p:cNvPr id="10" name="Text 7"/>
          <p:cNvSpPr/>
          <p:nvPr/>
        </p:nvSpPr>
        <p:spPr>
          <a:xfrm>
            <a:off x="7808976" y="1956816"/>
            <a:ext cx="3529584" cy="2395728"/>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변형은 serpentine 배선과 island 가장자리에 국한되고, island 중앙은 거의 무변형</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30 × 30 µm island → 중앙 26 × 26 µm 영역이 system strain 30 %까지 Al₂O₃ 크랙 개시 변형률 미만</a:t>
            </a:r>
            <a:endParaRPr lang="en-US" sz="1100" dirty="0"/>
          </a:p>
          <a:p>
            <a:pPr marL="342900" indent="-342900">
              <a:lnSpc>
                <a:spcPts val="1800"/>
              </a:lnSpc>
              <a:spcAft>
                <a:spcPts val="700"/>
              </a:spcAft>
              <a:buSzPct val="100000"/>
              <a:buChar char="•"/>
            </a:pPr>
            <a:r>
              <a:rPr lang="en-US" sz="1100" dirty="0">
                <a:solidFill>
                  <a:srgbClr val="1E2739"/>
                </a:solidFill>
                <a:latin typeface="Malgun Gothic" pitchFamily="34" charset="0"/>
                <a:ea typeface="Malgun Gothic" pitchFamily="34" charset="-122"/>
                <a:cs typeface="Malgun Gothic" pitchFamily="34" charset="-120"/>
              </a:rPr>
              <a:t>강성 대비에 의해 지배되므로 비례 확대해도 보호 영역이 유지된다</a:t>
            </a:r>
            <a:endParaRPr lang="en-US" sz="1100" dirty="0"/>
          </a:p>
        </p:txBody>
      </p:sp>
      <p:sp>
        <p:nvSpPr>
          <p:cNvPr id="11" name="Shape 8"/>
          <p:cNvSpPr/>
          <p:nvPr/>
        </p:nvSpPr>
        <p:spPr>
          <a:xfrm>
            <a:off x="566928" y="4828032"/>
            <a:ext cx="2615184" cy="1280160"/>
          </a:xfrm>
          <a:prstGeom prst="roundRect">
            <a:avLst>
              <a:gd name="adj" fmla="val 6429"/>
            </a:avLst>
          </a:prstGeom>
          <a:solidFill>
            <a:srgbClr val="E2EBF3"/>
          </a:solidFill>
          <a:ln/>
          <a:effectLst>
            <a:outerShdw sx="100000" sy="100000" kx="0" ky="0" algn="bl" rotWithShape="0" blurRad="114300" dist="25400" dir="5400000">
              <a:srgbClr val="7E90A8">
                <a:alpha val="16000"/>
              </a:srgbClr>
            </a:outerShdw>
          </a:effectLst>
        </p:spPr>
      </p:sp>
      <p:sp>
        <p:nvSpPr>
          <p:cNvPr id="12" name="Text 9"/>
          <p:cNvSpPr/>
          <p:nvPr/>
        </p:nvSpPr>
        <p:spPr>
          <a:xfrm>
            <a:off x="749808" y="4956048"/>
            <a:ext cx="2267712" cy="384048"/>
          </a:xfrm>
          <a:prstGeom prst="rect">
            <a:avLst/>
          </a:prstGeom>
          <a:noFill/>
          <a:ln/>
        </p:spPr>
        <p:txBody>
          <a:bodyPr wrap="square" lIns="0" tIns="0" rIns="0" bIns="0" rtlCol="0" anchor="ctr"/>
          <a:lstStyle/>
          <a:p>
            <a:pPr algn="ctr" indent="0" marL="0">
              <a:buNone/>
            </a:pPr>
            <a:r>
              <a:rPr lang="en-US" sz="1700" b="1" dirty="0">
                <a:solidFill>
                  <a:srgbClr val="065A82"/>
                </a:solidFill>
                <a:latin typeface="Cambria" pitchFamily="34" charset="0"/>
                <a:ea typeface="Cambria" pitchFamily="34" charset="-122"/>
                <a:cs typeface="Cambria" pitchFamily="34" charset="-120"/>
              </a:rPr>
              <a:t>300 × 300 µm</a:t>
            </a:r>
            <a:endParaRPr lang="en-US" sz="1700" dirty="0"/>
          </a:p>
        </p:txBody>
      </p:sp>
      <p:sp>
        <p:nvSpPr>
          <p:cNvPr id="13" name="Text 10"/>
          <p:cNvSpPr/>
          <p:nvPr/>
        </p:nvSpPr>
        <p:spPr>
          <a:xfrm>
            <a:off x="749808" y="5376672"/>
            <a:ext cx="2267712" cy="658368"/>
          </a:xfrm>
          <a:prstGeom prst="rect">
            <a:avLst/>
          </a:prstGeom>
          <a:noFill/>
          <a:ln/>
        </p:spPr>
        <p:txBody>
          <a:bodyPr wrap="square" lIns="0" tIns="0" rIns="0" bIns="0" rtlCol="0" anchor="t"/>
          <a:lstStyle/>
          <a:p>
            <a:pPr algn="ctr" indent="0" marL="0">
              <a:lnSpc>
                <a:spcPts val="1400"/>
              </a:lnSpc>
              <a:buNone/>
            </a:pPr>
            <a:r>
              <a:rPr lang="en-US" sz="1000" dirty="0">
                <a:solidFill>
                  <a:srgbClr val="1E2739"/>
                </a:solidFill>
                <a:latin typeface="Malgun Gothic" pitchFamily="34" charset="0"/>
                <a:ea typeface="Malgun Gothic" pitchFamily="34" charset="-122"/>
                <a:cs typeface="Malgun Gothic" pitchFamily="34" charset="-120"/>
              </a:rPr>
              <a:t>확대한 rigid island 크기</a:t>
            </a:r>
            <a:endParaRPr lang="en-US" sz="1000" dirty="0"/>
          </a:p>
        </p:txBody>
      </p:sp>
      <p:sp>
        <p:nvSpPr>
          <p:cNvPr id="14" name="Shape 11"/>
          <p:cNvSpPr/>
          <p:nvPr/>
        </p:nvSpPr>
        <p:spPr>
          <a:xfrm>
            <a:off x="3355848" y="4828032"/>
            <a:ext cx="2615184" cy="1280160"/>
          </a:xfrm>
          <a:prstGeom prst="roundRect">
            <a:avLst>
              <a:gd name="adj" fmla="val 6429"/>
            </a:avLst>
          </a:prstGeom>
          <a:solidFill>
            <a:srgbClr val="E2EBF3"/>
          </a:solidFill>
          <a:ln/>
          <a:effectLst>
            <a:outerShdw sx="100000" sy="100000" kx="0" ky="0" algn="bl" rotWithShape="0" blurRad="114300" dist="25400" dir="5400000">
              <a:srgbClr val="7E90A8">
                <a:alpha val="16000"/>
              </a:srgbClr>
            </a:outerShdw>
          </a:effectLst>
        </p:spPr>
      </p:sp>
      <p:sp>
        <p:nvSpPr>
          <p:cNvPr id="15" name="Text 12"/>
          <p:cNvSpPr/>
          <p:nvPr/>
        </p:nvSpPr>
        <p:spPr>
          <a:xfrm>
            <a:off x="3538728" y="4956048"/>
            <a:ext cx="2267712" cy="384048"/>
          </a:xfrm>
          <a:prstGeom prst="rect">
            <a:avLst/>
          </a:prstGeom>
          <a:noFill/>
          <a:ln/>
        </p:spPr>
        <p:txBody>
          <a:bodyPr wrap="square" lIns="0" tIns="0" rIns="0" bIns="0" rtlCol="0" anchor="ctr"/>
          <a:lstStyle/>
          <a:p>
            <a:pPr algn="ctr" indent="0" marL="0">
              <a:buNone/>
            </a:pPr>
            <a:r>
              <a:rPr lang="en-US" sz="1700" b="1" dirty="0">
                <a:solidFill>
                  <a:srgbClr val="1C7293"/>
                </a:solidFill>
                <a:latin typeface="Cambria" pitchFamily="34" charset="0"/>
                <a:ea typeface="Cambria" pitchFamily="34" charset="-122"/>
                <a:cs typeface="Cambria" pitchFamily="34" charset="-120"/>
              </a:rPr>
              <a:t>240 × 240 µm</a:t>
            </a:r>
            <a:endParaRPr lang="en-US" sz="1700" dirty="0"/>
          </a:p>
        </p:txBody>
      </p:sp>
      <p:sp>
        <p:nvSpPr>
          <p:cNvPr id="16" name="Text 13"/>
          <p:cNvSpPr/>
          <p:nvPr/>
        </p:nvSpPr>
        <p:spPr>
          <a:xfrm>
            <a:off x="3538728" y="5376672"/>
            <a:ext cx="2267712" cy="658368"/>
          </a:xfrm>
          <a:prstGeom prst="rect">
            <a:avLst/>
          </a:prstGeom>
          <a:noFill/>
          <a:ln/>
        </p:spPr>
        <p:txBody>
          <a:bodyPr wrap="square" lIns="0" tIns="0" rIns="0" bIns="0" rtlCol="0" anchor="t"/>
          <a:lstStyle/>
          <a:p>
            <a:pPr algn="ctr" indent="0" marL="0">
              <a:lnSpc>
                <a:spcPts val="1400"/>
              </a:lnSpc>
              <a:buNone/>
            </a:pPr>
            <a:r>
              <a:rPr lang="en-US" sz="1000" dirty="0">
                <a:solidFill>
                  <a:srgbClr val="1E2739"/>
                </a:solidFill>
                <a:latin typeface="Malgun Gothic" pitchFamily="34" charset="0"/>
                <a:ea typeface="Malgun Gothic" pitchFamily="34" charset="-122"/>
                <a:cs typeface="Malgun Gothic" pitchFamily="34" charset="-120"/>
              </a:rPr>
              <a:t>그 안의 저변형 안전 영역</a:t>
            </a:r>
            <a:endParaRPr lang="en-US" sz="1000" dirty="0"/>
          </a:p>
        </p:txBody>
      </p:sp>
      <p:sp>
        <p:nvSpPr>
          <p:cNvPr id="17" name="Shape 14"/>
          <p:cNvSpPr/>
          <p:nvPr/>
        </p:nvSpPr>
        <p:spPr>
          <a:xfrm>
            <a:off x="6144768" y="4828032"/>
            <a:ext cx="2615184" cy="1280160"/>
          </a:xfrm>
          <a:prstGeom prst="roundRect">
            <a:avLst>
              <a:gd name="adj" fmla="val 6429"/>
            </a:avLst>
          </a:prstGeom>
          <a:solidFill>
            <a:srgbClr val="E2EBF3"/>
          </a:solidFill>
          <a:ln/>
          <a:effectLst>
            <a:outerShdw sx="100000" sy="100000" kx="0" ky="0" algn="bl" rotWithShape="0" blurRad="114300" dist="25400" dir="5400000">
              <a:srgbClr val="7E90A8">
                <a:alpha val="16000"/>
              </a:srgbClr>
            </a:outerShdw>
          </a:effectLst>
        </p:spPr>
      </p:sp>
      <p:sp>
        <p:nvSpPr>
          <p:cNvPr id="18" name="Text 15"/>
          <p:cNvSpPr/>
          <p:nvPr/>
        </p:nvSpPr>
        <p:spPr>
          <a:xfrm>
            <a:off x="6327648" y="4956048"/>
            <a:ext cx="2267712" cy="384048"/>
          </a:xfrm>
          <a:prstGeom prst="rect">
            <a:avLst/>
          </a:prstGeom>
          <a:noFill/>
          <a:ln/>
        </p:spPr>
        <p:txBody>
          <a:bodyPr wrap="square" lIns="0" tIns="0" rIns="0" bIns="0" rtlCol="0" anchor="ctr"/>
          <a:lstStyle/>
          <a:p>
            <a:pPr algn="ctr" indent="0" marL="0">
              <a:buNone/>
            </a:pPr>
            <a:r>
              <a:rPr lang="en-US" sz="1700" b="1" dirty="0">
                <a:solidFill>
                  <a:srgbClr val="1C7293"/>
                </a:solidFill>
                <a:latin typeface="Cambria" pitchFamily="34" charset="0"/>
                <a:ea typeface="Cambria" pitchFamily="34" charset="-122"/>
                <a:cs typeface="Cambria" pitchFamily="34" charset="-120"/>
              </a:rPr>
              <a:t>16 × 16</a:t>
            </a:r>
            <a:endParaRPr lang="en-US" sz="1700" dirty="0"/>
          </a:p>
        </p:txBody>
      </p:sp>
      <p:sp>
        <p:nvSpPr>
          <p:cNvPr id="19" name="Text 16"/>
          <p:cNvSpPr/>
          <p:nvPr/>
        </p:nvSpPr>
        <p:spPr>
          <a:xfrm>
            <a:off x="6327648" y="5376672"/>
            <a:ext cx="2267712" cy="658368"/>
          </a:xfrm>
          <a:prstGeom prst="rect">
            <a:avLst/>
          </a:prstGeom>
          <a:noFill/>
          <a:ln/>
        </p:spPr>
        <p:txBody>
          <a:bodyPr wrap="square" lIns="0" tIns="0" rIns="0" bIns="0" rtlCol="0" anchor="t"/>
          <a:lstStyle/>
          <a:p>
            <a:pPr algn="ctr" indent="0" marL="0">
              <a:lnSpc>
                <a:spcPts val="1400"/>
              </a:lnSpc>
              <a:buNone/>
            </a:pPr>
            <a:r>
              <a:rPr lang="en-US" sz="1000" dirty="0">
                <a:solidFill>
                  <a:srgbClr val="1E2739"/>
                </a:solidFill>
                <a:latin typeface="Malgun Gothic" pitchFamily="34" charset="0"/>
                <a:ea typeface="Malgun Gothic" pitchFamily="34" charset="-122"/>
                <a:cs typeface="Malgun Gothic" pitchFamily="34" charset="-120"/>
              </a:rPr>
              <a:t>FMM으로 넣을 수 있는 마이크로픽셀 클러스터</a:t>
            </a:r>
            <a:endParaRPr lang="en-US" sz="1000" dirty="0"/>
          </a:p>
        </p:txBody>
      </p:sp>
      <p:sp>
        <p:nvSpPr>
          <p:cNvPr id="20" name="Shape 17"/>
          <p:cNvSpPr/>
          <p:nvPr/>
        </p:nvSpPr>
        <p:spPr>
          <a:xfrm>
            <a:off x="8933688" y="4828032"/>
            <a:ext cx="2615184" cy="1280160"/>
          </a:xfrm>
          <a:prstGeom prst="roundRect">
            <a:avLst>
              <a:gd name="adj" fmla="val 6429"/>
            </a:avLst>
          </a:prstGeom>
          <a:solidFill>
            <a:srgbClr val="FBEAE2"/>
          </a:solidFill>
          <a:ln/>
          <a:effectLst>
            <a:outerShdw sx="100000" sy="100000" kx="0" ky="0" algn="bl" rotWithShape="0" blurRad="114300" dist="25400" dir="5400000">
              <a:srgbClr val="7E90A8">
                <a:alpha val="16000"/>
              </a:srgbClr>
            </a:outerShdw>
          </a:effectLst>
        </p:spPr>
      </p:sp>
      <p:sp>
        <p:nvSpPr>
          <p:cNvPr id="21" name="Text 18"/>
          <p:cNvSpPr/>
          <p:nvPr/>
        </p:nvSpPr>
        <p:spPr>
          <a:xfrm>
            <a:off x="9116568" y="4956048"/>
            <a:ext cx="2267712" cy="384048"/>
          </a:xfrm>
          <a:prstGeom prst="rect">
            <a:avLst/>
          </a:prstGeom>
          <a:noFill/>
          <a:ln/>
        </p:spPr>
        <p:txBody>
          <a:bodyPr wrap="square" lIns="0" tIns="0" rIns="0" bIns="0" rtlCol="0" anchor="ctr"/>
          <a:lstStyle/>
          <a:p>
            <a:pPr algn="ctr" indent="0" marL="0">
              <a:buNone/>
            </a:pPr>
            <a:r>
              <a:rPr lang="en-US" sz="1700" b="1" dirty="0">
                <a:solidFill>
                  <a:srgbClr val="E2592C"/>
                </a:solidFill>
                <a:latin typeface="Cambria" pitchFamily="34" charset="0"/>
                <a:ea typeface="Cambria" pitchFamily="34" charset="-122"/>
                <a:cs typeface="Cambria" pitchFamily="34" charset="-120"/>
              </a:rPr>
              <a:t>&gt; 1000 PPI</a:t>
            </a:r>
            <a:endParaRPr lang="en-US" sz="1700" dirty="0"/>
          </a:p>
        </p:txBody>
      </p:sp>
      <p:sp>
        <p:nvSpPr>
          <p:cNvPr id="22" name="Text 19"/>
          <p:cNvSpPr/>
          <p:nvPr/>
        </p:nvSpPr>
        <p:spPr>
          <a:xfrm>
            <a:off x="9116568" y="5376672"/>
            <a:ext cx="2267712" cy="658368"/>
          </a:xfrm>
          <a:prstGeom prst="rect">
            <a:avLst/>
          </a:prstGeom>
          <a:noFill/>
          <a:ln/>
        </p:spPr>
        <p:txBody>
          <a:bodyPr wrap="square" lIns="0" tIns="0" rIns="0" bIns="0" rtlCol="0" anchor="t"/>
          <a:lstStyle/>
          <a:p>
            <a:pPr algn="ctr" indent="0" marL="0">
              <a:lnSpc>
                <a:spcPts val="1400"/>
              </a:lnSpc>
              <a:buNone/>
            </a:pPr>
            <a:r>
              <a:rPr lang="en-US" sz="1000" dirty="0">
                <a:solidFill>
                  <a:srgbClr val="1E2739"/>
                </a:solidFill>
                <a:latin typeface="Malgun Gothic" pitchFamily="34" charset="0"/>
                <a:ea typeface="Malgun Gothic" pitchFamily="34" charset="-122"/>
                <a:cs typeface="Malgun Gothic" pitchFamily="34" charset="-120"/>
              </a:rPr>
              <a:t>배선용 100 µm 간격까지 고려한 시스템 해상도</a:t>
            </a:r>
            <a:endParaRPr lang="en-US" sz="1000" dirty="0"/>
          </a:p>
        </p:txBody>
      </p:sp>
      <p:sp>
        <p:nvSpPr>
          <p:cNvPr id="23" name="Text 2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Fig. 14, 15 · Discussion</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49</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COMPARISON</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선행 연구와의 비교</a:t>
            </a:r>
            <a:endParaRPr lang="en-US" sz="2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2395728"/>
                <a:gridCol w="1188720"/>
                <a:gridCol w="1700784"/>
                <a:gridCol w="1481328"/>
                <a:gridCol w="4291279"/>
              </a:tblGrid>
              <a:tr h="384048">
                <a:tc>
                  <a:txBody>
                    <a:bodyPr/>
                    <a:lstStyle/>
                    <a:p>
                      <a:pPr algn="l" indent="0" marL="0">
                        <a:buNone/>
                      </a:pP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2739"/>
                          </a:solidFill>
                          <a:latin typeface="Malgun Gothic" pitchFamily="34" charset="0"/>
                          <a:ea typeface="Malgun Gothic" pitchFamily="34" charset="-122"/>
                          <a:cs typeface="Malgun Gothic" pitchFamily="34" charset="-120"/>
                        </a:rPr>
                        <a:t>인장 방향</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2739"/>
                          </a:solidFill>
                          <a:latin typeface="Malgun Gothic" pitchFamily="34" charset="0"/>
                          <a:ea typeface="Malgun Gothic" pitchFamily="34" charset="-122"/>
                          <a:cs typeface="Malgun Gothic" pitchFamily="34" charset="-120"/>
                        </a:rPr>
                        <a:t>왜곡 정량 지표</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2739"/>
                          </a:solidFill>
                          <a:latin typeface="Malgun Gothic" pitchFamily="34" charset="0"/>
                          <a:ea typeface="Malgun Gothic" pitchFamily="34" charset="-122"/>
                          <a:cs typeface="Malgun Gothic" pitchFamily="34" charset="-120"/>
                        </a:rPr>
                        <a:t>왜곡 억제 범위</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2739"/>
                          </a:solidFill>
                          <a:latin typeface="Malgun Gothic" pitchFamily="34" charset="0"/>
                          <a:ea typeface="Malgun Gothic" pitchFamily="34" charset="-122"/>
                          <a:cs typeface="Malgun Gothic" pitchFamily="34" charset="-120"/>
                        </a:rPr>
                        <a:t>픽셀 피치 스케일링 제약</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1060704">
                <a:tc>
                  <a:txBody>
                    <a:bodyPr/>
                    <a:lstStyle/>
                    <a:p>
                      <a:pPr algn="l" indent="0" marL="0">
                        <a:buNone/>
                      </a:pPr>
                      <a:r>
                        <a:rPr lang="en-US" sz="1000" b="1" dirty="0">
                          <a:solidFill>
                            <a:srgbClr val="065A82"/>
                          </a:solidFill>
                          <a:latin typeface="Malgun Gothic" pitchFamily="34" charset="0"/>
                          <a:ea typeface="Malgun Gothic" pitchFamily="34" charset="-122"/>
                          <a:cs typeface="Malgun Gothic" pitchFamily="34" charset="-120"/>
                        </a:rPr>
                        <a:t>This work</a:t>
                      </a:r>
                      <a:endParaRPr lang="en-US" sz="1000" dirty="0">
                        <a:latin typeface="Malgun Gothic" charset="0"/>
                        <a:ea typeface="Malgun Gothic" charset="0"/>
                        <a:cs typeface="Malgun Gothic" charset="0"/>
                      </a:endParaRPr>
                    </a:p>
                    <a:p>
                      <a:pPr algn="l" indent="0" marL="0">
                        <a:buNone/>
                      </a:pPr>
                      <a:r>
                        <a:rPr lang="en-US" sz="1000" b="1" dirty="0">
                          <a:solidFill>
                            <a:srgbClr val="065A82"/>
                          </a:solidFill>
                          <a:latin typeface="Malgun Gothic" pitchFamily="34" charset="0"/>
                          <a:ea typeface="Malgun Gothic" pitchFamily="34" charset="-122"/>
                          <a:cs typeface="Malgun Gothic" pitchFamily="34" charset="-120"/>
                        </a:rPr>
                        <a:t>Nat. Commun. 17, 7389 (2026)</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2739"/>
                          </a:solidFill>
                          <a:latin typeface="Malgun Gothic" pitchFamily="34" charset="0"/>
                          <a:ea typeface="Malgun Gothic" pitchFamily="34" charset="-122"/>
                          <a:cs typeface="Malgun Gothic" pitchFamily="34" charset="-120"/>
                        </a:rPr>
                        <a:t>2 방향 (x 또는 y)</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C7293"/>
                          </a:solidFill>
                          <a:latin typeface="Malgun Gothic" pitchFamily="34" charset="0"/>
                          <a:ea typeface="Malgun Gothic" pitchFamily="34" charset="-122"/>
                          <a:cs typeface="Malgun Gothic" pitchFamily="34" charset="-120"/>
                        </a:rPr>
                        <a:t>ρ  등방 팽창 계수</a:t>
                      </a:r>
                      <a:endParaRPr lang="en-US" sz="1000" dirty="0">
                        <a:latin typeface="Malgun Gothic" charset="0"/>
                        <a:ea typeface="Malgun Gothic" charset="0"/>
                        <a:cs typeface="Malgun Gothic" charset="0"/>
                      </a:endParaRPr>
                    </a:p>
                    <a:p>
                      <a:pPr algn="l" indent="0" marL="0">
                        <a:buNone/>
                      </a:pPr>
                      <a:r>
                        <a:rPr lang="en-US" sz="1000" b="1" dirty="0">
                          <a:solidFill>
                            <a:srgbClr val="1C7293"/>
                          </a:solidFill>
                          <a:latin typeface="Malgun Gothic" pitchFamily="34" charset="0"/>
                          <a:ea typeface="Malgun Gothic" pitchFamily="34" charset="-122"/>
                          <a:cs typeface="Malgun Gothic" pitchFamily="34" charset="-120"/>
                        </a:rPr>
                        <a:t>(local + global)</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C7293"/>
                          </a:solidFill>
                          <a:latin typeface="Malgun Gothic" pitchFamily="34" charset="0"/>
                          <a:ea typeface="Malgun Gothic" pitchFamily="34" charset="-122"/>
                          <a:cs typeface="Malgun Gothic" pitchFamily="34" charset="-120"/>
                        </a:rPr>
                        <a:t>local + global 모두 억제</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E2739"/>
                          </a:solidFill>
                          <a:latin typeface="Malgun Gothic" pitchFamily="34" charset="0"/>
                          <a:ea typeface="Malgun Gothic" pitchFamily="34" charset="-122"/>
                          <a:cs typeface="Malgun Gothic" pitchFamily="34" charset="-120"/>
                        </a:rPr>
                        <a:t>본질적 스케일 제약 없음 — 통합 영역이 셀 중심에 갇히지 않고, 연속 표면이라 고PPI 전사·intrinsically stretchable QD/OLED 적용 가능</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786384">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Du et al.</a:t>
                      </a:r>
                      <a:endParaRPr lang="en-US" sz="1000" dirty="0">
                        <a:latin typeface="Malgun Gothic" charset="0"/>
                        <a:ea typeface="Malgun Gothic" charset="0"/>
                        <a:cs typeface="Malgun Gothic" charset="0"/>
                      </a:endParaRPr>
                    </a:p>
                    <a:p>
                      <a:pPr algn="l" indent="0" marL="0">
                        <a:buNone/>
                      </a:pPr>
                      <a:r>
                        <a:rPr lang="en-US" sz="1000" dirty="0">
                          <a:solidFill>
                            <a:srgbClr val="1E2739"/>
                          </a:solidFill>
                          <a:latin typeface="Malgun Gothic" pitchFamily="34" charset="0"/>
                          <a:ea typeface="Malgun Gothic" pitchFamily="34" charset="-122"/>
                          <a:cs typeface="Malgun Gothic" pitchFamily="34" charset="-120"/>
                        </a:rPr>
                        <a:t>ACS AMI 15, 19190 (2023)</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1 방향</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ν  푸아송비 (global)</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global만 억제</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스케일 제약 — void/cut kirigami 시트가 곧 소자 기판, 픽셀 피치가 cut 스케일에 종속</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786384">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Jang et al.</a:t>
                      </a:r>
                      <a:endParaRPr lang="en-US" sz="1000" dirty="0">
                        <a:latin typeface="Malgun Gothic" charset="0"/>
                        <a:ea typeface="Malgun Gothic" charset="0"/>
                        <a:cs typeface="Malgun Gothic" charset="0"/>
                      </a:endParaRPr>
                    </a:p>
                    <a:p>
                      <a:pPr algn="l" indent="0" marL="0">
                        <a:buNone/>
                      </a:pPr>
                      <a:r>
                        <a:rPr lang="en-US" sz="1000" dirty="0">
                          <a:solidFill>
                            <a:srgbClr val="1E2739"/>
                          </a:solidFill>
                          <a:latin typeface="Malgun Gothic" pitchFamily="34" charset="0"/>
                          <a:ea typeface="Malgun Gothic" pitchFamily="34" charset="-122"/>
                          <a:cs typeface="Malgun Gothic" pitchFamily="34" charset="-120"/>
                        </a:rPr>
                        <a:t>Adv. Funct. Mater. 32, 2113299 (2022)</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2 방향</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ν  푸아송비 (global)</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global만 억제</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스케일 제약 — kirigami auxetic 회로기판. 유효 통합 영역이 회전 중심 부근에 집중</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r h="841248">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Lee et al.</a:t>
                      </a:r>
                      <a:endParaRPr lang="en-US" sz="1000" dirty="0">
                        <a:latin typeface="Malgun Gothic" charset="0"/>
                        <a:ea typeface="Malgun Gothic" charset="0"/>
                        <a:cs typeface="Malgun Gothic" charset="0"/>
                      </a:endParaRPr>
                    </a:p>
                    <a:p>
                      <a:pPr algn="l" indent="0" marL="0">
                        <a:buNone/>
                      </a:pPr>
                      <a:r>
                        <a:rPr lang="en-US" sz="1000" dirty="0">
                          <a:solidFill>
                            <a:srgbClr val="1E2739"/>
                          </a:solidFill>
                          <a:latin typeface="Malgun Gothic" pitchFamily="34" charset="0"/>
                          <a:ea typeface="Malgun Gothic" pitchFamily="34" charset="-122"/>
                          <a:cs typeface="Malgun Gothic" pitchFamily="34" charset="-120"/>
                        </a:rPr>
                        <a:t>Nat. Commun. 15, 7146 (2024)</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1 방향</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ν  푸아송비 (global)</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global만 억제</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739"/>
                          </a:solidFill>
                          <a:latin typeface="Malgun Gothic" pitchFamily="34" charset="0"/>
                          <a:ea typeface="Malgun Gothic" pitchFamily="34" charset="-122"/>
                          <a:cs typeface="Malgun Gothic" pitchFamily="34" charset="-120"/>
                        </a:rPr>
                        <a:t>스케일 의존 — 전면 접합 auxetic. 중심에서 벗어나면 국부 비등방 변형, 셀 회전 kinematics가 통합 영역을 제한</a:t>
                      </a:r>
                      <a:endParaRPr lang="en-US" sz="1000" dirty="0">
                        <a:latin typeface="Malgun Gothic" charset="0"/>
                        <a:ea typeface="Malgun Gothic" charset="0"/>
                        <a:cs typeface="Malgun Gothic" charset="0"/>
                      </a:endParaRPr>
                    </a:p>
                  </a:txBody>
                  <a:tcPr marL="101600" marR="101600" marT="50800" marB="50800" anchor="ctr">
                    <a:lnL w="12700" cap="flat" cmpd="sng" algn="ctr">
                      <a:solidFill>
                        <a:srgbClr val="D3DEEA"/>
                      </a:solidFill>
                      <a:prstDash val="solid"/>
                      <a:round/>
                      <a:headEnd type="none" w="med" len="med"/>
                      <a:tailEnd type="none" w="med" len="med"/>
                    </a:lnL>
                    <a:lnR w="12700" cap="flat" cmpd="sng" algn="ctr">
                      <a:solidFill>
                        <a:srgbClr val="D3DEEA"/>
                      </a:solidFill>
                      <a:prstDash val="solid"/>
                      <a:round/>
                      <a:headEnd type="none" w="med" len="med"/>
                      <a:tailEnd type="none" w="med" len="med"/>
                    </a:lnR>
                    <a:lnT w="12700" cap="flat" cmpd="sng" algn="ctr">
                      <a:solidFill>
                        <a:srgbClr val="D3DEEA"/>
                      </a:solidFill>
                      <a:prstDash val="solid"/>
                      <a:round/>
                      <a:headEnd type="none" w="med" len="med"/>
                      <a:tailEnd type="none" w="med" len="med"/>
                    </a:lnT>
                    <a:lnB w="12700" cap="flat" cmpd="sng" algn="ctr">
                      <a:solidFill>
                        <a:srgbClr val="D3DEEA"/>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504688"/>
            <a:ext cx="11057839" cy="603504"/>
          </a:xfrm>
          <a:prstGeom prst="roundRect">
            <a:avLst>
              <a:gd name="adj" fmla="val 13636"/>
            </a:avLst>
          </a:prstGeom>
          <a:solidFill>
            <a:srgbClr val="E2EBF3"/>
          </a:solidFill>
          <a:ln/>
          <a:effectLst>
            <a:outerShdw sx="100000" sy="100000" kx="0" ky="0" algn="bl" rotWithShape="0" blurRad="114300" dist="25400" dir="5400000">
              <a:srgbClr val="7E90A8">
                <a:alpha val="16000"/>
              </a:srgbClr>
            </a:outerShdw>
          </a:effectLst>
        </p:spPr>
      </p:sp>
      <p:sp>
        <p:nvSpPr>
          <p:cNvPr id="8" name="Text 5"/>
          <p:cNvSpPr/>
          <p:nvPr/>
        </p:nvSpPr>
        <p:spPr>
          <a:xfrm>
            <a:off x="859536" y="5504688"/>
            <a:ext cx="10472623" cy="603504"/>
          </a:xfrm>
          <a:prstGeom prst="rect">
            <a:avLst/>
          </a:prstGeom>
          <a:noFill/>
          <a:ln/>
        </p:spPr>
        <p:txBody>
          <a:bodyPr wrap="square" lIns="0" tIns="0" rIns="0" bIns="0" rtlCol="0" anchor="ctr"/>
          <a:lstStyle/>
          <a:p>
            <a:pPr indent="0" marL="0">
              <a:buNone/>
            </a:pPr>
            <a:r>
              <a:rPr lang="en-US" sz="1200" b="1" dirty="0">
                <a:solidFill>
                  <a:srgbClr val="21295C"/>
                </a:solidFill>
                <a:latin typeface="Malgun Gothic" pitchFamily="34" charset="0"/>
                <a:ea typeface="Malgun Gothic" pitchFamily="34" charset="-122"/>
                <a:cs typeface="Malgun Gothic" pitchFamily="34" charset="-120"/>
              </a:rPr>
              <a:t>이 논문의 위치 — auxetic 구조를 '더 좋게' 만든 연구가 아니라, auxetic 프레임과 연속 기판을 어떻게 이어 붙일 것인가라는 인터페이스 문제를 정량적으로 푼 연구다.</a:t>
            </a:r>
            <a:endParaRPr lang="en-US" sz="1200" dirty="0"/>
          </a:p>
        </p:txBody>
      </p:sp>
      <p:sp>
        <p:nvSpPr>
          <p:cNvPr id="9" name="Text 6"/>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Supplementary Table 1 재구성</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50</a:t>
            </a:r>
            <a:endParaRPr lang="en-US" sz="1000" dirty="0"/>
          </a:p>
        </p:txBody>
      </p:sp>
      <p:sp>
        <p:nvSpPr>
          <p:cNvPr id="3" name="Shape 1"/>
          <p:cNvSpPr/>
          <p:nvPr/>
        </p:nvSpPr>
        <p:spPr>
          <a:xfrm>
            <a:off x="566928" y="310896"/>
            <a:ext cx="1046988" cy="274320"/>
          </a:xfrm>
          <a:prstGeom prst="roundRect">
            <a:avLst>
              <a:gd name="adj" fmla="val 50000"/>
            </a:avLst>
          </a:prstGeom>
          <a:solidFill>
            <a:srgbClr val="1C7293"/>
          </a:solidFill>
          <a:ln/>
        </p:spPr>
      </p:sp>
      <p:sp>
        <p:nvSpPr>
          <p:cNvPr id="4" name="Text 2"/>
          <p:cNvSpPr/>
          <p:nvPr/>
        </p:nvSpPr>
        <p:spPr>
          <a:xfrm>
            <a:off x="566928" y="310896"/>
            <a:ext cx="104698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TAKE-HOME</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정리 — 다섯 문장으로</a:t>
            </a:r>
            <a:endParaRPr lang="en-US" sz="2800" dirty="0"/>
          </a:p>
        </p:txBody>
      </p:sp>
      <p:sp>
        <p:nvSpPr>
          <p:cNvPr id="6" name="Shape 4"/>
          <p:cNvSpPr/>
          <p:nvPr/>
        </p:nvSpPr>
        <p:spPr>
          <a:xfrm>
            <a:off x="566928" y="1463040"/>
            <a:ext cx="11057839" cy="859536"/>
          </a:xfrm>
          <a:prstGeom prst="roundRect">
            <a:avLst>
              <a:gd name="adj" fmla="val 8511"/>
            </a:avLst>
          </a:prstGeom>
          <a:solidFill>
            <a:srgbClr val="EFF4F9"/>
          </a:solidFill>
          <a:ln/>
        </p:spPr>
      </p:sp>
      <p:sp>
        <p:nvSpPr>
          <p:cNvPr id="7" name="Shape 5"/>
          <p:cNvSpPr/>
          <p:nvPr/>
        </p:nvSpPr>
        <p:spPr>
          <a:xfrm>
            <a:off x="804672" y="1664208"/>
            <a:ext cx="457200" cy="457200"/>
          </a:xfrm>
          <a:prstGeom prst="ellipse">
            <a:avLst/>
          </a:prstGeom>
          <a:solidFill>
            <a:srgbClr val="1C7293"/>
          </a:solidFill>
          <a:ln/>
        </p:spPr>
      </p:sp>
      <p:sp>
        <p:nvSpPr>
          <p:cNvPr id="8" name="Text 6"/>
          <p:cNvSpPr/>
          <p:nvPr/>
        </p:nvSpPr>
        <p:spPr>
          <a:xfrm>
            <a:off x="804672" y="166420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01</a:t>
            </a:r>
            <a:endParaRPr lang="en-US" sz="1200" dirty="0"/>
          </a:p>
        </p:txBody>
      </p:sp>
      <p:sp>
        <p:nvSpPr>
          <p:cNvPr id="9" name="Text 7"/>
          <p:cNvSpPr/>
          <p:nvPr/>
        </p:nvSpPr>
        <p:spPr>
          <a:xfrm>
            <a:off x="1426464" y="1591056"/>
            <a:ext cx="10058400" cy="310896"/>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스트레처블은 화면 크기가 실제로 변하는 최초의 폼팩터다</a:t>
            </a:r>
            <a:endParaRPr lang="en-US" sz="1350" dirty="0"/>
          </a:p>
        </p:txBody>
      </p:sp>
      <p:sp>
        <p:nvSpPr>
          <p:cNvPr id="10" name="Text 8"/>
          <p:cNvSpPr/>
          <p:nvPr/>
        </p:nvSpPr>
        <p:spPr>
          <a:xfrm>
            <a:off x="1426464" y="1920240"/>
            <a:ext cx="10058400" cy="310896"/>
          </a:xfrm>
          <a:prstGeom prst="rect">
            <a:avLst/>
          </a:prstGeom>
          <a:noFill/>
          <a:ln/>
        </p:spPr>
        <p:txBody>
          <a:bodyPr wrap="square" lIns="0" tIns="0" rIns="0" bIns="0" rtlCol="0" anchor="ctr"/>
          <a:lstStyle/>
          <a:p>
            <a:pPr indent="0" marL="0">
              <a:buNone/>
            </a:pPr>
            <a:r>
              <a:rPr lang="en-US" sz="1100" dirty="0">
                <a:solidFill>
                  <a:srgbClr val="1E2739"/>
                </a:solidFill>
                <a:latin typeface="Malgun Gothic" pitchFamily="34" charset="0"/>
                <a:ea typeface="Malgun Gothic" pitchFamily="34" charset="-122"/>
                <a:cs typeface="Malgun Gothic" pitchFamily="34" charset="-120"/>
              </a:rPr>
              <a:t>그래서 이미지 왜곡이 부차적 문제가 아니라 1차 문제가 된다. 늘리는 것만이 능사가 아니다.</a:t>
            </a:r>
            <a:endParaRPr lang="en-US" sz="1100" dirty="0"/>
          </a:p>
        </p:txBody>
      </p:sp>
      <p:sp>
        <p:nvSpPr>
          <p:cNvPr id="11" name="Shape 9"/>
          <p:cNvSpPr/>
          <p:nvPr/>
        </p:nvSpPr>
        <p:spPr>
          <a:xfrm>
            <a:off x="566928" y="2414016"/>
            <a:ext cx="11057839" cy="859536"/>
          </a:xfrm>
          <a:prstGeom prst="roundRect">
            <a:avLst>
              <a:gd name="adj" fmla="val 8511"/>
            </a:avLst>
          </a:prstGeom>
          <a:solidFill>
            <a:srgbClr val="EFF4F9"/>
          </a:solidFill>
          <a:ln/>
        </p:spPr>
      </p:sp>
      <p:sp>
        <p:nvSpPr>
          <p:cNvPr id="12" name="Shape 10"/>
          <p:cNvSpPr/>
          <p:nvPr/>
        </p:nvSpPr>
        <p:spPr>
          <a:xfrm>
            <a:off x="804672" y="2615184"/>
            <a:ext cx="457200" cy="457200"/>
          </a:xfrm>
          <a:prstGeom prst="ellipse">
            <a:avLst/>
          </a:prstGeom>
          <a:solidFill>
            <a:srgbClr val="1C7293"/>
          </a:solidFill>
          <a:ln/>
        </p:spPr>
      </p:sp>
      <p:sp>
        <p:nvSpPr>
          <p:cNvPr id="13" name="Text 11"/>
          <p:cNvSpPr/>
          <p:nvPr/>
        </p:nvSpPr>
        <p:spPr>
          <a:xfrm>
            <a:off x="804672" y="26151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02</a:t>
            </a:r>
            <a:endParaRPr lang="en-US" sz="1200" dirty="0"/>
          </a:p>
        </p:txBody>
      </p:sp>
      <p:sp>
        <p:nvSpPr>
          <p:cNvPr id="14" name="Text 12"/>
          <p:cNvSpPr/>
          <p:nvPr/>
        </p:nvSpPr>
        <p:spPr>
          <a:xfrm>
            <a:off x="1426464" y="2542032"/>
            <a:ext cx="10058400" cy="310896"/>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Auxetic(ν = −1)은 필요조건이지 충분조건이 아니다</a:t>
            </a:r>
            <a:endParaRPr lang="en-US" sz="1350" dirty="0"/>
          </a:p>
        </p:txBody>
      </p:sp>
      <p:sp>
        <p:nvSpPr>
          <p:cNvPr id="15" name="Text 13"/>
          <p:cNvSpPr/>
          <p:nvPr/>
        </p:nvSpPr>
        <p:spPr>
          <a:xfrm>
            <a:off x="1426464" y="2871216"/>
            <a:ext cx="10058400" cy="310896"/>
          </a:xfrm>
          <a:prstGeom prst="rect">
            <a:avLst/>
          </a:prstGeom>
          <a:noFill/>
          <a:ln/>
        </p:spPr>
        <p:txBody>
          <a:bodyPr wrap="square" lIns="0" tIns="0" rIns="0" bIns="0" rtlCol="0" anchor="ctr"/>
          <a:lstStyle/>
          <a:p>
            <a:pPr indent="0" marL="0">
              <a:buNone/>
            </a:pPr>
            <a:r>
              <a:rPr lang="en-US" sz="1100" dirty="0">
                <a:solidFill>
                  <a:srgbClr val="1E2739"/>
                </a:solidFill>
                <a:latin typeface="Malgun Gothic" pitchFamily="34" charset="0"/>
                <a:ea typeface="Malgun Gothic" pitchFamily="34" charset="-122"/>
                <a:cs typeface="Malgun Gothic" pitchFamily="34" charset="-120"/>
              </a:rPr>
              <a:t>전체 푸아송비가 −1이어도 내부의 모든 점이 등방으로 커지지는 않는다. Global NPR ≠ Local isotropic expansion.</a:t>
            </a:r>
            <a:endParaRPr lang="en-US" sz="1100" dirty="0"/>
          </a:p>
        </p:txBody>
      </p:sp>
      <p:sp>
        <p:nvSpPr>
          <p:cNvPr id="16" name="Shape 14"/>
          <p:cNvSpPr/>
          <p:nvPr/>
        </p:nvSpPr>
        <p:spPr>
          <a:xfrm>
            <a:off x="566928" y="3364992"/>
            <a:ext cx="11057839" cy="859536"/>
          </a:xfrm>
          <a:prstGeom prst="roundRect">
            <a:avLst>
              <a:gd name="adj" fmla="val 8511"/>
            </a:avLst>
          </a:prstGeom>
          <a:solidFill>
            <a:srgbClr val="EFF4F9"/>
          </a:solidFill>
          <a:ln/>
        </p:spPr>
      </p:sp>
      <p:sp>
        <p:nvSpPr>
          <p:cNvPr id="17" name="Shape 15"/>
          <p:cNvSpPr/>
          <p:nvPr/>
        </p:nvSpPr>
        <p:spPr>
          <a:xfrm>
            <a:off x="804672" y="3566160"/>
            <a:ext cx="457200" cy="457200"/>
          </a:xfrm>
          <a:prstGeom prst="ellipse">
            <a:avLst/>
          </a:prstGeom>
          <a:solidFill>
            <a:srgbClr val="1C7293"/>
          </a:solidFill>
          <a:ln/>
        </p:spPr>
      </p:sp>
      <p:sp>
        <p:nvSpPr>
          <p:cNvPr id="18" name="Text 16"/>
          <p:cNvSpPr/>
          <p:nvPr/>
        </p:nvSpPr>
        <p:spPr>
          <a:xfrm>
            <a:off x="804672" y="3566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03</a:t>
            </a:r>
            <a:endParaRPr lang="en-US" sz="1200" dirty="0"/>
          </a:p>
        </p:txBody>
      </p:sp>
      <p:sp>
        <p:nvSpPr>
          <p:cNvPr id="19" name="Text 17"/>
          <p:cNvSpPr/>
          <p:nvPr/>
        </p:nvSpPr>
        <p:spPr>
          <a:xfrm>
            <a:off x="1426464" y="3493008"/>
            <a:ext cx="10058400" cy="310896"/>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회전 기반 auxetic과 엘라스토머는 서로를 구속한다</a:t>
            </a:r>
            <a:endParaRPr lang="en-US" sz="1350" dirty="0"/>
          </a:p>
        </p:txBody>
      </p:sp>
      <p:sp>
        <p:nvSpPr>
          <p:cNvPr id="20" name="Text 18"/>
          <p:cNvSpPr/>
          <p:nvPr/>
        </p:nvSpPr>
        <p:spPr>
          <a:xfrm>
            <a:off x="1426464" y="3822192"/>
            <a:ext cx="10058400" cy="310896"/>
          </a:xfrm>
          <a:prstGeom prst="rect">
            <a:avLst/>
          </a:prstGeom>
          <a:noFill/>
          <a:ln/>
        </p:spPr>
        <p:txBody>
          <a:bodyPr wrap="square" lIns="0" tIns="0" rIns="0" bIns="0" rtlCol="0" anchor="ctr"/>
          <a:lstStyle/>
          <a:p>
            <a:pPr indent="0" marL="0">
              <a:buNone/>
            </a:pPr>
            <a:r>
              <a:rPr lang="en-US" sz="1100" dirty="0">
                <a:solidFill>
                  <a:srgbClr val="1E2739"/>
                </a:solidFill>
                <a:latin typeface="Malgun Gothic" pitchFamily="34" charset="0"/>
                <a:ea typeface="Malgun Gothic" pitchFamily="34" charset="-122"/>
                <a:cs typeface="Malgun Gothic" pitchFamily="34" charset="-120"/>
              </a:rPr>
              <a:t>전면 접합은 회전을 전사하고, 무접합은 구동이 불가능하다. 답은 u = k·r 을 만족하는 지점에서만 붙이는 선택적 접합이다.</a:t>
            </a:r>
            <a:endParaRPr lang="en-US" sz="1100" dirty="0"/>
          </a:p>
        </p:txBody>
      </p:sp>
      <p:sp>
        <p:nvSpPr>
          <p:cNvPr id="21" name="Shape 19"/>
          <p:cNvSpPr/>
          <p:nvPr/>
        </p:nvSpPr>
        <p:spPr>
          <a:xfrm>
            <a:off x="566928" y="4315968"/>
            <a:ext cx="11057839" cy="859536"/>
          </a:xfrm>
          <a:prstGeom prst="roundRect">
            <a:avLst>
              <a:gd name="adj" fmla="val 8511"/>
            </a:avLst>
          </a:prstGeom>
          <a:solidFill>
            <a:srgbClr val="EFF4F9"/>
          </a:solidFill>
          <a:ln/>
        </p:spPr>
      </p:sp>
      <p:sp>
        <p:nvSpPr>
          <p:cNvPr id="22" name="Shape 20"/>
          <p:cNvSpPr/>
          <p:nvPr/>
        </p:nvSpPr>
        <p:spPr>
          <a:xfrm>
            <a:off x="804672" y="4517136"/>
            <a:ext cx="457200" cy="457200"/>
          </a:xfrm>
          <a:prstGeom prst="ellipse">
            <a:avLst/>
          </a:prstGeom>
          <a:solidFill>
            <a:srgbClr val="1C7293"/>
          </a:solidFill>
          <a:ln/>
        </p:spPr>
      </p:sp>
      <p:sp>
        <p:nvSpPr>
          <p:cNvPr id="23" name="Text 21"/>
          <p:cNvSpPr/>
          <p:nvPr/>
        </p:nvSpPr>
        <p:spPr>
          <a:xfrm>
            <a:off x="804672" y="45171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04</a:t>
            </a:r>
            <a:endParaRPr lang="en-US" sz="1200" dirty="0"/>
          </a:p>
        </p:txBody>
      </p:sp>
      <p:sp>
        <p:nvSpPr>
          <p:cNvPr id="24" name="Text 22"/>
          <p:cNvSpPr/>
          <p:nvPr/>
        </p:nvSpPr>
        <p:spPr>
          <a:xfrm>
            <a:off x="1426464" y="4443984"/>
            <a:ext cx="10058400" cy="310896"/>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그립 경계층까지 설계에 포함시켰다</a:t>
            </a:r>
            <a:endParaRPr lang="en-US" sz="1350" dirty="0"/>
          </a:p>
        </p:txBody>
      </p:sp>
      <p:sp>
        <p:nvSpPr>
          <p:cNvPr id="25" name="Text 23"/>
          <p:cNvSpPr/>
          <p:nvPr/>
        </p:nvSpPr>
        <p:spPr>
          <a:xfrm>
            <a:off x="1426464" y="4773168"/>
            <a:ext cx="10058400" cy="310896"/>
          </a:xfrm>
          <a:prstGeom prst="rect">
            <a:avLst/>
          </a:prstGeom>
          <a:noFill/>
          <a:ln/>
        </p:spPr>
        <p:txBody>
          <a:bodyPr wrap="square" lIns="0" tIns="0" rIns="0" bIns="0" rtlCol="0" anchor="ctr"/>
          <a:lstStyle/>
          <a:p>
            <a:pPr indent="0" marL="0">
              <a:buNone/>
            </a:pPr>
            <a:r>
              <a:rPr lang="en-US" sz="1100" dirty="0">
                <a:solidFill>
                  <a:srgbClr val="1E2739"/>
                </a:solidFill>
                <a:latin typeface="Malgun Gothic" pitchFamily="34" charset="0"/>
                <a:ea typeface="Malgun Gothic" pitchFamily="34" charset="-122"/>
                <a:cs typeface="Malgun Gothic" pitchFamily="34" charset="-120"/>
              </a:rPr>
              <a:t>S(W, L, D) 최소화로 기하를 먼저 정하고(W/D ≈ 35), 그 위에서 연결점을 설계한다. 순서를 뒤집으면 유효 연결점이 아예 존재하지 않는다.</a:t>
            </a:r>
            <a:endParaRPr lang="en-US" sz="1100" dirty="0"/>
          </a:p>
        </p:txBody>
      </p:sp>
      <p:sp>
        <p:nvSpPr>
          <p:cNvPr id="26" name="Shape 24"/>
          <p:cNvSpPr/>
          <p:nvPr/>
        </p:nvSpPr>
        <p:spPr>
          <a:xfrm>
            <a:off x="566928" y="5266944"/>
            <a:ext cx="11057839" cy="859536"/>
          </a:xfrm>
          <a:prstGeom prst="roundRect">
            <a:avLst>
              <a:gd name="adj" fmla="val 8511"/>
            </a:avLst>
          </a:prstGeom>
          <a:solidFill>
            <a:srgbClr val="E2EBF3"/>
          </a:solidFill>
          <a:ln/>
        </p:spPr>
      </p:sp>
      <p:sp>
        <p:nvSpPr>
          <p:cNvPr id="27" name="Shape 25"/>
          <p:cNvSpPr/>
          <p:nvPr/>
        </p:nvSpPr>
        <p:spPr>
          <a:xfrm>
            <a:off x="804672" y="5468112"/>
            <a:ext cx="457200" cy="457200"/>
          </a:xfrm>
          <a:prstGeom prst="ellipse">
            <a:avLst/>
          </a:prstGeom>
          <a:solidFill>
            <a:srgbClr val="E2592C"/>
          </a:solidFill>
          <a:ln/>
        </p:spPr>
      </p:sp>
      <p:sp>
        <p:nvSpPr>
          <p:cNvPr id="28" name="Text 26"/>
          <p:cNvSpPr/>
          <p:nvPr/>
        </p:nvSpPr>
        <p:spPr>
          <a:xfrm>
            <a:off x="804672" y="546811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05</a:t>
            </a:r>
            <a:endParaRPr lang="en-US" sz="1200" dirty="0"/>
          </a:p>
        </p:txBody>
      </p:sp>
      <p:sp>
        <p:nvSpPr>
          <p:cNvPr id="29" name="Text 27"/>
          <p:cNvSpPr/>
          <p:nvPr/>
        </p:nvSpPr>
        <p:spPr>
          <a:xfrm>
            <a:off x="1426464" y="5394960"/>
            <a:ext cx="10058400" cy="310896"/>
          </a:xfrm>
          <a:prstGeom prst="rect">
            <a:avLst/>
          </a:prstGeom>
          <a:noFill/>
          <a:ln/>
        </p:spPr>
        <p:txBody>
          <a:bodyPr wrap="square" lIns="0" tIns="0" rIns="0" bIns="0" rtlCol="0" anchor="ctr"/>
          <a:lstStyle/>
          <a:p>
            <a:pPr indent="0" marL="0">
              <a:buNone/>
            </a:pPr>
            <a:r>
              <a:rPr lang="en-US" sz="1350" b="1" dirty="0">
                <a:solidFill>
                  <a:srgbClr val="21295C"/>
                </a:solidFill>
                <a:latin typeface="Malgun Gothic" pitchFamily="34" charset="0"/>
                <a:ea typeface="Malgun Gothic" pitchFamily="34" charset="-122"/>
                <a:cs typeface="Malgun Gothic" pitchFamily="34" charset="-120"/>
              </a:rPr>
              <a:t>ρ — 왜곡을 하나의 스칼라로 만들다</a:t>
            </a:r>
            <a:endParaRPr lang="en-US" sz="1350" dirty="0"/>
          </a:p>
        </p:txBody>
      </p:sp>
      <p:sp>
        <p:nvSpPr>
          <p:cNvPr id="30" name="Text 28"/>
          <p:cNvSpPr/>
          <p:nvPr/>
        </p:nvSpPr>
        <p:spPr>
          <a:xfrm>
            <a:off x="1426464" y="5724144"/>
            <a:ext cx="10058400" cy="310896"/>
          </a:xfrm>
          <a:prstGeom prst="rect">
            <a:avLst/>
          </a:prstGeom>
          <a:noFill/>
          <a:ln/>
        </p:spPr>
        <p:txBody>
          <a:bodyPr wrap="square" lIns="0" tIns="0" rIns="0" bIns="0" rtlCol="0" anchor="ctr"/>
          <a:lstStyle/>
          <a:p>
            <a:pPr indent="0" marL="0">
              <a:buNone/>
            </a:pPr>
            <a:r>
              <a:rPr lang="en-US" sz="1100" dirty="0">
                <a:solidFill>
                  <a:srgbClr val="1E2739"/>
                </a:solidFill>
                <a:latin typeface="Malgun Gothic" pitchFamily="34" charset="0"/>
                <a:ea typeface="Malgun Gothic" pitchFamily="34" charset="-122"/>
                <a:cs typeface="Malgun Gothic" pitchFamily="34" charset="-120"/>
              </a:rPr>
              <a:t>통계의 상관계수에서 가져온 등방 팽창 계수. local과 global을 동시에 포착하며, ρ ≥ 0.99 가 지각 임계다.</a:t>
            </a:r>
            <a:endParaRPr lang="en-US" sz="1100" dirty="0"/>
          </a:p>
        </p:txBody>
      </p:sp>
      <p:sp>
        <p:nvSpPr>
          <p:cNvPr id="31" name="Text 29"/>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51</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DISCUSSION</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한계, 그리고 함께 이야기해 볼 것들</a:t>
            </a:r>
            <a:endParaRPr lang="en-US" sz="2800" dirty="0"/>
          </a:p>
        </p:txBody>
      </p:sp>
      <p:sp>
        <p:nvSpPr>
          <p:cNvPr id="6" name="Shape 4"/>
          <p:cNvSpPr/>
          <p:nvPr/>
        </p:nvSpPr>
        <p:spPr>
          <a:xfrm>
            <a:off x="566928" y="1481328"/>
            <a:ext cx="5358384" cy="4626864"/>
          </a:xfrm>
          <a:prstGeom prst="roundRect">
            <a:avLst>
              <a:gd name="adj" fmla="val 1779"/>
            </a:avLst>
          </a:prstGeom>
          <a:solidFill>
            <a:srgbClr val="FBEAE2"/>
          </a:solidFill>
          <a:ln/>
          <a:effectLst>
            <a:outerShdw sx="100000" sy="100000" kx="0" ky="0" algn="bl" rotWithShape="0" blurRad="114300" dist="25400" dir="5400000">
              <a:srgbClr val="7E90A8">
                <a:alpha val="16000"/>
              </a:srgbClr>
            </a:outerShdw>
          </a:effectLst>
        </p:spPr>
      </p:sp>
      <p:sp>
        <p:nvSpPr>
          <p:cNvPr id="7" name="Text 5"/>
          <p:cNvSpPr/>
          <p:nvPr/>
        </p:nvSpPr>
        <p:spPr>
          <a:xfrm>
            <a:off x="877824" y="1664208"/>
            <a:ext cx="4754880" cy="292608"/>
          </a:xfrm>
          <a:prstGeom prst="rect">
            <a:avLst/>
          </a:prstGeom>
          <a:noFill/>
          <a:ln/>
        </p:spPr>
        <p:txBody>
          <a:bodyPr wrap="square" lIns="0" tIns="0" rIns="0" bIns="0" rtlCol="0" anchor="ctr"/>
          <a:lstStyle/>
          <a:p>
            <a:pPr indent="0" marL="0">
              <a:buNone/>
            </a:pPr>
            <a:r>
              <a:rPr lang="en-US" sz="1450" b="1" dirty="0">
                <a:solidFill>
                  <a:srgbClr val="E2592C"/>
                </a:solidFill>
                <a:latin typeface="Malgun Gothic" pitchFamily="34" charset="0"/>
                <a:ea typeface="Malgun Gothic" pitchFamily="34" charset="-122"/>
                <a:cs typeface="Malgun Gothic" pitchFamily="34" charset="-120"/>
              </a:rPr>
              <a:t>짚고 넘어갈 한계</a:t>
            </a:r>
            <a:endParaRPr lang="en-US" sz="1450" dirty="0"/>
          </a:p>
        </p:txBody>
      </p:sp>
      <p:sp>
        <p:nvSpPr>
          <p:cNvPr id="8" name="Text 6"/>
          <p:cNvSpPr/>
          <p:nvPr/>
        </p:nvSpPr>
        <p:spPr>
          <a:xfrm>
            <a:off x="877824" y="2084832"/>
            <a:ext cx="4754880" cy="384048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auxetic 프레임이 두께 3 mm의 경질 수지(E ≈ 869 MPa) — 실제 제품의 두께·무게·투명도 요구와는 아직 거리가 있다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시연 변형률은 15~20 % 수준. LG Display가 공개한 50 % 급과 비교하면 보수적이다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LED가 매크로 스케일(LM102A) 패키지이고 PM 구동 — 고해상도 AM 구동 검증은 아직</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1축 인장(수평 또는 수직) 중심. 다축 동시·임의 방향·전단 변형은 다루지 않았다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앵커 정렬 정밀도, 봉지(encapsulation), 터치 스택은 공정 논의 수준에 머문다</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ρ ≥ 0.99 라는 임계값은 정지 이미지와 세 가지 변형 함수족에 근거 — 동영상·텍스트 가독성 기준은 별도 검증이 필요하다</a:t>
            </a:r>
            <a:endParaRPr lang="en-US" sz="1150" dirty="0"/>
          </a:p>
        </p:txBody>
      </p:sp>
      <p:sp>
        <p:nvSpPr>
          <p:cNvPr id="9" name="Shape 7"/>
          <p:cNvSpPr/>
          <p:nvPr/>
        </p:nvSpPr>
        <p:spPr>
          <a:xfrm>
            <a:off x="6181344" y="1481328"/>
            <a:ext cx="5358384" cy="4626864"/>
          </a:xfrm>
          <a:prstGeom prst="roundRect">
            <a:avLst>
              <a:gd name="adj" fmla="val 1779"/>
            </a:avLst>
          </a:prstGeom>
          <a:solidFill>
            <a:srgbClr val="EFF4F9"/>
          </a:solidFill>
          <a:ln/>
          <a:effectLst>
            <a:outerShdw sx="100000" sy="100000" kx="0" ky="0" algn="bl" rotWithShape="0" blurRad="114300" dist="25400" dir="5400000">
              <a:srgbClr val="7E90A8">
                <a:alpha val="16000"/>
              </a:srgbClr>
            </a:outerShdw>
          </a:effectLst>
        </p:spPr>
      </p:sp>
      <p:sp>
        <p:nvSpPr>
          <p:cNvPr id="10" name="Text 8"/>
          <p:cNvSpPr/>
          <p:nvPr/>
        </p:nvSpPr>
        <p:spPr>
          <a:xfrm>
            <a:off x="6492240" y="1664208"/>
            <a:ext cx="4754880" cy="292608"/>
          </a:xfrm>
          <a:prstGeom prst="rect">
            <a:avLst/>
          </a:prstGeom>
          <a:noFill/>
          <a:ln/>
        </p:spPr>
        <p:txBody>
          <a:bodyPr wrap="square" lIns="0" tIns="0" rIns="0" bIns="0" rtlCol="0" anchor="ctr"/>
          <a:lstStyle/>
          <a:p>
            <a:pPr indent="0" marL="0">
              <a:buNone/>
            </a:pPr>
            <a:r>
              <a:rPr lang="en-US" sz="1450" b="1" dirty="0">
                <a:solidFill>
                  <a:srgbClr val="1C7293"/>
                </a:solidFill>
                <a:latin typeface="Malgun Gothic" pitchFamily="34" charset="0"/>
                <a:ea typeface="Malgun Gothic" pitchFamily="34" charset="-122"/>
                <a:cs typeface="Malgun Gothic" pitchFamily="34" charset="-120"/>
              </a:rPr>
              <a:t>토의하고 싶은 질문</a:t>
            </a:r>
            <a:endParaRPr lang="en-US" sz="1450" dirty="0"/>
          </a:p>
        </p:txBody>
      </p:sp>
      <p:sp>
        <p:nvSpPr>
          <p:cNvPr id="11" name="Text 9"/>
          <p:cNvSpPr/>
          <p:nvPr/>
        </p:nvSpPr>
        <p:spPr>
          <a:xfrm>
            <a:off x="6492240" y="2084832"/>
            <a:ext cx="4754880" cy="384048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ρ 를 산업 스펙으로 표준화할 수 있을까? 시야각·색재현율처럼 데이터시트에 실릴 수 있는 값인가</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앵커는 물리적 접합점이다. 그 지점의 국부 응력 집중이나 시인성(mura)은 문제가 되지 않을까</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본질적으로 신축성 있는(intrinsically stretchable) OLED·QD가 성숙하면 프레임 자체가 불필요해질까, 아니면 '등방 팽창 유도'라는 역할은 여전히 남을까</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화면 면적이 커지면 정보량도 커져야 한다 — 익스팬더블 디스플레이에서 UI는 어떻게 리플로우되어야 하는가</a:t>
            </a:r>
            <a:endParaRPr lang="en-US" sz="1150" dirty="0"/>
          </a:p>
          <a:p>
            <a:pPr marL="342900" indent="-342900">
              <a:lnSpc>
                <a:spcPts val="1800"/>
              </a:lnSpc>
              <a:spcAft>
                <a:spcPts val="700"/>
              </a:spcAft>
              <a:buSzPct val="100000"/>
              <a:buChar char="•"/>
            </a:pPr>
            <a:r>
              <a:rPr lang="en-US" sz="1150" dirty="0">
                <a:solidFill>
                  <a:srgbClr val="1E2739"/>
                </a:solidFill>
                <a:latin typeface="Malgun Gothic" pitchFamily="34" charset="0"/>
                <a:ea typeface="Malgun Gothic" pitchFamily="34" charset="-122"/>
                <a:cs typeface="Malgun Gothic" pitchFamily="34" charset="-120"/>
              </a:rPr>
              <a:t>그립을 설계 변수로 넣었다는 것은 곧 '어떻게 잡느냐'가 화질을 바꾼다는 뜻이다. 사용자가 임의로 잡는 제품에서는 어떻게 대응할까</a:t>
            </a:r>
            <a:endParaRPr lang="en-US" sz="1150" dirty="0"/>
          </a:p>
        </p:txBody>
      </p:sp>
      <p:sp>
        <p:nvSpPr>
          <p:cNvPr id="12" name="Text 10"/>
          <p:cNvSpPr/>
          <p:nvPr/>
        </p:nvSpPr>
        <p:spPr>
          <a:xfrm>
            <a:off x="566928" y="6336792"/>
            <a:ext cx="10143439" cy="274320"/>
          </a:xfrm>
          <a:prstGeom prst="rect">
            <a:avLst/>
          </a:prstGeom>
          <a:noFill/>
          <a:ln/>
        </p:spPr>
        <p:txBody>
          <a:bodyPr wrap="square" lIns="0" tIns="0" rIns="0" bIns="0" rtlCol="0" anchor="ctr"/>
          <a:lstStyle/>
          <a:p>
            <a:pPr indent="0" marL="0">
              <a:buNone/>
            </a:pPr>
            <a:r>
              <a:rPr lang="en-US" sz="900" dirty="0">
                <a:solidFill>
                  <a:srgbClr val="9AA8BC"/>
                </a:solidFill>
                <a:latin typeface="Malgun Gothic" pitchFamily="34" charset="0"/>
                <a:ea typeface="Malgun Gothic" pitchFamily="34" charset="-122"/>
                <a:cs typeface="Malgun Gothic" pitchFamily="34" charset="-120"/>
              </a:rPr>
              <a:t>Kim, S.-B., Kim, J. et al., Nature Communications 17, 7389 (2026)</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31575" y="6336792"/>
            <a:ext cx="457200" cy="274320"/>
          </a:xfrm>
          <a:prstGeom prst="rect">
            <a:avLst/>
          </a:prstGeom>
          <a:noFill/>
          <a:ln/>
        </p:spPr>
        <p:txBody>
          <a:bodyPr wrap="square" rtlCol="0" anchor="ctr"/>
          <a:lstStyle/>
          <a:p>
            <a:pPr algn="r" indent="0" marL="0">
              <a:buNone/>
            </a:pPr>
            <a:r>
              <a:rPr lang="en-US" sz="1000" dirty="0">
                <a:solidFill>
                  <a:srgbClr val="9AA8BC"/>
                </a:solidFill>
                <a:latin typeface="Malgun Gothic" pitchFamily="34" charset="0"/>
                <a:ea typeface="Malgun Gothic" pitchFamily="34" charset="-122"/>
                <a:cs typeface="Malgun Gothic" pitchFamily="34" charset="-120"/>
              </a:rPr>
              <a:t>52</a:t>
            </a:r>
            <a:endParaRPr lang="en-US" sz="1000" dirty="0"/>
          </a:p>
        </p:txBody>
      </p:sp>
      <p:sp>
        <p:nvSpPr>
          <p:cNvPr id="3" name="Shape 1"/>
          <p:cNvSpPr/>
          <p:nvPr/>
        </p:nvSpPr>
        <p:spPr>
          <a:xfrm>
            <a:off x="566928" y="310896"/>
            <a:ext cx="1143000" cy="274320"/>
          </a:xfrm>
          <a:prstGeom prst="roundRect">
            <a:avLst>
              <a:gd name="adj" fmla="val 50000"/>
            </a:avLst>
          </a:prstGeom>
          <a:solidFill>
            <a:srgbClr val="1C7293"/>
          </a:solidFill>
          <a:ln/>
        </p:spPr>
      </p:sp>
      <p:sp>
        <p:nvSpPr>
          <p:cNvPr id="4" name="Text 2"/>
          <p:cNvSpPr/>
          <p:nvPr/>
        </p:nvSpPr>
        <p:spPr>
          <a:xfrm>
            <a:off x="566928" y="310896"/>
            <a:ext cx="11430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REFERENCES</a:t>
            </a:r>
            <a:endParaRPr lang="en-US" sz="1050" dirty="0"/>
          </a:p>
        </p:txBody>
      </p:sp>
      <p:sp>
        <p:nvSpPr>
          <p:cNvPr id="5" name="Text 3"/>
          <p:cNvSpPr/>
          <p:nvPr/>
        </p:nvSpPr>
        <p:spPr>
          <a:xfrm>
            <a:off x="566928" y="658368"/>
            <a:ext cx="11057839" cy="603504"/>
          </a:xfrm>
          <a:prstGeom prst="rect">
            <a:avLst/>
          </a:prstGeom>
          <a:noFill/>
          <a:ln/>
        </p:spPr>
        <p:txBody>
          <a:bodyPr wrap="square" lIns="0" tIns="0" rIns="0" bIns="0" rtlCol="0" anchor="ctr"/>
          <a:lstStyle/>
          <a:p>
            <a:pPr indent="0" marL="0">
              <a:buNone/>
            </a:pPr>
            <a:r>
              <a:rPr lang="en-US" sz="2800" b="1" dirty="0">
                <a:solidFill>
                  <a:srgbClr val="21295C"/>
                </a:solidFill>
                <a:latin typeface="Malgun Gothic" pitchFamily="34" charset="0"/>
                <a:ea typeface="Malgun Gothic" pitchFamily="34" charset="-122"/>
                <a:cs typeface="Malgun Gothic" pitchFamily="34" charset="-120"/>
              </a:rPr>
              <a:t>참고문헌</a:t>
            </a:r>
            <a:endParaRPr lang="en-US" sz="2800" dirty="0"/>
          </a:p>
        </p:txBody>
      </p:sp>
      <p:sp>
        <p:nvSpPr>
          <p:cNvPr id="6" name="Shape 4"/>
          <p:cNvSpPr/>
          <p:nvPr/>
        </p:nvSpPr>
        <p:spPr>
          <a:xfrm>
            <a:off x="566928" y="1444752"/>
            <a:ext cx="11057839" cy="484632"/>
          </a:xfrm>
          <a:prstGeom prst="roundRect">
            <a:avLst>
              <a:gd name="adj" fmla="val 11321"/>
            </a:avLst>
          </a:prstGeom>
          <a:solidFill>
            <a:srgbClr val="E2EBF3"/>
          </a:solidFill>
          <a:ln/>
        </p:spPr>
      </p:sp>
      <p:sp>
        <p:nvSpPr>
          <p:cNvPr id="7" name="Text 5"/>
          <p:cNvSpPr/>
          <p:nvPr/>
        </p:nvSpPr>
        <p:spPr>
          <a:xfrm>
            <a:off x="786384" y="1444752"/>
            <a:ext cx="1920240" cy="484632"/>
          </a:xfrm>
          <a:prstGeom prst="rect">
            <a:avLst/>
          </a:prstGeom>
          <a:noFill/>
          <a:ln/>
        </p:spPr>
        <p:txBody>
          <a:bodyPr wrap="square" lIns="0" tIns="0" rIns="0" bIns="0" rtlCol="0" anchor="ctr"/>
          <a:lstStyle/>
          <a:p>
            <a:pPr indent="0" marL="0">
              <a:buNone/>
            </a:pPr>
            <a:r>
              <a:rPr lang="en-US" sz="1000" b="1" dirty="0">
                <a:solidFill>
                  <a:srgbClr val="065A82"/>
                </a:solidFill>
                <a:latin typeface="Malgun Gothic" pitchFamily="34" charset="0"/>
                <a:ea typeface="Malgun Gothic" pitchFamily="34" charset="-122"/>
                <a:cs typeface="Malgun Gothic" pitchFamily="34" charset="-120"/>
              </a:rPr>
              <a:t>본 논문</a:t>
            </a:r>
            <a:endParaRPr lang="en-US" sz="1000" dirty="0"/>
          </a:p>
        </p:txBody>
      </p:sp>
      <p:sp>
        <p:nvSpPr>
          <p:cNvPr id="8" name="Text 6"/>
          <p:cNvSpPr/>
          <p:nvPr/>
        </p:nvSpPr>
        <p:spPr>
          <a:xfrm>
            <a:off x="2779776" y="1444752"/>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Kim, S.-B., Kim, J., Kim, S., Choi, D., Gu, C.-Y., Kim, T.-S., Moon, H. &amp; Yoo, S. Hybrid auxetic metamaterial platforms enabling multiscale isotropic expansion for distortion-free stretchable displays. Nat. Commun. 17, 7389 (2026). doi:10.1038/s41467-026-74141-6</a:t>
            </a:r>
            <a:endParaRPr lang="en-US" sz="950" dirty="0"/>
          </a:p>
        </p:txBody>
      </p:sp>
      <p:sp>
        <p:nvSpPr>
          <p:cNvPr id="9" name="Shape 7"/>
          <p:cNvSpPr/>
          <p:nvPr/>
        </p:nvSpPr>
        <p:spPr>
          <a:xfrm>
            <a:off x="566928" y="1979676"/>
            <a:ext cx="11057839" cy="484632"/>
          </a:xfrm>
          <a:prstGeom prst="roundRect">
            <a:avLst>
              <a:gd name="adj" fmla="val 11321"/>
            </a:avLst>
          </a:prstGeom>
          <a:solidFill>
            <a:srgbClr val="FFFFFF"/>
          </a:solidFill>
          <a:ln/>
        </p:spPr>
      </p:sp>
      <p:sp>
        <p:nvSpPr>
          <p:cNvPr id="10" name="Text 8"/>
          <p:cNvSpPr/>
          <p:nvPr/>
        </p:nvSpPr>
        <p:spPr>
          <a:xfrm>
            <a:off x="786384" y="1979676"/>
            <a:ext cx="1920240" cy="484632"/>
          </a:xfrm>
          <a:prstGeom prst="rect">
            <a:avLst/>
          </a:prstGeom>
          <a:noFill/>
          <a:ln/>
        </p:spPr>
        <p:txBody>
          <a:bodyPr wrap="square" lIns="0" tIns="0" rIns="0" bIns="0" rtlCol="0" anchor="ctr"/>
          <a:lstStyle/>
          <a:p>
            <a:pPr indent="0" marL="0">
              <a:buNone/>
            </a:pPr>
            <a:r>
              <a:rPr lang="en-US" sz="1000" b="1" dirty="0">
                <a:solidFill>
                  <a:srgbClr val="1C7293"/>
                </a:solidFill>
                <a:latin typeface="Malgun Gothic" pitchFamily="34" charset="0"/>
                <a:ea typeface="Malgun Gothic" pitchFamily="34" charset="-122"/>
                <a:cs typeface="Malgun Gothic" pitchFamily="34" charset="-120"/>
              </a:rPr>
              <a:t>Auxetic 이론</a:t>
            </a:r>
            <a:endParaRPr lang="en-US" sz="1000" dirty="0"/>
          </a:p>
        </p:txBody>
      </p:sp>
      <p:sp>
        <p:nvSpPr>
          <p:cNvPr id="11" name="Text 9"/>
          <p:cNvSpPr/>
          <p:nvPr/>
        </p:nvSpPr>
        <p:spPr>
          <a:xfrm>
            <a:off x="2779776" y="1979676"/>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Grima, J. N. &amp; Evans, K. E. Auxetic behavior from rotating squares. J. Mater. Sci. Lett. 19, 1563–1565 (2000).</a:t>
            </a:r>
            <a:endParaRPr lang="en-US" sz="950" dirty="0"/>
          </a:p>
        </p:txBody>
      </p:sp>
      <p:sp>
        <p:nvSpPr>
          <p:cNvPr id="12" name="Shape 10"/>
          <p:cNvSpPr/>
          <p:nvPr/>
        </p:nvSpPr>
        <p:spPr>
          <a:xfrm>
            <a:off x="566928" y="2514600"/>
            <a:ext cx="11057839" cy="484632"/>
          </a:xfrm>
          <a:prstGeom prst="roundRect">
            <a:avLst>
              <a:gd name="adj" fmla="val 11321"/>
            </a:avLst>
          </a:prstGeom>
          <a:solidFill>
            <a:srgbClr val="EFF4F9"/>
          </a:solidFill>
          <a:ln/>
        </p:spPr>
      </p:sp>
      <p:sp>
        <p:nvSpPr>
          <p:cNvPr id="13" name="Text 11"/>
          <p:cNvSpPr/>
          <p:nvPr/>
        </p:nvSpPr>
        <p:spPr>
          <a:xfrm>
            <a:off x="786384" y="2514600"/>
            <a:ext cx="1920240" cy="484632"/>
          </a:xfrm>
          <a:prstGeom prst="rect">
            <a:avLst/>
          </a:prstGeom>
          <a:noFill/>
          <a:ln/>
        </p:spPr>
        <p:txBody>
          <a:bodyPr wrap="square" lIns="0" tIns="0" rIns="0" bIns="0" rtlCol="0" anchor="ctr"/>
          <a:lstStyle/>
          <a:p>
            <a:pPr indent="0" marL="0">
              <a:buNone/>
            </a:pPr>
            <a:r>
              <a:rPr lang="en-US" sz="1000" b="1" dirty="0">
                <a:solidFill>
                  <a:srgbClr val="E2592C"/>
                </a:solidFill>
                <a:latin typeface="Malgun Gothic" pitchFamily="34" charset="0"/>
                <a:ea typeface="Malgun Gothic" pitchFamily="34" charset="-122"/>
                <a:cs typeface="Malgun Gothic" pitchFamily="34" charset="-120"/>
              </a:rPr>
              <a:t>첫 auxetic 디스플레이</a:t>
            </a:r>
            <a:endParaRPr lang="en-US" sz="1000" dirty="0"/>
          </a:p>
        </p:txBody>
      </p:sp>
      <p:sp>
        <p:nvSpPr>
          <p:cNvPr id="14" name="Text 12"/>
          <p:cNvSpPr/>
          <p:nvPr/>
        </p:nvSpPr>
        <p:spPr>
          <a:xfrm>
            <a:off x="2779776" y="2514600"/>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Jang, B. et al. Auxetic meta-display: stretchable display without image distortion. Adv. Funct. Mater. 32, 2113299 (2022).  [KIMM]</a:t>
            </a:r>
            <a:endParaRPr lang="en-US" sz="950" dirty="0"/>
          </a:p>
        </p:txBody>
      </p:sp>
      <p:sp>
        <p:nvSpPr>
          <p:cNvPr id="15" name="Shape 13"/>
          <p:cNvSpPr/>
          <p:nvPr/>
        </p:nvSpPr>
        <p:spPr>
          <a:xfrm>
            <a:off x="566928" y="3049524"/>
            <a:ext cx="11057839" cy="484632"/>
          </a:xfrm>
          <a:prstGeom prst="roundRect">
            <a:avLst>
              <a:gd name="adj" fmla="val 11321"/>
            </a:avLst>
          </a:prstGeom>
          <a:solidFill>
            <a:srgbClr val="FFFFFF"/>
          </a:solidFill>
          <a:ln/>
        </p:spPr>
      </p:sp>
      <p:sp>
        <p:nvSpPr>
          <p:cNvPr id="16" name="Text 14"/>
          <p:cNvSpPr/>
          <p:nvPr/>
        </p:nvSpPr>
        <p:spPr>
          <a:xfrm>
            <a:off x="786384" y="3049524"/>
            <a:ext cx="1920240" cy="484632"/>
          </a:xfrm>
          <a:prstGeom prst="rect">
            <a:avLst/>
          </a:prstGeom>
          <a:noFill/>
          <a:ln/>
        </p:spPr>
        <p:txBody>
          <a:bodyPr wrap="square" lIns="0" tIns="0" rIns="0" bIns="0" rtlCol="0" anchor="ctr"/>
          <a:lstStyle/>
          <a:p>
            <a:pPr indent="0" marL="0">
              <a:buNone/>
            </a:pPr>
            <a:r>
              <a:rPr lang="en-US" sz="1000" b="1" dirty="0">
                <a:solidFill>
                  <a:srgbClr val="1C7293"/>
                </a:solidFill>
                <a:latin typeface="Malgun Gothic" pitchFamily="34" charset="0"/>
                <a:ea typeface="Malgun Gothic" pitchFamily="34" charset="-122"/>
                <a:cs typeface="Malgun Gothic" pitchFamily="34" charset="-120"/>
              </a:rPr>
              <a:t>후속 연구</a:t>
            </a:r>
            <a:endParaRPr lang="en-US" sz="1000" dirty="0"/>
          </a:p>
        </p:txBody>
      </p:sp>
      <p:sp>
        <p:nvSpPr>
          <p:cNvPr id="17" name="Text 15"/>
          <p:cNvSpPr/>
          <p:nvPr/>
        </p:nvSpPr>
        <p:spPr>
          <a:xfrm>
            <a:off x="2779776" y="3049524"/>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Jang, B. et al. Highly stretchable color microLED meta-display without image distortion. SID Symp. Dig. Tech. Pap. 54, 1137–1139 (2023).</a:t>
            </a:r>
            <a:endParaRPr lang="en-US" sz="950" dirty="0"/>
          </a:p>
        </p:txBody>
      </p:sp>
      <p:sp>
        <p:nvSpPr>
          <p:cNvPr id="18" name="Shape 16"/>
          <p:cNvSpPr/>
          <p:nvPr/>
        </p:nvSpPr>
        <p:spPr>
          <a:xfrm>
            <a:off x="566928" y="3584448"/>
            <a:ext cx="11057839" cy="484632"/>
          </a:xfrm>
          <a:prstGeom prst="roundRect">
            <a:avLst>
              <a:gd name="adj" fmla="val 11321"/>
            </a:avLst>
          </a:prstGeom>
          <a:solidFill>
            <a:srgbClr val="EFF4F9"/>
          </a:solidFill>
          <a:ln/>
        </p:spPr>
      </p:sp>
      <p:sp>
        <p:nvSpPr>
          <p:cNvPr id="19" name="Text 17"/>
          <p:cNvSpPr/>
          <p:nvPr/>
        </p:nvSpPr>
        <p:spPr>
          <a:xfrm>
            <a:off x="786384" y="3584448"/>
            <a:ext cx="1920240" cy="484632"/>
          </a:xfrm>
          <a:prstGeom prst="rect">
            <a:avLst/>
          </a:prstGeom>
          <a:noFill/>
          <a:ln/>
        </p:spPr>
        <p:txBody>
          <a:bodyPr wrap="square" lIns="0" tIns="0" rIns="0" bIns="0" rtlCol="0" anchor="ctr"/>
          <a:lstStyle/>
          <a:p>
            <a:pPr indent="0" marL="0">
              <a:buNone/>
            </a:pPr>
            <a:endParaRPr lang="en-US" sz="1000" dirty="0"/>
          </a:p>
        </p:txBody>
      </p:sp>
      <p:sp>
        <p:nvSpPr>
          <p:cNvPr id="20" name="Text 18"/>
          <p:cNvSpPr/>
          <p:nvPr/>
        </p:nvSpPr>
        <p:spPr>
          <a:xfrm>
            <a:off x="2779776" y="3584448"/>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Du, C., Wang, Y. &amp; Kang, Z. Auxetic kirigami metamaterials upon large stretching. ACS Appl. Mater. Interfaces 15, 19190–19198 (2023).</a:t>
            </a:r>
            <a:endParaRPr lang="en-US" sz="950" dirty="0"/>
          </a:p>
        </p:txBody>
      </p:sp>
      <p:sp>
        <p:nvSpPr>
          <p:cNvPr id="21" name="Shape 19"/>
          <p:cNvSpPr/>
          <p:nvPr/>
        </p:nvSpPr>
        <p:spPr>
          <a:xfrm>
            <a:off x="566928" y="4119372"/>
            <a:ext cx="11057839" cy="484632"/>
          </a:xfrm>
          <a:prstGeom prst="roundRect">
            <a:avLst>
              <a:gd name="adj" fmla="val 11321"/>
            </a:avLst>
          </a:prstGeom>
          <a:solidFill>
            <a:srgbClr val="FFFFFF"/>
          </a:solidFill>
          <a:ln/>
        </p:spPr>
      </p:sp>
      <p:sp>
        <p:nvSpPr>
          <p:cNvPr id="22" name="Text 20"/>
          <p:cNvSpPr/>
          <p:nvPr/>
        </p:nvSpPr>
        <p:spPr>
          <a:xfrm>
            <a:off x="786384" y="4119372"/>
            <a:ext cx="1920240" cy="484632"/>
          </a:xfrm>
          <a:prstGeom prst="rect">
            <a:avLst/>
          </a:prstGeom>
          <a:noFill/>
          <a:ln/>
        </p:spPr>
        <p:txBody>
          <a:bodyPr wrap="square" lIns="0" tIns="0" rIns="0" bIns="0" rtlCol="0" anchor="ctr"/>
          <a:lstStyle/>
          <a:p>
            <a:pPr indent="0" marL="0">
              <a:buNone/>
            </a:pPr>
            <a:endParaRPr lang="en-US" sz="1000" dirty="0"/>
          </a:p>
        </p:txBody>
      </p:sp>
      <p:sp>
        <p:nvSpPr>
          <p:cNvPr id="23" name="Text 21"/>
          <p:cNvSpPr/>
          <p:nvPr/>
        </p:nvSpPr>
        <p:spPr>
          <a:xfrm>
            <a:off x="2779776" y="4119372"/>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Choi, J. C. et al. Bidirectional zero Poisson's ratio elastomers with self-deformable soft mechanical metamaterials for stretchable displays. Adv. Funct. Mater. 34, 2406725 (2024).</a:t>
            </a:r>
            <a:endParaRPr lang="en-US" sz="950" dirty="0"/>
          </a:p>
        </p:txBody>
      </p:sp>
      <p:sp>
        <p:nvSpPr>
          <p:cNvPr id="24" name="Shape 22"/>
          <p:cNvSpPr/>
          <p:nvPr/>
        </p:nvSpPr>
        <p:spPr>
          <a:xfrm>
            <a:off x="566928" y="4654296"/>
            <a:ext cx="11057839" cy="484632"/>
          </a:xfrm>
          <a:prstGeom prst="roundRect">
            <a:avLst>
              <a:gd name="adj" fmla="val 11321"/>
            </a:avLst>
          </a:prstGeom>
          <a:solidFill>
            <a:srgbClr val="EFF4F9"/>
          </a:solidFill>
          <a:ln/>
        </p:spPr>
      </p:sp>
      <p:sp>
        <p:nvSpPr>
          <p:cNvPr id="25" name="Text 23"/>
          <p:cNvSpPr/>
          <p:nvPr/>
        </p:nvSpPr>
        <p:spPr>
          <a:xfrm>
            <a:off x="786384" y="4654296"/>
            <a:ext cx="1920240" cy="484632"/>
          </a:xfrm>
          <a:prstGeom prst="rect">
            <a:avLst/>
          </a:prstGeom>
          <a:noFill/>
          <a:ln/>
        </p:spPr>
        <p:txBody>
          <a:bodyPr wrap="square" lIns="0" tIns="0" rIns="0" bIns="0" rtlCol="0" anchor="ctr"/>
          <a:lstStyle/>
          <a:p>
            <a:pPr indent="0" marL="0">
              <a:buNone/>
            </a:pPr>
            <a:endParaRPr lang="en-US" sz="1000" dirty="0"/>
          </a:p>
        </p:txBody>
      </p:sp>
      <p:sp>
        <p:nvSpPr>
          <p:cNvPr id="26" name="Text 24"/>
          <p:cNvSpPr/>
          <p:nvPr/>
        </p:nvSpPr>
        <p:spPr>
          <a:xfrm>
            <a:off x="2779776" y="4654296"/>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Lee, Y. et al. A seamless auxetic substrate with a negative Poisson's ratio of −1. Nat. Commun. 15, 7146 (2024).</a:t>
            </a:r>
            <a:endParaRPr lang="en-US" sz="950" dirty="0"/>
          </a:p>
        </p:txBody>
      </p:sp>
      <p:sp>
        <p:nvSpPr>
          <p:cNvPr id="27" name="Shape 25"/>
          <p:cNvSpPr/>
          <p:nvPr/>
        </p:nvSpPr>
        <p:spPr>
          <a:xfrm>
            <a:off x="566928" y="5189220"/>
            <a:ext cx="11057839" cy="484632"/>
          </a:xfrm>
          <a:prstGeom prst="roundRect">
            <a:avLst>
              <a:gd name="adj" fmla="val 11321"/>
            </a:avLst>
          </a:prstGeom>
          <a:solidFill>
            <a:srgbClr val="FFFFFF"/>
          </a:solidFill>
          <a:ln/>
        </p:spPr>
      </p:sp>
      <p:sp>
        <p:nvSpPr>
          <p:cNvPr id="28" name="Text 26"/>
          <p:cNvSpPr/>
          <p:nvPr/>
        </p:nvSpPr>
        <p:spPr>
          <a:xfrm>
            <a:off x="786384" y="5189220"/>
            <a:ext cx="1920240" cy="484632"/>
          </a:xfrm>
          <a:prstGeom prst="rect">
            <a:avLst/>
          </a:prstGeom>
          <a:noFill/>
          <a:ln/>
        </p:spPr>
        <p:txBody>
          <a:bodyPr wrap="square" lIns="0" tIns="0" rIns="0" bIns="0" rtlCol="0" anchor="ctr"/>
          <a:lstStyle/>
          <a:p>
            <a:pPr indent="0" marL="0">
              <a:buNone/>
            </a:pPr>
            <a:r>
              <a:rPr lang="en-US" sz="1000" b="1" dirty="0">
                <a:solidFill>
                  <a:srgbClr val="63728B"/>
                </a:solidFill>
                <a:latin typeface="Malgun Gothic" pitchFamily="34" charset="0"/>
                <a:ea typeface="Malgun Gothic" pitchFamily="34" charset="-122"/>
                <a:cs typeface="Malgun Gothic" pitchFamily="34" charset="-120"/>
              </a:rPr>
              <a:t>스트레처블 OLED</a:t>
            </a:r>
            <a:endParaRPr lang="en-US" sz="1000" dirty="0"/>
          </a:p>
        </p:txBody>
      </p:sp>
      <p:sp>
        <p:nvSpPr>
          <p:cNvPr id="29" name="Text 27"/>
          <p:cNvSpPr/>
          <p:nvPr/>
        </p:nvSpPr>
        <p:spPr>
          <a:xfrm>
            <a:off x="2779776" y="5189220"/>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Kim, S.-B. et al. 3D height-alternant island arrays for stretchable OLEDs with high active area ratio and maximum strain. Nat. Commun. 15, 7802 (2024).</a:t>
            </a:r>
            <a:endParaRPr lang="en-US" sz="950" dirty="0"/>
          </a:p>
        </p:txBody>
      </p:sp>
      <p:sp>
        <p:nvSpPr>
          <p:cNvPr id="30" name="Shape 28"/>
          <p:cNvSpPr/>
          <p:nvPr/>
        </p:nvSpPr>
        <p:spPr>
          <a:xfrm>
            <a:off x="566928" y="5724144"/>
            <a:ext cx="11057839" cy="484632"/>
          </a:xfrm>
          <a:prstGeom prst="roundRect">
            <a:avLst>
              <a:gd name="adj" fmla="val 11321"/>
            </a:avLst>
          </a:prstGeom>
          <a:solidFill>
            <a:srgbClr val="EFF4F9"/>
          </a:solidFill>
          <a:ln/>
        </p:spPr>
      </p:sp>
      <p:sp>
        <p:nvSpPr>
          <p:cNvPr id="31" name="Text 29"/>
          <p:cNvSpPr/>
          <p:nvPr/>
        </p:nvSpPr>
        <p:spPr>
          <a:xfrm>
            <a:off x="786384" y="5724144"/>
            <a:ext cx="1920240" cy="484632"/>
          </a:xfrm>
          <a:prstGeom prst="rect">
            <a:avLst/>
          </a:prstGeom>
          <a:noFill/>
          <a:ln/>
        </p:spPr>
        <p:txBody>
          <a:bodyPr wrap="square" lIns="0" tIns="0" rIns="0" bIns="0" rtlCol="0" anchor="ctr"/>
          <a:lstStyle/>
          <a:p>
            <a:pPr indent="0" marL="0">
              <a:buNone/>
            </a:pPr>
            <a:endParaRPr lang="en-US" sz="1000" dirty="0"/>
          </a:p>
        </p:txBody>
      </p:sp>
      <p:sp>
        <p:nvSpPr>
          <p:cNvPr id="32" name="Text 30"/>
          <p:cNvSpPr/>
          <p:nvPr/>
        </p:nvSpPr>
        <p:spPr>
          <a:xfrm>
            <a:off x="2779776" y="5724144"/>
            <a:ext cx="8641080" cy="484632"/>
          </a:xfrm>
          <a:prstGeom prst="rect">
            <a:avLst/>
          </a:prstGeom>
          <a:noFill/>
          <a:ln/>
        </p:spPr>
        <p:txBody>
          <a:bodyPr wrap="square" lIns="0" tIns="0" rIns="0" bIns="0" rtlCol="0" anchor="ctr"/>
          <a:lstStyle/>
          <a:p>
            <a:pPr indent="0" marL="0">
              <a:lnSpc>
                <a:spcPts val="1300"/>
              </a:lnSpc>
              <a:buNone/>
            </a:pPr>
            <a:r>
              <a:rPr lang="en-US" sz="950" dirty="0">
                <a:solidFill>
                  <a:srgbClr val="1E2739"/>
                </a:solidFill>
                <a:latin typeface="Malgun Gothic" pitchFamily="34" charset="0"/>
                <a:ea typeface="Malgun Gothic" pitchFamily="34" charset="-122"/>
                <a:cs typeface="Malgun Gothic" pitchFamily="34" charset="-120"/>
              </a:rPr>
              <a:t>Lee, D. et al. Stretchable OLEDs based on a hidden active area for high fill factor and resolution compensation. Nat. Commun. 15, 4349 (2024).</a:t>
            </a:r>
            <a:endParaRPr lang="en-US" sz="950" dirty="0"/>
          </a:p>
        </p:txBody>
      </p:sp>
      <p:sp>
        <p:nvSpPr>
          <p:cNvPr id="33" name="Shape 31"/>
          <p:cNvSpPr/>
          <p:nvPr/>
        </p:nvSpPr>
        <p:spPr>
          <a:xfrm>
            <a:off x="566928" y="6272784"/>
            <a:ext cx="11057839" cy="914"/>
          </a:xfrm>
          <a:prstGeom prst="roundRect">
            <a:avLst>
              <a:gd name="adj" fmla="val 9003939"/>
            </a:avLst>
          </a:prstGeom>
          <a:solidFill>
            <a:srgbClr val="FFFFFF"/>
          </a:solidFill>
          <a:ln/>
          <a:effectLst>
            <a:outerShdw sx="100000" sy="100000" kx="0" ky="0" algn="bl" rotWithShape="0" blurRad="114300" dist="25400" dir="5400000">
              <a:srgbClr val="7E90A8">
                <a:alpha val="16000"/>
              </a:srgbClr>
            </a:outerShdw>
          </a:effectLst>
        </p:spPr>
      </p:sp>
      <p:sp>
        <p:nvSpPr>
          <p:cNvPr id="34" name="Text 32"/>
          <p:cNvSpPr/>
          <p:nvPr/>
        </p:nvSpPr>
        <p:spPr>
          <a:xfrm>
            <a:off x="566928" y="6272784"/>
            <a:ext cx="11057839" cy="274320"/>
          </a:xfrm>
          <a:prstGeom prst="rect">
            <a:avLst/>
          </a:prstGeom>
          <a:noFill/>
          <a:ln/>
        </p:spPr>
        <p:txBody>
          <a:bodyPr wrap="square" lIns="0" tIns="0" rIns="0" bIns="0" rtlCol="0" anchor="ctr"/>
          <a:lstStyle/>
          <a:p>
            <a:pPr indent="0" marL="0">
              <a:buNone/>
            </a:pPr>
            <a:r>
              <a:rPr lang="en-US" sz="900" i="1" dirty="0">
                <a:solidFill>
                  <a:srgbClr val="63728B"/>
                </a:solidFill>
                <a:latin typeface="Malgun Gothic" pitchFamily="34" charset="0"/>
                <a:ea typeface="Malgun Gothic" pitchFamily="34" charset="-122"/>
                <a:cs typeface="Malgun Gothic" pitchFamily="34" charset="-120"/>
              </a:rPr>
              <a:t>본 자료의 논문 Figure는 원저작물(CC BY-NC-ND 4.0)에서 인용하였으며, 개념도 및 그래프 중 '본 발표용 작성'으로 표기된 것은 발표자가 제작하였습니다.</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Distortion-free Stretchable Display Seminar</dc:title>
  <dc:subject>PptxGenJS Presentation</dc:subject>
  <dc:creator>Seminar</dc:creator>
  <cp:lastModifiedBy>Seminar</cp:lastModifiedBy>
  <cp:revision>1</cp:revision>
  <dcterms:created xsi:type="dcterms:W3CDTF">2026-08-22T02:18:00Z</dcterms:created>
  <dcterms:modified xsi:type="dcterms:W3CDTF">2026-08-22T02:18:00Z</dcterms:modified>
</cp:coreProperties>
</file>