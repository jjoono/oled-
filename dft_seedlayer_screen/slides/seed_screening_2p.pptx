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2937"/>
                </a:solidFill>
                <a:latin typeface="Malgun Gothic"/>
              </a:defRPr>
            </a:pPr>
            <a:r>
              <a:rPr sz="1250" b="0" i="0" u="none" strike="noStrike">
                <a:solidFill>
                  <a:srgbClr val="1F2937"/>
                </a:solidFill>
                <a:latin typeface="Malgun Gothic"/>
              </a:rPr>
              <a:t>① E_b  흡착 에너지 (eV)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33"/>
          <c:y val="0.1"/>
          <c:w val="0.62"/>
          <c:h val="0.7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화학 결합(전자적)</c:v>
                </c:pt>
              </c:strCache>
            </c:strRef>
          </c:tx>
          <c:spPr>
            <a:solidFill>
              <a:srgbClr val="1C5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NPB  0.25</c:v>
                  </c:pt>
                  <c:pt idx="1">
                    <c:v>mCP  0.27</c:v>
                  </c:pt>
                  <c:pt idx="2">
                    <c:v>T2T  0.32</c:v>
                  </c:pt>
                  <c:pt idx="3">
                    <c:v>TmPyPB  0.37</c:v>
                  </c:pt>
                  <c:pt idx="4">
                    <c:v>3TPYMB  0.37</c:v>
                  </c:pt>
                  <c:pt idx="5">
                    <c:v>TSPO1  0.38</c:v>
                  </c:pt>
                  <c:pt idx="6">
                    <c:v>Liq  0.40</c:v>
                  </c:pt>
                  <c:pt idx="7">
                    <c:v>B3PyMPM  0.42</c:v>
                  </c:pt>
                  <c:pt idx="8">
                    <c:v>Alq3  0.43</c:v>
                  </c:pt>
                  <c:pt idx="9">
                    <c:v>DPEPO  0.45</c:v>
                  </c:pt>
                  <c:pt idx="10">
                    <c:v>NBphen  0.46</c:v>
                  </c:pt>
                  <c:pt idx="11">
                    <c:v>TPBi  0.46</c:v>
                  </c:pt>
                  <c:pt idx="12">
                    <c:v>BCP  0.47</c:v>
                  </c:pt>
                  <c:pt idx="13">
                    <c:v>PO-T2T  0.48</c:v>
                  </c:pt>
                  <c:pt idx="14">
                    <c:v>Bphen  0.62</c:v>
                  </c:pt>
                  <c:pt idx="15">
                    <c:v>Cs₂CO₃  0.70</c:v>
                  </c:pt>
                  <c:pt idx="16">
                    <c:v>p-bPPhenB  0.79</c:v>
                  </c:pt>
                  <c:pt idx="17">
                    <c:v>F6-TCNNQ  1.20</c:v>
                  </c:pt>
                  <c:pt idx="18">
                    <c:v>F4TCNQ  1.21</c:v>
                  </c:pt>
                  <c:pt idx="19">
                    <c:v>HATCN  1.63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0.043</c:v>
                </c:pt>
                <c:pt idx="2">
                  <c:v>0.077</c:v>
                </c:pt>
                <c:pt idx="3">
                  <c:v>0.283</c:v>
                </c:pt>
                <c:pt idx="4">
                  <c:v>0.281</c:v>
                </c:pt>
                <c:pt idx="5">
                  <c:v>0.268</c:v>
                </c:pt>
                <c:pt idx="6">
                  <c:v>0.307</c:v>
                </c:pt>
                <c:pt idx="7">
                  <c:v>0.195</c:v>
                </c:pt>
                <c:pt idx="8">
                  <c:v>0.189</c:v>
                </c:pt>
                <c:pt idx="9">
                  <c:v>0.173</c:v>
                </c:pt>
                <c:pt idx="10">
                  <c:v>0.181</c:v>
                </c:pt>
                <c:pt idx="11">
                  <c:v>0.218</c:v>
                </c:pt>
                <c:pt idx="12">
                  <c:v>0.291</c:v>
                </c:pt>
                <c:pt idx="13">
                  <c:v>0.058</c:v>
                </c:pt>
                <c:pt idx="14">
                  <c:v>0.475</c:v>
                </c:pt>
                <c:pt idx="15">
                  <c:v>0.609</c:v>
                </c:pt>
                <c:pt idx="16">
                  <c:v>0.589</c:v>
                </c:pt>
                <c:pt idx="17">
                  <c:v>1.105</c:v>
                </c:pt>
                <c:pt idx="18">
                  <c:v>1.147</c:v>
                </c:pt>
                <c:pt idx="19">
                  <c:v>1.456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분산력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NPB  0.25</c:v>
                  </c:pt>
                  <c:pt idx="1">
                    <c:v>mCP  0.27</c:v>
                  </c:pt>
                  <c:pt idx="2">
                    <c:v>T2T  0.32</c:v>
                  </c:pt>
                  <c:pt idx="3">
                    <c:v>TmPyPB  0.37</c:v>
                  </c:pt>
                  <c:pt idx="4">
                    <c:v>3TPYMB  0.37</c:v>
                  </c:pt>
                  <c:pt idx="5">
                    <c:v>TSPO1  0.38</c:v>
                  </c:pt>
                  <c:pt idx="6">
                    <c:v>Liq  0.40</c:v>
                  </c:pt>
                  <c:pt idx="7">
                    <c:v>B3PyMPM  0.42</c:v>
                  </c:pt>
                  <c:pt idx="8">
                    <c:v>Alq3  0.43</c:v>
                  </c:pt>
                  <c:pt idx="9">
                    <c:v>DPEPO  0.45</c:v>
                  </c:pt>
                  <c:pt idx="10">
                    <c:v>NBphen  0.46</c:v>
                  </c:pt>
                  <c:pt idx="11">
                    <c:v>TPBi  0.46</c:v>
                  </c:pt>
                  <c:pt idx="12">
                    <c:v>BCP  0.47</c:v>
                  </c:pt>
                  <c:pt idx="13">
                    <c:v>PO-T2T  0.48</c:v>
                  </c:pt>
                  <c:pt idx="14">
                    <c:v>Bphen  0.62</c:v>
                  </c:pt>
                  <c:pt idx="15">
                    <c:v>Cs₂CO₃  0.70</c:v>
                  </c:pt>
                  <c:pt idx="16">
                    <c:v>p-bPPhenB  0.79</c:v>
                  </c:pt>
                  <c:pt idx="17">
                    <c:v>F6-TCNNQ  1.20</c:v>
                  </c:pt>
                  <c:pt idx="18">
                    <c:v>F4TCNQ  1.21</c:v>
                  </c:pt>
                  <c:pt idx="19">
                    <c:v>HATCN  1.63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0.258</c:v>
                </c:pt>
                <c:pt idx="1">
                  <c:v>0.224</c:v>
                </c:pt>
                <c:pt idx="2">
                  <c:v>0.247</c:v>
                </c:pt>
                <c:pt idx="3">
                  <c:v>0.089</c:v>
                </c:pt>
                <c:pt idx="4">
                  <c:v>0.093</c:v>
                </c:pt>
                <c:pt idx="5">
                  <c:v>0.112</c:v>
                </c:pt>
                <c:pt idx="6">
                  <c:v>0.091</c:v>
                </c:pt>
                <c:pt idx="7">
                  <c:v>0.221</c:v>
                </c:pt>
                <c:pt idx="8">
                  <c:v>0.24</c:v>
                </c:pt>
                <c:pt idx="9">
                  <c:v>0.277</c:v>
                </c:pt>
                <c:pt idx="10">
                  <c:v>0.279</c:v>
                </c:pt>
                <c:pt idx="11">
                  <c:v>0.242</c:v>
                </c:pt>
                <c:pt idx="12">
                  <c:v>0.178</c:v>
                </c:pt>
                <c:pt idx="13">
                  <c:v>0.42</c:v>
                </c:pt>
                <c:pt idx="14">
                  <c:v>0.134</c:v>
                </c:pt>
                <c:pt idx="15">
                  <c:v>0.091</c:v>
                </c:pt>
                <c:pt idx="16">
                  <c:v>0.195</c:v>
                </c:pt>
                <c:pt idx="17">
                  <c:v>0.097</c:v>
                </c:pt>
                <c:pt idx="18">
                  <c:v>0.061</c:v>
                </c:pt>
                <c:pt idx="19">
                  <c:v>0.175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8F9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2937"/>
                </a:solidFill>
                <a:latin typeface="Malgun Gothic"/>
              </a:defRPr>
            </a:pPr>
            <a:r>
              <a:rPr sz="1250" b="0" i="0" u="none" strike="noStrike">
                <a:solidFill>
                  <a:srgbClr val="1F2937"/>
                </a:solidFill>
                <a:latin typeface="Malgun Gothic"/>
              </a:rPr>
              <a:t>③ Ag 이온화  q(Ag₁) (e)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33"/>
          <c:y val="0.1"/>
          <c:w val="0.62"/>
          <c:h val="0.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TmPyPB</c:v>
                  </c:pt>
                  <c:pt idx="1">
                    <c:v>TPBi</c:v>
                  </c:pt>
                  <c:pt idx="2">
                    <c:v>3TPYMB</c:v>
                  </c:pt>
                  <c:pt idx="3">
                    <c:v>Cs₂CO₃</c:v>
                  </c:pt>
                  <c:pt idx="4">
                    <c:v>DPEPO</c:v>
                  </c:pt>
                  <c:pt idx="5">
                    <c:v>TSPO1</c:v>
                  </c:pt>
                  <c:pt idx="6">
                    <c:v>Liq</c:v>
                  </c:pt>
                  <c:pt idx="7">
                    <c:v>Alq3</c:v>
                  </c:pt>
                  <c:pt idx="8">
                    <c:v>Bphen</c:v>
                  </c:pt>
                  <c:pt idx="9">
                    <c:v>BCP</c:v>
                  </c:pt>
                  <c:pt idx="10">
                    <c:v>PO-T2T</c:v>
                  </c:pt>
                  <c:pt idx="11">
                    <c:v>B3PyMPM</c:v>
                  </c:pt>
                  <c:pt idx="12">
                    <c:v>NPB</c:v>
                  </c:pt>
                  <c:pt idx="13">
                    <c:v>T2T</c:v>
                  </c:pt>
                  <c:pt idx="14">
                    <c:v>mCP</c:v>
                  </c:pt>
                  <c:pt idx="15">
                    <c:v>NBphen</c:v>
                  </c:pt>
                  <c:pt idx="16">
                    <c:v>p-bPPhenB</c:v>
                  </c:pt>
                  <c:pt idx="17">
                    <c:v>F4TCNQ</c:v>
                  </c:pt>
                  <c:pt idx="18">
                    <c:v>HATCN</c:v>
                  </c:pt>
                  <c:pt idx="19">
                    <c:v>F6-TCNNQ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0.545</c:v>
                </c:pt>
                <c:pt idx="18">
                  <c:v>0.572</c:v>
                </c:pt>
                <c:pt idx="19">
                  <c:v>0.638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ETL · EIL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TmPyPB</c:v>
                  </c:pt>
                  <c:pt idx="1">
                    <c:v>TPBi</c:v>
                  </c:pt>
                  <c:pt idx="2">
                    <c:v>3TPYMB</c:v>
                  </c:pt>
                  <c:pt idx="3">
                    <c:v>Cs₂CO₃</c:v>
                  </c:pt>
                  <c:pt idx="4">
                    <c:v>DPEPO</c:v>
                  </c:pt>
                  <c:pt idx="5">
                    <c:v>TSPO1</c:v>
                  </c:pt>
                  <c:pt idx="6">
                    <c:v>Liq</c:v>
                  </c:pt>
                  <c:pt idx="7">
                    <c:v>Alq3</c:v>
                  </c:pt>
                  <c:pt idx="8">
                    <c:v>Bphen</c:v>
                  </c:pt>
                  <c:pt idx="9">
                    <c:v>BCP</c:v>
                  </c:pt>
                  <c:pt idx="10">
                    <c:v>PO-T2T</c:v>
                  </c:pt>
                  <c:pt idx="11">
                    <c:v>B3PyMPM</c:v>
                  </c:pt>
                  <c:pt idx="12">
                    <c:v>NPB</c:v>
                  </c:pt>
                  <c:pt idx="13">
                    <c:v>T2T</c:v>
                  </c:pt>
                  <c:pt idx="14">
                    <c:v>mCP</c:v>
                  </c:pt>
                  <c:pt idx="15">
                    <c:v>NBphen</c:v>
                  </c:pt>
                  <c:pt idx="16">
                    <c:v>p-bPPhenB</c:v>
                  </c:pt>
                  <c:pt idx="17">
                    <c:v>F4TCNQ</c:v>
                  </c:pt>
                  <c:pt idx="18">
                    <c:v>HATCN</c:v>
                  </c:pt>
                  <c:pt idx="19">
                    <c:v>F6-TCNNQ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-0.116</c:v>
                </c:pt>
                <c:pt idx="1">
                  <c:v>-0.115</c:v>
                </c:pt>
                <c:pt idx="2">
                  <c:v>-0.115</c:v>
                </c:pt>
                <c:pt idx="3">
                  <c:v>-0.112</c:v>
                </c:pt>
                <c:pt idx="4">
                  <c:v>0</c:v>
                </c:pt>
                <c:pt idx="5">
                  <c:v>0</c:v>
                </c:pt>
                <c:pt idx="6">
                  <c:v>-0.104</c:v>
                </c:pt>
                <c:pt idx="7">
                  <c:v>-0.088</c:v>
                </c:pt>
                <c:pt idx="8">
                  <c:v>-0.085</c:v>
                </c:pt>
                <c:pt idx="9">
                  <c:v>-0.078</c:v>
                </c:pt>
                <c:pt idx="10">
                  <c:v>-0.075</c:v>
                </c:pt>
                <c:pt idx="11">
                  <c:v>-0.071</c:v>
                </c:pt>
                <c:pt idx="12">
                  <c:v>0</c:v>
                </c:pt>
                <c:pt idx="13">
                  <c:v>-0.045</c:v>
                </c:pt>
                <c:pt idx="14">
                  <c:v>0</c:v>
                </c:pt>
                <c:pt idx="15">
                  <c:v>-0.005</c:v>
                </c:pt>
                <c:pt idx="16">
                  <c:v>0.148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호스트 · HTL</c:v>
                </c:pt>
              </c:strCache>
            </c:strRef>
          </c:tx>
          <c:spPr>
            <a:solidFill>
              <a:srgbClr val="6250D6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TmPyPB</c:v>
                  </c:pt>
                  <c:pt idx="1">
                    <c:v>TPBi</c:v>
                  </c:pt>
                  <c:pt idx="2">
                    <c:v>3TPYMB</c:v>
                  </c:pt>
                  <c:pt idx="3">
                    <c:v>Cs₂CO₃</c:v>
                  </c:pt>
                  <c:pt idx="4">
                    <c:v>DPEPO</c:v>
                  </c:pt>
                  <c:pt idx="5">
                    <c:v>TSPO1</c:v>
                  </c:pt>
                  <c:pt idx="6">
                    <c:v>Liq</c:v>
                  </c:pt>
                  <c:pt idx="7">
                    <c:v>Alq3</c:v>
                  </c:pt>
                  <c:pt idx="8">
                    <c:v>Bphen</c:v>
                  </c:pt>
                  <c:pt idx="9">
                    <c:v>BCP</c:v>
                  </c:pt>
                  <c:pt idx="10">
                    <c:v>PO-T2T</c:v>
                  </c:pt>
                  <c:pt idx="11">
                    <c:v>B3PyMPM</c:v>
                  </c:pt>
                  <c:pt idx="12">
                    <c:v>NPB</c:v>
                  </c:pt>
                  <c:pt idx="13">
                    <c:v>T2T</c:v>
                  </c:pt>
                  <c:pt idx="14">
                    <c:v>mCP</c:v>
                  </c:pt>
                  <c:pt idx="15">
                    <c:v>NBphen</c:v>
                  </c:pt>
                  <c:pt idx="16">
                    <c:v>p-bPPhenB</c:v>
                  </c:pt>
                  <c:pt idx="17">
                    <c:v>F4TCNQ</c:v>
                  </c:pt>
                  <c:pt idx="18">
                    <c:v>HATCN</c:v>
                  </c:pt>
                  <c:pt idx="19">
                    <c:v>F6-TCNNQ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-0.112</c:v>
                </c:pt>
                <c:pt idx="5">
                  <c:v>-0.105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-0.06</c:v>
                </c:pt>
                <c:pt idx="13">
                  <c:v>0</c:v>
                </c:pt>
                <c:pt idx="14">
                  <c:v>-0.031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numFmt formatCode="+0.00;-0.00;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4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+0.0;-0.0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8F9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F2937"/>
                </a:solidFill>
                <a:latin typeface="Malgun Gothic"/>
              </a:defRPr>
            </a:pPr>
            <a:r>
              <a:rPr sz="1250" b="0" i="0" u="none" strike="noStrike">
                <a:solidFill>
                  <a:srgbClr val="1F2937"/>
                </a:solidFill>
                <a:latin typeface="Malgun Gothic"/>
              </a:rPr>
              <a:t>④ 전하 되돌림  Δq(Ag₁→Ag₂) (e)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33"/>
          <c:y val="0.1"/>
          <c:w val="0.62"/>
          <c:h val="0.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DPEPO</c:v>
                  </c:pt>
                  <c:pt idx="1">
                    <c:v>BCP</c:v>
                  </c:pt>
                  <c:pt idx="2">
                    <c:v>Bphen</c:v>
                  </c:pt>
                  <c:pt idx="3">
                    <c:v>NBphen</c:v>
                  </c:pt>
                  <c:pt idx="4">
                    <c:v>p-bPPhenB</c:v>
                  </c:pt>
                  <c:pt idx="5">
                    <c:v>Alq3</c:v>
                  </c:pt>
                  <c:pt idx="6">
                    <c:v>F4TCNQ</c:v>
                  </c:pt>
                  <c:pt idx="7">
                    <c:v>F6-TCNNQ</c:v>
                  </c:pt>
                  <c:pt idx="8">
                    <c:v>B3PyMPM</c:v>
                  </c:pt>
                  <c:pt idx="9">
                    <c:v>PO-T2T</c:v>
                  </c:pt>
                  <c:pt idx="10">
                    <c:v>T2T</c:v>
                  </c:pt>
                  <c:pt idx="11">
                    <c:v>TPBi</c:v>
                  </c:pt>
                  <c:pt idx="12">
                    <c:v>HATCN</c:v>
                  </c:pt>
                  <c:pt idx="13">
                    <c:v>Cs₂CO₃</c:v>
                  </c:pt>
                  <c:pt idx="14">
                    <c:v>3TPYMB</c:v>
                  </c:pt>
                  <c:pt idx="15">
                    <c:v>TmPyPB</c:v>
                  </c:pt>
                  <c:pt idx="16">
                    <c:v>Liq</c:v>
                  </c:pt>
                  <c:pt idx="17">
                    <c:v>NPB</c:v>
                  </c:pt>
                  <c:pt idx="18">
                    <c:v>TSPO1</c:v>
                  </c:pt>
                  <c:pt idx="19">
                    <c:v>mCP</c:v>
                  </c:pt>
                  <c:pt idx="20">
                    <c:v>MoOx (ref.)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-0.268</c:v>
                </c:pt>
                <c:pt idx="7">
                  <c:v>-0.255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-0.197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ETL · EIL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DPEPO</c:v>
                  </c:pt>
                  <c:pt idx="1">
                    <c:v>BCP</c:v>
                  </c:pt>
                  <c:pt idx="2">
                    <c:v>Bphen</c:v>
                  </c:pt>
                  <c:pt idx="3">
                    <c:v>NBphen</c:v>
                  </c:pt>
                  <c:pt idx="4">
                    <c:v>p-bPPhenB</c:v>
                  </c:pt>
                  <c:pt idx="5">
                    <c:v>Alq3</c:v>
                  </c:pt>
                  <c:pt idx="6">
                    <c:v>F4TCNQ</c:v>
                  </c:pt>
                  <c:pt idx="7">
                    <c:v>F6-TCNNQ</c:v>
                  </c:pt>
                  <c:pt idx="8">
                    <c:v>B3PyMPM</c:v>
                  </c:pt>
                  <c:pt idx="9">
                    <c:v>PO-T2T</c:v>
                  </c:pt>
                  <c:pt idx="10">
                    <c:v>T2T</c:v>
                  </c:pt>
                  <c:pt idx="11">
                    <c:v>TPBi</c:v>
                  </c:pt>
                  <c:pt idx="12">
                    <c:v>HATCN</c:v>
                  </c:pt>
                  <c:pt idx="13">
                    <c:v>Cs₂CO₃</c:v>
                  </c:pt>
                  <c:pt idx="14">
                    <c:v>3TPYMB</c:v>
                  </c:pt>
                  <c:pt idx="15">
                    <c:v>TmPyPB</c:v>
                  </c:pt>
                  <c:pt idx="16">
                    <c:v>Liq</c:v>
                  </c:pt>
                  <c:pt idx="17">
                    <c:v>NPB</c:v>
                  </c:pt>
                  <c:pt idx="18">
                    <c:v>TSPO1</c:v>
                  </c:pt>
                  <c:pt idx="19">
                    <c:v>mCP</c:v>
                  </c:pt>
                  <c:pt idx="20">
                    <c:v>MoOx (ref.)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-0.365</c:v>
                </c:pt>
                <c:pt idx="2">
                  <c:v>-0.353</c:v>
                </c:pt>
                <c:pt idx="3">
                  <c:v>-0.317</c:v>
                </c:pt>
                <c:pt idx="4">
                  <c:v>-0.314</c:v>
                </c:pt>
                <c:pt idx="5">
                  <c:v>-0.275</c:v>
                </c:pt>
                <c:pt idx="6">
                  <c:v>0</c:v>
                </c:pt>
                <c:pt idx="7">
                  <c:v>0</c:v>
                </c:pt>
                <c:pt idx="8">
                  <c:v>-0.238</c:v>
                </c:pt>
                <c:pt idx="9">
                  <c:v>-0.232</c:v>
                </c:pt>
                <c:pt idx="10">
                  <c:v>-0.232</c:v>
                </c:pt>
                <c:pt idx="11">
                  <c:v>-0.206</c:v>
                </c:pt>
                <c:pt idx="12">
                  <c:v>0</c:v>
                </c:pt>
                <c:pt idx="13">
                  <c:v>-0.138</c:v>
                </c:pt>
                <c:pt idx="14">
                  <c:v>-0.131</c:v>
                </c:pt>
                <c:pt idx="15">
                  <c:v>-0.112</c:v>
                </c:pt>
                <c:pt idx="16">
                  <c:v>-0.07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호스트 · HTL</c:v>
                </c:pt>
              </c:strCache>
            </c:strRef>
          </c:tx>
          <c:spPr>
            <a:solidFill>
              <a:srgbClr val="6250D6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DPEPO</c:v>
                  </c:pt>
                  <c:pt idx="1">
                    <c:v>BCP</c:v>
                  </c:pt>
                  <c:pt idx="2">
                    <c:v>Bphen</c:v>
                  </c:pt>
                  <c:pt idx="3">
                    <c:v>NBphen</c:v>
                  </c:pt>
                  <c:pt idx="4">
                    <c:v>p-bPPhenB</c:v>
                  </c:pt>
                  <c:pt idx="5">
                    <c:v>Alq3</c:v>
                  </c:pt>
                  <c:pt idx="6">
                    <c:v>F4TCNQ</c:v>
                  </c:pt>
                  <c:pt idx="7">
                    <c:v>F6-TCNNQ</c:v>
                  </c:pt>
                  <c:pt idx="8">
                    <c:v>B3PyMPM</c:v>
                  </c:pt>
                  <c:pt idx="9">
                    <c:v>PO-T2T</c:v>
                  </c:pt>
                  <c:pt idx="10">
                    <c:v>T2T</c:v>
                  </c:pt>
                  <c:pt idx="11">
                    <c:v>TPBi</c:v>
                  </c:pt>
                  <c:pt idx="12">
                    <c:v>HATCN</c:v>
                  </c:pt>
                  <c:pt idx="13">
                    <c:v>Cs₂CO₃</c:v>
                  </c:pt>
                  <c:pt idx="14">
                    <c:v>3TPYMB</c:v>
                  </c:pt>
                  <c:pt idx="15">
                    <c:v>TmPyPB</c:v>
                  </c:pt>
                  <c:pt idx="16">
                    <c:v>Liq</c:v>
                  </c:pt>
                  <c:pt idx="17">
                    <c:v>NPB</c:v>
                  </c:pt>
                  <c:pt idx="18">
                    <c:v>TSPO1</c:v>
                  </c:pt>
                  <c:pt idx="19">
                    <c:v>mCP</c:v>
                  </c:pt>
                  <c:pt idx="20">
                    <c:v>MoOx (ref.)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-0.505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-0.018</c:v>
                </c:pt>
                <c:pt idx="18">
                  <c:v>-0.017</c:v>
                </c:pt>
                <c:pt idx="19">
                  <c:v>0.008</c:v>
                </c:pt>
                <c:pt idx="2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MoOx (참고)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+0.00;-0.00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Sheet1!$A$2:$A$22</c:f>
              <c:multiLvlStrCache>
                <c:ptCount val="21"/>
                <c:lvl>
                  <c:pt idx="0">
                    <c:v>DPEPO</c:v>
                  </c:pt>
                  <c:pt idx="1">
                    <c:v>BCP</c:v>
                  </c:pt>
                  <c:pt idx="2">
                    <c:v>Bphen</c:v>
                  </c:pt>
                  <c:pt idx="3">
                    <c:v>NBphen</c:v>
                  </c:pt>
                  <c:pt idx="4">
                    <c:v>p-bPPhenB</c:v>
                  </c:pt>
                  <c:pt idx="5">
                    <c:v>Alq3</c:v>
                  </c:pt>
                  <c:pt idx="6">
                    <c:v>F4TCNQ</c:v>
                  </c:pt>
                  <c:pt idx="7">
                    <c:v>F6-TCNNQ</c:v>
                  </c:pt>
                  <c:pt idx="8">
                    <c:v>B3PyMPM</c:v>
                  </c:pt>
                  <c:pt idx="9">
                    <c:v>PO-T2T</c:v>
                  </c:pt>
                  <c:pt idx="10">
                    <c:v>T2T</c:v>
                  </c:pt>
                  <c:pt idx="11">
                    <c:v>TPBi</c:v>
                  </c:pt>
                  <c:pt idx="12">
                    <c:v>HATCN</c:v>
                  </c:pt>
                  <c:pt idx="13">
                    <c:v>Cs₂CO₃</c:v>
                  </c:pt>
                  <c:pt idx="14">
                    <c:v>3TPYMB</c:v>
                  </c:pt>
                  <c:pt idx="15">
                    <c:v>TmPyPB</c:v>
                  </c:pt>
                  <c:pt idx="16">
                    <c:v>Liq</c:v>
                  </c:pt>
                  <c:pt idx="17">
                    <c:v>NPB</c:v>
                  </c:pt>
                  <c:pt idx="18">
                    <c:v>TSPO1</c:v>
                  </c:pt>
                  <c:pt idx="19">
                    <c:v>mCP</c:v>
                  </c:pt>
                  <c:pt idx="20">
                    <c:v>MoOx (ref.)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0.456</c:v>
                </c:pt>
              </c:numCache>
            </c:numRef>
          </c:val>
        </c:ser>
        <c:dLbls>
          <c:numFmt formatCode="+0.00;-0.00;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8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+0.0;-0.0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A8F98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 E_b가 순위 변수, ④ Δq는 통과/탈락 게이트. ② E_d는 비정질 유기막에서 단일 분자 경로가 대표성이 없고 계산값이 불안정해 보조로만 사용. 전자친화도(EA)·LUMO 깊이도 검토했으나 F4TCNQ(EA 4.02 eV) &lt; HATCN(3.38 eV) 결합 역전, MoOx는 더 깊지만 다공성 → 기각.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그래프는 한 가지 계산법만 사용. E_b 막대는 화학 결합(진한 파랑)과 분산력(연한 파랑)을 쌓은 것. Δq는 순위가 아니라 통과/탈락 기준이므로 유기물끼리의 차이는 강조하지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 Ag를 위한 seed layer 스크리닝 지표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layer 특성에 영향을 줄 수 있는 지표를 가정 → 어떤 지표가 크게 작용하는지 계산으로 확인 → 최적 물질 선정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5146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CDE2FB"/>
          </a:solidFill>
          <a:ln w="12700">
            <a:solidFill>
              <a:srgbClr val="CDE2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분자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691640"/>
            <a:ext cx="420624" cy="420624"/>
          </a:xfrm>
          <a:prstGeom prst="ellipse">
            <a:avLst/>
          </a:prstGeom>
          <a:solidFill>
            <a:srgbClr val="C3C7C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1828800"/>
            <a:ext cx="0" cy="64008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28600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E_b  흡착 에너지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 원자 1개가 분자의 가장 강한 자리에 붙는 에너지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영향을 주나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높을수록 Ag 원자가 재증발·확산하지 않고 붙어 핵이 촘촘히 생김 → 더 얇은 두께에서 연결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· 순위 지표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3716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25146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CDE2FB"/>
          </a:solidFill>
          <a:ln w="12700">
            <a:solidFill>
              <a:srgbClr val="CDE2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분자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2011680"/>
            <a:ext cx="420624" cy="420624"/>
          </a:xfrm>
          <a:prstGeom prst="ellipse">
            <a:avLst/>
          </a:prstGeom>
          <a:solidFill>
            <a:srgbClr val="C3C7C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011680"/>
            <a:ext cx="420624" cy="420624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1206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15968" y="2221992"/>
            <a:ext cx="74980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434840" y="17190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044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E_d  확산 장벽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20440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Ag가 표면에서 옆 자리로 옮겨 가는 데 드는 에너지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39776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영향을 주나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낮으면 Ag가 멀리 이동해 큰 섬으로 뭉침 → 핵 밀도 감소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20440" y="52578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· 판별력 낮음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3716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25146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CDE2FB"/>
          </a:solidFill>
          <a:ln w="12700">
            <a:solidFill>
              <a:srgbClr val="CDE2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분자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1691640"/>
            <a:ext cx="420624" cy="420624"/>
          </a:xfrm>
          <a:prstGeom prst="ellipse">
            <a:avLst/>
          </a:prstGeom>
          <a:solidFill>
            <a:srgbClr val="C3C7C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pPr algn="ctr" indent="0" marL="0">
              <a:buNone/>
            </a:pPr>
            <a:r>
              <a:rPr lang="en-US" sz="1000" b="1" baseline="30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δ+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42632" y="2121408"/>
            <a:ext cx="0" cy="384048"/>
          </a:xfrm>
          <a:prstGeom prst="line">
            <a:avLst/>
          </a:prstGeom>
          <a:noFill/>
          <a:ln w="19050">
            <a:solidFill>
              <a:srgbClr val="EB683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452360" y="2176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68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e⁻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Ag 이온화  q(Ag₁)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0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Ag 원자가 기판에 넘겨준 전하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39776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영향을 주나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결합 방식 구분: 크면 전하이동형 이온 결합, 0 근처면 배위 결합·물리흡착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0" y="52578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· 결합 성격 해석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98280" y="1371600"/>
            <a:ext cx="2697480" cy="4434840"/>
          </a:xfrm>
          <a:prstGeom prst="roundRect">
            <a:avLst>
              <a:gd name="adj" fmla="val 4068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26880" y="25146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CDE2FB"/>
          </a:solidFill>
          <a:ln w="12700">
            <a:solidFill>
              <a:srgbClr val="CDE2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분자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829800" y="1691640"/>
            <a:ext cx="420624" cy="420624"/>
          </a:xfrm>
          <a:prstGeom prst="ellipse">
            <a:avLst/>
          </a:prstGeom>
          <a:solidFill>
            <a:srgbClr val="C3C7C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2980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232136" y="1691640"/>
            <a:ext cx="420624" cy="420624"/>
          </a:xfrm>
          <a:prstGeom prst="ellipse">
            <a:avLst/>
          </a:prstGeom>
          <a:solidFill>
            <a:srgbClr val="C3C7CE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32136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 flipV="1">
            <a:off x="10241280" y="2505456"/>
            <a:ext cx="0" cy="-384048"/>
          </a:xfrm>
          <a:prstGeom prst="line">
            <a:avLst/>
          </a:prstGeom>
          <a:noFill/>
          <a:ln w="19050">
            <a:solidFill>
              <a:srgbClr val="1BAF7A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10378440" y="2176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e⁻ 되돌림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744200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Ag₂ 금속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81160" y="2971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전하 되돌림  Δq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281160" y="34015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Δq(Ag₁→Ag₂): 두 번째 Ag가 왔을 때 Ag 전체 전하의 변화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81160" y="39776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영향을 주나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되돌려 주면 Ag가 금속이 되어 섬끼리 합쳐짐. 계속 빼앗으면 Ag⁺로 고정 → 연결돼도 막이 닫히지 않음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281160" y="52578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81160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· 통과/탈락 기준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60350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035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Δq로 거르기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+0.3 e 이상 탈락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813048" y="6309360"/>
            <a:ext cx="2743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160520" y="60350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0520" y="6035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E_b로 순위</a:t>
            </a:r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통과한 물질끼리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516368" y="6309360"/>
            <a:ext cx="274320" cy="0"/>
          </a:xfrm>
          <a:prstGeom prst="line">
            <a:avLst/>
          </a:prstGeom>
          <a:noFill/>
          <a:ln w="19050">
            <a:solidFill>
              <a:srgbClr val="8A8F98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863840" y="603504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63840" y="6035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HATCN 1위 · MoOx 탈락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→ SEM 비교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물질별 지표 계산값 (내림차순)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유기물 19종 + Cs₂CO₃ · E_b, q(Ag₁): PBE0-D3/def2-SVP · Δq: GFN2-xTB · MoOx는 참고값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234440"/>
          <a:ext cx="37033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179930" y="1696212"/>
            <a:ext cx="0" cy="3509467"/>
          </a:xfrm>
          <a:prstGeom prst="line">
            <a:avLst/>
          </a:prstGeom>
          <a:noFill/>
          <a:ln w="15875">
            <a:solidFill>
              <a:srgbClr val="D03B3B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2225650" y="496793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0.5 eV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1480" y="5925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 eV 통과: HIL 3종 + phen 킬레이트 2종 + Cs₂CO₃. PO-T2T는 대부분 분산력, BCP는 화학 결합</a:t>
            </a:r>
            <a:endParaRPr lang="en-US" sz="10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270248" y="1234440"/>
          <a:ext cx="37033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361688" y="5925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Ag를 이온화하는 것은 HIL(받개)뿐 (+0.55~0.64). ETL은 배위(≈ −0.1), HTL·호스트는 물리흡착(≈ 0)</a:t>
            </a:r>
            <a:endParaRPr lang="en-US" sz="105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8220456" y="1234440"/>
          <a:ext cx="370332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11246597" y="1696212"/>
            <a:ext cx="0" cy="3509467"/>
          </a:xfrm>
          <a:prstGeom prst="line">
            <a:avLst/>
          </a:prstGeom>
          <a:noFill/>
          <a:ln w="15875">
            <a:solidFill>
              <a:srgbClr val="D03B3B"/>
            </a:solidFill>
            <a:prstDash val="dash"/>
          </a:ln>
        </p:spPr>
      </p:sp>
      <p:sp>
        <p:nvSpPr>
          <p:cNvPr id="12" name="Text 7"/>
          <p:cNvSpPr/>
          <p:nvPr/>
        </p:nvSpPr>
        <p:spPr>
          <a:xfrm>
            <a:off x="11292317" y="496793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+0.3 e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8311896" y="5925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유기물 19종과 Cs₂CO₃ 모두 통과(≤ 0: Ag₂ 금속). MoOx만 +0.46으로 탈락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8F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E_d(확산 장벽)는 비정질 유기막에서 계산 대표성이 낮아 그래프에서 제외. CBP·TCTA·TPD·TAPC는 mCP·NPB와 같은 π 계열(0.25–0.28 eV). MoOx: E_b·q는 Mo₃O₉ 클러스터(PBE0, 2.16 eV / +0.72 e), Δq는 MoO₃(010) 표면 모델(GFN2). Ag가 수소에 막히는 자리는 PBE-D3로 위치를 다시 잡고 PBE0로 계산.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2026-10-24T22:00:09Z</dcterms:created>
  <dcterms:modified xsi:type="dcterms:W3CDTF">2026-10-24T22:00:09Z</dcterms:modified>
</cp:coreProperties>
</file>