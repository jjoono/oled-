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one-pass A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측정 Ag 8nm</c:v>
                  </c:pt>
                  <c:pt idx="1">
                    <c:v>이상 Ag 8nm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4.74</c:v>
                </c:pt>
                <c:pt idx="1">
                  <c:v>0.94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측정 Ag</c:v>
                  </c:pt>
                  <c:pt idx="1">
                    <c:v>이상 Ag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73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측정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0.10</c:v>
                  </c:pt>
                  <c:pt idx="1">
                    <c:v>0.15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59.4</c:v>
                </c:pt>
                <c:pt idx="1">
                  <c:v>69.9</c:v>
                </c:pt>
                <c:pt idx="2">
                  <c:v>76.7</c:v>
                </c:pt>
                <c:pt idx="3">
                  <c:v>84.9</c:v>
                </c:pt>
                <c:pt idx="4">
                  <c:v>89.8</c:v>
                </c:pt>
                <c:pt idx="5">
                  <c:v>92.9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0.10</c:v>
                  </c:pt>
                  <c:pt idx="1">
                    <c:v>0.15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</c:v>
                </c:pt>
                <c:pt idx="1">
                  <c:v>81.9</c:v>
                </c:pt>
                <c:pt idx="2">
                  <c:v>86.5</c:v>
                </c:pt>
                <c:pt idx="3">
                  <c:v>91.6</c:v>
                </c:pt>
                <c:pt idx="4">
                  <c:v>94.5</c:v>
                </c:pt>
                <c:pt idx="5">
                  <c:v>96.2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1회 탈출확률 q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49C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광학 ε₂/bulk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 5</c:v>
                  </c:pt>
                  <c:pt idx="1">
                    <c:v>Ag 7</c:v>
                  </c:pt>
                  <c:pt idx="2">
                    <c:v>Ag 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8.65</c:v>
                </c:pt>
                <c:pt idx="1">
                  <c:v>4.56</c:v>
                </c:pt>
                <c:pt idx="2">
                  <c:v>3.79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전기 ρ/bulk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 5</c:v>
                  </c:pt>
                  <c:pt idx="1">
                    <c:v>Ag 7</c:v>
                  </c:pt>
                  <c:pt idx="2">
                    <c:v>Ag 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7.33</c:v>
                </c:pt>
                <c:pt idx="1">
                  <c:v>5.59</c:v>
                </c:pt>
                <c:pt idx="2">
                  <c:v>4.58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7A849C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측정 Ag 8nm</c:v>
                </c:pt>
              </c:strCache>
            </c:strRef>
          </c:tx>
          <c:spPr>
            <a:solidFill>
              <a:srgbClr val="FF6B35"/>
            </a:solidFill>
            <a:ln w="444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A849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0°</c:v>
                  </c:pt>
                  <c:pt idx="1">
                    <c:v>15°</c:v>
                  </c:pt>
                  <c:pt idx="2">
                    <c:v>30°</c:v>
                  </c:pt>
                  <c:pt idx="3">
                    <c:v>45°</c:v>
                  </c:pt>
                  <c:pt idx="4">
                    <c:v>60°</c:v>
                  </c:pt>
                  <c:pt idx="5">
                    <c:v>66°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4.74</c:v>
                </c:pt>
                <c:pt idx="1">
                  <c:v>4.8</c:v>
                </c:pt>
                <c:pt idx="2">
                  <c:v>5</c:v>
                </c:pt>
                <c:pt idx="3">
                  <c:v>5.45</c:v>
                </c:pt>
                <c:pt idx="4">
                  <c:v>7.26</c:v>
                </c:pt>
                <c:pt idx="5">
                  <c:v>16.28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Ag 8nm</c:v>
                </c:pt>
              </c:strCache>
            </c:strRef>
          </c:tx>
          <c:spPr>
            <a:solidFill>
              <a:srgbClr val="2EC4B6"/>
            </a:solidFill>
            <a:ln w="444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A849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0°</c:v>
                  </c:pt>
                  <c:pt idx="1">
                    <c:v>15°</c:v>
                  </c:pt>
                  <c:pt idx="2">
                    <c:v>30°</c:v>
                  </c:pt>
                  <c:pt idx="3">
                    <c:v>45°</c:v>
                  </c:pt>
                  <c:pt idx="4">
                    <c:v>60°</c:v>
                  </c:pt>
                  <c:pt idx="5">
                    <c:v>66°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0.97</c:v>
                </c:pt>
                <c:pt idx="1">
                  <c:v>0.99</c:v>
                </c:pt>
                <c:pt idx="2">
                  <c:v>1.03</c:v>
                </c:pt>
                <c:pt idx="3">
                  <c:v>1.12</c:v>
                </c:pt>
                <c:pt idx="4">
                  <c:v>1.53</c:v>
                </c:pt>
                <c:pt idx="5">
                  <c:v>3.85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7A849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유기물 내부 각도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7A849C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eps2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Ag bulk</c:v>
                  </c:pt>
                  <c:pt idx="1">
                    <c:v>Ag 8nm meas</c:v>
                  </c:pt>
                  <c:pt idx="2">
                    <c:v>Al</c:v>
                  </c:pt>
                  <c:pt idx="3">
                    <c:v>Au</c:v>
                  </c:pt>
                  <c:pt idx="4">
                    <c:v>Cu</c:v>
                  </c:pt>
                  <c:pt idx="5">
                    <c:v>Mg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0.32</c:v>
                </c:pt>
                <c:pt idx="1">
                  <c:v>1.63</c:v>
                </c:pt>
                <c:pt idx="2">
                  <c:v>12.82</c:v>
                </c:pt>
                <c:pt idx="3">
                  <c:v>1.54</c:v>
                </c:pt>
                <c:pt idx="4">
                  <c:v>5.39</c:v>
                </c:pt>
                <c:pt idx="5">
                  <c:v>3.31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Ag 8 measured</c:v>
                  </c:pt>
                  <c:pt idx="1">
                    <c:v>Ag 8 bulk</c:v>
                  </c:pt>
                  <c:pt idx="2">
                    <c:v>Al 3 nm</c:v>
                  </c:pt>
                  <c:pt idx="3">
                    <c:v>Au 3 nm</c:v>
                  </c:pt>
                  <c:pt idx="4">
                    <c:v>Cu 5 nm</c:v>
                  </c:pt>
                  <c:pt idx="5">
                    <c:v>Mg 5 nm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55.1</c:v>
                </c:pt>
                <c:pt idx="1">
                  <c:v>73.1</c:v>
                </c:pt>
                <c:pt idx="2">
                  <c:v>37.7</c:v>
                </c:pt>
                <c:pt idx="3">
                  <c:v>62.6</c:v>
                </c:pt>
                <c:pt idx="4">
                  <c:v>38</c:v>
                </c:pt>
                <c:pt idx="5">
                  <c:v>51.7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E_b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&quot; eV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HATCN CN 질소</c:v>
                  </c:pt>
                  <c:pt idx="1">
                    <c:v>HATCN 분자면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1.029</c:v>
                </c:pt>
                <c:pt idx="1">
                  <c:v>-0.024</c:v>
                </c:pt>
              </c:numCache>
            </c:numRef>
          </c:val>
        </c:ser>
        <c:dLbls>
          <c:numFmt formatCode="0.00&quot; eV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-0.3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E_d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HATCN</c:v>
                  </c:pt>
                  <c:pt idx="1">
                    <c:v>AlOx</c:v>
                  </c:pt>
                  <c:pt idx="2">
                    <c:v>TAPC</c:v>
                  </c:pt>
                  <c:pt idx="3">
                    <c:v>clean 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0.286</c:v>
                </c:pt>
                <c:pt idx="1">
                  <c:v>0.17</c:v>
                </c:pt>
                <c:pt idx="2">
                  <c:v>-0.007</c:v>
                </c:pt>
                <c:pt idx="3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E_b (eV)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FCFC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HATCN  (CN 나이트릴)</c:v>
                  </c:pt>
                  <c:pt idx="1">
                    <c:v>F4TCNQ  (CN 나이트릴)</c:v>
                  </c:pt>
                  <c:pt idx="2">
                    <c:v>Cs2CO3  (카보네이트)</c:v>
                  </c:pt>
                  <c:pt idx="3">
                    <c:v>TPBi  (벤즈이미다졸)</c:v>
                  </c:pt>
                  <c:pt idx="4">
                    <c:v>p-bPPhenB  (페난트롤린)</c:v>
                  </c:pt>
                  <c:pt idx="5">
                    <c:v>B3PyMPM  (피리미딘)</c:v>
                  </c:pt>
                  <c:pt idx="6">
                    <c:v>Bphen  (페난트롤린)</c:v>
                  </c:pt>
                  <c:pt idx="7">
                    <c:v>pyridine  (기준)</c:v>
                  </c:pt>
                  <c:pt idx="8">
                    <c:v>triazine</c:v>
                  </c:pt>
                  <c:pt idx="9">
                    <c:v>BTD</c:v>
                  </c:pt>
                  <c:pt idx="10">
                    <c:v>Me3P=O</c:v>
                  </c:pt>
                  <c:pt idx="11">
                    <c:v>thiophene</c:v>
                  </c:pt>
                  <c:pt idx="12">
                    <c:v>benzene  (분산력 바닥)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1.029</c:v>
                </c:pt>
                <c:pt idx="1">
                  <c:v>0.966</c:v>
                </c:pt>
                <c:pt idx="2">
                  <c:v>0.9</c:v>
                </c:pt>
                <c:pt idx="3">
                  <c:v>0.889</c:v>
                </c:pt>
                <c:pt idx="4">
                  <c:v>0.87</c:v>
                </c:pt>
                <c:pt idx="5">
                  <c:v>0.626</c:v>
                </c:pt>
                <c:pt idx="6">
                  <c:v>0.49</c:v>
                </c:pt>
                <c:pt idx="7">
                  <c:v>0.342</c:v>
                </c:pt>
                <c:pt idx="8">
                  <c:v>0.291</c:v>
                </c:pt>
                <c:pt idx="9">
                  <c:v>0.277</c:v>
                </c:pt>
                <c:pt idx="10">
                  <c:v>0.253</c:v>
                </c:pt>
                <c:pt idx="11">
                  <c:v>0.169</c:v>
                </c:pt>
                <c:pt idx="12">
                  <c:v>0.167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2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E_b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MoOx  Mo3O8 산소공공</c:v>
                  </c:pt>
                  <c:pt idx="1">
                    <c:v>Al2O3  Al4O6 화학량론</c:v>
                  </c:pt>
                  <c:pt idx="2">
                    <c:v>MoO3  Mo3O9 화학량론</c:v>
                  </c:pt>
                  <c:pt idx="3">
                    <c:v>LiF  LiF32</c:v>
                  </c:pt>
                  <c:pt idx="4">
                    <c:v>CuI  Cu4I4 @I</c:v>
                  </c:pt>
                  <c:pt idx="5">
                    <c:v>CuSCN  (CuSCN)3 @S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0.445</c:v>
                </c:pt>
                <c:pt idx="1">
                  <c:v>0.422</c:v>
                </c:pt>
                <c:pt idx="2">
                  <c:v>0.284</c:v>
                </c:pt>
                <c:pt idx="3">
                  <c:v>0.249</c:v>
                </c:pt>
                <c:pt idx="4">
                  <c:v>0.222</c:v>
                </c:pt>
                <c:pt idx="5">
                  <c:v>0.136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2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E_b</c:v>
                </c:pt>
              </c:strCache>
            </c:strRef>
          </c:tx>
          <c:spPr>
            <a:solidFill>
              <a:srgbClr val="9AA5B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pyridine  (피리딘 N)</c:v>
                  </c:pt>
                  <c:pt idx="1">
                    <c:v>triazine  (ETL 코어)</c:v>
                  </c:pt>
                  <c:pt idx="2">
                    <c:v>PhCz  → TCTA 대리</c:v>
                  </c:pt>
                  <c:pt idx="3">
                    <c:v>BTD  (수용체 단위)</c:v>
                  </c:pt>
                  <c:pt idx="4">
                    <c:v>TPA  → TAPC 대리</c:v>
                  </c:pt>
                  <c:pt idx="5">
                    <c:v>Me3P=O  → DPEPO 대리</c:v>
                  </c:pt>
                  <c:pt idx="6">
                    <c:v>thiophene  → PEDOT</c:v>
                  </c:pt>
                  <c:pt idx="7">
                    <c:v>benzene  (탄화수소 기준)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0.342</c:v>
                </c:pt>
                <c:pt idx="1">
                  <c:v>0.291</c:v>
                </c:pt>
                <c:pt idx="2">
                  <c:v>0.279</c:v>
                </c:pt>
                <c:pt idx="3">
                  <c:v>0.277</c:v>
                </c:pt>
                <c:pt idx="4">
                  <c:v>0.254</c:v>
                </c:pt>
                <c:pt idx="5">
                  <c:v>0.253</c:v>
                </c:pt>
                <c:pt idx="6">
                  <c:v>0.169</c:v>
                </c:pt>
                <c:pt idx="7">
                  <c:v>0.167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A849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6"/>
        </c:scaling>
        <c:delete val="0"/>
        <c:axPos val="b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/ N(HATCN)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9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8C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CED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HATCN  (6자리)</c:v>
                  </c:pt>
                  <c:pt idx="1">
                    <c:v>F4TCNQ  (4자리)</c:v>
                  </c:pt>
                  <c:pt idx="2">
                    <c:v>B3PyMPM  (2자리)</c:v>
                  </c:pt>
                  <c:pt idx="3">
                    <c:v>pyridine  (1자리)</c:v>
                  </c:pt>
                  <c:pt idx="4">
                    <c:v>triazine  (3자리)</c:v>
                  </c:pt>
                  <c:pt idx="5">
                    <c:v>BTD  (1자리)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0.4123</c:v>
                </c:pt>
                <c:pt idx="2">
                  <c:v>0.0035</c:v>
                </c:pt>
                <c:pt idx="3">
                  <c:v>0.0001</c:v>
                </c:pt>
                <c:pt idx="4">
                  <c:v>0.00005</c:v>
                </c:pt>
                <c:pt idx="5">
                  <c:v>0.00005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5CE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5"/>
        </c:scaling>
        <c:delete val="0"/>
        <c:axPos val="b"/>
        <c:majorGridlines>
          <c:spPr>
            <a:ln w="1270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 5nm</c:v>
                </c:pt>
              </c:strCache>
            </c:strRef>
          </c:tx>
          <c:spPr>
            <a:solidFill>
              <a:srgbClr val="2EC4B6"/>
            </a:solidFill>
            <a:ln w="444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52.2</c:v>
                </c:pt>
                <c:pt idx="1">
                  <c:v>23.3</c:v>
                </c:pt>
                <c:pt idx="2">
                  <c:v>18.9</c:v>
                </c:pt>
                <c:pt idx="3">
                  <c:v>12.7</c:v>
                </c:pt>
                <c:pt idx="4">
                  <c:v>9.1</c:v>
                </c:pt>
                <c:pt idx="5">
                  <c:v>7.5</c:v>
                </c:pt>
                <c:pt idx="6">
                  <c:v>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MoOx 5nm</c:v>
                </c:pt>
              </c:strCache>
            </c:strRef>
          </c:tx>
          <c:spPr>
            <a:solidFill>
              <a:srgbClr val="FF6B35"/>
            </a:solidFill>
            <a:ln w="444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138</c:v>
                </c:pt>
                <c:pt idx="1">
                  <c:v>49.1</c:v>
                </c:pt>
                <c:pt idx="2">
                  <c:v>32</c:v>
                </c:pt>
                <c:pt idx="3">
                  <c:v>14.9</c:v>
                </c:pt>
                <c:pt idx="4">
                  <c:v>10.8</c:v>
                </c:pt>
                <c:pt idx="5">
                  <c:v>9.6</c:v>
                </c:pt>
                <c:pt idx="6">
                  <c:v>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Ag 두께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Rs (Ω/sq)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 / Ag 5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400</c:v>
                  </c:pt>
                  <c:pt idx="1">
                    <c:v>416</c:v>
                  </c:pt>
                  <c:pt idx="2">
                    <c:v>432</c:v>
                  </c:pt>
                  <c:pt idx="3">
                    <c:v>448</c:v>
                  </c:pt>
                  <c:pt idx="4">
                    <c:v>464</c:v>
                  </c:pt>
                  <c:pt idx="5">
                    <c:v>480</c:v>
                  </c:pt>
                  <c:pt idx="6">
                    <c:v>496</c:v>
                  </c:pt>
                  <c:pt idx="7">
                    <c:v>512</c:v>
                  </c:pt>
                  <c:pt idx="8">
                    <c:v>528</c:v>
                  </c:pt>
                  <c:pt idx="9">
                    <c:v>544</c:v>
                  </c:pt>
                  <c:pt idx="10">
                    <c:v>560</c:v>
                  </c:pt>
                  <c:pt idx="11">
                    <c:v>576</c:v>
                  </c:pt>
                  <c:pt idx="12">
                    <c:v>592</c:v>
                  </c:pt>
                  <c:pt idx="13">
                    <c:v>608</c:v>
                  </c:pt>
                  <c:pt idx="14">
                    <c:v>624</c:v>
                  </c:pt>
                  <c:pt idx="15">
                    <c:v>640</c:v>
                  </c:pt>
                  <c:pt idx="16">
                    <c:v>656</c:v>
                  </c:pt>
                  <c:pt idx="17">
                    <c:v>672</c:v>
                  </c:pt>
                  <c:pt idx="18">
                    <c:v>688</c:v>
                  </c:pt>
                  <c:pt idx="19">
                    <c:v>704</c:v>
                  </c:pt>
                  <c:pt idx="20">
                    <c:v>720</c:v>
                  </c:pt>
                  <c:pt idx="21">
                    <c:v>736</c:v>
                  </c:pt>
                  <c:pt idx="22">
                    <c:v>752</c:v>
                  </c:pt>
                  <c:pt idx="23">
                    <c:v>768</c:v>
                  </c:pt>
                  <c:pt idx="24">
                    <c:v>784</c:v>
                  </c:pt>
                  <c:pt idx="25">
                    <c:v>800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12.611</c:v>
                </c:pt>
                <c:pt idx="1">
                  <c:v>12.366</c:v>
                </c:pt>
                <c:pt idx="2">
                  <c:v>11.931</c:v>
                </c:pt>
                <c:pt idx="3">
                  <c:v>11.857</c:v>
                </c:pt>
                <c:pt idx="4">
                  <c:v>11.647</c:v>
                </c:pt>
                <c:pt idx="5">
                  <c:v>11.445</c:v>
                </c:pt>
                <c:pt idx="6">
                  <c:v>11.339</c:v>
                </c:pt>
                <c:pt idx="7">
                  <c:v>11.195</c:v>
                </c:pt>
                <c:pt idx="8">
                  <c:v>11.167</c:v>
                </c:pt>
                <c:pt idx="9">
                  <c:v>11.28</c:v>
                </c:pt>
                <c:pt idx="10">
                  <c:v>11.421</c:v>
                </c:pt>
                <c:pt idx="11">
                  <c:v>11.453</c:v>
                </c:pt>
                <c:pt idx="12">
                  <c:v>11.672</c:v>
                </c:pt>
                <c:pt idx="13">
                  <c:v>11.711</c:v>
                </c:pt>
                <c:pt idx="14">
                  <c:v>11.958</c:v>
                </c:pt>
                <c:pt idx="15">
                  <c:v>12.181</c:v>
                </c:pt>
                <c:pt idx="16">
                  <c:v>12.298</c:v>
                </c:pt>
                <c:pt idx="17">
                  <c:v>12.417</c:v>
                </c:pt>
                <c:pt idx="18">
                  <c:v>12.653</c:v>
                </c:pt>
                <c:pt idx="19">
                  <c:v>12.981</c:v>
                </c:pt>
                <c:pt idx="20">
                  <c:v>13.137</c:v>
                </c:pt>
                <c:pt idx="21">
                  <c:v>13.292</c:v>
                </c:pt>
                <c:pt idx="22">
                  <c:v>13.433</c:v>
                </c:pt>
                <c:pt idx="23">
                  <c:v>13.672</c:v>
                </c:pt>
                <c:pt idx="24">
                  <c:v>14.269</c:v>
                </c:pt>
                <c:pt idx="25">
                  <c:v>13.949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HATCN / Ag 8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400</c:v>
                  </c:pt>
                  <c:pt idx="1">
                    <c:v>416</c:v>
                  </c:pt>
                  <c:pt idx="2">
                    <c:v>432</c:v>
                  </c:pt>
                  <c:pt idx="3">
                    <c:v>448</c:v>
                  </c:pt>
                  <c:pt idx="4">
                    <c:v>464</c:v>
                  </c:pt>
                  <c:pt idx="5">
                    <c:v>480</c:v>
                  </c:pt>
                  <c:pt idx="6">
                    <c:v>496</c:v>
                  </c:pt>
                  <c:pt idx="7">
                    <c:v>512</c:v>
                  </c:pt>
                  <c:pt idx="8">
                    <c:v>528</c:v>
                  </c:pt>
                  <c:pt idx="9">
                    <c:v>544</c:v>
                  </c:pt>
                  <c:pt idx="10">
                    <c:v>560</c:v>
                  </c:pt>
                  <c:pt idx="11">
                    <c:v>576</c:v>
                  </c:pt>
                  <c:pt idx="12">
                    <c:v>592</c:v>
                  </c:pt>
                  <c:pt idx="13">
                    <c:v>608</c:v>
                  </c:pt>
                  <c:pt idx="14">
                    <c:v>624</c:v>
                  </c:pt>
                  <c:pt idx="15">
                    <c:v>640</c:v>
                  </c:pt>
                  <c:pt idx="16">
                    <c:v>656</c:v>
                  </c:pt>
                  <c:pt idx="17">
                    <c:v>672</c:v>
                  </c:pt>
                  <c:pt idx="18">
                    <c:v>688</c:v>
                  </c:pt>
                  <c:pt idx="19">
                    <c:v>704</c:v>
                  </c:pt>
                  <c:pt idx="20">
                    <c:v>720</c:v>
                  </c:pt>
                  <c:pt idx="21">
                    <c:v>736</c:v>
                  </c:pt>
                  <c:pt idx="22">
                    <c:v>752</c:v>
                  </c:pt>
                  <c:pt idx="23">
                    <c:v>768</c:v>
                  </c:pt>
                  <c:pt idx="24">
                    <c:v>784</c:v>
                  </c:pt>
                  <c:pt idx="25">
                    <c:v>800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10.885</c:v>
                </c:pt>
                <c:pt idx="1">
                  <c:v>11.437</c:v>
                </c:pt>
                <c:pt idx="2">
                  <c:v>10.755</c:v>
                </c:pt>
                <c:pt idx="3">
                  <c:v>10.391</c:v>
                </c:pt>
                <c:pt idx="4">
                  <c:v>9.895</c:v>
                </c:pt>
                <c:pt idx="5">
                  <c:v>9.334</c:v>
                </c:pt>
                <c:pt idx="6">
                  <c:v>8.953</c:v>
                </c:pt>
                <c:pt idx="7">
                  <c:v>8.219</c:v>
                </c:pt>
                <c:pt idx="8">
                  <c:v>7.775</c:v>
                </c:pt>
                <c:pt idx="9">
                  <c:v>7.469</c:v>
                </c:pt>
                <c:pt idx="10">
                  <c:v>7.337</c:v>
                </c:pt>
                <c:pt idx="11">
                  <c:v>7.045</c:v>
                </c:pt>
                <c:pt idx="12">
                  <c:v>7.151</c:v>
                </c:pt>
                <c:pt idx="13">
                  <c:v>6.887</c:v>
                </c:pt>
                <c:pt idx="14">
                  <c:v>6.719</c:v>
                </c:pt>
                <c:pt idx="15">
                  <c:v>6.856</c:v>
                </c:pt>
                <c:pt idx="16">
                  <c:v>6.912</c:v>
                </c:pt>
                <c:pt idx="17">
                  <c:v>6.726</c:v>
                </c:pt>
                <c:pt idx="18">
                  <c:v>6.585</c:v>
                </c:pt>
                <c:pt idx="19">
                  <c:v>6.804</c:v>
                </c:pt>
                <c:pt idx="20">
                  <c:v>6.802</c:v>
                </c:pt>
                <c:pt idx="21">
                  <c:v>6.785</c:v>
                </c:pt>
                <c:pt idx="22">
                  <c:v>7.086</c:v>
                </c:pt>
                <c:pt idx="23">
                  <c:v>7.024</c:v>
                </c:pt>
                <c:pt idx="24">
                  <c:v>7.702</c:v>
                </c:pt>
                <c:pt idx="25">
                  <c:v>6.896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MoOx / Ag 5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400</c:v>
                  </c:pt>
                  <c:pt idx="1">
                    <c:v>416</c:v>
                  </c:pt>
                  <c:pt idx="2">
                    <c:v>432</c:v>
                  </c:pt>
                  <c:pt idx="3">
                    <c:v>448</c:v>
                  </c:pt>
                  <c:pt idx="4">
                    <c:v>464</c:v>
                  </c:pt>
                  <c:pt idx="5">
                    <c:v>480</c:v>
                  </c:pt>
                  <c:pt idx="6">
                    <c:v>496</c:v>
                  </c:pt>
                  <c:pt idx="7">
                    <c:v>512</c:v>
                  </c:pt>
                  <c:pt idx="8">
                    <c:v>528</c:v>
                  </c:pt>
                  <c:pt idx="9">
                    <c:v>544</c:v>
                  </c:pt>
                  <c:pt idx="10">
                    <c:v>560</c:v>
                  </c:pt>
                  <c:pt idx="11">
                    <c:v>576</c:v>
                  </c:pt>
                  <c:pt idx="12">
                    <c:v>592</c:v>
                  </c:pt>
                  <c:pt idx="13">
                    <c:v>608</c:v>
                  </c:pt>
                  <c:pt idx="14">
                    <c:v>624</c:v>
                  </c:pt>
                  <c:pt idx="15">
                    <c:v>640</c:v>
                  </c:pt>
                  <c:pt idx="16">
                    <c:v>656</c:v>
                  </c:pt>
                  <c:pt idx="17">
                    <c:v>672</c:v>
                  </c:pt>
                  <c:pt idx="18">
                    <c:v>688</c:v>
                  </c:pt>
                  <c:pt idx="19">
                    <c:v>704</c:v>
                  </c:pt>
                  <c:pt idx="20">
                    <c:v>720</c:v>
                  </c:pt>
                  <c:pt idx="21">
                    <c:v>736</c:v>
                  </c:pt>
                  <c:pt idx="22">
                    <c:v>752</c:v>
                  </c:pt>
                  <c:pt idx="23">
                    <c:v>768</c:v>
                  </c:pt>
                  <c:pt idx="24">
                    <c:v>784</c:v>
                  </c:pt>
                  <c:pt idx="25">
                    <c:v>800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13.677</c:v>
                </c:pt>
                <c:pt idx="1">
                  <c:v>16.081</c:v>
                </c:pt>
                <c:pt idx="2">
                  <c:v>18.13</c:v>
                </c:pt>
                <c:pt idx="3">
                  <c:v>20.094</c:v>
                </c:pt>
                <c:pt idx="4">
                  <c:v>22.288</c:v>
                </c:pt>
                <c:pt idx="5">
                  <c:v>24.292</c:v>
                </c:pt>
                <c:pt idx="6">
                  <c:v>25.905</c:v>
                </c:pt>
                <c:pt idx="7">
                  <c:v>26.845</c:v>
                </c:pt>
                <c:pt idx="8">
                  <c:v>27.517</c:v>
                </c:pt>
                <c:pt idx="9">
                  <c:v>27.905</c:v>
                </c:pt>
                <c:pt idx="10">
                  <c:v>28.007</c:v>
                </c:pt>
                <c:pt idx="11">
                  <c:v>27.902</c:v>
                </c:pt>
                <c:pt idx="12">
                  <c:v>27.705</c:v>
                </c:pt>
                <c:pt idx="13">
                  <c:v>27.319</c:v>
                </c:pt>
                <c:pt idx="14">
                  <c:v>26.806</c:v>
                </c:pt>
                <c:pt idx="15">
                  <c:v>26.524</c:v>
                </c:pt>
                <c:pt idx="16">
                  <c:v>26.2</c:v>
                </c:pt>
                <c:pt idx="17">
                  <c:v>25.575</c:v>
                </c:pt>
                <c:pt idx="18">
                  <c:v>25.273</c:v>
                </c:pt>
                <c:pt idx="19">
                  <c:v>25.048</c:v>
                </c:pt>
                <c:pt idx="20">
                  <c:v>24.704</c:v>
                </c:pt>
                <c:pt idx="21">
                  <c:v>24.509</c:v>
                </c:pt>
                <c:pt idx="22">
                  <c:v>24.349</c:v>
                </c:pt>
                <c:pt idx="23">
                  <c:v>24.019</c:v>
                </c:pt>
                <c:pt idx="24">
                  <c:v>24.345</c:v>
                </c:pt>
                <c:pt idx="25">
                  <c:v>24.138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MoOx / Ag 8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400</c:v>
                  </c:pt>
                  <c:pt idx="1">
                    <c:v>416</c:v>
                  </c:pt>
                  <c:pt idx="2">
                    <c:v>432</c:v>
                  </c:pt>
                  <c:pt idx="3">
                    <c:v>448</c:v>
                  </c:pt>
                  <c:pt idx="4">
                    <c:v>464</c:v>
                  </c:pt>
                  <c:pt idx="5">
                    <c:v>480</c:v>
                  </c:pt>
                  <c:pt idx="6">
                    <c:v>496</c:v>
                  </c:pt>
                  <c:pt idx="7">
                    <c:v>512</c:v>
                  </c:pt>
                  <c:pt idx="8">
                    <c:v>528</c:v>
                  </c:pt>
                  <c:pt idx="9">
                    <c:v>544</c:v>
                  </c:pt>
                  <c:pt idx="10">
                    <c:v>560</c:v>
                  </c:pt>
                  <c:pt idx="11">
                    <c:v>576</c:v>
                  </c:pt>
                  <c:pt idx="12">
                    <c:v>592</c:v>
                  </c:pt>
                  <c:pt idx="13">
                    <c:v>608</c:v>
                  </c:pt>
                  <c:pt idx="14">
                    <c:v>624</c:v>
                  </c:pt>
                  <c:pt idx="15">
                    <c:v>640</c:v>
                  </c:pt>
                  <c:pt idx="16">
                    <c:v>656</c:v>
                  </c:pt>
                  <c:pt idx="17">
                    <c:v>672</c:v>
                  </c:pt>
                  <c:pt idx="18">
                    <c:v>688</c:v>
                  </c:pt>
                  <c:pt idx="19">
                    <c:v>704</c:v>
                  </c:pt>
                  <c:pt idx="20">
                    <c:v>720</c:v>
                  </c:pt>
                  <c:pt idx="21">
                    <c:v>736</c:v>
                  </c:pt>
                  <c:pt idx="22">
                    <c:v>752</c:v>
                  </c:pt>
                  <c:pt idx="23">
                    <c:v>768</c:v>
                  </c:pt>
                  <c:pt idx="24">
                    <c:v>784</c:v>
                  </c:pt>
                  <c:pt idx="25">
                    <c:v>800</c:v>
                  </c:pt>
                </c:lvl>
              </c:multiLvlStrCache>
            </c:multiLvl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11.86</c:v>
                </c:pt>
                <c:pt idx="1">
                  <c:v>13.491</c:v>
                </c:pt>
                <c:pt idx="2">
                  <c:v>14.859</c:v>
                </c:pt>
                <c:pt idx="3">
                  <c:v>16.687</c:v>
                </c:pt>
                <c:pt idx="4">
                  <c:v>18.179</c:v>
                </c:pt>
                <c:pt idx="5">
                  <c:v>18.543</c:v>
                </c:pt>
                <c:pt idx="6">
                  <c:v>19.117</c:v>
                </c:pt>
                <c:pt idx="7">
                  <c:v>19.443</c:v>
                </c:pt>
                <c:pt idx="8">
                  <c:v>19.43</c:v>
                </c:pt>
                <c:pt idx="9">
                  <c:v>19.569</c:v>
                </c:pt>
                <c:pt idx="10">
                  <c:v>19.727</c:v>
                </c:pt>
                <c:pt idx="11">
                  <c:v>19.883</c:v>
                </c:pt>
                <c:pt idx="12">
                  <c:v>20.147</c:v>
                </c:pt>
                <c:pt idx="13">
                  <c:v>20.497</c:v>
                </c:pt>
                <c:pt idx="14">
                  <c:v>20.716</c:v>
                </c:pt>
                <c:pt idx="15">
                  <c:v>21.07</c:v>
                </c:pt>
                <c:pt idx="16">
                  <c:v>21.647</c:v>
                </c:pt>
                <c:pt idx="17">
                  <c:v>21.354</c:v>
                </c:pt>
                <c:pt idx="18">
                  <c:v>21.884</c:v>
                </c:pt>
                <c:pt idx="19">
                  <c:v>22.113</c:v>
                </c:pt>
                <c:pt idx="20">
                  <c:v>21.91</c:v>
                </c:pt>
                <c:pt idx="21">
                  <c:v>22.037</c:v>
                </c:pt>
                <c:pt idx="22">
                  <c:v>21.874</c:v>
                </c:pt>
                <c:pt idx="23">
                  <c:v>22.127</c:v>
                </c:pt>
                <c:pt idx="24">
                  <c:v>22.174</c:v>
                </c:pt>
                <c:pt idx="25">
                  <c:v>20.852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파장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32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흡수도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 5 nm</c:v>
                </c:pt>
              </c:strCache>
            </c:strRef>
          </c:tx>
          <c:spPr>
            <a:solidFill>
              <a:srgbClr val="F2B134"/>
            </a:solidFill>
            <a:ln w="38100" cap="flat">
              <a:solidFill>
                <a:srgbClr val="F2B1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400</c:v>
                  </c:pt>
                  <c:pt idx="1">
                    <c:v>450</c:v>
                  </c:pt>
                  <c:pt idx="2">
                    <c:v>500</c:v>
                  </c:pt>
                  <c:pt idx="3">
                    <c:v>550</c:v>
                  </c:pt>
                  <c:pt idx="4">
                    <c:v>600</c:v>
                  </c:pt>
                  <c:pt idx="5">
                    <c:v>650</c:v>
                  </c:pt>
                  <c:pt idx="6">
                    <c:v>700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0.6395</c:v>
                </c:pt>
                <c:pt idx="1">
                  <c:v>0.5848</c:v>
                </c:pt>
                <c:pt idx="2">
                  <c:v>0.5436</c:v>
                </c:pt>
                <c:pt idx="3">
                  <c:v>0.5277</c:v>
                </c:pt>
                <c:pt idx="4">
                  <c:v>0.5556</c:v>
                </c:pt>
                <c:pt idx="5">
                  <c:v>0.5923</c:v>
                </c:pt>
                <c:pt idx="6">
                  <c:v>0.6324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 8 nm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400</c:v>
                  </c:pt>
                  <c:pt idx="1">
                    <c:v>450</c:v>
                  </c:pt>
                  <c:pt idx="2">
                    <c:v>500</c:v>
                  </c:pt>
                  <c:pt idx="3">
                    <c:v>550</c:v>
                  </c:pt>
                  <c:pt idx="4">
                    <c:v>600</c:v>
                  </c:pt>
                  <c:pt idx="5">
                    <c:v>650</c:v>
                  </c:pt>
                  <c:pt idx="6">
                    <c:v>700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0.3476</c:v>
                </c:pt>
                <c:pt idx="1">
                  <c:v>0.3332</c:v>
                </c:pt>
                <c:pt idx="2">
                  <c:v>0.2686</c:v>
                </c:pt>
                <c:pt idx="3">
                  <c:v>0.2283</c:v>
                </c:pt>
                <c:pt idx="4">
                  <c:v>0.2242</c:v>
                </c:pt>
                <c:pt idx="5">
                  <c:v>0.2275</c:v>
                </c:pt>
                <c:pt idx="6">
                  <c:v>0.2381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McPeak 벌크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400</c:v>
                  </c:pt>
                  <c:pt idx="1">
                    <c:v>450</c:v>
                  </c:pt>
                  <c:pt idx="2">
                    <c:v>500</c:v>
                  </c:pt>
                  <c:pt idx="3">
                    <c:v>550</c:v>
                  </c:pt>
                  <c:pt idx="4">
                    <c:v>600</c:v>
                  </c:pt>
                  <c:pt idx="5">
                    <c:v>650</c:v>
                  </c:pt>
                  <c:pt idx="6">
                    <c:v>700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0.0457</c:v>
                </c:pt>
                <c:pt idx="1">
                  <c:v>0.0409</c:v>
                </c:pt>
                <c:pt idx="2">
                  <c:v>0.0414</c:v>
                </c:pt>
                <c:pt idx="3">
                  <c:v>0.0438</c:v>
                </c:pt>
                <c:pt idx="4">
                  <c:v>0.0474</c:v>
                </c:pt>
                <c:pt idx="5">
                  <c:v>0.0509</c:v>
                </c:pt>
                <c:pt idx="6">
                  <c:v>0.0549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 8 nm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400</c:v>
                  </c:pt>
                  <c:pt idx="1">
                    <c:v>450</c:v>
                  </c:pt>
                  <c:pt idx="2">
                    <c:v>500</c:v>
                  </c:pt>
                  <c:pt idx="3">
                    <c:v>550</c:v>
                  </c:pt>
                  <c:pt idx="4">
                    <c:v>600</c:v>
                  </c:pt>
                  <c:pt idx="5">
                    <c:v>650</c:v>
                  </c:pt>
                  <c:pt idx="6">
                    <c:v>700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2.271</c:v>
                </c:pt>
                <c:pt idx="1">
                  <c:v>2.675</c:v>
                </c:pt>
                <c:pt idx="2">
                  <c:v>3.11</c:v>
                </c:pt>
                <c:pt idx="3">
                  <c:v>3.574</c:v>
                </c:pt>
                <c:pt idx="4">
                  <c:v>4.014</c:v>
                </c:pt>
                <c:pt idx="5">
                  <c:v>4.457</c:v>
                </c:pt>
                <c:pt idx="6">
                  <c:v>4.879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McPeak 벌크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400</c:v>
                  </c:pt>
                  <c:pt idx="1">
                    <c:v>450</c:v>
                  </c:pt>
                  <c:pt idx="2">
                    <c:v>500</c:v>
                  </c:pt>
                  <c:pt idx="3">
                    <c:v>550</c:v>
                  </c:pt>
                  <c:pt idx="4">
                    <c:v>600</c:v>
                  </c:pt>
                  <c:pt idx="5">
                    <c:v>650</c:v>
                  </c:pt>
                  <c:pt idx="6">
                    <c:v>700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2.123</c:v>
                </c:pt>
                <c:pt idx="1">
                  <c:v>2.676</c:v>
                </c:pt>
                <c:pt idx="2">
                  <c:v>3.159</c:v>
                </c:pt>
                <c:pt idx="3">
                  <c:v>3.61</c:v>
                </c:pt>
                <c:pt idx="4">
                  <c:v>4.042</c:v>
                </c:pt>
                <c:pt idx="5">
                  <c:v>4.46</c:v>
                </c:pt>
                <c:pt idx="6">
                  <c:v>4.869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 nm</c:v>
                  </c:pt>
                  <c:pt idx="1">
                    <c:v>5 nm</c:v>
                  </c:pt>
                  <c:pt idx="2">
                    <c:v>6 nm</c:v>
                  </c:pt>
                  <c:pt idx="3">
                    <c:v>7 nm</c:v>
                  </c:pt>
                  <c:pt idx="4">
                    <c:v>8 nm</c:v>
                  </c:pt>
                  <c:pt idx="5">
                    <c:v>10 nm</c:v>
                  </c:pt>
                  <c:pt idx="6">
                    <c:v>12 nm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-11.57</c:v>
                </c:pt>
                <c:pt idx="1">
                  <c:v>-12.17</c:v>
                </c:pt>
                <c:pt idx="2">
                  <c:v>-11.23</c:v>
                </c:pt>
                <c:pt idx="3">
                  <c:v>-12.02</c:v>
                </c:pt>
                <c:pt idx="4">
                  <c:v>-12.72</c:v>
                </c:pt>
                <c:pt idx="5">
                  <c:v>-11.53</c:v>
                </c:pt>
                <c:pt idx="6">
                  <c:v>-12.29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MoOx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 nm</c:v>
                  </c:pt>
                  <c:pt idx="1">
                    <c:v>5 nm</c:v>
                  </c:pt>
                  <c:pt idx="2">
                    <c:v>6 nm</c:v>
                  </c:pt>
                  <c:pt idx="3">
                    <c:v>7 nm</c:v>
                  </c:pt>
                  <c:pt idx="4">
                    <c:v>8 nm</c:v>
                  </c:pt>
                  <c:pt idx="5">
                    <c:v>10 nm</c:v>
                  </c:pt>
                  <c:pt idx="6">
                    <c:v>12 nm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-4.72</c:v>
                </c:pt>
                <c:pt idx="1">
                  <c:v>-5.15</c:v>
                </c:pt>
                <c:pt idx="2">
                  <c:v>-6.06</c:v>
                </c:pt>
                <c:pt idx="3">
                  <c:v>-8.1</c:v>
                </c:pt>
                <c:pt idx="4">
                  <c:v>-10.55</c:v>
                </c:pt>
                <c:pt idx="5">
                  <c:v>-8.94</c:v>
                </c:pt>
                <c:pt idx="6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4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+0&quot;%&quot;;-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 nm</c:v>
                  </c:pt>
                  <c:pt idx="1">
                    <c:v>5 nm</c:v>
                  </c:pt>
                  <c:pt idx="2">
                    <c:v>6 nm</c:v>
                  </c:pt>
                  <c:pt idx="3">
                    <c:v>7 nm</c:v>
                  </c:pt>
                  <c:pt idx="4">
                    <c:v>8 nm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10</c:v>
                </c:pt>
                <c:pt idx="2">
                  <c:v>21</c:v>
                </c:pt>
                <c:pt idx="3">
                  <c:v>4</c:v>
                </c:pt>
                <c:pt idx="4">
                  <c:v>-8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MoOx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+0&quot;%&quot;;-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 nm</c:v>
                  </c:pt>
                  <c:pt idx="1">
                    <c:v>5 nm</c:v>
                  </c:pt>
                  <c:pt idx="2">
                    <c:v>6 nm</c:v>
                  </c:pt>
                  <c:pt idx="3">
                    <c:v>7 nm</c:v>
                  </c:pt>
                  <c:pt idx="4">
                    <c:v>8 nm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316</c:v>
                </c:pt>
                <c:pt idx="1">
                  <c:v>109</c:v>
                </c:pt>
                <c:pt idx="2">
                  <c:v>78</c:v>
                </c:pt>
                <c:pt idx="3">
                  <c:v>4</c:v>
                </c:pt>
                <c:pt idx="4">
                  <c:v>-9</c:v>
                </c:pt>
              </c:numCache>
            </c:numRef>
          </c:val>
        </c:ser>
        <c:dLbls>
          <c:numFmt formatCode="+0&quot;%&quot;;-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1F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7A849C"/>
                    </a:solidFill>
                    <a:latin typeface="Arial"/>
                  </a:rPr>
                  <a:t>닫힌막 선 대비 초과 저항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</c:v>
                </c:pt>
              </c:strCache>
            </c:strRef>
          </c:tx>
          <c:spPr>
            <a:solidFill>
              <a:srgbClr val="2EC4B6"/>
            </a:solidFill>
            <a:ln w="444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14.94</c:v>
                </c:pt>
                <c:pt idx="1">
                  <c:v>11.54</c:v>
                </c:pt>
                <c:pt idx="2">
                  <c:v>10.09</c:v>
                </c:pt>
                <c:pt idx="3">
                  <c:v>8.44</c:v>
                </c:pt>
                <c:pt idx="4">
                  <c:v>7.63</c:v>
                </c:pt>
                <c:pt idx="5">
                  <c:v>7.32</c:v>
                </c:pt>
                <c:pt idx="6">
                  <c:v>6.48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MoOx</c:v>
                </c:pt>
              </c:strCache>
            </c:strRef>
          </c:tx>
          <c:spPr>
            <a:solidFill>
              <a:srgbClr val="FF6B35"/>
            </a:solidFill>
            <a:ln w="444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27.85</c:v>
                </c:pt>
                <c:pt idx="1">
                  <c:v>28.14</c:v>
                </c:pt>
                <c:pt idx="2">
                  <c:v>27.64</c:v>
                </c:pt>
                <c:pt idx="3">
                  <c:v>23.03</c:v>
                </c:pt>
                <c:pt idx="4">
                  <c:v>19.77</c:v>
                </c:pt>
                <c:pt idx="5">
                  <c:v>21.8</c:v>
                </c:pt>
                <c:pt idx="6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7A849C"/>
                    </a:solidFill>
                    <a:latin typeface="Arial"/>
                  </a:rPr>
                  <a:t>Ag 두께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49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HATCN seed</c:v>
                </c:pt>
              </c:strCache>
            </c:strRef>
          </c:tx>
          <c:spPr>
            <a:solidFill>
              <a:srgbClr val="2EC4B6"/>
            </a:solidFill>
            <a:ln w="444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4.86</c:v>
                </c:pt>
                <c:pt idx="1">
                  <c:v>3.69</c:v>
                </c:pt>
                <c:pt idx="2">
                  <c:v>3.22</c:v>
                </c:pt>
                <c:pt idx="3">
                  <c:v>2.76</c:v>
                </c:pt>
                <c:pt idx="4">
                  <c:v>2.6</c:v>
                </c:pt>
                <c:pt idx="5">
                  <c:v>2.64</c:v>
                </c:pt>
                <c:pt idx="6">
                  <c:v>2.61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MoOx seed</c:v>
                </c:pt>
              </c:strCache>
            </c:strRef>
          </c:tx>
          <c:spPr>
            <a:solidFill>
              <a:srgbClr val="FF6B35"/>
            </a:solidFill>
            <a:ln w="444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10.64</c:v>
                </c:pt>
                <c:pt idx="1">
                  <c:v>10.88</c:v>
                </c:pt>
                <c:pt idx="2">
                  <c:v>10.73</c:v>
                </c:pt>
                <c:pt idx="3">
                  <c:v>8.58</c:v>
                </c:pt>
                <c:pt idx="4">
                  <c:v>7.46</c:v>
                </c:pt>
                <c:pt idx="5">
                  <c:v>8.69</c:v>
                </c:pt>
                <c:pt idx="6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이상적 벌크 Ag</c:v>
                </c:pt>
              </c:strCache>
            </c:strRef>
          </c:tx>
          <c:spPr>
            <a:solidFill>
              <a:srgbClr val="1E2761"/>
            </a:solidFill>
            <a:ln w="444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0.267</c:v>
                </c:pt>
                <c:pt idx="1">
                  <c:v>0.332</c:v>
                </c:pt>
                <c:pt idx="2">
                  <c:v>0.397</c:v>
                </c:pt>
                <c:pt idx="3">
                  <c:v>0.46</c:v>
                </c:pt>
                <c:pt idx="4">
                  <c:v>0.522</c:v>
                </c:pt>
                <c:pt idx="5">
                  <c:v>0.643</c:v>
                </c:pt>
                <c:pt idx="6">
                  <c:v>0.758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Ag 두께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2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4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49C"/>
                    </a:solidFill>
                    <a:latin typeface="Arial"/>
                  </a:rPr>
                  <a:t>소자 one-pass 흡수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7A849C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0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BF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9E9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현재 n0.23, 기판 1.65</c:v>
                  </c:pt>
                  <c:pt idx="1">
                    <c:v>+ 기판 1.80</c:v>
                  </c:pt>
                  <c:pt idx="2">
                    <c:v>+ MLA AR</c:v>
                  </c:pt>
                  <c:pt idx="3">
                    <c:v>+ Ag n0.15 (Rs 6.7)</c:v>
                  </c:pt>
                  <c:pt idx="4">
                    <c:v>+ Ag n0.12 (Rs 5.3)</c:v>
                  </c:pt>
                  <c:pt idx="5">
                    <c:v>+ 벌크 Ag (Rs 2)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61.7</c:v>
                </c:pt>
                <c:pt idx="2">
                  <c:v>63</c:v>
                </c:pt>
                <c:pt idx="3">
                  <c:v>68.1</c:v>
                </c:pt>
                <c:pt idx="4">
                  <c:v>70.3</c:v>
                </c:pt>
                <c:pt idx="5">
                  <c:v>76.5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5CED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0"/>
        <c:axPos val="b"/>
        <c:majorGridlines>
          <c:spPr>
            <a:ln w="1270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5CED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전극 흡수가 MLA 소자 효율을 지배한다는 것을 측정과 모델로 보인 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논지 슬라이드. 단일 통과 흡수 차이가 MLA 재순환으로 5~6배 증폭된다.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Rs가 흡수계라는 것이 이 프로젝트의 방법론적 토대.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고각도 흡수가 MLA 효율을 지배한다.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Al은 ε2가 Ag의 8배. wetting 이득으로 상쇄 불가. Au만 적색에서 검토 가치.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결합 자리 특이성 + 6개 CN + 높은 확산장벽. 셋이 겹치는 재료가 HATCN뿐.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TPBi 0.889는 단일 N이 아니라 이좌 킬레이트(N 2.33/2.34). HATCN은 단좌 N 2.30 하나로 그보다 높다.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Al2O3 0.910은 Al-rich 클러스터 과결합. 화학량론 Al4O6는 0.422.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DFT 순위는 신뢰, 절대 크기는 실측으로. 정직하게 한계를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조건과 보정은 notes/HANDOFF_TR_20260820.md 에 전부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HATCN 위 Ag는 전 파장에서 MoOx의 1/3 수준.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k는 벌크와 같고 n만 5~12배. 즉 벌크 밀도의 진짜 은인데 전자 산란만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HATCN이 Ag 2 nm를 절약한다. 전기·광학 독립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이상적 Ag는 두께에 선형. 실제 막은 7~8 nm에 최소점.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 MATLAB PSO 두 점(55%, 73%)에 보정한 재순환 모델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슬라이드. 닫힘이 아니라 미세구조가 목표라는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chart" Target="/ppt/charts/chart1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852160" cy="5852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22305F"/>
          </a:solidFill>
          <a:ln w="12700">
            <a:solidFill>
              <a:srgbClr val="2230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초박막 Ag 상부전극의 흡수 저감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3035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layer engineering — 측정·시뮬레이션 종합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vs MoOx · Ag 4–12 nm · 절대 T/R 분광 · 소자 광학 모델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'흡수'가 핵심 지표인가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MLA는 빠져나가지 못한 빛을 되돌린다 — 광자는 전극을 여러 번 통과한다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통과 차이는 작다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286000"/>
          <a:ext cx="44805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3794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겨우 3.8 %p 차이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224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EQE는 18 %p 벌어진다</a:t>
            </a:r>
            <a:endParaRPr lang="en-US" sz="15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868680" y="4590288"/>
          <a:ext cx="448056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897880" y="1691640"/>
            <a:ext cx="57150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217920" y="1901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증폭 기전 — 평균 통과 횟수</a:t>
            </a:r>
            <a:endParaRPr lang="en-US" sz="15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6217920" y="228600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6217920" y="4663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≈ 0.10 이면 광자는 평균 5.9회 통과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통과마다 전극 흡수를 다시 낸다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3.8 %p × 약 5회 → 15~20 %p의 EQE 손실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흡수와 면저항은 같은 물리량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/ A_bulk  =  ε₂ / ε₂_bulk  =  γ / γ_bulk  =  ρ / ρ_bulk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전자가 산란되는 정도가 저항을 만들고, 같은 산란이 빛을 흡수한다. 4-point probe가 곧 흡수계다.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검증 — HATCN / Ag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3611880"/>
          <a:ext cx="49377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3063240"/>
            <a:ext cx="5321808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01968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1968" y="363931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독립 측정이 20 % 이내로 일치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면저항만으로 흡수를 예측할 수 있다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루프가 광학 측정 없이 돌아간다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여지 = Rs 비율 그 자체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01968" y="48920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601968" y="55869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8 nm — 이상적 벌크 대비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48920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9052560" y="55869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Ω/sq  현재 면저항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손실은 고각도에서 결정된다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MLA가 회수하려는 기판 모드가 바로 그 각도에 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22960" y="2011680"/>
          <a:ext cx="6263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37360"/>
            <a:ext cx="4041648" cy="4114800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82128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82128" y="23317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입사에서는 4.7 % — 크지 않다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66° 에서 16.3 % 로 3.4배 급증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유기물 1.8 → 기판 1.65 임계각이 66.5°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 Ag도 같은 배수로 증가하지만 절대량이 1/5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82128" y="4343400"/>
            <a:ext cx="3474720" cy="1280160"/>
          </a:xfrm>
          <a:prstGeom prst="roundRect">
            <a:avLst>
              <a:gd name="adj" fmla="val 4286"/>
            </a:avLst>
          </a:prstGeom>
          <a:solidFill>
            <a:srgbClr val="FFF1EC"/>
          </a:solidFill>
          <a:ln/>
        </p:spPr>
      </p:sp>
      <p:sp>
        <p:nvSpPr>
          <p:cNvPr id="10" name="Text 7"/>
          <p:cNvSpPr/>
          <p:nvPr/>
        </p:nvSpPr>
        <p:spPr>
          <a:xfrm>
            <a:off x="8065008" y="4343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흡수만 보면 문제를 놓친다.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 적분이 필수.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 선택 — Ag를 대체할 후보는 없다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후보에 벌크 상수(최선의 경우)를 주고 비교. 여러분 Ag만 실측(열화된) 값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0350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ε₂ — 흡수를 곱하는 항 (550 nm)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286000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737360"/>
            <a:ext cx="4773168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50608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소자 EQE (MLA 포함)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150608" y="228600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150608" y="47548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1EC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4754880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완벽히 평평한 Al 3 nm 도 거친 Ag 8 nm 보다 17 %p 나쁘다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은 왜 압도적인가 ①  분자 수준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결합은 오직 나이트릴 질소에서 일어난다 — 그리고 HATCN 은 그 자리를 분자당 6개 갖는다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자리의 특이성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41248" y="2240280"/>
          <a:ext cx="31089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" y="4114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분자면 위에서는 오히려 척력. Ag 는 CN 질소에만 붙는다. 결합 자리의 밀도가 곧 핵생성 밀도가 된다.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" y="51663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8F7F5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5166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0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= 6 × CN / 분자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69164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8745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확산 장벽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754880" y="2240280"/>
          <a:ext cx="2971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754880" y="46177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도착한 Ag 원자가 표면을 돌아다니지 못하고 그 자리에 고정된다. 섬으로 뭉칠 기회를 잃는다.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57032" y="1691640"/>
            <a:ext cx="3374136" cy="4160520"/>
          </a:xfrm>
          <a:prstGeom prst="roundRect">
            <a:avLst>
              <a:gd name="adj" fmla="val 16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531352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조건을 동시에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531352" y="2377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결합만으로는 부족하다 — 원자가 돌아다니면 결국 뭉친다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장벽만으로도 부족하다 — 붙지 않으면 재증발한다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2EC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은 양극쪽 재료 중 유일하게 E_b 와 E_d 를 모두 최고로 갖는다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531352" y="480060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1B2547"/>
          </a:solidFill>
          <a:ln/>
        </p:spPr>
      </p:sp>
      <p:sp>
        <p:nvSpPr>
          <p:cNvPr id="18" name="Text 14"/>
          <p:cNvSpPr/>
          <p:nvPr/>
        </p:nvSpPr>
        <p:spPr>
          <a:xfrm>
            <a:off x="8531352" y="4800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E_b 1.03 eV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E_d 0.29 eV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은 왜 압도적인가 ②  후보 스크리닝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최적화된 구조에서 Ag 가 실제로 어디 앉았는지로 분류. 단좌·이좌를 한 줄에 세우면 안 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8580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847088"/>
          <a:ext cx="46634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5131613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2.30 Å · 6 자리/분자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486400" y="486552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2.04 Å · 4 자리/분자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0" y="4599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이좌 · O 2.44 / 2.53 Å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86400" y="433334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이좌 · N 2.33 / 2.34 Å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486400" y="4067251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이좌 · N 2.28 / 2.39 Å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0" y="3801161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2.31 Å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486400" y="353507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이좌 · N 2.28 / 2.28 Å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86400" y="32689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2.59 Å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486400" y="300289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2.24 Å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486400" y="2736799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N 2.09 Å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486400" y="2470709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O 2.64 Å (약함)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486400" y="220461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· S 2.90 Å (약함)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486400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 면 · C 3.36 Å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7"/>
          <p:cNvSpPr/>
          <p:nvPr/>
        </p:nvSpPr>
        <p:spPr>
          <a:xfrm>
            <a:off x="1042416" y="54681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 (자리 1개)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606040" y="550468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2825496" y="5468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이좌 킬레이트 (자리 2개)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80960" y="1691640"/>
            <a:ext cx="3950208" cy="1965960"/>
          </a:xfrm>
          <a:prstGeom prst="roundRect">
            <a:avLst>
              <a:gd name="adj" fmla="val 2791"/>
            </a:avLst>
          </a:prstGeom>
          <a:solidFill>
            <a:srgbClr val="E8F7F5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36992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0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36992" y="2139696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은 단좌인데도 모든 이좌 킬레이트를 이긴다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나이트릴 N 하나 &gt; 벤즈이미다졸 N 둘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그 자리를 분자당 6개 갖는다 — 평면 분자라 전부 표면 노출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680960" y="3840480"/>
            <a:ext cx="3950208" cy="2011680"/>
          </a:xfrm>
          <a:prstGeom prst="roundRect">
            <a:avLst>
              <a:gd name="adj" fmla="val 2727"/>
            </a:avLst>
          </a:prstGeom>
          <a:solidFill>
            <a:srgbClr val="FFF6F3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36992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앵커가 없는 값 — 자리 에너지가 아님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936992" y="4297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PhCz → TCTA 대리  0.279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36992" y="4462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가 N 에 못 붙음 — π/H 접촉 (C 2.74 Å). 카바졸 N 은 3치환, 고립전자쌍 없음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936992" y="4773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TPA → TAPC 대리  0.254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936992" y="4937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가 N 에 못 붙음 — H 위 2.89 Å. 삼차 아민, 고립전자쌍 없음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936992" y="52486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Liq  0.167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36992" y="5413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가 의도한 O,N 킬레이트가 아니라 Li 근처(2.46 Å)로 감. 값이 주장하는 것을 나타내지 않음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스크리닝 재감사 — 모델 품질과 철회 항목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무기물 클러스터와 작용기 대리 화합물은 전분자 계산과 같은 줄에 둘 수 없다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무기물 클러스터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조성·배위수 민감 — 후보 간 차이보다 모델 오차가 큼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514600"/>
          <a:ext cx="3063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MoOx 는 산소 공공이 있어야 0.445. 화학량론 MoO3 는 0.284 로 반토막.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70832" y="16916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26864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작용기 대리 화합물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26864" y="21214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재료가 아니라 결합 모티프의 대리 지표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626864" y="2450592"/>
          <a:ext cx="3063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626864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HTL 코어(TPA, PhCz)는 삼차 질소라 고립전자쌍이 없다 — 원리적으로 앵커가 못 된다.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74736" y="1691640"/>
            <a:ext cx="3456432" cy="4160520"/>
          </a:xfrm>
          <a:prstGeom prst="roundRect">
            <a:avLst>
              <a:gd name="adj" fmla="val 1587"/>
            </a:avLst>
          </a:prstGeom>
          <a:solidFill>
            <a:srgbClr val="FFF6F3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30768" y="1874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재감사에서 철회한 값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430768" y="22402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Al2O3  0.910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430768" y="24414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Al-rich Al10O10 클러스터 — 프로젝트 자체가 과결합으로 기록. 화학량론 Al4O6 는 0.422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430768" y="295351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MoO3  −0.718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8430768" y="3154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미정련(xTB 기하 + DFT 단일점). Ag 위치를 DFT 로 완화하면 +0.284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430768" y="366674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@Cu 0.819 / CuSCN @Cu 0.567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430768" y="38679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Ag–Cu 금속간 접촉. 표면 화학이 아니라 합금 결합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430768" y="437997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ZnS 1.60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430768" y="458114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계산이 아님 — 문헌 prior (Kim AFM 2015)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430768" y="50932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PhCN·ZnS 1.218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430768" y="529437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ZnS 가 나이트릴에 붙는 에너지. Ag 결합이 아님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은 왜 압도적인가 ③  이론에서 실험까지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결합에너지 → 핵생성 밀도 → 닫힘 두께 — 사슬의 순서가 실험과 일치한다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202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24323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결합에너지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724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vs 0.45 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017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82112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56432" y="1783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9202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56432" y="24323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핵생성 밀도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2724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Venables 스케일링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3017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71616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45936" y="1783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9202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45936" y="24323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 두께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724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vs 7 nm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3017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35440" y="1783080"/>
            <a:ext cx="2615184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9202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35440" y="243230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소자 흡수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724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vs 7.5 %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017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611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Venables 포화 핵밀도 — 단좌 결합끼리만 비교, HATCN 기준 1.0</a:t>
            </a:r>
            <a:endParaRPr lang="en-US" sz="13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66928" y="3977640"/>
          <a:ext cx="58521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6675120" y="3611880"/>
            <a:ext cx="4956048" cy="2240280"/>
          </a:xfrm>
          <a:prstGeom prst="roundRect">
            <a:avLst>
              <a:gd name="adj" fmla="val 3265"/>
            </a:avLst>
          </a:prstGeom>
          <a:solidFill>
            <a:srgbClr val="1B2547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— 사슬은 순서만 맞다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949440" y="41148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E_d = 0.28·E_b 상관식은 단좌 전제 — 이좌 킬레이트(TPBi, Bphen)와 무기물은 이 사슬에 넣을 수 없다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단좌끼리 비교해도 HATCN/MoOx 비가 3300배 — 그대로면 닫힘 두께가 수십 배 차이나야 하지만 실측은 5 vs 7 nm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스케일링은 순위를 맞히고 크기는 과대평가한다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정량은 실측에, 재료 선택은 DFT 순위에 맡긴다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확보한 실측 데이터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seed × 7 두께 = 15 시료, 절대 T/R 분광 + 4-point probe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면저항 — 두 seed 비교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24028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691640"/>
            <a:ext cx="541324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10528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10528" y="2286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04304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투과도 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04304" y="2468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/ 180°, 350–850 nm, 2 nm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10528" y="2788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04304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반사도 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004304" y="2971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6° / 12°, 뒷면 보정 84.3 %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10528" y="3291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04304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흡수도 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004304" y="34747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T − R, σ = 0.15 %p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10528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51052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04304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면저항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004304" y="3977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시료, 4-point probe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10528" y="4297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651052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004304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n, k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004304" y="44805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5·7·8 nm, 400–800 nm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10528" y="48006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7"/>
          <p:cNvSpPr/>
          <p:nvPr/>
        </p:nvSpPr>
        <p:spPr>
          <a:xfrm>
            <a:off x="6510528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004304" y="4782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 결합에너지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04304" y="49834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후보 20종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10528" y="53035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1"/>
          <p:cNvSpPr/>
          <p:nvPr/>
        </p:nvSpPr>
        <p:spPr>
          <a:xfrm>
            <a:off x="6510528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004304" y="5285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소자 광학 모델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004304" y="54864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TMM + MLA 재순환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 스펙트럼 — seed가 만드는 차이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glass / seed 5 nm / Ag, 절대 T·R 로부터 A = 1 − T −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2011680"/>
          <a:ext cx="10469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추출된 광학상수 — 벌크 은에 근접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T·R 파장별 역산. k는 벌크와 거의 같고, 차이는 전부 n 에 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6692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(550 nm 부근)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212848"/>
          <a:ext cx="51206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(전 파장)</a:t>
            </a:r>
            <a:endParaRPr lang="en-US" sz="13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868680" y="4297680"/>
          <a:ext cx="51206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1691640"/>
            <a:ext cx="513892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784848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ε₁ — 금속성의 지표</a:t>
            </a:r>
            <a:endParaRPr lang="en-US" sz="135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6784848" y="2212848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6784848" y="498348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8F7F5"/>
          </a:solidFill>
          <a:ln/>
        </p:spPr>
      </p:sp>
      <p:sp>
        <p:nvSpPr>
          <p:cNvPr id="13" name="Text 8"/>
          <p:cNvSpPr/>
          <p:nvPr/>
        </p:nvSpPr>
        <p:spPr>
          <a:xfrm>
            <a:off x="6949440" y="4983480"/>
            <a:ext cx="4242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0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벌크 은 ε₁ = -13.03  ·  HATCN 위 Ag 는 4 nm 부터 오차 8 % 이내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 두께 — 두 독립 측정이 일치한다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전기(면저항)와 광학(흡수)이 서로를 모른 채 같은 답을 준다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전기 — 닫힌 막의 ρ = ρ₀ + C/d 선에서 벗어나는 지점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395728"/>
          <a:ext cx="4800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91640"/>
            <a:ext cx="545896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64808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광학 — 흡수도의 계단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64808" y="2212848"/>
          <a:ext cx="48920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64808" y="4617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MoOx 는 4–6 nm 에서 28 % 평평 → 7 nm 에서 23 % 로 계단.  HATCN 은 4 nm 부터 단조 감소.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MoOx 12 nm 은 반사도 파일 결측.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64808" y="51206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8F7F5"/>
          </a:solidFill>
          <a:ln/>
        </p:spPr>
      </p:sp>
      <p:sp>
        <p:nvSpPr>
          <p:cNvPr id="12" name="Text 8"/>
          <p:cNvSpPr/>
          <p:nvPr/>
        </p:nvSpPr>
        <p:spPr>
          <a:xfrm>
            <a:off x="6464808" y="5120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0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 5 nm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025128" y="51206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1EC"/>
          </a:solidFill>
          <a:ln/>
        </p:spPr>
      </p:sp>
      <p:sp>
        <p:nvSpPr>
          <p:cNvPr id="14" name="Text 10"/>
          <p:cNvSpPr/>
          <p:nvPr/>
        </p:nvSpPr>
        <p:spPr>
          <a:xfrm>
            <a:off x="9025128" y="5120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MoOx  7 nm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소자 흡수 — 최적 두께와 남은 여지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1.8 / Ag / CPL 2.1 / air, CPL 두께는 매번 재최적화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72237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2011680"/>
          <a:ext cx="6629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691640"/>
            <a:ext cx="3584448" cy="41605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22402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nm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321040" y="29352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최적 두께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21040" y="34290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321040" y="41239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소자 흡수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4617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321040" y="53126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 하한 대비 여지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70 % 달성 경로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조치로는 도달하지 못한다 — 기판·AR·Ag 품질을 병행해야 한다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13048" cy="1920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지렛대 크기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기판 1.65 → 1.80      + 6.7 %p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MLA 반사방지         + 1.3 %p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Rs 9.1 → 5.3      + 7.3 %p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CPL 굴절률           ± 1.5 %p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3886200"/>
            <a:ext cx="3813048" cy="2011680"/>
          </a:xfrm>
          <a:prstGeom prst="roundRect">
            <a:avLst>
              <a:gd name="adj" fmla="val 3182"/>
            </a:avLst>
          </a:prstGeom>
          <a:solidFill>
            <a:srgbClr val="1B2547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병행의 효과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4389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기판과 AR을 먼저 확보하면 Ag 목표가 완화된다.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4.4 → 5.3 Ω/sq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부담 2.1배 → 1.7배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layer engineering — 다음 단계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닫힘 두께가 아니라 ρ, 즉 결정립 크기와 계면 경면성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이 MoOx 대비 닫힘을 2 nm 앞당기고 흡수를 1/3 로 낮춘다. DFT 결합에너지 1.03 vs 0.45 eV 와 순서가 일치.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21024" y="2487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지렛대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1024" y="2852928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 이후에도 ρ 가 벌크의 4.6배. 표면 산란 3.88, 결정립계 1.81 µΩ·cm. 두 항을 모두 줄여야 한다.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9088" y="1965960"/>
            <a:ext cx="384048" cy="38404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2487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변수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852928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증착 속도 상향(침투 억제), 기판 냉각(결정립 성장), seed 두께 5 nm 고정, 즉시 캡핑.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96596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17152" y="248716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측정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17152" y="2852928"/>
            <a:ext cx="212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4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검출기 각스캔으로 산란 분리, 엘립소·XRR 로 두께 확정, Ag 2·3 nm 로 퍼콜레이션 하한.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138928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12700" dir="5400000">
              <a:srgbClr val="9AA5BC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138928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는 흡수계다 — 광학 측정 없이 4-point probe 만으로 최적화 루프를 돌릴 수 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Ultrathin Ag top electrode</dc:title>
  <dc:subject>PptxGenJS Presentation</dc:subject>
  <dc:creator>Ag electrode study</dc:creator>
  <cp:lastModifiedBy>Ag electrode study</cp:lastModifiedBy>
  <cp:revision>1</cp:revision>
  <dcterms:created xsi:type="dcterms:W3CDTF">2026-08-22T02:49:51Z</dcterms:created>
  <dcterms:modified xsi:type="dcterms:W3CDTF">2026-08-22T02:49:51Z</dcterms:modified>
</cp:coreProperties>
</file>