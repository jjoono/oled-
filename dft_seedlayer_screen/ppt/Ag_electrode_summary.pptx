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one-pass A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 8nm</c:v>
                  </c:pt>
                  <c:pt idx="1">
                    <c:v>이상 Ag 8nm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4.74</c:v>
                </c:pt>
                <c:pt idx="1">
                  <c:v>0.94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</c:v>
                  </c:pt>
                  <c:pt idx="1">
                    <c:v>이상 Ag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59.4</c:v>
                </c:pt>
                <c:pt idx="1">
                  <c:v>69.9</c:v>
                </c:pt>
                <c:pt idx="2">
                  <c:v>76.7</c:v>
                </c:pt>
                <c:pt idx="3">
                  <c:v>84.9</c:v>
                </c:pt>
                <c:pt idx="4">
                  <c:v>89.8</c:v>
                </c:pt>
                <c:pt idx="5">
                  <c:v>92.9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</c:v>
                </c:pt>
                <c:pt idx="1">
                  <c:v>81.9</c:v>
                </c:pt>
                <c:pt idx="2">
                  <c:v>86.5</c:v>
                </c:pt>
                <c:pt idx="3">
                  <c:v>91.6</c:v>
                </c:pt>
                <c:pt idx="4">
                  <c:v>94.5</c:v>
                </c:pt>
                <c:pt idx="5">
                  <c:v>96.2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1회 탈출확률 q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광학 ε₂/bulk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8.65</c:v>
                </c:pt>
                <c:pt idx="1">
                  <c:v>4.56</c:v>
                </c:pt>
                <c:pt idx="2">
                  <c:v>3.79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전기 ρ/bulk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7.33</c:v>
                </c:pt>
                <c:pt idx="1">
                  <c:v>5.59</c:v>
                </c:pt>
                <c:pt idx="2">
                  <c:v>4.58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 Ag 8nm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4.74</c:v>
                </c:pt>
                <c:pt idx="1">
                  <c:v>4.8</c:v>
                </c:pt>
                <c:pt idx="2">
                  <c:v>5</c:v>
                </c:pt>
                <c:pt idx="3">
                  <c:v>5.45</c:v>
                </c:pt>
                <c:pt idx="4">
                  <c:v>7.26</c:v>
                </c:pt>
                <c:pt idx="5">
                  <c:v>16.28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 Ag 8nm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0.97</c:v>
                </c:pt>
                <c:pt idx="1">
                  <c:v>0.99</c:v>
                </c:pt>
                <c:pt idx="2">
                  <c:v>1.03</c:v>
                </c:pt>
                <c:pt idx="3">
                  <c:v>1.12</c:v>
                </c:pt>
                <c:pt idx="4">
                  <c:v>1.53</c:v>
                </c:pt>
                <c:pt idx="5">
                  <c:v>3.85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7A849C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유기물 내부 각도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eps2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bulk</c:v>
                  </c:pt>
                  <c:pt idx="1">
                    <c:v>Ag 8nm meas</c:v>
                  </c:pt>
                  <c:pt idx="2">
                    <c:v>Al</c:v>
                  </c:pt>
                  <c:pt idx="3">
                    <c:v>Au</c:v>
                  </c:pt>
                  <c:pt idx="4">
                    <c:v>Cu</c:v>
                  </c:pt>
                  <c:pt idx="5">
                    <c:v>Mg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0.32</c:v>
                </c:pt>
                <c:pt idx="1">
                  <c:v>1.63</c:v>
                </c:pt>
                <c:pt idx="2">
                  <c:v>12.82</c:v>
                </c:pt>
                <c:pt idx="3">
                  <c:v>1.54</c:v>
                </c:pt>
                <c:pt idx="4">
                  <c:v>5.39</c:v>
                </c:pt>
                <c:pt idx="5">
                  <c:v>3.31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8 measured</c:v>
                  </c:pt>
                  <c:pt idx="1">
                    <c:v>Ag 8 bulk</c:v>
                  </c:pt>
                  <c:pt idx="2">
                    <c:v>Al 3 nm</c:v>
                  </c:pt>
                  <c:pt idx="3">
                    <c:v>Au 3 nm</c:v>
                  </c:pt>
                  <c:pt idx="4">
                    <c:v>Cu 5 nm</c:v>
                  </c:pt>
                  <c:pt idx="5">
                    <c:v>Mg 5 nm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55.1</c:v>
                </c:pt>
                <c:pt idx="1">
                  <c:v>73.1</c:v>
                </c:pt>
                <c:pt idx="2">
                  <c:v>37.7</c:v>
                </c:pt>
                <c:pt idx="3">
                  <c:v>62.6</c:v>
                </c:pt>
                <c:pt idx="4">
                  <c:v>38</c:v>
                </c:pt>
                <c:pt idx="5">
                  <c:v>51.7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5nm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52.2</c:v>
                </c:pt>
                <c:pt idx="1">
                  <c:v>23.3</c:v>
                </c:pt>
                <c:pt idx="2">
                  <c:v>18.9</c:v>
                </c:pt>
                <c:pt idx="3">
                  <c:v>12.7</c:v>
                </c:pt>
                <c:pt idx="4">
                  <c:v>9.1</c:v>
                </c:pt>
                <c:pt idx="5">
                  <c:v>7.5</c:v>
                </c:pt>
                <c:pt idx="6">
                  <c:v>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5nm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138</c:v>
                </c:pt>
                <c:pt idx="1">
                  <c:v>49.1</c:v>
                </c:pt>
                <c:pt idx="2">
                  <c:v>32</c:v>
                </c:pt>
                <c:pt idx="3">
                  <c:v>14.9</c:v>
                </c:pt>
                <c:pt idx="4">
                  <c:v>10.8</c:v>
                </c:pt>
                <c:pt idx="5">
                  <c:v>9.6</c:v>
                </c:pt>
                <c:pt idx="6">
                  <c:v>6.6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Rs (Ω/sq)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/ Ag 5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12.611</c:v>
                </c:pt>
                <c:pt idx="1">
                  <c:v>12.366</c:v>
                </c:pt>
                <c:pt idx="2">
                  <c:v>11.931</c:v>
                </c:pt>
                <c:pt idx="3">
                  <c:v>11.857</c:v>
                </c:pt>
                <c:pt idx="4">
                  <c:v>11.647</c:v>
                </c:pt>
                <c:pt idx="5">
                  <c:v>11.445</c:v>
                </c:pt>
                <c:pt idx="6">
                  <c:v>11.339</c:v>
                </c:pt>
                <c:pt idx="7">
                  <c:v>11.195</c:v>
                </c:pt>
                <c:pt idx="8">
                  <c:v>11.167</c:v>
                </c:pt>
                <c:pt idx="9">
                  <c:v>11.28</c:v>
                </c:pt>
                <c:pt idx="10">
                  <c:v>11.421</c:v>
                </c:pt>
                <c:pt idx="11">
                  <c:v>11.453</c:v>
                </c:pt>
                <c:pt idx="12">
                  <c:v>11.672</c:v>
                </c:pt>
                <c:pt idx="13">
                  <c:v>11.711</c:v>
                </c:pt>
                <c:pt idx="14">
                  <c:v>11.958</c:v>
                </c:pt>
                <c:pt idx="15">
                  <c:v>12.181</c:v>
                </c:pt>
                <c:pt idx="16">
                  <c:v>12.298</c:v>
                </c:pt>
                <c:pt idx="17">
                  <c:v>12.417</c:v>
                </c:pt>
                <c:pt idx="18">
                  <c:v>12.653</c:v>
                </c:pt>
                <c:pt idx="19">
                  <c:v>12.981</c:v>
                </c:pt>
                <c:pt idx="20">
                  <c:v>13.137</c:v>
                </c:pt>
                <c:pt idx="21">
                  <c:v>13.292</c:v>
                </c:pt>
                <c:pt idx="22">
                  <c:v>13.433</c:v>
                </c:pt>
                <c:pt idx="23">
                  <c:v>13.672</c:v>
                </c:pt>
                <c:pt idx="24">
                  <c:v>14.269</c:v>
                </c:pt>
                <c:pt idx="25">
                  <c:v>13.949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HATCN / Ag 8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10.885</c:v>
                </c:pt>
                <c:pt idx="1">
                  <c:v>11.437</c:v>
                </c:pt>
                <c:pt idx="2">
                  <c:v>10.755</c:v>
                </c:pt>
                <c:pt idx="3">
                  <c:v>10.391</c:v>
                </c:pt>
                <c:pt idx="4">
                  <c:v>9.895</c:v>
                </c:pt>
                <c:pt idx="5">
                  <c:v>9.334</c:v>
                </c:pt>
                <c:pt idx="6">
                  <c:v>8.953</c:v>
                </c:pt>
                <c:pt idx="7">
                  <c:v>8.219</c:v>
                </c:pt>
                <c:pt idx="8">
                  <c:v>7.775</c:v>
                </c:pt>
                <c:pt idx="9">
                  <c:v>7.469</c:v>
                </c:pt>
                <c:pt idx="10">
                  <c:v>7.337</c:v>
                </c:pt>
                <c:pt idx="11">
                  <c:v>7.045</c:v>
                </c:pt>
                <c:pt idx="12">
                  <c:v>7.151</c:v>
                </c:pt>
                <c:pt idx="13">
                  <c:v>6.887</c:v>
                </c:pt>
                <c:pt idx="14">
                  <c:v>6.719</c:v>
                </c:pt>
                <c:pt idx="15">
                  <c:v>6.856</c:v>
                </c:pt>
                <c:pt idx="16">
                  <c:v>6.912</c:v>
                </c:pt>
                <c:pt idx="17">
                  <c:v>6.726</c:v>
                </c:pt>
                <c:pt idx="18">
                  <c:v>6.585</c:v>
                </c:pt>
                <c:pt idx="19">
                  <c:v>6.804</c:v>
                </c:pt>
                <c:pt idx="20">
                  <c:v>6.802</c:v>
                </c:pt>
                <c:pt idx="21">
                  <c:v>6.785</c:v>
                </c:pt>
                <c:pt idx="22">
                  <c:v>7.086</c:v>
                </c:pt>
                <c:pt idx="23">
                  <c:v>7.024</c:v>
                </c:pt>
                <c:pt idx="24">
                  <c:v>7.702</c:v>
                </c:pt>
                <c:pt idx="25">
                  <c:v>6.896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MoOx / Ag 5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13.677</c:v>
                </c:pt>
                <c:pt idx="1">
                  <c:v>16.081</c:v>
                </c:pt>
                <c:pt idx="2">
                  <c:v>18.13</c:v>
                </c:pt>
                <c:pt idx="3">
                  <c:v>20.094</c:v>
                </c:pt>
                <c:pt idx="4">
                  <c:v>22.288</c:v>
                </c:pt>
                <c:pt idx="5">
                  <c:v>24.292</c:v>
                </c:pt>
                <c:pt idx="6">
                  <c:v>25.905</c:v>
                </c:pt>
                <c:pt idx="7">
                  <c:v>26.845</c:v>
                </c:pt>
                <c:pt idx="8">
                  <c:v>27.517</c:v>
                </c:pt>
                <c:pt idx="9">
                  <c:v>27.905</c:v>
                </c:pt>
                <c:pt idx="10">
                  <c:v>28.007</c:v>
                </c:pt>
                <c:pt idx="11">
                  <c:v>27.902</c:v>
                </c:pt>
                <c:pt idx="12">
                  <c:v>27.705</c:v>
                </c:pt>
                <c:pt idx="13">
                  <c:v>27.319</c:v>
                </c:pt>
                <c:pt idx="14">
                  <c:v>26.806</c:v>
                </c:pt>
                <c:pt idx="15">
                  <c:v>26.524</c:v>
                </c:pt>
                <c:pt idx="16">
                  <c:v>26.2</c:v>
                </c:pt>
                <c:pt idx="17">
                  <c:v>25.575</c:v>
                </c:pt>
                <c:pt idx="18">
                  <c:v>25.273</c:v>
                </c:pt>
                <c:pt idx="19">
                  <c:v>25.048</c:v>
                </c:pt>
                <c:pt idx="20">
                  <c:v>24.704</c:v>
                </c:pt>
                <c:pt idx="21">
                  <c:v>24.509</c:v>
                </c:pt>
                <c:pt idx="22">
                  <c:v>24.349</c:v>
                </c:pt>
                <c:pt idx="23">
                  <c:v>24.019</c:v>
                </c:pt>
                <c:pt idx="24">
                  <c:v>24.345</c:v>
                </c:pt>
                <c:pt idx="25">
                  <c:v>24.138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MoOx / Ag 8</c:v>
                </c:pt>
              </c:strCache>
            </c:strRef>
          </c:tx>
          <c:spPr>
            <a:solidFill>
              <a:srgbClr val="C0392B"/>
            </a:solidFill>
            <a:ln w="381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11.86</c:v>
                </c:pt>
                <c:pt idx="1">
                  <c:v>13.491</c:v>
                </c:pt>
                <c:pt idx="2">
                  <c:v>14.859</c:v>
                </c:pt>
                <c:pt idx="3">
                  <c:v>16.687</c:v>
                </c:pt>
                <c:pt idx="4">
                  <c:v>18.179</c:v>
                </c:pt>
                <c:pt idx="5">
                  <c:v>18.543</c:v>
                </c:pt>
                <c:pt idx="6">
                  <c:v>19.117</c:v>
                </c:pt>
                <c:pt idx="7">
                  <c:v>19.443</c:v>
                </c:pt>
                <c:pt idx="8">
                  <c:v>19.43</c:v>
                </c:pt>
                <c:pt idx="9">
                  <c:v>19.569</c:v>
                </c:pt>
                <c:pt idx="10">
                  <c:v>19.727</c:v>
                </c:pt>
                <c:pt idx="11">
                  <c:v>19.883</c:v>
                </c:pt>
                <c:pt idx="12">
                  <c:v>20.147</c:v>
                </c:pt>
                <c:pt idx="13">
                  <c:v>20.497</c:v>
                </c:pt>
                <c:pt idx="14">
                  <c:v>20.716</c:v>
                </c:pt>
                <c:pt idx="15">
                  <c:v>21.07</c:v>
                </c:pt>
                <c:pt idx="16">
                  <c:v>21.647</c:v>
                </c:pt>
                <c:pt idx="17">
                  <c:v>21.354</c:v>
                </c:pt>
                <c:pt idx="18">
                  <c:v>21.884</c:v>
                </c:pt>
                <c:pt idx="19">
                  <c:v>22.113</c:v>
                </c:pt>
                <c:pt idx="20">
                  <c:v>21.91</c:v>
                </c:pt>
                <c:pt idx="21">
                  <c:v>22.037</c:v>
                </c:pt>
                <c:pt idx="22">
                  <c:v>21.874</c:v>
                </c:pt>
                <c:pt idx="23">
                  <c:v>22.127</c:v>
                </c:pt>
                <c:pt idx="24">
                  <c:v>22.174</c:v>
                </c:pt>
                <c:pt idx="25">
                  <c:v>20.852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파장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흡수도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5 nm</c:v>
                </c:pt>
              </c:strCache>
            </c:strRef>
          </c:tx>
          <c:spPr>
            <a:solidFill>
              <a:srgbClr val="F2B134"/>
            </a:solidFill>
            <a:ln w="38100" cap="flat">
              <a:solidFill>
                <a:srgbClr val="F2B1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134"/>
              </a:solidFill>
              <a:ln w="9525" cap="flat">
                <a:solidFill>
                  <a:srgbClr val="F2B1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0.6395</c:v>
                </c:pt>
                <c:pt idx="1">
                  <c:v>0.5848</c:v>
                </c:pt>
                <c:pt idx="2">
                  <c:v>0.5436</c:v>
                </c:pt>
                <c:pt idx="3">
                  <c:v>0.5277</c:v>
                </c:pt>
                <c:pt idx="4">
                  <c:v>0.5556</c:v>
                </c:pt>
                <c:pt idx="5">
                  <c:v>0.5923</c:v>
                </c:pt>
                <c:pt idx="6">
                  <c:v>0.6324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0.3476</c:v>
                </c:pt>
                <c:pt idx="1">
                  <c:v>0.3332</c:v>
                </c:pt>
                <c:pt idx="2">
                  <c:v>0.2686</c:v>
                </c:pt>
                <c:pt idx="3">
                  <c:v>0.2283</c:v>
                </c:pt>
                <c:pt idx="4">
                  <c:v>0.2242</c:v>
                </c:pt>
                <c:pt idx="5">
                  <c:v>0.2275</c:v>
                </c:pt>
                <c:pt idx="6">
                  <c:v>0.2381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0.0457</c:v>
                </c:pt>
                <c:pt idx="1">
                  <c:v>0.0409</c:v>
                </c:pt>
                <c:pt idx="2">
                  <c:v>0.0414</c:v>
                </c:pt>
                <c:pt idx="3">
                  <c:v>0.0438</c:v>
                </c:pt>
                <c:pt idx="4">
                  <c:v>0.0474</c:v>
                </c:pt>
                <c:pt idx="5">
                  <c:v>0.0509</c:v>
                </c:pt>
                <c:pt idx="6">
                  <c:v>0.0549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2.271</c:v>
                </c:pt>
                <c:pt idx="1">
                  <c:v>2.675</c:v>
                </c:pt>
                <c:pt idx="2">
                  <c:v>3.11</c:v>
                </c:pt>
                <c:pt idx="3">
                  <c:v>3.574</c:v>
                </c:pt>
                <c:pt idx="4">
                  <c:v>4.014</c:v>
                </c:pt>
                <c:pt idx="5">
                  <c:v>4.457</c:v>
                </c:pt>
                <c:pt idx="6">
                  <c:v>4.879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2.123</c:v>
                </c:pt>
                <c:pt idx="1">
                  <c:v>2.676</c:v>
                </c:pt>
                <c:pt idx="2">
                  <c:v>3.159</c:v>
                </c:pt>
                <c:pt idx="3">
                  <c:v>3.61</c:v>
                </c:pt>
                <c:pt idx="4">
                  <c:v>4.042</c:v>
                </c:pt>
                <c:pt idx="5">
                  <c:v>4.46</c:v>
                </c:pt>
                <c:pt idx="6">
                  <c:v>4.869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-11.57</c:v>
                </c:pt>
                <c:pt idx="1">
                  <c:v>-12.17</c:v>
                </c:pt>
                <c:pt idx="2">
                  <c:v>-11.23</c:v>
                </c:pt>
                <c:pt idx="3">
                  <c:v>-12.02</c:v>
                </c:pt>
                <c:pt idx="4">
                  <c:v>-12.72</c:v>
                </c:pt>
                <c:pt idx="5">
                  <c:v>-11.53</c:v>
                </c:pt>
                <c:pt idx="6">
                  <c:v>-12.29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-4.72</c:v>
                </c:pt>
                <c:pt idx="1">
                  <c:v>-5.15</c:v>
                </c:pt>
                <c:pt idx="2">
                  <c:v>-6.06</c:v>
                </c:pt>
                <c:pt idx="3">
                  <c:v>-8.1</c:v>
                </c:pt>
                <c:pt idx="4">
                  <c:v>-10.55</c:v>
                </c:pt>
                <c:pt idx="5">
                  <c:v>-8.94</c:v>
                </c:pt>
                <c:pt idx="6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4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</c:v>
                </c:pt>
                <c:pt idx="1">
                  <c:v>10</c:v>
                </c:pt>
                <c:pt idx="2">
                  <c:v>21</c:v>
                </c:pt>
                <c:pt idx="3">
                  <c:v>4</c:v>
                </c:pt>
                <c:pt idx="4">
                  <c:v>-8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316</c:v>
                </c:pt>
                <c:pt idx="1">
                  <c:v>109</c:v>
                </c:pt>
                <c:pt idx="2">
                  <c:v>78</c:v>
                </c:pt>
                <c:pt idx="3">
                  <c:v>4</c:v>
                </c:pt>
                <c:pt idx="4">
                  <c:v>-9</c:v>
                </c:pt>
              </c:numCache>
            </c:numRef>
          </c:val>
        </c:ser>
        <c:dLbls>
          <c:numFmt formatCode="+0&quot;%&quot;;-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닫힌막 선 대비 초과 저항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14.94</c:v>
                </c:pt>
                <c:pt idx="1">
                  <c:v>11.54</c:v>
                </c:pt>
                <c:pt idx="2">
                  <c:v>10.09</c:v>
                </c:pt>
                <c:pt idx="3">
                  <c:v>8.44</c:v>
                </c:pt>
                <c:pt idx="4">
                  <c:v>7.63</c:v>
                </c:pt>
                <c:pt idx="5">
                  <c:v>7.32</c:v>
                </c:pt>
                <c:pt idx="6">
                  <c:v>6.48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27.85</c:v>
                </c:pt>
                <c:pt idx="1">
                  <c:v>28.14</c:v>
                </c:pt>
                <c:pt idx="2">
                  <c:v>27.64</c:v>
                </c:pt>
                <c:pt idx="3">
                  <c:v>23.03</c:v>
                </c:pt>
                <c:pt idx="4">
                  <c:v>19.77</c:v>
                </c:pt>
                <c:pt idx="5">
                  <c:v>21.8</c:v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seed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4.86</c:v>
                </c:pt>
                <c:pt idx="1">
                  <c:v>3.69</c:v>
                </c:pt>
                <c:pt idx="2">
                  <c:v>3.22</c:v>
                </c:pt>
                <c:pt idx="3">
                  <c:v>2.76</c:v>
                </c:pt>
                <c:pt idx="4">
                  <c:v>2.6</c:v>
                </c:pt>
                <c:pt idx="5">
                  <c:v>2.64</c:v>
                </c:pt>
                <c:pt idx="6">
                  <c:v>2.61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seed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10.64</c:v>
                </c:pt>
                <c:pt idx="1">
                  <c:v>10.88</c:v>
                </c:pt>
                <c:pt idx="2">
                  <c:v>10.73</c:v>
                </c:pt>
                <c:pt idx="3">
                  <c:v>8.58</c:v>
                </c:pt>
                <c:pt idx="4">
                  <c:v>7.46</c:v>
                </c:pt>
                <c:pt idx="5">
                  <c:v>8.69</c:v>
                </c:pt>
                <c:pt idx="6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이상적 벌크 Ag</c:v>
                </c:pt>
              </c:strCache>
            </c:strRef>
          </c:tx>
          <c:spPr>
            <a:solidFill>
              <a:srgbClr val="1E2761"/>
            </a:solidFill>
            <a:ln w="444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0.267</c:v>
                </c:pt>
                <c:pt idx="1">
                  <c:v>0.332</c:v>
                </c:pt>
                <c:pt idx="2">
                  <c:v>0.397</c:v>
                </c:pt>
                <c:pt idx="3">
                  <c:v>0.46</c:v>
                </c:pt>
                <c:pt idx="4">
                  <c:v>0.522</c:v>
                </c:pt>
                <c:pt idx="5">
                  <c:v>0.643</c:v>
                </c:pt>
                <c:pt idx="6">
                  <c:v>0.758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소자 one-pass 흡수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03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F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9E9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현재 n0.23, 기판 1.65</c:v>
                  </c:pt>
                  <c:pt idx="1">
                    <c:v>+ 기판 1.80</c:v>
                  </c:pt>
                  <c:pt idx="2">
                    <c:v>+ MLA AR</c:v>
                  </c:pt>
                  <c:pt idx="3">
                    <c:v>+ Ag n0.15 (Rs 6.7)</c:v>
                  </c:pt>
                  <c:pt idx="4">
                    <c:v>+ Ag n0.12 (Rs 5.3)</c:v>
                  </c:pt>
                  <c:pt idx="5">
                    <c:v>+ 벌크 Ag (Rs 2)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61.7</c:v>
                </c:pt>
                <c:pt idx="2">
                  <c:v>63</c:v>
                </c:pt>
                <c:pt idx="3">
                  <c:v>68.1</c:v>
                </c:pt>
                <c:pt idx="4">
                  <c:v>70.3</c:v>
                </c:pt>
                <c:pt idx="5">
                  <c:v>76.5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ED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전극 흡수가 MLA 소자 효율을 지배한다는 것을 측정과 모델로 보인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논지 슬라이드. 단일 통과 흡수 차이가 MLA 재순환으로 5~6배 증폭된다.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Rs가 흡수계라는 것이 이 프로젝트의 방법론적 토대.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고각도 흡수가 MLA 효율을 지배한다.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Al은 ε2가 Ag의 8배. wetting 이득으로 상쇄 불가. Au만 적색에서 검토 가치.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조건과 보정은 notes/HANDOFF_TR_20260820.md 에 전부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 위 Ag는 전 파장에서 MoOx의 1/3 수준.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k는 벌크와 같고 n만 5~12배. 즉 벌크 밀도의 진짜 은인데 전자 산란만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HATCN이 Ag 2 nm를 절약한다. 전기·광학 독립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이상적 Ag는 두께에 선형. 실제 막은 7~8 nm에 최소점.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 MATLAB PSO 두 점(55%, 73%)에 보정한 재순환 모델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슬라이드. 닫힘이 아니라 미세구조가 목표라는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852160" cy="58521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22305F"/>
          </a:solidFill>
          <a:ln w="12700">
            <a:solidFill>
              <a:srgbClr val="223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초박막 Ag 상부전극의 흡수 저감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0358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측정·시뮬레이션 종합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6118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vs MoOx · Ag 4–12 nm · 절대 T/R 분광 · 소자 광학 모델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'흡수'가 핵심 지표인가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MLA는 빠져나가지 못한 빛을 되돌린다 — 광자는 전극을 여러 번 통과한다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0292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통과 차이는 작다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44805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794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겨우 3.8 %p 차이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4224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EQE는 18 %p 벌어진다</a:t>
            </a:r>
            <a:endParaRPr lang="en-US" sz="15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868680" y="4590288"/>
          <a:ext cx="4480560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897880" y="1691640"/>
            <a:ext cx="57150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21792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증폭 기전 — 평균 통과 횟수</a:t>
            </a:r>
            <a:endParaRPr lang="en-US" sz="15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6217920" y="2286000"/>
          <a:ext cx="51206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6217920" y="46634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≈ 0.10 이면 광자는 평균 5.9회 통과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통과마다 전극 흡수를 다시 낸다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3.8 %p × 약 5회 → 15~20 %p의 EQE 손실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흡수와 면저항은 같은 물리량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/ A_bulk  =  ε₂ / ε₂_bulk  =  γ / γ_bulk  =  ρ / ρ_bulk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전자가 산란되는 정도가 저항을 만들고, 같은 산란이 빛을 흡수한다. 4-point probe가 곧 흡수계다.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063240"/>
            <a:ext cx="54864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검증 — HATCN / Ag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68680" y="3611880"/>
          <a:ext cx="4937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3063240"/>
            <a:ext cx="5321808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01968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함의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01968" y="363931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독립 측정이 20 % 이내로 일치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면저항만으로 흡수를 예측할 수 있다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루프가 광학 측정 없이 돌아간다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여지 = Rs 비율 그 자체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1968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601968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8 nm — 이상적 벌크 대비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052560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9052560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Ω/sq  현재 면저항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손실은 고각도에서 결정된다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MLA가 회수하려는 기판 모드가 바로 그 각도에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76656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22960" y="2011680"/>
          <a:ext cx="6263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737360"/>
            <a:ext cx="4041648" cy="4114800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82128" y="19385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82128" y="233172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 입사에서는 4.7 % — 크지 않다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66° 에서 16.3 % 로 3.4배 급증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 1.8 → 기판 1.65 임계각이 66.5°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Ag도 같은 배수로 증가하지만 절대량이 1/5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82128" y="4343400"/>
            <a:ext cx="3474720" cy="1280160"/>
          </a:xfrm>
          <a:prstGeom prst="roundRect">
            <a:avLst>
              <a:gd name="adj" fmla="val 4286"/>
            </a:avLst>
          </a:prstGeom>
          <a:solidFill>
            <a:srgbClr val="FFF1EC"/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4343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정면 흡수만 보면 문제를 놓친다.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 적분이 필수.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금속 선택 — Ag를 대체할 후보는 없다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후보에 벌크 상수(최선의 경우)를 주고 비교. 여러분 Ag만 실측(열화된) 값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03504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ε₂ — 흡수를 곱하는 항 (550 nm)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5486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737360"/>
            <a:ext cx="477316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50608" y="1920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EQE (MLA 포함)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150608" y="228600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7150608" y="4754880"/>
            <a:ext cx="4206240" cy="914400"/>
          </a:xfrm>
          <a:prstGeom prst="roundRect">
            <a:avLst>
              <a:gd name="adj" fmla="val 6000"/>
            </a:avLst>
          </a:prstGeom>
          <a:solidFill>
            <a:srgbClr val="FFF1EC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0" y="4754880"/>
            <a:ext cx="3877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완벽히 평평한 Al 3 nm 도 거친 Ag 8 nm 보다 17 %p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확보한 실측 데이터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seed × 7 두께 = 15 시료, 절대 T/R 분광 + 4-point probe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 — 두 seed 비교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4028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691640"/>
            <a:ext cx="541324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10528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10528" y="22860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04304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투과도 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04304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0° / 180°, 350–850 nm, 2 nm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10528" y="2788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04304" y="2770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반사도 R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04304" y="29718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6° / 12°, 뒷면 보정 84.3 %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10528" y="32918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04304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흡수도 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004304" y="347472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T − R, σ = 0.15 %p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10528" y="3794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04304" y="3776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004304" y="39776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시료, 4-point probe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10528" y="42976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04304" y="4279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n, k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004304" y="44805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5·7·8 nm, 400–800 nm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510528" y="48006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004304" y="4782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 결합에너지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7004304" y="49834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후보 20종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510528" y="530352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4" name="Text 31"/>
          <p:cNvSpPr/>
          <p:nvPr/>
        </p:nvSpPr>
        <p:spPr>
          <a:xfrm>
            <a:off x="6510528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7004304" y="5285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광학 모델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7004304" y="54864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TMM + MLA 재순환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 스펙트럼 — seed가 만드는 차이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glass / seed 5 nm / Ag, 절대 T·R 로부터 A = 1 − T −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64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10469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광학상수 — 벌크 은에 근접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T·R 파장별 역산. k는 벌크와 거의 같고, 차이는 전부 n 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6692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(550 nm 부근)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12848"/>
          <a:ext cx="51206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9776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(전 파장)</a:t>
            </a:r>
            <a:endParaRPr lang="en-US" sz="13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68680" y="4297680"/>
          <a:ext cx="512064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691640"/>
            <a:ext cx="513892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784848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ε₁ — 금속성의 지표</a:t>
            </a:r>
            <a:endParaRPr lang="en-US" sz="13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6784848" y="2212848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6784848" y="4983480"/>
            <a:ext cx="4572000" cy="713232"/>
          </a:xfrm>
          <a:prstGeom prst="roundRect">
            <a:avLst>
              <a:gd name="adj" fmla="val 7692"/>
            </a:avLst>
          </a:prstGeom>
          <a:solidFill>
            <a:srgbClr val="E8F7F5"/>
          </a:solidFill>
          <a:ln/>
        </p:spPr>
      </p:sp>
      <p:sp>
        <p:nvSpPr>
          <p:cNvPr id="13" name="Text 8"/>
          <p:cNvSpPr/>
          <p:nvPr/>
        </p:nvSpPr>
        <p:spPr>
          <a:xfrm>
            <a:off x="6949440" y="4983480"/>
            <a:ext cx="42428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벌크 은 ε₁ = -13.03  ·  HATCN 위 Ag 는 4 nm 부터 오차 8 % 이내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 — 두 독립 측정이 일치한다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전기(면저항)와 광학(흡수)이 서로를 모른 채 같은 답을 준다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49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전기 — 닫힌 막의 ρ = ρ₀ + C/d 선에서 벗어나는 지점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395728"/>
          <a:ext cx="4800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691640"/>
            <a:ext cx="545896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4808" y="187452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광학 — 흡수도의 계단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64808" y="2212848"/>
          <a:ext cx="48920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64808" y="4617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4–6 nm 에서 28 % 평평 → 7 nm 에서 23 % 로 계단.  HATCN 은 4 nm 부터 단조 감소.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MoOx 12 nm 은 반사도 파일 결측.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6480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8F7F5"/>
          </a:solidFill>
          <a:ln/>
        </p:spPr>
      </p:sp>
      <p:sp>
        <p:nvSpPr>
          <p:cNvPr id="12" name="Text 8"/>
          <p:cNvSpPr/>
          <p:nvPr/>
        </p:nvSpPr>
        <p:spPr>
          <a:xfrm>
            <a:off x="646480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 5 nm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02512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1EC"/>
          </a:solidFill>
          <a:ln/>
        </p:spPr>
      </p:sp>
      <p:sp>
        <p:nvSpPr>
          <p:cNvPr id="14" name="Text 10"/>
          <p:cNvSpPr/>
          <p:nvPr/>
        </p:nvSpPr>
        <p:spPr>
          <a:xfrm>
            <a:off x="902512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 7 nm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 — 최적 두께와 남은 여지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1.8 / Ag / CPL 2.1 / air, CPL 두께는 매번 재최적화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72237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6629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691640"/>
            <a:ext cx="3584448" cy="4160520"/>
          </a:xfrm>
          <a:prstGeom prst="roundRect">
            <a:avLst>
              <a:gd name="adj" fmla="val 15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2402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 nm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321040" y="293522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최적 두께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21040" y="412394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소자 흡수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46177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321040" y="5312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하한 대비 여지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70 % 달성 경로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조치로는 도달하지 못한다 — 기판·AR·Ag 품질을 병행해야 한다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783080"/>
            <a:ext cx="3813048" cy="19202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지렛대 크기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 1.65 → 1.80      + 6.7 %p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 반사방지         + 1.3 %p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Rs 9.1 → 5.3      + 7.3 %p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CPL 굴절률           ± 1.5 %p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18120" y="3886200"/>
            <a:ext cx="3813048" cy="2011680"/>
          </a:xfrm>
          <a:prstGeom prst="roundRect">
            <a:avLst>
              <a:gd name="adj" fmla="val 3182"/>
            </a:avLst>
          </a:prstGeom>
          <a:solidFill>
            <a:srgbClr val="1B2547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병행의 효과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244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기판과 AR을 먼저 확보하면 Ag 목표가 완화된다.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4.4 → 5.3 Ω/sq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부담 2.1배 → 1.7배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다음 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닫힘 두께가 아니라 ρ, 즉 결정립 크기와 계면 경면성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이 MoOx 대비 닫힘을 2 nm 앞당기고 흡수를 1/3 로 낮춘다. DFT 결합에너지 1.03 vs 0.45 eV 와 순서가 일치.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21024" y="19659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2102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1024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지렛대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21024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이후에도 ρ 가 벌크의 4.6배. 표면 산란 3.88, 결정립계 1.81 µΩ·cm. 두 항을 모두 줄여야 한다.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965960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변수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증착 속도 상향(침투 억제), 기판 냉각(결정립 성장), seed 두께 5 nm 고정, 즉시 캡핑.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0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17152" y="1965960"/>
            <a:ext cx="384048" cy="38404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21715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17152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측정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17152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검출기 각스캔으로 산란 분리, 엘립소·XRR 로 두께 확정, Ag 2·3 nm 로 퍼콜레이션 하한.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13892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138928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는 흡수계다 — 광학 측정 없이 4-point probe 만으로 최적화 루프를 돌릴 수 있다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Ultrathin Ag top electrode</dc:title>
  <dc:subject>PptxGenJS Presentation</dc:subject>
  <dc:creator>Ag electrode study</dc:creator>
  <cp:lastModifiedBy>Ag electrode study</cp:lastModifiedBy>
  <cp:revision>1</cp:revision>
  <dcterms:created xsi:type="dcterms:W3CDTF">2026-08-22T01:31:07Z</dcterms:created>
  <dcterms:modified xsi:type="dcterms:W3CDTF">2026-08-22T01:31:07Z</dcterms:modified>
</cp:coreProperties>
</file>